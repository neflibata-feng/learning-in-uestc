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3"/>
    <p:sldId id="279" r:id="rId4"/>
    <p:sldId id="269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658" y="62"/>
      </p:cViewPr>
      <p:guideLst>
        <p:guide orient="horz" pos="2198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4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1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56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6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173FCE-6426-4BD8-9D51-E91E271AE83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8570EA-2051-4ADC-B06F-FC759C8A589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109728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45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03705" y="2708910"/>
            <a:ext cx="8502650" cy="2108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ts val="3400"/>
              </a:lnSpc>
              <a:def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defRPr>
            </a:lvl1pPr>
          </a:lstStyle>
          <a:p>
            <a:pPr lvl="0" algn="l" eaLnBrk="1" hangingPunct="1">
              <a:lnSpc>
                <a:spcPts val="3800"/>
              </a:lnSpc>
              <a:buClrTx/>
              <a:buSzTx/>
              <a:buFontTx/>
              <a:defRPr/>
            </a:pPr>
            <a:r>
              <a:rPr lang="en-US" altLang="zh-CN" sz="2400">
                <a:sym typeface="+mn-ea"/>
              </a:rPr>
              <a:t>    </a:t>
            </a:r>
            <a:r>
              <a:rPr lang="zh-CN" altLang="en-US" sz="2400">
                <a:sym typeface="+mn-ea"/>
              </a:rPr>
              <a:t>“读原典，说新知”</a:t>
            </a:r>
            <a:endParaRPr lang="zh-CN" altLang="en-US" sz="2400">
              <a:sym typeface="+mn-ea"/>
            </a:endParaRPr>
          </a:p>
          <a:p>
            <a:pPr lvl="0" algn="l" eaLnBrk="1" hangingPunct="1">
              <a:lnSpc>
                <a:spcPts val="3800"/>
              </a:lnSpc>
              <a:buClrTx/>
              <a:buSzTx/>
              <a:buFontTx/>
              <a:defRPr/>
            </a:pPr>
            <a:r>
              <a:rPr lang="zh-CN" altLang="en-US" sz="2400">
                <a:sym typeface="+mn-ea"/>
              </a:rPr>
              <a:t> </a:t>
            </a: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请在《毛泽东选集》《邓小平文选》《江泽民文选》《胡锦涛文选》等经典著作中任选一篇文章学习后，</a:t>
            </a:r>
            <a:r>
              <a:rPr lang="en-US" altLang="zh-CN" sz="2400" noProof="0" dirty="0" smtClean="0">
                <a:ln>
                  <a:noFill/>
                </a:ln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结合</a:t>
            </a:r>
            <a:r>
              <a:rPr lang="zh-CN" altLang="en-US" sz="2400" noProof="0" dirty="0" smtClean="0">
                <a:ln>
                  <a:noFill/>
                </a:ln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理论思考、党的历史实践和对自己</a:t>
            </a:r>
            <a:r>
              <a:rPr lang="en-US" altLang="zh-CN" sz="2400" noProof="0" dirty="0" smtClean="0">
                <a:ln>
                  <a:noFill/>
                </a:ln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学习生活</a:t>
            </a:r>
            <a:r>
              <a:rPr lang="zh-CN" altLang="en-US" sz="2400" noProof="0" dirty="0" smtClean="0">
                <a:ln>
                  <a:noFill/>
                </a:ln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启示完成</a:t>
            </a:r>
            <a:r>
              <a:rPr lang="zh-CN" altLang="en-US" sz="2400">
                <a:sym typeface="+mn-ea"/>
              </a:rPr>
              <a:t>课程实践。</a:t>
            </a:r>
            <a:r>
              <a:rPr lang="en-US" altLang="zh-CN" sz="2400" noProof="0" dirty="0" smtClean="0">
                <a:ln>
                  <a:noFill/>
                </a:ln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endParaRPr lang="en-US" altLang="zh-CN" sz="2400" noProof="0" dirty="0" smtClean="0">
              <a:ln>
                <a:noFill/>
              </a:ln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288030" y="1020445"/>
            <a:ext cx="5211445" cy="565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342900" marR="0" indent="-342900" defTabSz="914400" eaLnBrk="1" hangingPunct="1">
              <a:lnSpc>
                <a:spcPct val="110000"/>
              </a:lnSpc>
              <a:buClr>
                <a:schemeClr val="accent2"/>
              </a:buClr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关于《毛概》实践环节的安排</a:t>
            </a:r>
            <a:endParaRPr kumimoji="0" lang="zh-CN" altLang="en-US" sz="28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79650" y="2061210"/>
            <a:ext cx="1402080" cy="460375"/>
          </a:xfrm>
          <a:prstGeom prst="rect">
            <a:avLst/>
          </a:prstGeom>
        </p:spPr>
        <p:txBody>
          <a:bodyPr wrap="none" rtlCol="0" anchor="t">
            <a:spAutoFit/>
          </a:bodyPr>
          <a:p>
            <a:pPr lvl="0" algn="l">
              <a:buClrTx/>
              <a:buSzTx/>
              <a:buFontTx/>
              <a:defRPr/>
            </a:pPr>
            <a:r>
              <a:rPr lang="zh-CN" altLang="en-US" sz="2400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一、选题</a:t>
            </a:r>
            <a:endParaRPr lang="zh-CN" altLang="en-US" sz="2400" b="1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487805" y="1494155"/>
            <a:ext cx="8698865" cy="10096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p>
            <a:pPr marL="342900" marR="0" indent="-342900" defTabSz="914400" eaLnBrk="1" hangingPunct="1">
              <a:lnSpc>
                <a:spcPts val="3580"/>
              </a:lnSpc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charset="0"/>
              <a:buChar char="u"/>
              <a:defRPr/>
            </a:pP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可以以小组形式完成，每组</a:t>
            </a: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5</a:t>
            </a: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人左右；也可以个人独立完成</a:t>
            </a:r>
            <a:endParaRPr kumimoji="0" lang="zh-CN" altLang="en-US" sz="24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342900" marR="0" indent="-342900" defTabSz="914400" eaLnBrk="1" hangingPunct="1">
              <a:lnSpc>
                <a:spcPts val="3580"/>
              </a:lnSpc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charset="0"/>
              <a:buChar char="u"/>
              <a:defRPr/>
            </a:pP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要求观点明确，分析有理有据。</a:t>
            </a: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en-US" altLang="zh-CN" sz="28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559243" y="908685"/>
            <a:ext cx="1407160" cy="460375"/>
          </a:xfrm>
          <a:prstGeom prst="rect">
            <a:avLst/>
          </a:prstGeom>
        </p:spPr>
        <p:txBody>
          <a:bodyPr wrap="none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要求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 bwMode="gray">
          <a:xfrm>
            <a:off x="1487805" y="5301615"/>
            <a:ext cx="7897495" cy="55054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rtlCol="0" anchor="t">
            <a:spAutoFit/>
          </a:bodyPr>
          <a:p>
            <a:pPr marL="342900" lvl="0" indent="-342900" algn="l" eaLnBrk="1" hangingPunct="1">
              <a:lnSpc>
                <a:spcPts val="3580"/>
              </a:lnSpc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charset="0"/>
              <a:buChar char="u"/>
              <a:defRPr/>
            </a:pP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提交时间：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第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9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周周5（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31日）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提交纸质打印稿</a:t>
            </a:r>
            <a:endParaRPr lang="en-US" altLang="zh-CN" sz="24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84630" y="2628265"/>
            <a:ext cx="8629650" cy="2386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defTabSz="914400" eaLnBrk="1" hangingPunct="1">
              <a:lnSpc>
                <a:spcPts val="3580"/>
              </a:lnSpc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charset="0"/>
              <a:defRPr/>
            </a:pPr>
            <a:r>
              <a:rPr 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1.</a:t>
            </a:r>
            <a:r>
              <a:rPr lang="zh-CN" alt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以小组形式完成的，每个小组按要求选择一篇文章研读学习；然后请小组长召集讨论，记录员记录每位同学的发言；最后需要提交一份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3000</a:t>
            </a:r>
            <a:r>
              <a:rPr lang="zh-CN" alt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字以上的详细讨论记录和针对所学文章的总结。</a:t>
            </a:r>
            <a:endParaRPr kumimoji="0" lang="zh-CN" altLang="en-US" sz="2400" b="1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eaLnBrk="1" hangingPunct="1">
              <a:lnSpc>
                <a:spcPts val="3580"/>
              </a:lnSpc>
              <a:spcBef>
                <a:spcPts val="0"/>
              </a:spcBef>
              <a:buClr>
                <a:schemeClr val="accent2"/>
              </a:buClr>
              <a:buSzTx/>
              <a:buFont typeface="Wingdings" panose="05000000000000000000" charset="0"/>
              <a:defRPr/>
            </a:pPr>
            <a:r>
              <a:rPr 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2.</a:t>
            </a:r>
            <a:r>
              <a:rPr lang="zh-CN" alt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个人独立完成的，请按要求写作一篇</a:t>
            </a:r>
            <a:r>
              <a:rPr lang="en-US" altLang="zh-CN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2000</a:t>
            </a:r>
            <a:r>
              <a:rPr lang="zh-CN" alt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字以上的论文</a:t>
            </a:r>
            <a:r>
              <a:rPr lang="zh-CN" alt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sz="24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zh-CN" altLang="en-US" sz="24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9605" y="1988820"/>
            <a:ext cx="7435215" cy="304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>
              <a:lnSpc>
                <a:spcPts val="46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1.</a:t>
            </a:r>
            <a:r>
              <a:rPr kumimoji="0" lang="zh-CN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实践教学成绩根据实践成果内容质量给分</a:t>
            </a:r>
            <a:endParaRPr kumimoji="0" lang="zh-CN" altLang="zh-CN" sz="2400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cs"/>
            </a:endParaRPr>
          </a:p>
          <a:p>
            <a:pPr marR="0" defTabSz="914400">
              <a:lnSpc>
                <a:spcPts val="4600"/>
              </a:lnSpc>
              <a:buClrTx/>
              <a:buSzTx/>
              <a:buFontTx/>
              <a:buNone/>
              <a:defRPr/>
            </a:pPr>
            <a:r>
              <a:rPr kumimoji="0" lang="zh-CN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 （按百分记，占总成绩</a:t>
            </a: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20%</a:t>
            </a: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；小组长和记录员在小组成绩基础上加</a:t>
            </a: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分</a:t>
            </a:r>
            <a:r>
              <a:rPr kumimoji="0" lang="zh-CN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）。</a:t>
            </a:r>
            <a:endParaRPr kumimoji="0" lang="en-US" altLang="zh-CN" sz="2400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cs"/>
            </a:endParaRPr>
          </a:p>
          <a:p>
            <a:pPr marR="0" defTabSz="914400">
              <a:lnSpc>
                <a:spcPts val="46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2.</a:t>
            </a:r>
            <a:r>
              <a:rPr kumimoji="0" lang="zh-CN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实践成果内容不符合要求的（如作品抄袭等），</a:t>
            </a: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   </a:t>
            </a:r>
            <a:endParaRPr kumimoji="0" lang="en-US" altLang="zh-CN" sz="2400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cs"/>
            </a:endParaRPr>
          </a:p>
          <a:p>
            <a:pPr marR="0" defTabSz="914400">
              <a:lnSpc>
                <a:spcPts val="46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  </a:t>
            </a:r>
            <a:r>
              <a:rPr kumimoji="0" lang="zh-CN" altLang="zh-CN" sz="2400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n-cs"/>
              </a:rPr>
              <a:t>实践成绩不合格。</a:t>
            </a:r>
            <a:endParaRPr kumimoji="0" lang="zh-CN" altLang="en-US" sz="2400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5143" y="1268730"/>
            <a:ext cx="14071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三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、考核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333bf507-2121-4322-b5db-35bae0cd7ea8"/>
  <p:tag name="COMMONDATA" val="eyJoZGlkIjoiYWE0MTA0Y2U0ZjFjYTQwMWJlZjE2ODEzYTRmOTJmMTkifQ=="/>
  <p:tag name="commondata" val="eyJoZGlkIjoiMzU1ZDIwYzJmNjJlOTViMWI2ZjUyY2QzMzMzMWNiYTA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412</Words>
  <Application>WPS 演示</Application>
  <PresentationFormat>宽屏</PresentationFormat>
  <Paragraphs>24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Arial Black</vt:lpstr>
      <vt:lpstr>Times New Roman</vt:lpstr>
      <vt:lpstr>楷体_GB2312</vt:lpstr>
      <vt:lpstr>新宋体</vt:lpstr>
      <vt:lpstr>黑体</vt:lpstr>
      <vt:lpstr>Wingdings</vt:lpstr>
      <vt:lpstr>等线</vt:lpstr>
      <vt:lpstr>微软雅黑</vt:lpstr>
      <vt:lpstr>Arial Unicode MS</vt:lpstr>
      <vt:lpstr>Calibri</vt:lpstr>
      <vt:lpstr>Pixel</vt:lpstr>
      <vt:lpstr>PowerPoint 演示文稿</vt:lpstr>
      <vt:lpstr>PowerPoint 演示文稿</vt:lpstr>
      <vt:lpstr>PowerPoint 演示文稿</vt:lpstr>
    </vt:vector>
  </TitlesOfParts>
  <Company>wcy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ljx</dc:creator>
  <cp:lastModifiedBy>黎吉秀</cp:lastModifiedBy>
  <cp:revision>118</cp:revision>
  <dcterms:created xsi:type="dcterms:W3CDTF">2008-04-14T03:05:00Z</dcterms:created>
  <dcterms:modified xsi:type="dcterms:W3CDTF">2025-09-16T07:51:00Z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BA523522E45E44559E0535DD3D8E7EC3_13</vt:lpwstr>
  </property>
  <property fmtid="{D5CDD505-2E9C-101B-9397-08002B2CF9AE}" pid="3" name="KSOProductBuildVer">
    <vt:lpwstr>2052-12.1.0.16120</vt:lpwstr>
  </property>
</Properties>
</file>