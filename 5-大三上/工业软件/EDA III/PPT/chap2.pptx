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51" r:id="rId1"/>
  </p:sldMasterIdLst>
  <p:notesMasterIdLst>
    <p:notesMasterId r:id="rId71"/>
  </p:notesMasterIdLst>
  <p:sldIdLst>
    <p:sldId id="361" r:id="rId2"/>
    <p:sldId id="268" r:id="rId3"/>
    <p:sldId id="306" r:id="rId4"/>
    <p:sldId id="270" r:id="rId5"/>
    <p:sldId id="271" r:id="rId6"/>
    <p:sldId id="349" r:id="rId7"/>
    <p:sldId id="362" r:id="rId8"/>
    <p:sldId id="338" r:id="rId9"/>
    <p:sldId id="311" r:id="rId10"/>
    <p:sldId id="316" r:id="rId11"/>
    <p:sldId id="317" r:id="rId12"/>
    <p:sldId id="318" r:id="rId13"/>
    <p:sldId id="319" r:id="rId14"/>
    <p:sldId id="320" r:id="rId15"/>
    <p:sldId id="321" r:id="rId16"/>
    <p:sldId id="312" r:id="rId17"/>
    <p:sldId id="273" r:id="rId18"/>
    <p:sldId id="274" r:id="rId19"/>
    <p:sldId id="275" r:id="rId20"/>
    <p:sldId id="276" r:id="rId21"/>
    <p:sldId id="277" r:id="rId22"/>
    <p:sldId id="278" r:id="rId23"/>
    <p:sldId id="347" r:id="rId24"/>
    <p:sldId id="279" r:id="rId25"/>
    <p:sldId id="280" r:id="rId26"/>
    <p:sldId id="281" r:id="rId27"/>
    <p:sldId id="282" r:id="rId28"/>
    <p:sldId id="368" r:id="rId29"/>
    <p:sldId id="369" r:id="rId30"/>
    <p:sldId id="370" r:id="rId31"/>
    <p:sldId id="371" r:id="rId32"/>
    <p:sldId id="373" r:id="rId33"/>
    <p:sldId id="372" r:id="rId34"/>
    <p:sldId id="367" r:id="rId35"/>
    <p:sldId id="363" r:id="rId36"/>
    <p:sldId id="328" r:id="rId37"/>
    <p:sldId id="313" r:id="rId38"/>
    <p:sldId id="323" r:id="rId39"/>
    <p:sldId id="324" r:id="rId40"/>
    <p:sldId id="325" r:id="rId41"/>
    <p:sldId id="326" r:id="rId42"/>
    <p:sldId id="350" r:id="rId43"/>
    <p:sldId id="327" r:id="rId44"/>
    <p:sldId id="314" r:id="rId45"/>
    <p:sldId id="285" r:id="rId46"/>
    <p:sldId id="286" r:id="rId47"/>
    <p:sldId id="351" r:id="rId48"/>
    <p:sldId id="289" r:id="rId49"/>
    <p:sldId id="352" r:id="rId50"/>
    <p:sldId id="353" r:id="rId51"/>
    <p:sldId id="354" r:id="rId52"/>
    <p:sldId id="355" r:id="rId53"/>
    <p:sldId id="293" r:id="rId54"/>
    <p:sldId id="364" r:id="rId55"/>
    <p:sldId id="374" r:id="rId56"/>
    <p:sldId id="375" r:id="rId57"/>
    <p:sldId id="376" r:id="rId58"/>
    <p:sldId id="377" r:id="rId59"/>
    <p:sldId id="378" r:id="rId60"/>
    <p:sldId id="379" r:id="rId61"/>
    <p:sldId id="380" r:id="rId62"/>
    <p:sldId id="381" r:id="rId63"/>
    <p:sldId id="382" r:id="rId64"/>
    <p:sldId id="359" r:id="rId65"/>
    <p:sldId id="366" r:id="rId66"/>
    <p:sldId id="356" r:id="rId67"/>
    <p:sldId id="357" r:id="rId68"/>
    <p:sldId id="358" r:id="rId69"/>
    <p:sldId id="360" r:id="rId70"/>
  </p:sldIdLst>
  <p:sldSz cx="9144000" cy="6858000" type="screen4x3"/>
  <p:notesSz cx="7315200" cy="9601200"/>
  <p:defaultTextStyle>
    <a:defPPr>
      <a:defRPr lang="en-US"/>
    </a:defPPr>
    <a:lvl1pPr algn="ctr" rtl="0" eaLnBrk="0" fontAlgn="base" hangingPunct="0">
      <a:lnSpc>
        <a:spcPts val="2350"/>
      </a:lnSpc>
      <a:spcBef>
        <a:spcPct val="0"/>
      </a:spcBef>
      <a:spcAft>
        <a:spcPct val="0"/>
      </a:spcAft>
      <a:defRPr sz="1700" kern="1200">
        <a:solidFill>
          <a:schemeClr val="tx1"/>
        </a:solidFill>
        <a:latin typeface="Arial" panose="020B0604020202020204" pitchFamily="34" charset="0"/>
        <a:ea typeface="+mn-ea"/>
        <a:cs typeface="+mn-cs"/>
      </a:defRPr>
    </a:lvl1pPr>
    <a:lvl2pPr marL="457200" algn="ctr" rtl="0" eaLnBrk="0" fontAlgn="base" hangingPunct="0">
      <a:lnSpc>
        <a:spcPts val="2350"/>
      </a:lnSpc>
      <a:spcBef>
        <a:spcPct val="0"/>
      </a:spcBef>
      <a:spcAft>
        <a:spcPct val="0"/>
      </a:spcAft>
      <a:defRPr sz="1700" kern="1200">
        <a:solidFill>
          <a:schemeClr val="tx1"/>
        </a:solidFill>
        <a:latin typeface="Arial" panose="020B0604020202020204" pitchFamily="34" charset="0"/>
        <a:ea typeface="+mn-ea"/>
        <a:cs typeface="+mn-cs"/>
      </a:defRPr>
    </a:lvl2pPr>
    <a:lvl3pPr marL="914400" algn="ctr" rtl="0" eaLnBrk="0" fontAlgn="base" hangingPunct="0">
      <a:lnSpc>
        <a:spcPts val="2350"/>
      </a:lnSpc>
      <a:spcBef>
        <a:spcPct val="0"/>
      </a:spcBef>
      <a:spcAft>
        <a:spcPct val="0"/>
      </a:spcAft>
      <a:defRPr sz="1700" kern="1200">
        <a:solidFill>
          <a:schemeClr val="tx1"/>
        </a:solidFill>
        <a:latin typeface="Arial" panose="020B0604020202020204" pitchFamily="34" charset="0"/>
        <a:ea typeface="+mn-ea"/>
        <a:cs typeface="+mn-cs"/>
      </a:defRPr>
    </a:lvl3pPr>
    <a:lvl4pPr marL="1371600" algn="ctr" rtl="0" eaLnBrk="0" fontAlgn="base" hangingPunct="0">
      <a:lnSpc>
        <a:spcPts val="2350"/>
      </a:lnSpc>
      <a:spcBef>
        <a:spcPct val="0"/>
      </a:spcBef>
      <a:spcAft>
        <a:spcPct val="0"/>
      </a:spcAft>
      <a:defRPr sz="1700" kern="1200">
        <a:solidFill>
          <a:schemeClr val="tx1"/>
        </a:solidFill>
        <a:latin typeface="Arial" panose="020B0604020202020204" pitchFamily="34" charset="0"/>
        <a:ea typeface="+mn-ea"/>
        <a:cs typeface="+mn-cs"/>
      </a:defRPr>
    </a:lvl4pPr>
    <a:lvl5pPr marL="1828800" algn="ctr" rtl="0" eaLnBrk="0" fontAlgn="base" hangingPunct="0">
      <a:lnSpc>
        <a:spcPts val="2350"/>
      </a:lnSpc>
      <a:spcBef>
        <a:spcPct val="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845">
          <p15:clr>
            <a:srgbClr val="A4A3A4"/>
          </p15:clr>
        </p15:guide>
        <p15:guide id="2" pos="52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D1D1"/>
    <a:srgbClr val="FFFFFF"/>
    <a:srgbClr val="DDDDDD"/>
    <a:srgbClr val="FFD1D1"/>
    <a:srgbClr val="0C325C"/>
    <a:srgbClr val="F2E6E6"/>
    <a:srgbClr val="F4E0E0"/>
    <a:srgbClr val="EDE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8" autoAdjust="0"/>
    <p:restoredTop sz="94651" autoAdjust="0"/>
  </p:normalViewPr>
  <p:slideViewPr>
    <p:cSldViewPr snapToObjects="1">
      <p:cViewPr varScale="1">
        <p:scale>
          <a:sx n="76" d="100"/>
          <a:sy n="76" d="100"/>
        </p:scale>
        <p:origin x="1467" y="62"/>
      </p:cViewPr>
      <p:guideLst>
        <p:guide orient="horz" pos="845"/>
        <p:guide pos="52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526"/>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l" defTabSz="966788" eaLnBrk="1" hangingPunct="1">
              <a:lnSpc>
                <a:spcPct val="100000"/>
              </a:lnSpc>
              <a:defRPr sz="1300" smtClean="0">
                <a:latin typeface="Arial" charset="0"/>
              </a:defRPr>
            </a:lvl1pPr>
          </a:lstStyle>
          <a:p>
            <a:pPr>
              <a:defRPr/>
            </a:pPr>
            <a:endParaRPr lang="en-US" altLang="zh-CN"/>
          </a:p>
        </p:txBody>
      </p:sp>
      <p:sp>
        <p:nvSpPr>
          <p:cNvPr id="10243" name="Rectangle 3"/>
          <p:cNvSpPr>
            <a:spLocks noGrp="1" noChangeArrowheads="1"/>
          </p:cNvSpPr>
          <p:nvPr>
            <p:ph type="dt"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lvl1pPr algn="r" defTabSz="966788" eaLnBrk="1" hangingPunct="1">
              <a:lnSpc>
                <a:spcPct val="100000"/>
              </a:lnSpc>
              <a:defRPr sz="1300" smtClean="0">
                <a:latin typeface="Arial" charset="0"/>
              </a:defRPr>
            </a:lvl1pPr>
          </a:lstStyle>
          <a:p>
            <a:pPr>
              <a:defRPr/>
            </a:pPr>
            <a:endParaRPr lang="en-US" altLang="zh-CN"/>
          </a:p>
        </p:txBody>
      </p:sp>
      <p:sp>
        <p:nvSpPr>
          <p:cNvPr id="563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5" name="Rectangle 5"/>
          <p:cNvSpPr>
            <a:spLocks noGrp="1" noChangeArrowheads="1"/>
          </p:cNvSpPr>
          <p:nvPr>
            <p:ph type="body" sz="quarter" idx="3"/>
          </p:nvPr>
        </p:nvSpPr>
        <p:spPr bwMode="auto">
          <a:xfrm>
            <a:off x="731838" y="4560888"/>
            <a:ext cx="5851525" cy="431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t" anchorCtr="0" compatLnSpc="1">
            <a:prstTxWarp prst="textNoShape">
              <a:avLst/>
            </a:prstTxWarp>
          </a:bodyPr>
          <a:lstStyle/>
          <a:p>
            <a:pPr lvl="0"/>
            <a:r>
              <a:rPr lang="en-US" altLang="zh-CN" noProof="0"/>
              <a:t>Textmasterformate durch Klicken bearbeiten</a:t>
            </a:r>
          </a:p>
          <a:p>
            <a:pPr lvl="1"/>
            <a:r>
              <a:rPr lang="en-US" altLang="zh-CN" noProof="0"/>
              <a:t>Zweite Ebene</a:t>
            </a:r>
          </a:p>
          <a:p>
            <a:pPr lvl="2"/>
            <a:r>
              <a:rPr lang="en-US" altLang="zh-CN" noProof="0"/>
              <a:t>Dritte Ebene</a:t>
            </a:r>
          </a:p>
          <a:p>
            <a:pPr lvl="3"/>
            <a:r>
              <a:rPr lang="en-US" altLang="zh-CN" noProof="0"/>
              <a:t>Vierte Ebene</a:t>
            </a:r>
          </a:p>
          <a:p>
            <a:pPr lvl="4"/>
            <a:r>
              <a:rPr lang="en-US" altLang="zh-CN" noProof="0"/>
              <a:t>Fünfte Ebene</a:t>
            </a:r>
          </a:p>
        </p:txBody>
      </p:sp>
      <p:sp>
        <p:nvSpPr>
          <p:cNvPr id="10246" name="Rectangle 6"/>
          <p:cNvSpPr>
            <a:spLocks noGrp="1" noChangeArrowheads="1"/>
          </p:cNvSpPr>
          <p:nvPr>
            <p:ph type="ftr" sz="quarter" idx="4"/>
          </p:nvPr>
        </p:nvSpPr>
        <p:spPr bwMode="auto">
          <a:xfrm>
            <a:off x="0"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l" defTabSz="966788" eaLnBrk="1" hangingPunct="1">
              <a:lnSpc>
                <a:spcPct val="100000"/>
              </a:lnSpc>
              <a:defRPr sz="1300" smtClean="0">
                <a:latin typeface="Arial" charset="0"/>
              </a:defRPr>
            </a:lvl1pPr>
          </a:lstStyle>
          <a:p>
            <a:pPr>
              <a:defRPr/>
            </a:pPr>
            <a:endParaRPr lang="en-US" altLang="zh-CN"/>
          </a:p>
        </p:txBody>
      </p:sp>
      <p:sp>
        <p:nvSpPr>
          <p:cNvPr id="10247" name="Rectangle 7"/>
          <p:cNvSpPr>
            <a:spLocks noGrp="1" noChangeArrowheads="1"/>
          </p:cNvSpPr>
          <p:nvPr>
            <p:ph type="sldNum" sz="quarter" idx="5"/>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6661" tIns="48331" rIns="96661" bIns="48331" numCol="1" anchor="b" anchorCtr="0" compatLnSpc="1">
            <a:prstTxWarp prst="textNoShape">
              <a:avLst/>
            </a:prstTxWarp>
          </a:bodyPr>
          <a:lstStyle>
            <a:lvl1pPr algn="r" defTabSz="966788" eaLnBrk="1" hangingPunct="1">
              <a:lnSpc>
                <a:spcPct val="100000"/>
              </a:lnSpc>
              <a:defRPr sz="1300"/>
            </a:lvl1pPr>
          </a:lstStyle>
          <a:p>
            <a:fld id="{B7E20201-D3CF-4DC9-9621-1292D4362A76}"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6A99E935-31FF-4192-98BB-B65820BC291C}" type="slidenum">
              <a:rPr lang="en-US" altLang="zh-CN" sz="1300"/>
              <a:pPr/>
              <a:t>9</a:t>
            </a:fld>
            <a:endParaRPr lang="en-US" altLang="zh-CN" sz="1300"/>
          </a:p>
        </p:txBody>
      </p:sp>
      <p:sp>
        <p:nvSpPr>
          <p:cNvPr id="57347" name="Rectangle 2"/>
          <p:cNvSpPr>
            <a:spLocks noGrp="1" noRot="1" noChangeAspect="1" noChangeArrowheads="1" noTextEdit="1"/>
          </p:cNvSpPr>
          <p:nvPr>
            <p:ph type="sldImg"/>
          </p:nvPr>
        </p:nvSpPr>
        <p:spPr>
          <a:xfrm>
            <a:off x="1252538" y="711200"/>
            <a:ext cx="4813300" cy="3609975"/>
          </a:xfrm>
          <a:ln/>
        </p:spPr>
      </p:sp>
      <p:sp>
        <p:nvSpPr>
          <p:cNvPr id="5734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D471486-451A-495C-880E-B5335B3F29BD}" type="slidenum">
              <a:rPr lang="en-US" altLang="zh-CN" sz="1300"/>
              <a:pPr/>
              <a:t>10</a:t>
            </a:fld>
            <a:endParaRPr lang="en-US" altLang="zh-CN" sz="1300"/>
          </a:p>
        </p:txBody>
      </p:sp>
      <p:sp>
        <p:nvSpPr>
          <p:cNvPr id="58371" name="Rectangle 2"/>
          <p:cNvSpPr>
            <a:spLocks noGrp="1" noRot="1" noChangeAspect="1" noChangeArrowheads="1" noTextEdit="1"/>
          </p:cNvSpPr>
          <p:nvPr>
            <p:ph type="sldImg"/>
          </p:nvPr>
        </p:nvSpPr>
        <p:spPr>
          <a:xfrm>
            <a:off x="1252538" y="711200"/>
            <a:ext cx="4813300" cy="3609975"/>
          </a:xfrm>
          <a:ln/>
        </p:spPr>
      </p:sp>
      <p:sp>
        <p:nvSpPr>
          <p:cNvPr id="5837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9A0FEF3-84D8-417E-A891-C183D5C4800C}" type="slidenum">
              <a:rPr lang="en-US" altLang="zh-CN" sz="1300"/>
              <a:pPr/>
              <a:t>11</a:t>
            </a:fld>
            <a:endParaRPr lang="en-US" altLang="zh-CN" sz="1300"/>
          </a:p>
        </p:txBody>
      </p:sp>
      <p:sp>
        <p:nvSpPr>
          <p:cNvPr id="59395" name="Rectangle 2"/>
          <p:cNvSpPr>
            <a:spLocks noGrp="1" noRot="1" noChangeAspect="1" noChangeArrowheads="1" noTextEdit="1"/>
          </p:cNvSpPr>
          <p:nvPr>
            <p:ph type="sldImg"/>
          </p:nvPr>
        </p:nvSpPr>
        <p:spPr>
          <a:xfrm>
            <a:off x="1252538" y="711200"/>
            <a:ext cx="4813300" cy="3609975"/>
          </a:xfrm>
          <a:ln/>
        </p:spPr>
      </p:sp>
      <p:sp>
        <p:nvSpPr>
          <p:cNvPr id="5939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0DA784A8-45FA-4C0E-BCA6-93F7747E5CA4}" type="slidenum">
              <a:rPr lang="en-US" altLang="zh-CN" sz="1300"/>
              <a:pPr/>
              <a:t>12</a:t>
            </a:fld>
            <a:endParaRPr lang="en-US" altLang="zh-CN" sz="1300"/>
          </a:p>
        </p:txBody>
      </p:sp>
      <p:sp>
        <p:nvSpPr>
          <p:cNvPr id="60419" name="Rectangle 2"/>
          <p:cNvSpPr>
            <a:spLocks noGrp="1" noRot="1" noChangeAspect="1" noChangeArrowheads="1" noTextEdit="1"/>
          </p:cNvSpPr>
          <p:nvPr>
            <p:ph type="sldImg"/>
          </p:nvPr>
        </p:nvSpPr>
        <p:spPr>
          <a:xfrm>
            <a:off x="1252538" y="711200"/>
            <a:ext cx="4813300" cy="3609975"/>
          </a:xfrm>
          <a:ln/>
        </p:spPr>
      </p:sp>
      <p:sp>
        <p:nvSpPr>
          <p:cNvPr id="6042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471B246-8E59-4DE2-AF6E-9F5ED7BB3A42}" type="slidenum">
              <a:rPr lang="en-US" altLang="zh-CN" sz="1300"/>
              <a:pPr/>
              <a:t>13</a:t>
            </a:fld>
            <a:endParaRPr lang="en-US" altLang="zh-CN" sz="1300"/>
          </a:p>
        </p:txBody>
      </p:sp>
      <p:sp>
        <p:nvSpPr>
          <p:cNvPr id="61443" name="Rectangle 2"/>
          <p:cNvSpPr>
            <a:spLocks noGrp="1" noRot="1" noChangeAspect="1" noChangeArrowheads="1" noTextEdit="1"/>
          </p:cNvSpPr>
          <p:nvPr>
            <p:ph type="sldImg"/>
          </p:nvPr>
        </p:nvSpPr>
        <p:spPr>
          <a:xfrm>
            <a:off x="1252538" y="711200"/>
            <a:ext cx="4813300" cy="3609975"/>
          </a:xfrm>
          <a:ln/>
        </p:spPr>
      </p:sp>
      <p:sp>
        <p:nvSpPr>
          <p:cNvPr id="6144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08E0283-8A64-46F9-8AE7-0A782CF61CB3}" type="slidenum">
              <a:rPr lang="en-US" altLang="zh-CN" sz="1300"/>
              <a:pPr/>
              <a:t>14</a:t>
            </a:fld>
            <a:endParaRPr lang="en-US" altLang="zh-CN" sz="1300"/>
          </a:p>
        </p:txBody>
      </p:sp>
      <p:sp>
        <p:nvSpPr>
          <p:cNvPr id="62467" name="Rectangle 2"/>
          <p:cNvSpPr>
            <a:spLocks noGrp="1" noRot="1" noChangeAspect="1" noChangeArrowheads="1" noTextEdit="1"/>
          </p:cNvSpPr>
          <p:nvPr>
            <p:ph type="sldImg"/>
          </p:nvPr>
        </p:nvSpPr>
        <p:spPr>
          <a:xfrm>
            <a:off x="1252538" y="711200"/>
            <a:ext cx="4813300" cy="3609975"/>
          </a:xfrm>
          <a:ln/>
        </p:spPr>
      </p:sp>
      <p:sp>
        <p:nvSpPr>
          <p:cNvPr id="6246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675FC9AE-491E-4F11-BB33-FAD43238AC6B}" type="slidenum">
              <a:rPr lang="en-US" altLang="zh-CN" sz="1300"/>
              <a:pPr/>
              <a:t>15</a:t>
            </a:fld>
            <a:endParaRPr lang="en-US" altLang="zh-CN" sz="1300"/>
          </a:p>
        </p:txBody>
      </p:sp>
      <p:sp>
        <p:nvSpPr>
          <p:cNvPr id="63491" name="Rectangle 2"/>
          <p:cNvSpPr>
            <a:spLocks noGrp="1" noRot="1" noChangeAspect="1" noChangeArrowheads="1" noTextEdit="1"/>
          </p:cNvSpPr>
          <p:nvPr>
            <p:ph type="sldImg"/>
          </p:nvPr>
        </p:nvSpPr>
        <p:spPr>
          <a:xfrm>
            <a:off x="1252538" y="711200"/>
            <a:ext cx="4813300" cy="3609975"/>
          </a:xfrm>
          <a:ln/>
        </p:spPr>
      </p:sp>
      <p:sp>
        <p:nvSpPr>
          <p:cNvPr id="6349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840208BA-E8BC-4917-BA59-DF739C161CA6}" type="slidenum">
              <a:rPr lang="en-US" altLang="zh-CN" sz="1300"/>
              <a:pPr/>
              <a:t>16</a:t>
            </a:fld>
            <a:endParaRPr lang="en-US" altLang="zh-CN" sz="1300"/>
          </a:p>
        </p:txBody>
      </p:sp>
      <p:sp>
        <p:nvSpPr>
          <p:cNvPr id="64515" name="Rectangle 2"/>
          <p:cNvSpPr>
            <a:spLocks noGrp="1" noRot="1" noChangeAspect="1" noChangeArrowheads="1" noTextEdit="1"/>
          </p:cNvSpPr>
          <p:nvPr>
            <p:ph type="sldImg"/>
          </p:nvPr>
        </p:nvSpPr>
        <p:spPr>
          <a:xfrm>
            <a:off x="1252538" y="711200"/>
            <a:ext cx="4813300" cy="3609975"/>
          </a:xfrm>
          <a:ln/>
        </p:spPr>
      </p:sp>
      <p:sp>
        <p:nvSpPr>
          <p:cNvPr id="6451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920BE37-5FAF-49B6-AF52-9E911648A1E8}" type="slidenum">
              <a:rPr lang="en-US" altLang="zh-CN" sz="1300"/>
              <a:pPr/>
              <a:t>17</a:t>
            </a:fld>
            <a:endParaRPr lang="en-US" altLang="zh-CN" sz="1300"/>
          </a:p>
        </p:txBody>
      </p:sp>
      <p:sp>
        <p:nvSpPr>
          <p:cNvPr id="65539" name="Rectangle 2"/>
          <p:cNvSpPr>
            <a:spLocks noGrp="1" noRot="1" noChangeAspect="1" noChangeArrowheads="1" noTextEdit="1"/>
          </p:cNvSpPr>
          <p:nvPr>
            <p:ph type="sldImg"/>
          </p:nvPr>
        </p:nvSpPr>
        <p:spPr>
          <a:xfrm>
            <a:off x="1252538" y="711200"/>
            <a:ext cx="4813300" cy="3609975"/>
          </a:xfrm>
          <a:ln/>
        </p:spPr>
      </p:sp>
      <p:sp>
        <p:nvSpPr>
          <p:cNvPr id="6554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28C522A6-964A-41B4-AE28-C94CF98CB4CA}" type="slidenum">
              <a:rPr lang="en-US" altLang="zh-CN" sz="1300"/>
              <a:pPr/>
              <a:t>18</a:t>
            </a:fld>
            <a:endParaRPr lang="en-US" altLang="zh-CN" sz="1300"/>
          </a:p>
        </p:txBody>
      </p:sp>
      <p:sp>
        <p:nvSpPr>
          <p:cNvPr id="66563" name="Rectangle 2"/>
          <p:cNvSpPr>
            <a:spLocks noGrp="1" noRot="1" noChangeAspect="1" noChangeArrowheads="1" noTextEdit="1"/>
          </p:cNvSpPr>
          <p:nvPr>
            <p:ph type="sldImg"/>
          </p:nvPr>
        </p:nvSpPr>
        <p:spPr>
          <a:xfrm>
            <a:off x="1252538" y="711200"/>
            <a:ext cx="4813300" cy="3609975"/>
          </a:xfrm>
          <a:ln/>
        </p:spPr>
      </p:sp>
      <p:sp>
        <p:nvSpPr>
          <p:cNvPr id="6656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0875C50C-CC5F-430F-9C3A-E6B51EB791ED}" type="slidenum">
              <a:rPr lang="en-US" altLang="zh-CN" sz="1300"/>
              <a:pPr/>
              <a:t>19</a:t>
            </a:fld>
            <a:endParaRPr lang="en-US" altLang="zh-CN" sz="1300"/>
          </a:p>
        </p:txBody>
      </p:sp>
      <p:sp>
        <p:nvSpPr>
          <p:cNvPr id="67587" name="Rectangle 2"/>
          <p:cNvSpPr>
            <a:spLocks noGrp="1" noRot="1" noChangeAspect="1" noChangeArrowheads="1" noTextEdit="1"/>
          </p:cNvSpPr>
          <p:nvPr>
            <p:ph type="sldImg"/>
          </p:nvPr>
        </p:nvSpPr>
        <p:spPr>
          <a:xfrm>
            <a:off x="1252538" y="711200"/>
            <a:ext cx="4813300" cy="3609975"/>
          </a:xfrm>
          <a:ln/>
        </p:spPr>
      </p:sp>
      <p:sp>
        <p:nvSpPr>
          <p:cNvPr id="6758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AADB85D8-2D11-4E75-AC6E-323F6D185726}" type="slidenum">
              <a:rPr lang="en-US" altLang="zh-CN" sz="1300"/>
              <a:pPr/>
              <a:t>20</a:t>
            </a:fld>
            <a:endParaRPr lang="en-US" altLang="zh-CN" sz="1300"/>
          </a:p>
        </p:txBody>
      </p:sp>
      <p:sp>
        <p:nvSpPr>
          <p:cNvPr id="68611" name="Rectangle 2"/>
          <p:cNvSpPr>
            <a:spLocks noGrp="1" noRot="1" noChangeAspect="1" noChangeArrowheads="1" noTextEdit="1"/>
          </p:cNvSpPr>
          <p:nvPr>
            <p:ph type="sldImg"/>
          </p:nvPr>
        </p:nvSpPr>
        <p:spPr>
          <a:xfrm>
            <a:off x="1252538" y="711200"/>
            <a:ext cx="4813300" cy="3609975"/>
          </a:xfrm>
          <a:ln/>
        </p:spPr>
      </p:sp>
      <p:sp>
        <p:nvSpPr>
          <p:cNvPr id="6861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CAD88F6-3F7C-4E4C-8CA0-746606A990B8}" type="slidenum">
              <a:rPr lang="en-US" altLang="zh-CN" sz="1300"/>
              <a:pPr/>
              <a:t>21</a:t>
            </a:fld>
            <a:endParaRPr lang="en-US" altLang="zh-CN" sz="1300"/>
          </a:p>
        </p:txBody>
      </p:sp>
      <p:sp>
        <p:nvSpPr>
          <p:cNvPr id="69635" name="Rectangle 2"/>
          <p:cNvSpPr>
            <a:spLocks noGrp="1" noRot="1" noChangeAspect="1" noChangeArrowheads="1" noTextEdit="1"/>
          </p:cNvSpPr>
          <p:nvPr>
            <p:ph type="sldImg"/>
          </p:nvPr>
        </p:nvSpPr>
        <p:spPr>
          <a:xfrm>
            <a:off x="1252538" y="711200"/>
            <a:ext cx="4813300" cy="3609975"/>
          </a:xfrm>
          <a:ln/>
        </p:spPr>
      </p:sp>
      <p:sp>
        <p:nvSpPr>
          <p:cNvPr id="6963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91269DB6-A66B-409C-8D84-812798589A76}" type="slidenum">
              <a:rPr lang="en-US" altLang="zh-CN" sz="1300"/>
              <a:pPr/>
              <a:t>22</a:t>
            </a:fld>
            <a:endParaRPr lang="en-US" altLang="zh-CN" sz="1300"/>
          </a:p>
        </p:txBody>
      </p:sp>
      <p:sp>
        <p:nvSpPr>
          <p:cNvPr id="70659" name="Rectangle 2"/>
          <p:cNvSpPr>
            <a:spLocks noGrp="1" noRot="1" noChangeAspect="1" noChangeArrowheads="1" noTextEdit="1"/>
          </p:cNvSpPr>
          <p:nvPr>
            <p:ph type="sldImg"/>
          </p:nvPr>
        </p:nvSpPr>
        <p:spPr>
          <a:xfrm>
            <a:off x="1252538" y="711200"/>
            <a:ext cx="4813300" cy="3609975"/>
          </a:xfrm>
          <a:ln/>
        </p:spPr>
      </p:sp>
      <p:sp>
        <p:nvSpPr>
          <p:cNvPr id="7066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D9109AA6-868B-4023-9F15-6B7ADF90F8D1}" type="slidenum">
              <a:rPr lang="en-US" altLang="zh-CN" sz="1300"/>
              <a:pPr/>
              <a:t>23</a:t>
            </a:fld>
            <a:endParaRPr lang="en-US" altLang="zh-CN" sz="1300"/>
          </a:p>
        </p:txBody>
      </p:sp>
      <p:sp>
        <p:nvSpPr>
          <p:cNvPr id="71683" name="Rectangle 2"/>
          <p:cNvSpPr>
            <a:spLocks noGrp="1" noRot="1" noChangeAspect="1" noChangeArrowheads="1" noTextEdit="1"/>
          </p:cNvSpPr>
          <p:nvPr>
            <p:ph type="sldImg"/>
          </p:nvPr>
        </p:nvSpPr>
        <p:spPr>
          <a:xfrm>
            <a:off x="1252538" y="711200"/>
            <a:ext cx="4813300" cy="3609975"/>
          </a:xfrm>
          <a:ln/>
        </p:spPr>
      </p:sp>
      <p:sp>
        <p:nvSpPr>
          <p:cNvPr id="7168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B536293-D073-45DD-9D93-3AD96010A1F1}" type="slidenum">
              <a:rPr lang="en-US" altLang="zh-CN" sz="1300"/>
              <a:pPr/>
              <a:t>24</a:t>
            </a:fld>
            <a:endParaRPr lang="en-US" altLang="zh-CN" sz="1300"/>
          </a:p>
        </p:txBody>
      </p:sp>
      <p:sp>
        <p:nvSpPr>
          <p:cNvPr id="72707" name="Rectangle 2"/>
          <p:cNvSpPr>
            <a:spLocks noGrp="1" noRot="1" noChangeAspect="1" noChangeArrowheads="1" noTextEdit="1"/>
          </p:cNvSpPr>
          <p:nvPr>
            <p:ph type="sldImg"/>
          </p:nvPr>
        </p:nvSpPr>
        <p:spPr>
          <a:xfrm>
            <a:off x="1252538" y="711200"/>
            <a:ext cx="4813300" cy="3609975"/>
          </a:xfrm>
          <a:ln/>
        </p:spPr>
      </p:sp>
      <p:sp>
        <p:nvSpPr>
          <p:cNvPr id="7270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9D6E3E7-B07D-44D9-91C2-CD3FB675437A}" type="slidenum">
              <a:rPr lang="en-US" altLang="zh-CN" sz="1300"/>
              <a:pPr/>
              <a:t>25</a:t>
            </a:fld>
            <a:endParaRPr lang="en-US" altLang="zh-CN" sz="1300"/>
          </a:p>
        </p:txBody>
      </p:sp>
      <p:sp>
        <p:nvSpPr>
          <p:cNvPr id="73731" name="Rectangle 2"/>
          <p:cNvSpPr>
            <a:spLocks noGrp="1" noRot="1" noChangeAspect="1" noChangeArrowheads="1" noTextEdit="1"/>
          </p:cNvSpPr>
          <p:nvPr>
            <p:ph type="sldImg"/>
          </p:nvPr>
        </p:nvSpPr>
        <p:spPr>
          <a:xfrm>
            <a:off x="1252538" y="711200"/>
            <a:ext cx="4813300" cy="3609975"/>
          </a:xfrm>
          <a:ln/>
        </p:spPr>
      </p:sp>
      <p:sp>
        <p:nvSpPr>
          <p:cNvPr id="7373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DE48ED90-8D6B-4907-99F2-C9F612EB14FA}" type="slidenum">
              <a:rPr lang="en-US" altLang="zh-CN" sz="1300"/>
              <a:pPr/>
              <a:t>26</a:t>
            </a:fld>
            <a:endParaRPr lang="en-US" altLang="zh-CN" sz="1300"/>
          </a:p>
        </p:txBody>
      </p:sp>
      <p:sp>
        <p:nvSpPr>
          <p:cNvPr id="74755" name="Rectangle 2"/>
          <p:cNvSpPr>
            <a:spLocks noGrp="1" noRot="1" noChangeAspect="1" noChangeArrowheads="1" noTextEdit="1"/>
          </p:cNvSpPr>
          <p:nvPr>
            <p:ph type="sldImg"/>
          </p:nvPr>
        </p:nvSpPr>
        <p:spPr>
          <a:xfrm>
            <a:off x="1252538" y="711200"/>
            <a:ext cx="4813300" cy="3609975"/>
          </a:xfrm>
          <a:ln/>
        </p:spPr>
      </p:sp>
      <p:sp>
        <p:nvSpPr>
          <p:cNvPr id="7475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27</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28</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7582650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29</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124069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30</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155216773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31</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3795696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32</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4103459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33</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2095215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31E47C6-512C-47C9-801A-68D32358059C}" type="slidenum">
              <a:rPr lang="en-US" altLang="zh-CN" sz="1300"/>
              <a:pPr/>
              <a:t>34</a:t>
            </a:fld>
            <a:endParaRPr lang="en-US" altLang="zh-CN" sz="1300"/>
          </a:p>
        </p:txBody>
      </p:sp>
      <p:sp>
        <p:nvSpPr>
          <p:cNvPr id="75779" name="Rectangle 2"/>
          <p:cNvSpPr>
            <a:spLocks noGrp="1" noRot="1" noChangeAspect="1" noChangeArrowheads="1" noTextEdit="1"/>
          </p:cNvSpPr>
          <p:nvPr>
            <p:ph type="sldImg"/>
          </p:nvPr>
        </p:nvSpPr>
        <p:spPr>
          <a:xfrm>
            <a:off x="1252538" y="711200"/>
            <a:ext cx="4813300" cy="3609975"/>
          </a:xfrm>
          <a:ln/>
        </p:spPr>
      </p:sp>
      <p:sp>
        <p:nvSpPr>
          <p:cNvPr id="7578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extLst>
      <p:ext uri="{BB962C8B-B14F-4D97-AF65-F5344CB8AC3E}">
        <p14:creationId xmlns:p14="http://schemas.microsoft.com/office/powerpoint/2010/main" val="2508744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D4131DD-AE70-4E6B-8A73-8E1450AAF8AA}" type="slidenum">
              <a:rPr lang="en-US" altLang="zh-CN" sz="1300"/>
              <a:pPr/>
              <a:t>36</a:t>
            </a:fld>
            <a:endParaRPr lang="en-US" altLang="zh-CN" sz="1300"/>
          </a:p>
        </p:txBody>
      </p:sp>
      <p:sp>
        <p:nvSpPr>
          <p:cNvPr id="76803" name="Rectangle 2"/>
          <p:cNvSpPr>
            <a:spLocks noGrp="1" noRot="1" noChangeAspect="1" noChangeArrowheads="1" noTextEdit="1"/>
          </p:cNvSpPr>
          <p:nvPr>
            <p:ph type="sldImg"/>
          </p:nvPr>
        </p:nvSpPr>
        <p:spPr>
          <a:xfrm>
            <a:off x="1252538" y="711200"/>
            <a:ext cx="4813300" cy="3609975"/>
          </a:xfrm>
          <a:ln/>
        </p:spPr>
      </p:sp>
      <p:sp>
        <p:nvSpPr>
          <p:cNvPr id="7680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F92FCF8-AD28-4A1D-AF1F-7B4AF8B79EB5}" type="slidenum">
              <a:rPr lang="en-US" altLang="zh-CN" sz="1300"/>
              <a:pPr/>
              <a:t>37</a:t>
            </a:fld>
            <a:endParaRPr lang="en-US" altLang="zh-CN" sz="1300"/>
          </a:p>
        </p:txBody>
      </p:sp>
      <p:sp>
        <p:nvSpPr>
          <p:cNvPr id="77827" name="Rectangle 2"/>
          <p:cNvSpPr>
            <a:spLocks noGrp="1" noRot="1" noChangeAspect="1" noChangeArrowheads="1" noTextEdit="1"/>
          </p:cNvSpPr>
          <p:nvPr>
            <p:ph type="sldImg"/>
          </p:nvPr>
        </p:nvSpPr>
        <p:spPr>
          <a:xfrm>
            <a:off x="1252538" y="711200"/>
            <a:ext cx="4813300" cy="3609975"/>
          </a:xfrm>
          <a:ln/>
        </p:spPr>
      </p:sp>
      <p:sp>
        <p:nvSpPr>
          <p:cNvPr id="7782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14B59B5-113B-4FBE-BB01-666337EC7986}" type="slidenum">
              <a:rPr lang="en-US" altLang="zh-CN" sz="1300"/>
              <a:pPr/>
              <a:t>38</a:t>
            </a:fld>
            <a:endParaRPr lang="en-US" altLang="zh-CN" sz="1300"/>
          </a:p>
        </p:txBody>
      </p:sp>
      <p:sp>
        <p:nvSpPr>
          <p:cNvPr id="78851" name="Rectangle 2"/>
          <p:cNvSpPr>
            <a:spLocks noGrp="1" noRot="1" noChangeAspect="1" noChangeArrowheads="1" noTextEdit="1"/>
          </p:cNvSpPr>
          <p:nvPr>
            <p:ph type="sldImg"/>
          </p:nvPr>
        </p:nvSpPr>
        <p:spPr>
          <a:xfrm>
            <a:off x="1252538" y="711200"/>
            <a:ext cx="4813300" cy="3609975"/>
          </a:xfrm>
          <a:ln/>
        </p:spPr>
      </p:sp>
      <p:sp>
        <p:nvSpPr>
          <p:cNvPr id="7885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1BB896A1-168B-48D1-844F-0E6605EA93C9}" type="slidenum">
              <a:rPr lang="en-US" altLang="zh-CN" sz="1300"/>
              <a:pPr/>
              <a:t>39</a:t>
            </a:fld>
            <a:endParaRPr lang="en-US" altLang="zh-CN" sz="1300"/>
          </a:p>
        </p:txBody>
      </p:sp>
      <p:sp>
        <p:nvSpPr>
          <p:cNvPr id="79875" name="Rectangle 2"/>
          <p:cNvSpPr>
            <a:spLocks noGrp="1" noRot="1" noChangeAspect="1" noChangeArrowheads="1" noTextEdit="1"/>
          </p:cNvSpPr>
          <p:nvPr>
            <p:ph type="sldImg"/>
          </p:nvPr>
        </p:nvSpPr>
        <p:spPr>
          <a:xfrm>
            <a:off x="1252538" y="711200"/>
            <a:ext cx="4813300" cy="3609975"/>
          </a:xfrm>
          <a:ln/>
        </p:spPr>
      </p:sp>
      <p:sp>
        <p:nvSpPr>
          <p:cNvPr id="7987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9F3E7A5-BEFA-4DE5-9117-7EF7589E244E}" type="slidenum">
              <a:rPr lang="en-US" altLang="zh-CN" sz="1300"/>
              <a:pPr/>
              <a:t>40</a:t>
            </a:fld>
            <a:endParaRPr lang="en-US" altLang="zh-CN" sz="1300"/>
          </a:p>
        </p:txBody>
      </p:sp>
      <p:sp>
        <p:nvSpPr>
          <p:cNvPr id="80899" name="Rectangle 2"/>
          <p:cNvSpPr>
            <a:spLocks noGrp="1" noRot="1" noChangeAspect="1" noChangeArrowheads="1" noTextEdit="1"/>
          </p:cNvSpPr>
          <p:nvPr>
            <p:ph type="sldImg"/>
          </p:nvPr>
        </p:nvSpPr>
        <p:spPr>
          <a:xfrm>
            <a:off x="1252538" y="711200"/>
            <a:ext cx="4813300" cy="3609975"/>
          </a:xfrm>
          <a:ln/>
        </p:spPr>
      </p:sp>
      <p:sp>
        <p:nvSpPr>
          <p:cNvPr id="8090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4133AD2-64E9-4BEA-83AA-F62082AB2AE8}" type="slidenum">
              <a:rPr lang="en-US" altLang="zh-CN" sz="1300"/>
              <a:pPr/>
              <a:t>41</a:t>
            </a:fld>
            <a:endParaRPr lang="en-US" altLang="zh-CN" sz="1300"/>
          </a:p>
        </p:txBody>
      </p:sp>
      <p:sp>
        <p:nvSpPr>
          <p:cNvPr id="81923" name="Rectangle 2"/>
          <p:cNvSpPr>
            <a:spLocks noGrp="1" noRot="1" noChangeAspect="1" noChangeArrowheads="1" noTextEdit="1"/>
          </p:cNvSpPr>
          <p:nvPr>
            <p:ph type="sldImg"/>
          </p:nvPr>
        </p:nvSpPr>
        <p:spPr>
          <a:xfrm>
            <a:off x="1252538" y="711200"/>
            <a:ext cx="4813300" cy="3609975"/>
          </a:xfrm>
          <a:ln/>
        </p:spPr>
      </p:sp>
      <p:sp>
        <p:nvSpPr>
          <p:cNvPr id="8192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457BFDA-27EA-42B8-925A-3B4FCBFB9337}" type="slidenum">
              <a:rPr lang="en-US" altLang="zh-CN" sz="1300"/>
              <a:pPr/>
              <a:t>42</a:t>
            </a:fld>
            <a:endParaRPr lang="en-US" altLang="zh-CN" sz="1300"/>
          </a:p>
        </p:txBody>
      </p:sp>
      <p:sp>
        <p:nvSpPr>
          <p:cNvPr id="82947" name="Rectangle 2"/>
          <p:cNvSpPr>
            <a:spLocks noGrp="1" noRot="1" noChangeAspect="1" noChangeArrowheads="1" noTextEdit="1"/>
          </p:cNvSpPr>
          <p:nvPr>
            <p:ph type="sldImg"/>
          </p:nvPr>
        </p:nvSpPr>
        <p:spPr>
          <a:xfrm>
            <a:off x="1252538" y="711200"/>
            <a:ext cx="4813300" cy="3609975"/>
          </a:xfrm>
          <a:ln/>
        </p:spPr>
      </p:sp>
      <p:sp>
        <p:nvSpPr>
          <p:cNvPr id="8294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DA6820DC-EB3A-48DA-9D17-32B6580EF921}" type="slidenum">
              <a:rPr lang="en-US" altLang="zh-CN" sz="1300"/>
              <a:pPr/>
              <a:t>43</a:t>
            </a:fld>
            <a:endParaRPr lang="en-US" altLang="zh-CN" sz="1300"/>
          </a:p>
        </p:txBody>
      </p:sp>
      <p:sp>
        <p:nvSpPr>
          <p:cNvPr id="83971" name="Rectangle 2"/>
          <p:cNvSpPr>
            <a:spLocks noGrp="1" noRot="1" noChangeAspect="1" noChangeArrowheads="1" noTextEdit="1"/>
          </p:cNvSpPr>
          <p:nvPr>
            <p:ph type="sldImg"/>
          </p:nvPr>
        </p:nvSpPr>
        <p:spPr>
          <a:xfrm>
            <a:off x="1252538" y="711200"/>
            <a:ext cx="4813300" cy="3609975"/>
          </a:xfrm>
          <a:ln/>
        </p:spPr>
      </p:sp>
      <p:sp>
        <p:nvSpPr>
          <p:cNvPr id="8397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1EAB3D0-A6C5-428B-A5C9-67895159E9EC}" type="slidenum">
              <a:rPr lang="en-US" altLang="zh-CN" sz="1300"/>
              <a:pPr/>
              <a:t>44</a:t>
            </a:fld>
            <a:endParaRPr lang="en-US" altLang="zh-CN" sz="1300"/>
          </a:p>
        </p:txBody>
      </p:sp>
      <p:sp>
        <p:nvSpPr>
          <p:cNvPr id="84995" name="Rectangle 2"/>
          <p:cNvSpPr>
            <a:spLocks noGrp="1" noRot="1" noChangeAspect="1" noChangeArrowheads="1" noTextEdit="1"/>
          </p:cNvSpPr>
          <p:nvPr>
            <p:ph type="sldImg"/>
          </p:nvPr>
        </p:nvSpPr>
        <p:spPr>
          <a:xfrm>
            <a:off x="1252538" y="711200"/>
            <a:ext cx="4813300" cy="3609975"/>
          </a:xfrm>
          <a:ln/>
        </p:spPr>
      </p:sp>
      <p:sp>
        <p:nvSpPr>
          <p:cNvPr id="8499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32FC3D56-DD7C-4047-B052-151FBAF1B53D}" type="slidenum">
              <a:rPr lang="en-US" altLang="zh-CN" sz="1300"/>
              <a:pPr/>
              <a:t>45</a:t>
            </a:fld>
            <a:endParaRPr lang="en-US" altLang="zh-CN" sz="1300"/>
          </a:p>
        </p:txBody>
      </p:sp>
      <p:sp>
        <p:nvSpPr>
          <p:cNvPr id="86019" name="Rectangle 2"/>
          <p:cNvSpPr>
            <a:spLocks noGrp="1" noRot="1" noChangeAspect="1" noChangeArrowheads="1" noTextEdit="1"/>
          </p:cNvSpPr>
          <p:nvPr>
            <p:ph type="sldImg"/>
          </p:nvPr>
        </p:nvSpPr>
        <p:spPr>
          <a:xfrm>
            <a:off x="1252538" y="711200"/>
            <a:ext cx="4813300" cy="3609975"/>
          </a:xfrm>
          <a:ln/>
        </p:spPr>
      </p:sp>
      <p:sp>
        <p:nvSpPr>
          <p:cNvPr id="8602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2364368E-4790-408D-996B-AA12913F24A7}" type="slidenum">
              <a:rPr lang="en-US" altLang="zh-CN" sz="1300"/>
              <a:pPr/>
              <a:t>46</a:t>
            </a:fld>
            <a:endParaRPr lang="en-US" altLang="zh-CN" sz="1300"/>
          </a:p>
        </p:txBody>
      </p:sp>
      <p:sp>
        <p:nvSpPr>
          <p:cNvPr id="87043" name="Rectangle 2"/>
          <p:cNvSpPr>
            <a:spLocks noGrp="1" noRot="1" noChangeAspect="1" noChangeArrowheads="1" noTextEdit="1"/>
          </p:cNvSpPr>
          <p:nvPr>
            <p:ph type="sldImg"/>
          </p:nvPr>
        </p:nvSpPr>
        <p:spPr>
          <a:xfrm>
            <a:off x="1252538" y="711200"/>
            <a:ext cx="4813300" cy="3609975"/>
          </a:xfrm>
          <a:ln/>
        </p:spPr>
      </p:sp>
      <p:sp>
        <p:nvSpPr>
          <p:cNvPr id="8704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972BEDA1-654A-492B-B3D3-FEC7EA72C627}" type="slidenum">
              <a:rPr lang="en-US" altLang="zh-CN" sz="1300"/>
              <a:pPr/>
              <a:t>47</a:t>
            </a:fld>
            <a:endParaRPr lang="en-US" altLang="zh-CN" sz="1300"/>
          </a:p>
        </p:txBody>
      </p:sp>
      <p:sp>
        <p:nvSpPr>
          <p:cNvPr id="88067" name="Rectangle 2"/>
          <p:cNvSpPr>
            <a:spLocks noGrp="1" noRot="1" noChangeAspect="1" noChangeArrowheads="1" noTextEdit="1"/>
          </p:cNvSpPr>
          <p:nvPr>
            <p:ph type="sldImg"/>
          </p:nvPr>
        </p:nvSpPr>
        <p:spPr>
          <a:xfrm>
            <a:off x="1252538" y="711200"/>
            <a:ext cx="4813300" cy="3609975"/>
          </a:xfrm>
          <a:ln/>
        </p:spPr>
      </p:sp>
      <p:sp>
        <p:nvSpPr>
          <p:cNvPr id="8806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3C58421-0CD8-491B-872B-38B46F659F3C}" type="slidenum">
              <a:rPr lang="en-US" altLang="zh-CN" sz="1300"/>
              <a:pPr/>
              <a:t>48</a:t>
            </a:fld>
            <a:endParaRPr lang="en-US" altLang="zh-CN" sz="1300"/>
          </a:p>
        </p:txBody>
      </p:sp>
      <p:sp>
        <p:nvSpPr>
          <p:cNvPr id="89091" name="Rectangle 2"/>
          <p:cNvSpPr>
            <a:spLocks noGrp="1" noRot="1" noChangeAspect="1" noChangeArrowheads="1" noTextEdit="1"/>
          </p:cNvSpPr>
          <p:nvPr>
            <p:ph type="sldImg"/>
          </p:nvPr>
        </p:nvSpPr>
        <p:spPr>
          <a:xfrm>
            <a:off x="1252538" y="711200"/>
            <a:ext cx="4813300" cy="3609975"/>
          </a:xfrm>
          <a:ln/>
        </p:spPr>
      </p:sp>
      <p:sp>
        <p:nvSpPr>
          <p:cNvPr id="8909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6CFA0796-A215-4BE7-A982-4100E19F844B}" type="slidenum">
              <a:rPr lang="en-US" altLang="zh-CN" sz="1300"/>
              <a:pPr/>
              <a:t>49</a:t>
            </a:fld>
            <a:endParaRPr lang="en-US" altLang="zh-CN" sz="1300"/>
          </a:p>
        </p:txBody>
      </p:sp>
      <p:sp>
        <p:nvSpPr>
          <p:cNvPr id="90115" name="Rectangle 2"/>
          <p:cNvSpPr>
            <a:spLocks noGrp="1" noRot="1" noChangeAspect="1" noChangeArrowheads="1" noTextEdit="1"/>
          </p:cNvSpPr>
          <p:nvPr>
            <p:ph type="sldImg"/>
          </p:nvPr>
        </p:nvSpPr>
        <p:spPr>
          <a:xfrm>
            <a:off x="1252538" y="711200"/>
            <a:ext cx="4813300" cy="3609975"/>
          </a:xfrm>
          <a:ln/>
        </p:spPr>
      </p:sp>
      <p:sp>
        <p:nvSpPr>
          <p:cNvPr id="9011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DE833F9-B904-4B4A-9E36-6651B855EC0E}" type="slidenum">
              <a:rPr lang="en-US" altLang="zh-CN" sz="1300"/>
              <a:pPr/>
              <a:t>50</a:t>
            </a:fld>
            <a:endParaRPr lang="en-US" altLang="zh-CN" sz="1300"/>
          </a:p>
        </p:txBody>
      </p:sp>
      <p:sp>
        <p:nvSpPr>
          <p:cNvPr id="91139" name="Rectangle 2"/>
          <p:cNvSpPr>
            <a:spLocks noGrp="1" noRot="1" noChangeAspect="1" noChangeArrowheads="1" noTextEdit="1"/>
          </p:cNvSpPr>
          <p:nvPr>
            <p:ph type="sldImg"/>
          </p:nvPr>
        </p:nvSpPr>
        <p:spPr>
          <a:xfrm>
            <a:off x="1252538" y="711200"/>
            <a:ext cx="4813300" cy="3609975"/>
          </a:xfrm>
          <a:ln/>
        </p:spPr>
      </p:sp>
      <p:sp>
        <p:nvSpPr>
          <p:cNvPr id="9114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8BA17396-8E46-488F-A517-F1161F5DE9BC}" type="slidenum">
              <a:rPr lang="en-US" altLang="zh-CN" sz="1300"/>
              <a:pPr/>
              <a:t>51</a:t>
            </a:fld>
            <a:endParaRPr lang="en-US" altLang="zh-CN" sz="1300"/>
          </a:p>
        </p:txBody>
      </p:sp>
      <p:sp>
        <p:nvSpPr>
          <p:cNvPr id="92163" name="Rectangle 2"/>
          <p:cNvSpPr>
            <a:spLocks noGrp="1" noRot="1" noChangeAspect="1" noChangeArrowheads="1" noTextEdit="1"/>
          </p:cNvSpPr>
          <p:nvPr>
            <p:ph type="sldImg"/>
          </p:nvPr>
        </p:nvSpPr>
        <p:spPr>
          <a:xfrm>
            <a:off x="1252538" y="711200"/>
            <a:ext cx="4813300" cy="3609975"/>
          </a:xfrm>
          <a:ln/>
        </p:spPr>
      </p:sp>
      <p:sp>
        <p:nvSpPr>
          <p:cNvPr id="9216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D757E26-850C-4525-B7C3-EB9A16982884}" type="slidenum">
              <a:rPr lang="en-US" altLang="zh-CN" sz="1300"/>
              <a:pPr/>
              <a:t>52</a:t>
            </a:fld>
            <a:endParaRPr lang="en-US" altLang="zh-CN" sz="1300"/>
          </a:p>
        </p:txBody>
      </p:sp>
      <p:sp>
        <p:nvSpPr>
          <p:cNvPr id="93187" name="Rectangle 2"/>
          <p:cNvSpPr>
            <a:spLocks noGrp="1" noRot="1" noChangeAspect="1" noChangeArrowheads="1" noTextEdit="1"/>
          </p:cNvSpPr>
          <p:nvPr>
            <p:ph type="sldImg"/>
          </p:nvPr>
        </p:nvSpPr>
        <p:spPr>
          <a:xfrm>
            <a:off x="1252538" y="711200"/>
            <a:ext cx="4813300" cy="3609975"/>
          </a:xfrm>
          <a:ln/>
        </p:spPr>
      </p:sp>
      <p:sp>
        <p:nvSpPr>
          <p:cNvPr id="9318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30471323-BA6F-4720-BF97-3A2565C2C263}" type="slidenum">
              <a:rPr lang="en-US" altLang="zh-CN" sz="1300"/>
              <a:pPr/>
              <a:t>53</a:t>
            </a:fld>
            <a:endParaRPr lang="en-US" altLang="zh-CN" sz="1300"/>
          </a:p>
        </p:txBody>
      </p:sp>
      <p:sp>
        <p:nvSpPr>
          <p:cNvPr id="94211" name="Rectangle 2"/>
          <p:cNvSpPr>
            <a:spLocks noGrp="1" noRot="1" noChangeAspect="1" noChangeArrowheads="1" noTextEdit="1"/>
          </p:cNvSpPr>
          <p:nvPr>
            <p:ph type="sldImg"/>
          </p:nvPr>
        </p:nvSpPr>
        <p:spPr>
          <a:xfrm>
            <a:off x="1252538" y="711200"/>
            <a:ext cx="4813300" cy="3609975"/>
          </a:xfrm>
          <a:ln/>
        </p:spPr>
      </p:sp>
      <p:sp>
        <p:nvSpPr>
          <p:cNvPr id="94212"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7C4021C-65F8-42A7-8DC5-ABF3F5E25992}" type="slidenum">
              <a:rPr lang="en-US" altLang="zh-CN" sz="1300"/>
              <a:pPr/>
              <a:t>66</a:t>
            </a:fld>
            <a:endParaRPr lang="en-US" altLang="zh-CN" sz="1300"/>
          </a:p>
        </p:txBody>
      </p:sp>
      <p:sp>
        <p:nvSpPr>
          <p:cNvPr id="95235" name="Rectangle 2"/>
          <p:cNvSpPr>
            <a:spLocks noGrp="1" noRot="1" noChangeAspect="1" noChangeArrowheads="1" noTextEdit="1"/>
          </p:cNvSpPr>
          <p:nvPr>
            <p:ph type="sldImg"/>
          </p:nvPr>
        </p:nvSpPr>
        <p:spPr>
          <a:xfrm>
            <a:off x="1252538" y="711200"/>
            <a:ext cx="4813300" cy="3609975"/>
          </a:xfrm>
          <a:ln/>
        </p:spPr>
      </p:sp>
      <p:sp>
        <p:nvSpPr>
          <p:cNvPr id="95236"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B21BEBA-6D67-43AE-A65D-D60BD424A82D}" type="slidenum">
              <a:rPr lang="en-US" altLang="zh-CN" sz="1300"/>
              <a:pPr/>
              <a:t>67</a:t>
            </a:fld>
            <a:endParaRPr lang="en-US" altLang="zh-CN" sz="1300"/>
          </a:p>
        </p:txBody>
      </p:sp>
      <p:sp>
        <p:nvSpPr>
          <p:cNvPr id="96259" name="Rectangle 2"/>
          <p:cNvSpPr>
            <a:spLocks noGrp="1" noRot="1" noChangeAspect="1" noChangeArrowheads="1" noTextEdit="1"/>
          </p:cNvSpPr>
          <p:nvPr>
            <p:ph type="sldImg"/>
          </p:nvPr>
        </p:nvSpPr>
        <p:spPr>
          <a:xfrm>
            <a:off x="1252538" y="711200"/>
            <a:ext cx="4813300" cy="3609975"/>
          </a:xfrm>
          <a:ln/>
        </p:spPr>
      </p:sp>
      <p:sp>
        <p:nvSpPr>
          <p:cNvPr id="96260"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82D779F1-BAEE-47C2-ABE0-3668C756FC01}" type="slidenum">
              <a:rPr lang="en-US" altLang="zh-CN" sz="1300"/>
              <a:pPr/>
              <a:t>68</a:t>
            </a:fld>
            <a:endParaRPr lang="en-US" altLang="zh-CN" sz="1300"/>
          </a:p>
        </p:txBody>
      </p:sp>
      <p:sp>
        <p:nvSpPr>
          <p:cNvPr id="97283" name="Rectangle 2"/>
          <p:cNvSpPr>
            <a:spLocks noGrp="1" noRot="1" noChangeAspect="1" noChangeArrowheads="1" noTextEdit="1"/>
          </p:cNvSpPr>
          <p:nvPr>
            <p:ph type="sldImg"/>
          </p:nvPr>
        </p:nvSpPr>
        <p:spPr>
          <a:xfrm>
            <a:off x="1252538" y="711200"/>
            <a:ext cx="4813300" cy="3609975"/>
          </a:xfrm>
          <a:ln/>
        </p:spPr>
      </p:sp>
      <p:sp>
        <p:nvSpPr>
          <p:cNvPr id="97284"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p:spPr>
        <p:txBody>
          <a:bodyPr/>
          <a:lstStyle>
            <a:lvl1pPr defTabSz="966788">
              <a:defRPr sz="1700">
                <a:solidFill>
                  <a:schemeClr val="tx1"/>
                </a:solidFill>
                <a:latin typeface="Arial" panose="020B0604020202020204" pitchFamily="34" charset="0"/>
              </a:defRPr>
            </a:lvl1pPr>
            <a:lvl2pPr marL="742950" indent="-285750" defTabSz="966788">
              <a:defRPr sz="1700">
                <a:solidFill>
                  <a:schemeClr val="tx1"/>
                </a:solidFill>
                <a:latin typeface="Arial" panose="020B0604020202020204" pitchFamily="34" charset="0"/>
              </a:defRPr>
            </a:lvl2pPr>
            <a:lvl3pPr marL="1143000" indent="-228600" defTabSz="966788">
              <a:defRPr sz="1700">
                <a:solidFill>
                  <a:schemeClr val="tx1"/>
                </a:solidFill>
                <a:latin typeface="Arial" panose="020B0604020202020204" pitchFamily="34" charset="0"/>
              </a:defRPr>
            </a:lvl3pPr>
            <a:lvl4pPr marL="1600200" indent="-228600" defTabSz="966788">
              <a:defRPr sz="1700">
                <a:solidFill>
                  <a:schemeClr val="tx1"/>
                </a:solidFill>
                <a:latin typeface="Arial" panose="020B0604020202020204" pitchFamily="34" charset="0"/>
              </a:defRPr>
            </a:lvl4pPr>
            <a:lvl5pPr marL="2057400" indent="-228600" defTabSz="966788">
              <a:defRPr sz="1700">
                <a:solidFill>
                  <a:schemeClr val="tx1"/>
                </a:solidFill>
                <a:latin typeface="Arial" panose="020B0604020202020204" pitchFamily="34" charset="0"/>
              </a:defRPr>
            </a:lvl5pPr>
            <a:lvl6pPr marL="25146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678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0B4614B-3D6C-4BB5-B555-86FCD360CBE5}" type="slidenum">
              <a:rPr lang="en-US" altLang="zh-CN" sz="1300"/>
              <a:pPr/>
              <a:t>69</a:t>
            </a:fld>
            <a:endParaRPr lang="en-US" altLang="zh-CN" sz="1300"/>
          </a:p>
        </p:txBody>
      </p:sp>
      <p:sp>
        <p:nvSpPr>
          <p:cNvPr id="98307" name="Rectangle 2"/>
          <p:cNvSpPr>
            <a:spLocks noGrp="1" noRot="1" noChangeAspect="1" noChangeArrowheads="1" noTextEdit="1"/>
          </p:cNvSpPr>
          <p:nvPr>
            <p:ph type="sldImg"/>
          </p:nvPr>
        </p:nvSpPr>
        <p:spPr>
          <a:xfrm>
            <a:off x="1252538" y="711200"/>
            <a:ext cx="4813300" cy="3609975"/>
          </a:xfrm>
          <a:ln/>
        </p:spPr>
      </p:sp>
      <p:sp>
        <p:nvSpPr>
          <p:cNvPr id="98308" name="Rectangle 3"/>
          <p:cNvSpPr>
            <a:spLocks noGrp="1" noChangeArrowheads="1"/>
          </p:cNvSpPr>
          <p:nvPr>
            <p:ph type="body" idx="1"/>
          </p:nvPr>
        </p:nvSpPr>
        <p:spPr>
          <a:xfrm>
            <a:off x="944563" y="4565650"/>
            <a:ext cx="5426075" cy="4333875"/>
          </a:xfrm>
          <a:noFill/>
        </p:spPr>
        <p:txBody>
          <a:bodyPr/>
          <a:lstStyle/>
          <a:p>
            <a:pPr eaLnBrk="1" hangingPunct="1"/>
            <a:endParaRPr lang="de-DE" altLang="de-DE">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18"/>
          <p:cNvSpPr>
            <a:spLocks noGrp="1" noChangeArrowheads="1"/>
          </p:cNvSpPr>
          <p:nvPr>
            <p:ph type="sldNum" sz="quarter" idx="10"/>
          </p:nvPr>
        </p:nvSpPr>
        <p:spPr>
          <a:ln/>
        </p:spPr>
        <p:txBody>
          <a:bodyPr/>
          <a:lstStyle>
            <a:lvl1pPr>
              <a:defRPr/>
            </a:lvl1pPr>
          </a:lstStyle>
          <a:p>
            <a:fld id="{A1AB5A60-C672-4A7D-8325-60C763D11201}" type="slidenum">
              <a:rPr lang="en-US" altLang="de-DE"/>
              <a:pPr/>
              <a:t>‹#›</a:t>
            </a:fld>
            <a:endParaRPr lang="en-US" altLang="de-DE"/>
          </a:p>
        </p:txBody>
      </p:sp>
    </p:spTree>
    <p:extLst>
      <p:ext uri="{BB962C8B-B14F-4D97-AF65-F5344CB8AC3E}">
        <p14:creationId xmlns:p14="http://schemas.microsoft.com/office/powerpoint/2010/main" val="319637567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sldNum" sz="quarter" idx="10"/>
          </p:nvPr>
        </p:nvSpPr>
        <p:spPr>
          <a:ln/>
        </p:spPr>
        <p:txBody>
          <a:bodyPr/>
          <a:lstStyle>
            <a:lvl1pPr>
              <a:defRPr/>
            </a:lvl1pPr>
          </a:lstStyle>
          <a:p>
            <a:fld id="{941766DD-DAED-434C-A13E-7269F66B6458}" type="slidenum">
              <a:rPr lang="en-US" altLang="de-DE"/>
              <a:pPr/>
              <a:t>‹#›</a:t>
            </a:fld>
            <a:endParaRPr lang="en-US" altLang="de-DE"/>
          </a:p>
        </p:txBody>
      </p:sp>
    </p:spTree>
    <p:extLst>
      <p:ext uri="{BB962C8B-B14F-4D97-AF65-F5344CB8AC3E}">
        <p14:creationId xmlns:p14="http://schemas.microsoft.com/office/powerpoint/2010/main" val="243726751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8"/>
          <p:cNvSpPr>
            <a:spLocks noGrp="1" noChangeArrowheads="1"/>
          </p:cNvSpPr>
          <p:nvPr>
            <p:ph type="sldNum" sz="quarter" idx="10"/>
          </p:nvPr>
        </p:nvSpPr>
        <p:spPr>
          <a:ln/>
        </p:spPr>
        <p:txBody>
          <a:bodyPr/>
          <a:lstStyle>
            <a:lvl1pPr>
              <a:defRPr/>
            </a:lvl1pPr>
          </a:lstStyle>
          <a:p>
            <a:fld id="{95B54693-8A8B-41B4-85EA-D1837A15DA1E}" type="slidenum">
              <a:rPr lang="en-US" altLang="de-DE"/>
              <a:pPr/>
              <a:t>‹#›</a:t>
            </a:fld>
            <a:endParaRPr lang="en-US" altLang="de-DE"/>
          </a:p>
        </p:txBody>
      </p:sp>
    </p:spTree>
    <p:extLst>
      <p:ext uri="{BB962C8B-B14F-4D97-AF65-F5344CB8AC3E}">
        <p14:creationId xmlns:p14="http://schemas.microsoft.com/office/powerpoint/2010/main" val="1495923279"/>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8013" y="1293813"/>
            <a:ext cx="4019550" cy="438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79963" y="1293813"/>
            <a:ext cx="4021137" cy="43815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sldNum" sz="quarter" idx="10"/>
          </p:nvPr>
        </p:nvSpPr>
        <p:spPr>
          <a:ln/>
        </p:spPr>
        <p:txBody>
          <a:bodyPr/>
          <a:lstStyle>
            <a:lvl1pPr>
              <a:defRPr/>
            </a:lvl1pPr>
          </a:lstStyle>
          <a:p>
            <a:fld id="{0BC4877D-2962-488B-ADB5-04FBE31D2F62}" type="slidenum">
              <a:rPr lang="en-US" altLang="de-DE"/>
              <a:pPr/>
              <a:t>‹#›</a:t>
            </a:fld>
            <a:endParaRPr lang="en-US" altLang="de-DE"/>
          </a:p>
        </p:txBody>
      </p:sp>
    </p:spTree>
    <p:extLst>
      <p:ext uri="{BB962C8B-B14F-4D97-AF65-F5344CB8AC3E}">
        <p14:creationId xmlns:p14="http://schemas.microsoft.com/office/powerpoint/2010/main" val="2383146328"/>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8"/>
          <p:cNvSpPr>
            <a:spLocks noGrp="1" noChangeArrowheads="1"/>
          </p:cNvSpPr>
          <p:nvPr>
            <p:ph type="sldNum" sz="quarter" idx="10"/>
          </p:nvPr>
        </p:nvSpPr>
        <p:spPr>
          <a:ln/>
        </p:spPr>
        <p:txBody>
          <a:bodyPr/>
          <a:lstStyle>
            <a:lvl1pPr>
              <a:defRPr/>
            </a:lvl1pPr>
          </a:lstStyle>
          <a:p>
            <a:fld id="{7233EED7-D481-4CD0-BB13-6307626D52C9}" type="slidenum">
              <a:rPr lang="en-US" altLang="de-DE"/>
              <a:pPr/>
              <a:t>‹#›</a:t>
            </a:fld>
            <a:endParaRPr lang="en-US" altLang="de-DE"/>
          </a:p>
        </p:txBody>
      </p:sp>
    </p:spTree>
    <p:extLst>
      <p:ext uri="{BB962C8B-B14F-4D97-AF65-F5344CB8AC3E}">
        <p14:creationId xmlns:p14="http://schemas.microsoft.com/office/powerpoint/2010/main" val="2855354207"/>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8"/>
          <p:cNvSpPr>
            <a:spLocks noGrp="1" noChangeArrowheads="1"/>
          </p:cNvSpPr>
          <p:nvPr>
            <p:ph type="sldNum" sz="quarter" idx="10"/>
          </p:nvPr>
        </p:nvSpPr>
        <p:spPr>
          <a:ln/>
        </p:spPr>
        <p:txBody>
          <a:bodyPr/>
          <a:lstStyle>
            <a:lvl1pPr>
              <a:defRPr/>
            </a:lvl1pPr>
          </a:lstStyle>
          <a:p>
            <a:fld id="{0B4587A2-F209-41EC-BD5A-C66914F61218}" type="slidenum">
              <a:rPr lang="en-US" altLang="de-DE"/>
              <a:pPr/>
              <a:t>‹#›</a:t>
            </a:fld>
            <a:endParaRPr lang="en-US" altLang="de-DE"/>
          </a:p>
        </p:txBody>
      </p:sp>
    </p:spTree>
    <p:extLst>
      <p:ext uri="{BB962C8B-B14F-4D97-AF65-F5344CB8AC3E}">
        <p14:creationId xmlns:p14="http://schemas.microsoft.com/office/powerpoint/2010/main" val="497049823"/>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8"/>
          <p:cNvSpPr>
            <a:spLocks noGrp="1" noChangeArrowheads="1"/>
          </p:cNvSpPr>
          <p:nvPr>
            <p:ph type="sldNum" sz="quarter" idx="10"/>
          </p:nvPr>
        </p:nvSpPr>
        <p:spPr>
          <a:ln/>
        </p:spPr>
        <p:txBody>
          <a:bodyPr/>
          <a:lstStyle>
            <a:lvl1pPr>
              <a:defRPr/>
            </a:lvl1pPr>
          </a:lstStyle>
          <a:p>
            <a:fld id="{56B2B2BE-6C3E-4AD3-BF06-1EEAA8D1C5C0}" type="slidenum">
              <a:rPr lang="en-US" altLang="de-DE"/>
              <a:pPr/>
              <a:t>‹#›</a:t>
            </a:fld>
            <a:endParaRPr lang="en-US" altLang="de-DE"/>
          </a:p>
        </p:txBody>
      </p:sp>
    </p:spTree>
    <p:extLst>
      <p:ext uri="{BB962C8B-B14F-4D97-AF65-F5344CB8AC3E}">
        <p14:creationId xmlns:p14="http://schemas.microsoft.com/office/powerpoint/2010/main" val="160844554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sldNum" sz="quarter" idx="10"/>
          </p:nvPr>
        </p:nvSpPr>
        <p:spPr>
          <a:ln/>
        </p:spPr>
        <p:txBody>
          <a:bodyPr/>
          <a:lstStyle>
            <a:lvl1pPr>
              <a:defRPr/>
            </a:lvl1pPr>
          </a:lstStyle>
          <a:p>
            <a:fld id="{C8EB2904-EE9E-4B77-9C98-002558AB4EC1}" type="slidenum">
              <a:rPr lang="en-US" altLang="de-DE"/>
              <a:pPr/>
              <a:t>‹#›</a:t>
            </a:fld>
            <a:endParaRPr lang="en-US" altLang="de-DE"/>
          </a:p>
        </p:txBody>
      </p:sp>
    </p:spTree>
    <p:extLst>
      <p:ext uri="{BB962C8B-B14F-4D97-AF65-F5344CB8AC3E}">
        <p14:creationId xmlns:p14="http://schemas.microsoft.com/office/powerpoint/2010/main" val="327989126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sym typeface="Symbol" pitchFamily="18" charset="2"/>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sldNum" sz="quarter" idx="10"/>
          </p:nvPr>
        </p:nvSpPr>
        <p:spPr>
          <a:ln/>
        </p:spPr>
        <p:txBody>
          <a:bodyPr/>
          <a:lstStyle>
            <a:lvl1pPr>
              <a:defRPr/>
            </a:lvl1pPr>
          </a:lstStyle>
          <a:p>
            <a:fld id="{B4412FD6-E7CF-49B0-BA0F-FE3E3B4235B8}" type="slidenum">
              <a:rPr lang="en-US" altLang="de-DE"/>
              <a:pPr/>
              <a:t>‹#›</a:t>
            </a:fld>
            <a:endParaRPr lang="en-US" altLang="de-DE"/>
          </a:p>
        </p:txBody>
      </p:sp>
    </p:spTree>
    <p:extLst>
      <p:ext uri="{BB962C8B-B14F-4D97-AF65-F5344CB8AC3E}">
        <p14:creationId xmlns:p14="http://schemas.microsoft.com/office/powerpoint/2010/main" val="2915114743"/>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sldNum" sz="quarter" idx="10"/>
          </p:nvPr>
        </p:nvSpPr>
        <p:spPr>
          <a:ln/>
        </p:spPr>
        <p:txBody>
          <a:bodyPr/>
          <a:lstStyle>
            <a:lvl1pPr>
              <a:defRPr/>
            </a:lvl1pPr>
          </a:lstStyle>
          <a:p>
            <a:fld id="{7206C67A-0A71-4D7D-A5E2-85DA6FDA8A2E}" type="slidenum">
              <a:rPr lang="en-US" altLang="de-DE"/>
              <a:pPr/>
              <a:t>‹#›</a:t>
            </a:fld>
            <a:endParaRPr lang="en-US" altLang="de-DE"/>
          </a:p>
        </p:txBody>
      </p:sp>
    </p:spTree>
    <p:extLst>
      <p:ext uri="{BB962C8B-B14F-4D97-AF65-F5344CB8AC3E}">
        <p14:creationId xmlns:p14="http://schemas.microsoft.com/office/powerpoint/2010/main" val="4204012625"/>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11988" y="0"/>
            <a:ext cx="2133600" cy="56753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8013" y="0"/>
            <a:ext cx="6251575" cy="56753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sldNum" sz="quarter" idx="10"/>
          </p:nvPr>
        </p:nvSpPr>
        <p:spPr>
          <a:ln/>
        </p:spPr>
        <p:txBody>
          <a:bodyPr/>
          <a:lstStyle>
            <a:lvl1pPr>
              <a:defRPr/>
            </a:lvl1pPr>
          </a:lstStyle>
          <a:p>
            <a:fld id="{BDB71B01-564F-4AFE-AB5B-5D5F04C4EC09}" type="slidenum">
              <a:rPr lang="en-US" altLang="de-DE"/>
              <a:pPr/>
              <a:t>‹#›</a:t>
            </a:fld>
            <a:endParaRPr lang="en-US" altLang="de-DE"/>
          </a:p>
        </p:txBody>
      </p:sp>
    </p:spTree>
    <p:extLst>
      <p:ext uri="{BB962C8B-B14F-4D97-AF65-F5344CB8AC3E}">
        <p14:creationId xmlns:p14="http://schemas.microsoft.com/office/powerpoint/2010/main" val="351873873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762000"/>
            <a:ext cx="9140825" cy="6096000"/>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9877" tIns="44939" rIns="89877" bIns="44939" anchor="ct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pPr>
            <a:endParaRPr lang="de-DE" altLang="de-DE">
              <a:latin typeface="Times" panose="02020603050405020304" pitchFamily="18" charset="0"/>
            </a:endParaRPr>
          </a:p>
        </p:txBody>
      </p:sp>
      <p:sp>
        <p:nvSpPr>
          <p:cNvPr id="208900" name="Rectangle 4"/>
          <p:cNvSpPr>
            <a:spLocks noGrp="1" noChangeArrowheads="1"/>
          </p:cNvSpPr>
          <p:nvPr>
            <p:ph type="body" idx="1"/>
          </p:nvPr>
        </p:nvSpPr>
        <p:spPr bwMode="auto">
          <a:xfrm>
            <a:off x="608013" y="1293813"/>
            <a:ext cx="8193087"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44939" numCol="1" anchor="t" anchorCtr="0" compatLnSpc="1">
            <a:prstTxWarp prst="textNoShape">
              <a:avLst/>
            </a:prstTxWarp>
          </a:bodyPr>
          <a:lstStyle/>
          <a:p>
            <a:pPr lvl="0"/>
            <a:r>
              <a:rPr lang="en-US" altLang="de-DE">
                <a:sym typeface="Symbol" panose="05050102010706020507" pitchFamily="18" charset="2"/>
              </a:rPr>
              <a:t>	Mastertextformat bearbeiten</a:t>
            </a:r>
          </a:p>
          <a:p>
            <a:pPr lvl="1"/>
            <a:r>
              <a:rPr lang="en-US" altLang="de-DE">
                <a:sym typeface="Symbol" panose="05050102010706020507" pitchFamily="18" charset="2"/>
              </a:rPr>
              <a:t>	Zweite Ebene</a:t>
            </a:r>
          </a:p>
          <a:p>
            <a:pPr lvl="2"/>
            <a:r>
              <a:rPr lang="en-US" altLang="de-DE">
                <a:sym typeface="Symbol" panose="05050102010706020507" pitchFamily="18" charset="2"/>
              </a:rPr>
              <a:t>	Dritte Ebene</a:t>
            </a:r>
          </a:p>
          <a:p>
            <a:pPr lvl="3"/>
            <a:r>
              <a:rPr lang="en-US" altLang="de-DE">
                <a:sym typeface="Symbol" panose="05050102010706020507" pitchFamily="18" charset="2"/>
              </a:rPr>
              <a:t>Vierte Ebene</a:t>
            </a:r>
          </a:p>
          <a:p>
            <a:pPr lvl="4"/>
            <a:r>
              <a:rPr lang="en-US" altLang="de-DE">
                <a:sym typeface="Symbol" panose="05050102010706020507" pitchFamily="18" charset="2"/>
              </a:rPr>
              <a:t>Fünfte Ebene</a:t>
            </a:r>
          </a:p>
        </p:txBody>
      </p:sp>
      <p:sp>
        <p:nvSpPr>
          <p:cNvPr id="1028" name="Rectangle 6"/>
          <p:cNvSpPr>
            <a:spLocks noGrp="1" noChangeArrowheads="1"/>
          </p:cNvSpPr>
          <p:nvPr>
            <p:ph type="title"/>
          </p:nvPr>
        </p:nvSpPr>
        <p:spPr bwMode="auto">
          <a:xfrm>
            <a:off x="841375" y="0"/>
            <a:ext cx="8304213" cy="762000"/>
          </a:xfrm>
          <a:prstGeom prst="rect">
            <a:avLst/>
          </a:prstGeom>
          <a:gradFill rotWithShape="1">
            <a:gsLst>
              <a:gs pos="0">
                <a:srgbClr val="0C325C"/>
              </a:gs>
              <a:gs pos="100000">
                <a:srgbClr val="CC0000">
                  <a:alpha val="67998"/>
                </a:srgbClr>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67941" numCol="1" anchor="ctr" anchorCtr="0" compatLnSpc="1">
            <a:prstTxWarp prst="textNoShape">
              <a:avLst/>
            </a:prstTxWarp>
          </a:bodyPr>
          <a:lstStyle/>
          <a:p>
            <a:pPr lvl="0"/>
            <a:r>
              <a:rPr lang="en-US" altLang="de-DE"/>
              <a:t>Mastertitelformat bearbeiten</a:t>
            </a:r>
          </a:p>
        </p:txBody>
      </p:sp>
      <p:sp>
        <p:nvSpPr>
          <p:cNvPr id="1029" name="Rectangle 8"/>
          <p:cNvSpPr>
            <a:spLocks noChangeArrowheads="1"/>
          </p:cNvSpPr>
          <p:nvPr/>
        </p:nvSpPr>
        <p:spPr bwMode="auto">
          <a:xfrm>
            <a:off x="696913" y="6478588"/>
            <a:ext cx="8104187" cy="296862"/>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7856" tIns="53928" rIns="107856" bIns="53928"/>
          <a:lstStyle>
            <a:lvl1pPr defTabSz="1079500">
              <a:defRPr sz="1700">
                <a:solidFill>
                  <a:schemeClr val="tx1"/>
                </a:solidFill>
                <a:latin typeface="Arial" panose="020B0604020202020204" pitchFamily="34" charset="0"/>
              </a:defRPr>
            </a:lvl1pPr>
            <a:lvl2pPr marL="742950" indent="-285750" defTabSz="1079500">
              <a:defRPr sz="1700">
                <a:solidFill>
                  <a:schemeClr val="tx1"/>
                </a:solidFill>
                <a:latin typeface="Arial" panose="020B0604020202020204" pitchFamily="34" charset="0"/>
              </a:defRPr>
            </a:lvl2pPr>
            <a:lvl3pPr marL="1143000" indent="-228600" defTabSz="1079500">
              <a:defRPr sz="1700">
                <a:solidFill>
                  <a:schemeClr val="tx1"/>
                </a:solidFill>
                <a:latin typeface="Arial" panose="020B0604020202020204" pitchFamily="34" charset="0"/>
              </a:defRPr>
            </a:lvl3pPr>
            <a:lvl4pPr marL="1600200" indent="-228600" defTabSz="1079500">
              <a:defRPr sz="1700">
                <a:solidFill>
                  <a:schemeClr val="tx1"/>
                </a:solidFill>
                <a:latin typeface="Arial" panose="020B0604020202020204" pitchFamily="34" charset="0"/>
              </a:defRPr>
            </a:lvl4pPr>
            <a:lvl5pPr marL="2057400" indent="-228600" defTabSz="1079500">
              <a:defRPr sz="1700">
                <a:solidFill>
                  <a:schemeClr val="tx1"/>
                </a:solidFill>
                <a:latin typeface="Arial" panose="020B0604020202020204" pitchFamily="34" charset="0"/>
              </a:defRPr>
            </a:lvl5pPr>
            <a:lvl6pPr marL="2514600" indent="-228600" algn="ctr" defTabSz="1079500"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79500"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79500"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79500"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en-US" altLang="de-DE" sz="1000">
                <a:solidFill>
                  <a:srgbClr val="C0C0C0"/>
                </a:solidFill>
              </a:rPr>
              <a:t>VLSI Physical Design: From Graph Partitioning to Timing Closure         		Chapter 2: Netlist and System Partitioning</a:t>
            </a:r>
          </a:p>
        </p:txBody>
      </p:sp>
      <p:sp>
        <p:nvSpPr>
          <p:cNvPr id="208914" name="Rectangle 18"/>
          <p:cNvSpPr>
            <a:spLocks noGrp="1" noChangeArrowheads="1"/>
          </p:cNvSpPr>
          <p:nvPr>
            <p:ph type="sldNum" sz="quarter" idx="4"/>
          </p:nvPr>
        </p:nvSpPr>
        <p:spPr bwMode="auto">
          <a:xfrm>
            <a:off x="7910513" y="6473825"/>
            <a:ext cx="1081087" cy="280988"/>
          </a:xfrm>
          <a:prstGeom prst="rect">
            <a:avLst/>
          </a:prstGeom>
          <a:noFill/>
          <a:ln>
            <a:noFill/>
          </a:ln>
          <a:effectLst/>
          <a:extLst>
            <a:ext uri="{909E8E84-426E-40DD-AFC4-6F175D3DCCD1}">
              <a14:hiddenFill xmlns:a14="http://schemas.microsoft.com/office/drawing/2010/main">
                <a:solidFill>
                  <a:srgbClr val="C0C0C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01882" tIns="50941" rIns="101882" bIns="50941" numCol="1" anchor="t" anchorCtr="0" compatLnSpc="1">
            <a:prstTxWarp prst="textNoShape">
              <a:avLst/>
            </a:prstTxWarp>
          </a:bodyPr>
          <a:lstStyle>
            <a:lvl1pPr algn="r" defTabSz="1019175">
              <a:lnSpc>
                <a:spcPct val="100000"/>
              </a:lnSpc>
              <a:defRPr sz="1000">
                <a:solidFill>
                  <a:srgbClr val="C0C0C0"/>
                </a:solidFill>
              </a:defRPr>
            </a:lvl1pPr>
          </a:lstStyle>
          <a:p>
            <a:fld id="{1C06AB2D-85C1-475B-AAE5-1D217585EEA2}" type="slidenum">
              <a:rPr lang="en-US" altLang="de-DE"/>
              <a:pPr/>
              <a:t>‹#›</a:t>
            </a:fld>
            <a:endParaRPr lang="en-US" altLang="de-DE"/>
          </a:p>
        </p:txBody>
      </p:sp>
      <p:graphicFrame>
        <p:nvGraphicFramePr>
          <p:cNvPr id="1031" name="Object 19"/>
          <p:cNvGraphicFramePr>
            <a:graphicFrameLocks noChangeAspect="1"/>
          </p:cNvGraphicFramePr>
          <p:nvPr userDrawn="1"/>
        </p:nvGraphicFramePr>
        <p:xfrm>
          <a:off x="0" y="0"/>
          <a:ext cx="841375" cy="755650"/>
        </p:xfrm>
        <a:graphic>
          <a:graphicData uri="http://schemas.openxmlformats.org/presentationml/2006/ole">
            <mc:AlternateContent xmlns:mc="http://schemas.openxmlformats.org/markup-compatibility/2006">
              <mc:Choice xmlns:v="urn:schemas-microsoft-com:vml" Requires="v">
                <p:oleObj spid="_x0000_s1042" name="Photo Editor-Foto" r:id="rId14" imgW="933580" imgH="971686" progId="MSPhotoEd.3">
                  <p:embed/>
                </p:oleObj>
              </mc:Choice>
              <mc:Fallback>
                <p:oleObj name="Photo Editor-Foto" r:id="rId14" imgW="933580" imgH="971686" progId="MSPhotoEd.3">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8413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8916" name="Text Box 20"/>
          <p:cNvSpPr txBox="1">
            <a:spLocks noChangeArrowheads="1"/>
          </p:cNvSpPr>
          <p:nvPr userDrawn="1"/>
        </p:nvSpPr>
        <p:spPr bwMode="auto">
          <a:xfrm rot="16200000">
            <a:off x="8701088" y="939800"/>
            <a:ext cx="368300" cy="146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algn="l" defTabSz="898525">
              <a:defRPr>
                <a:solidFill>
                  <a:schemeClr val="tx1"/>
                </a:solidFill>
                <a:latin typeface="Arial" charset="0"/>
              </a:defRPr>
            </a:lvl1pPr>
            <a:lvl2pPr algn="l" defTabSz="898525">
              <a:defRPr>
                <a:solidFill>
                  <a:schemeClr val="tx1"/>
                </a:solidFill>
                <a:latin typeface="Arial" charset="0"/>
              </a:defRPr>
            </a:lvl2pPr>
            <a:lvl3pPr algn="l" defTabSz="898525">
              <a:defRPr>
                <a:solidFill>
                  <a:schemeClr val="tx1"/>
                </a:solidFill>
                <a:latin typeface="Arial" charset="0"/>
              </a:defRPr>
            </a:lvl3pPr>
            <a:lvl4pPr algn="l" defTabSz="898525">
              <a:defRPr>
                <a:solidFill>
                  <a:schemeClr val="tx1"/>
                </a:solidFill>
                <a:latin typeface="Arial" charset="0"/>
              </a:defRPr>
            </a:lvl4pPr>
            <a:lvl5pPr algn="l" defTabSz="898525">
              <a:defRPr>
                <a:solidFill>
                  <a:schemeClr val="tx1"/>
                </a:solidFill>
                <a:latin typeface="Arial" charset="0"/>
              </a:defRPr>
            </a:lvl5pPr>
            <a:lvl6pPr defTabSz="898525" fontAlgn="base">
              <a:spcBef>
                <a:spcPct val="0"/>
              </a:spcBef>
              <a:spcAft>
                <a:spcPct val="0"/>
              </a:spcAft>
              <a:defRPr>
                <a:solidFill>
                  <a:schemeClr val="tx1"/>
                </a:solidFill>
                <a:latin typeface="Arial" charset="0"/>
              </a:defRPr>
            </a:lvl6pPr>
            <a:lvl7pPr defTabSz="898525" fontAlgn="base">
              <a:spcBef>
                <a:spcPct val="0"/>
              </a:spcBef>
              <a:spcAft>
                <a:spcPct val="0"/>
              </a:spcAft>
              <a:defRPr>
                <a:solidFill>
                  <a:schemeClr val="tx1"/>
                </a:solidFill>
                <a:latin typeface="Arial" charset="0"/>
              </a:defRPr>
            </a:lvl7pPr>
            <a:lvl8pPr defTabSz="898525" fontAlgn="base">
              <a:spcBef>
                <a:spcPct val="0"/>
              </a:spcBef>
              <a:spcAft>
                <a:spcPct val="0"/>
              </a:spcAft>
              <a:defRPr>
                <a:solidFill>
                  <a:schemeClr val="tx1"/>
                </a:solidFill>
                <a:latin typeface="Arial" charset="0"/>
              </a:defRPr>
            </a:lvl8pPr>
            <a:lvl9pPr defTabSz="898525" fontAlgn="base">
              <a:spcBef>
                <a:spcPct val="0"/>
              </a:spcBef>
              <a:spcAft>
                <a:spcPct val="0"/>
              </a:spcAft>
              <a:defRPr>
                <a:solidFill>
                  <a:schemeClr val="tx1"/>
                </a:solidFill>
                <a:latin typeface="Arial" charset="0"/>
              </a:defRPr>
            </a:lvl9pPr>
          </a:lstStyle>
          <a:p>
            <a:pPr algn="ctr">
              <a:lnSpc>
                <a:spcPct val="100000"/>
              </a:lnSpc>
              <a:defRPr/>
            </a:pPr>
            <a:r>
              <a:rPr lang="de-DE" sz="400">
                <a:solidFill>
                  <a:srgbClr val="EDEDED"/>
                </a:solidFill>
              </a:rPr>
              <a:t>© KLMH</a:t>
            </a:r>
            <a:endParaRPr lang="en-US" altLang="zh-CN">
              <a:solidFill>
                <a:srgbClr val="EDEDED"/>
              </a:solidFill>
              <a:ea typeface="宋体" charset="-122"/>
            </a:endParaRPr>
          </a:p>
        </p:txBody>
      </p:sp>
      <p:sp>
        <p:nvSpPr>
          <p:cNvPr id="208918" name="Text Box 22"/>
          <p:cNvSpPr txBox="1">
            <a:spLocks noChangeArrowheads="1"/>
          </p:cNvSpPr>
          <p:nvPr userDrawn="1"/>
        </p:nvSpPr>
        <p:spPr bwMode="auto">
          <a:xfrm rot="16200000">
            <a:off x="8909844" y="6598444"/>
            <a:ext cx="325438" cy="1460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algn="l" defTabSz="898525">
              <a:defRPr>
                <a:solidFill>
                  <a:schemeClr val="tx1"/>
                </a:solidFill>
                <a:latin typeface="Arial" charset="0"/>
              </a:defRPr>
            </a:lvl1pPr>
            <a:lvl2pPr algn="l" defTabSz="898525">
              <a:defRPr>
                <a:solidFill>
                  <a:schemeClr val="tx1"/>
                </a:solidFill>
                <a:latin typeface="Arial" charset="0"/>
              </a:defRPr>
            </a:lvl2pPr>
            <a:lvl3pPr algn="l" defTabSz="898525">
              <a:defRPr>
                <a:solidFill>
                  <a:schemeClr val="tx1"/>
                </a:solidFill>
                <a:latin typeface="Arial" charset="0"/>
              </a:defRPr>
            </a:lvl3pPr>
            <a:lvl4pPr algn="l" defTabSz="898525">
              <a:defRPr>
                <a:solidFill>
                  <a:schemeClr val="tx1"/>
                </a:solidFill>
                <a:latin typeface="Arial" charset="0"/>
              </a:defRPr>
            </a:lvl4pPr>
            <a:lvl5pPr algn="l" defTabSz="898525">
              <a:defRPr>
                <a:solidFill>
                  <a:schemeClr val="tx1"/>
                </a:solidFill>
                <a:latin typeface="Arial" charset="0"/>
              </a:defRPr>
            </a:lvl5pPr>
            <a:lvl6pPr defTabSz="898525" fontAlgn="base">
              <a:spcBef>
                <a:spcPct val="0"/>
              </a:spcBef>
              <a:spcAft>
                <a:spcPct val="0"/>
              </a:spcAft>
              <a:defRPr>
                <a:solidFill>
                  <a:schemeClr val="tx1"/>
                </a:solidFill>
                <a:latin typeface="Arial" charset="0"/>
              </a:defRPr>
            </a:lvl6pPr>
            <a:lvl7pPr defTabSz="898525" fontAlgn="base">
              <a:spcBef>
                <a:spcPct val="0"/>
              </a:spcBef>
              <a:spcAft>
                <a:spcPct val="0"/>
              </a:spcAft>
              <a:defRPr>
                <a:solidFill>
                  <a:schemeClr val="tx1"/>
                </a:solidFill>
                <a:latin typeface="Arial" charset="0"/>
              </a:defRPr>
            </a:lvl7pPr>
            <a:lvl8pPr defTabSz="898525" fontAlgn="base">
              <a:spcBef>
                <a:spcPct val="0"/>
              </a:spcBef>
              <a:spcAft>
                <a:spcPct val="0"/>
              </a:spcAft>
              <a:defRPr>
                <a:solidFill>
                  <a:schemeClr val="tx1"/>
                </a:solidFill>
                <a:latin typeface="Arial" charset="0"/>
              </a:defRPr>
            </a:lvl8pPr>
            <a:lvl9pPr defTabSz="898525" fontAlgn="base">
              <a:spcBef>
                <a:spcPct val="0"/>
              </a:spcBef>
              <a:spcAft>
                <a:spcPct val="0"/>
              </a:spcAft>
              <a:defRPr>
                <a:solidFill>
                  <a:schemeClr val="tx1"/>
                </a:solidFill>
                <a:latin typeface="Arial" charset="0"/>
              </a:defRPr>
            </a:lvl9pPr>
          </a:lstStyle>
          <a:p>
            <a:pPr algn="ctr">
              <a:lnSpc>
                <a:spcPct val="100000"/>
              </a:lnSpc>
              <a:defRPr/>
            </a:pPr>
            <a:r>
              <a:rPr lang="de-DE" sz="400">
                <a:solidFill>
                  <a:srgbClr val="EDEDED"/>
                </a:solidFill>
              </a:rPr>
              <a:t>Lienig </a:t>
            </a:r>
            <a:endParaRPr lang="en-US" altLang="zh-CN">
              <a:solidFill>
                <a:srgbClr val="EDEDED"/>
              </a:solidFill>
              <a:ea typeface="宋体" charset="-122"/>
            </a:endParaRPr>
          </a:p>
        </p:txBody>
      </p:sp>
    </p:spTree>
  </p:cSld>
  <p:clrMap bg1="lt1" tx1="dk1" bg2="lt2" tx2="dk2" accent1="accent1" accent2="accent2" accent3="accent3" accent4="accent4" accent5="accent5" accent6="accent6" hlink="hlink" folHlink="folHlink"/>
  <p:sldLayoutIdLst>
    <p:sldLayoutId id="2147483662" r:id="rId1"/>
    <p:sldLayoutId id="2147483661" r:id="rId2"/>
    <p:sldLayoutId id="2147483660" r:id="rId3"/>
    <p:sldLayoutId id="2147483659" r:id="rId4"/>
    <p:sldLayoutId id="2147483658" r:id="rId5"/>
    <p:sldLayoutId id="2147483657" r:id="rId6"/>
    <p:sldLayoutId id="2147483656" r:id="rId7"/>
    <p:sldLayoutId id="2147483655" r:id="rId8"/>
    <p:sldLayoutId id="2147483654" r:id="rId9"/>
    <p:sldLayoutId id="2147483653" r:id="rId10"/>
    <p:sldLayoutId id="2147483652" r:id="rId11"/>
  </p:sldLayoutIdLs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08900">
                                            <p:txEl>
                                              <p:pRg st="0" end="0"/>
                                            </p:txEl>
                                          </p:spTgt>
                                        </p:tgtEl>
                                        <p:attrNameLst>
                                          <p:attrName>style.visibility</p:attrName>
                                        </p:attrNameLst>
                                      </p:cBhvr>
                                      <p:to>
                                        <p:strVal val="visible"/>
                                      </p:to>
                                    </p:set>
                                    <p:animEffect transition="in" filter="dissolve">
                                      <p:cBhvr>
                                        <p:cTn id="7" dur="500"/>
                                        <p:tgtEl>
                                          <p:spTgt spid="20890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08900">
                                            <p:txEl>
                                              <p:pRg st="1" end="1"/>
                                            </p:txEl>
                                          </p:spTgt>
                                        </p:tgtEl>
                                        <p:attrNameLst>
                                          <p:attrName>style.visibility</p:attrName>
                                        </p:attrNameLst>
                                      </p:cBhvr>
                                      <p:to>
                                        <p:strVal val="visible"/>
                                      </p:to>
                                    </p:set>
                                    <p:animEffect transition="in" filter="dissolve">
                                      <p:cBhvr>
                                        <p:cTn id="12" dur="500"/>
                                        <p:tgtEl>
                                          <p:spTgt spid="208900">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08900">
                                            <p:txEl>
                                              <p:pRg st="2" end="2"/>
                                            </p:txEl>
                                          </p:spTgt>
                                        </p:tgtEl>
                                        <p:attrNameLst>
                                          <p:attrName>style.visibility</p:attrName>
                                        </p:attrNameLst>
                                      </p:cBhvr>
                                      <p:to>
                                        <p:strVal val="visible"/>
                                      </p:to>
                                    </p:set>
                                    <p:animEffect transition="in" filter="dissolve">
                                      <p:cBhvr>
                                        <p:cTn id="17" dur="500"/>
                                        <p:tgtEl>
                                          <p:spTgt spid="208900">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08900">
                                            <p:txEl>
                                              <p:pRg st="3" end="3"/>
                                            </p:txEl>
                                          </p:spTgt>
                                        </p:tgtEl>
                                        <p:attrNameLst>
                                          <p:attrName>style.visibility</p:attrName>
                                        </p:attrNameLst>
                                      </p:cBhvr>
                                      <p:to>
                                        <p:strVal val="visible"/>
                                      </p:to>
                                    </p:set>
                                    <p:animEffect transition="in" filter="dissolve">
                                      <p:cBhvr>
                                        <p:cTn id="22" dur="500"/>
                                        <p:tgtEl>
                                          <p:spTgt spid="208900">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08900">
                                            <p:txEl>
                                              <p:pRg st="4" end="4"/>
                                            </p:txEl>
                                          </p:spTgt>
                                        </p:tgtEl>
                                        <p:attrNameLst>
                                          <p:attrName>style.visibility</p:attrName>
                                        </p:attrNameLst>
                                      </p:cBhvr>
                                      <p:to>
                                        <p:strVal val="visible"/>
                                      </p:to>
                                    </p:set>
                                    <p:animEffect transition="in" filter="dissolve">
                                      <p:cBhvr>
                                        <p:cTn id="27" dur="500"/>
                                        <p:tgtEl>
                                          <p:spTgt spid="2089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900" grpId="0" build="p">
        <p:tmplLst>
          <p:tmpl lvl="1">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2">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3">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4">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 lvl="5">
            <p:tnLst>
              <p:par>
                <p:cTn presetID="9" presetClass="entr" presetSubtype="0" fill="hold" nodeType="clickEffect">
                  <p:stCondLst>
                    <p:cond delay="0"/>
                  </p:stCondLst>
                  <p:childTnLst>
                    <p:set>
                      <p:cBhvr>
                        <p:cTn dur="1" fill="hold">
                          <p:stCondLst>
                            <p:cond delay="0"/>
                          </p:stCondLst>
                        </p:cTn>
                        <p:tgtEl>
                          <p:spTgt spid="208900"/>
                        </p:tgtEl>
                        <p:attrNameLst>
                          <p:attrName>style.visibility</p:attrName>
                        </p:attrNameLst>
                      </p:cBhvr>
                      <p:to>
                        <p:strVal val="visible"/>
                      </p:to>
                    </p:set>
                    <p:animEffect transition="in" filter="dissolve">
                      <p:cBhvr>
                        <p:cTn dur="500"/>
                        <p:tgtEl>
                          <p:spTgt spid="208900"/>
                        </p:tgtEl>
                      </p:cBhvr>
                    </p:animEffect>
                  </p:childTnLst>
                </p:cTn>
              </p:par>
            </p:tnLst>
          </p:tmpl>
        </p:tmplLst>
      </p:bldP>
    </p:bldLst>
  </p:timing>
  <p:hf hdr="0" ftr="0" dt="0"/>
  <p:txStyles>
    <p:titleStyle>
      <a:lvl1pPr algn="l" defTabSz="898525" rtl="0" eaLnBrk="0" fontAlgn="base" hangingPunct="0">
        <a:lnSpc>
          <a:spcPts val="2350"/>
        </a:lnSpc>
        <a:spcBef>
          <a:spcPct val="0"/>
        </a:spcBef>
        <a:spcAft>
          <a:spcPct val="0"/>
        </a:spcAft>
        <a:defRPr b="1">
          <a:solidFill>
            <a:schemeClr val="bg1"/>
          </a:solidFill>
          <a:latin typeface="+mj-lt"/>
          <a:ea typeface="+mj-ea"/>
          <a:cs typeface="+mj-cs"/>
        </a:defRPr>
      </a:lvl1pPr>
      <a:lvl2pPr algn="l" defTabSz="898525" rtl="0" eaLnBrk="0" fontAlgn="base" hangingPunct="0">
        <a:lnSpc>
          <a:spcPts val="2350"/>
        </a:lnSpc>
        <a:spcBef>
          <a:spcPct val="0"/>
        </a:spcBef>
        <a:spcAft>
          <a:spcPct val="0"/>
        </a:spcAft>
        <a:defRPr b="1">
          <a:solidFill>
            <a:schemeClr val="bg1"/>
          </a:solidFill>
          <a:latin typeface="Arial" charset="0"/>
        </a:defRPr>
      </a:lvl2pPr>
      <a:lvl3pPr algn="l" defTabSz="898525" rtl="0" eaLnBrk="0" fontAlgn="base" hangingPunct="0">
        <a:lnSpc>
          <a:spcPts val="2350"/>
        </a:lnSpc>
        <a:spcBef>
          <a:spcPct val="0"/>
        </a:spcBef>
        <a:spcAft>
          <a:spcPct val="0"/>
        </a:spcAft>
        <a:defRPr b="1">
          <a:solidFill>
            <a:schemeClr val="bg1"/>
          </a:solidFill>
          <a:latin typeface="Arial" charset="0"/>
        </a:defRPr>
      </a:lvl3pPr>
      <a:lvl4pPr algn="l" defTabSz="898525" rtl="0" eaLnBrk="0" fontAlgn="base" hangingPunct="0">
        <a:lnSpc>
          <a:spcPts val="2350"/>
        </a:lnSpc>
        <a:spcBef>
          <a:spcPct val="0"/>
        </a:spcBef>
        <a:spcAft>
          <a:spcPct val="0"/>
        </a:spcAft>
        <a:defRPr b="1">
          <a:solidFill>
            <a:schemeClr val="bg1"/>
          </a:solidFill>
          <a:latin typeface="Arial" charset="0"/>
        </a:defRPr>
      </a:lvl4pPr>
      <a:lvl5pPr algn="l" defTabSz="898525" rtl="0" eaLnBrk="0" fontAlgn="base" hangingPunct="0">
        <a:lnSpc>
          <a:spcPts val="2350"/>
        </a:lnSpc>
        <a:spcBef>
          <a:spcPct val="0"/>
        </a:spcBef>
        <a:spcAft>
          <a:spcPct val="0"/>
        </a:spcAft>
        <a:defRPr b="1">
          <a:solidFill>
            <a:schemeClr val="bg1"/>
          </a:solidFill>
          <a:latin typeface="Arial" charset="0"/>
        </a:defRPr>
      </a:lvl5pPr>
      <a:lvl6pPr marL="457200" algn="l" defTabSz="898525" rtl="0" eaLnBrk="0" fontAlgn="base" hangingPunct="0">
        <a:lnSpc>
          <a:spcPts val="2350"/>
        </a:lnSpc>
        <a:spcBef>
          <a:spcPct val="0"/>
        </a:spcBef>
        <a:spcAft>
          <a:spcPct val="0"/>
        </a:spcAft>
        <a:defRPr b="1">
          <a:solidFill>
            <a:schemeClr val="bg1"/>
          </a:solidFill>
          <a:latin typeface="Arial" charset="0"/>
        </a:defRPr>
      </a:lvl6pPr>
      <a:lvl7pPr marL="914400" algn="l" defTabSz="898525" rtl="0" eaLnBrk="0" fontAlgn="base" hangingPunct="0">
        <a:lnSpc>
          <a:spcPts val="2350"/>
        </a:lnSpc>
        <a:spcBef>
          <a:spcPct val="0"/>
        </a:spcBef>
        <a:spcAft>
          <a:spcPct val="0"/>
        </a:spcAft>
        <a:defRPr b="1">
          <a:solidFill>
            <a:schemeClr val="bg1"/>
          </a:solidFill>
          <a:latin typeface="Arial" charset="0"/>
        </a:defRPr>
      </a:lvl7pPr>
      <a:lvl8pPr marL="1371600" algn="l" defTabSz="898525" rtl="0" eaLnBrk="0" fontAlgn="base" hangingPunct="0">
        <a:lnSpc>
          <a:spcPts val="2350"/>
        </a:lnSpc>
        <a:spcBef>
          <a:spcPct val="0"/>
        </a:spcBef>
        <a:spcAft>
          <a:spcPct val="0"/>
        </a:spcAft>
        <a:defRPr b="1">
          <a:solidFill>
            <a:schemeClr val="bg1"/>
          </a:solidFill>
          <a:latin typeface="Arial" charset="0"/>
        </a:defRPr>
      </a:lvl8pPr>
      <a:lvl9pPr marL="1828800" algn="l" defTabSz="898525" rtl="0" eaLnBrk="0" fontAlgn="base" hangingPunct="0">
        <a:lnSpc>
          <a:spcPts val="2350"/>
        </a:lnSpc>
        <a:spcBef>
          <a:spcPct val="0"/>
        </a:spcBef>
        <a:spcAft>
          <a:spcPct val="0"/>
        </a:spcAft>
        <a:defRPr b="1">
          <a:solidFill>
            <a:schemeClr val="bg1"/>
          </a:solidFill>
          <a:latin typeface="Arial" charset="0"/>
        </a:defRPr>
      </a:lvl9pPr>
    </p:titleStyle>
    <p:bodyStyle>
      <a:lvl1pPr marL="342900" indent="-342900"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700">
          <a:solidFill>
            <a:schemeClr val="tx1"/>
          </a:solidFill>
          <a:latin typeface="+mn-lt"/>
          <a:ea typeface="+mn-ea"/>
          <a:cs typeface="+mn-cs"/>
          <a:sym typeface="Symbol" panose="05050102010706020507" pitchFamily="18" charset="2"/>
        </a:defRPr>
      </a:lvl1pPr>
      <a:lvl2pPr marL="301625" indent="155575"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600">
          <a:solidFill>
            <a:schemeClr val="tx1"/>
          </a:solidFill>
          <a:latin typeface="+mn-lt"/>
          <a:sym typeface="Symbol" panose="05050102010706020507" pitchFamily="18" charset="2"/>
        </a:defRPr>
      </a:lvl2pPr>
      <a:lvl3pPr marL="449263" indent="3175"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anose="05050102010706020507" pitchFamily="18" charset="2"/>
        </a:defRPr>
      </a:lvl3pPr>
      <a:lvl4pPr marL="676275" indent="695325"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anose="05050102010706020507" pitchFamily="18" charset="2"/>
        </a:defRPr>
      </a:lvl4pPr>
      <a:lvl5pPr marL="900113" indent="928688"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anose="05050102010706020507" pitchFamily="18" charset="2"/>
        </a:defRPr>
      </a:lvl5pPr>
      <a:lvl6pPr marL="13573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6pPr>
      <a:lvl7pPr marL="18145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7pPr>
      <a:lvl8pPr marL="22717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8pPr>
      <a:lvl9pPr marL="27289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3.w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e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5.wmf"/><Relationship Id="rId4"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6.wmf"/><Relationship Id="rId4" Type="http://schemas.openxmlformats.org/officeDocument/2006/relationships/oleObject" Target="../embeddings/oleObject5.bin"/></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8.wmf"/><Relationship Id="rId4" Type="http://schemas.openxmlformats.org/officeDocument/2006/relationships/oleObject" Target="../embeddings/oleObject7.bin"/></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8"/>
          <p:cNvSpPr>
            <a:spLocks noChangeArrowheads="1"/>
          </p:cNvSpPr>
          <p:nvPr/>
        </p:nvSpPr>
        <p:spPr bwMode="auto">
          <a:xfrm>
            <a:off x="0" y="0"/>
            <a:ext cx="9143999" cy="1695451"/>
          </a:xfrm>
          <a:prstGeom prst="rect">
            <a:avLst/>
          </a:prstGeom>
          <a:solidFill>
            <a:srgbClr val="EDEDED"/>
          </a:solidFill>
          <a:ln>
            <a:noFill/>
          </a:ln>
          <a:effectLst/>
        </p:spPr>
        <p:txBody>
          <a:bodyPr lIns="87281" tIns="43641" rIns="87281" bIns="43641">
            <a:noAutofit/>
          </a:bodyPr>
          <a:lstStyle>
            <a:defPPr>
              <a:defRPr lang="en-US"/>
            </a:defPPr>
            <a:lvl1pPr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pPr algn="ctr">
              <a:buFont typeface="Symbol" panose="05050102010706020507" pitchFamily="18" charset="2"/>
              <a:buNone/>
            </a:pPr>
            <a:endParaRPr lang="en-US" altLang="zh-CN" sz="1800" i="1" dirty="0">
              <a:solidFill>
                <a:schemeClr val="bg1"/>
              </a:solidFill>
              <a:ea typeface="宋体" panose="02010600030101010101" pitchFamily="2" charset="-122"/>
            </a:endParaRPr>
          </a:p>
          <a:p>
            <a:pPr algn="ctr">
              <a:buFont typeface="Symbol" panose="05050102010706020507" pitchFamily="18" charset="2"/>
              <a:buNone/>
            </a:pPr>
            <a:endParaRPr lang="en-US" altLang="zh-CN" sz="1800" i="1" dirty="0">
              <a:solidFill>
                <a:schemeClr val="bg1"/>
              </a:solidFill>
              <a:ea typeface="宋体" panose="02010600030101010101" pitchFamily="2" charset="-122"/>
            </a:endParaRPr>
          </a:p>
        </p:txBody>
      </p:sp>
      <p:sp>
        <p:nvSpPr>
          <p:cNvPr id="9" name="Rectangle 8"/>
          <p:cNvSpPr>
            <a:spLocks noChangeArrowheads="1"/>
          </p:cNvSpPr>
          <p:nvPr/>
        </p:nvSpPr>
        <p:spPr bwMode="auto">
          <a:xfrm>
            <a:off x="0" y="-13692"/>
            <a:ext cx="9143999" cy="6885384"/>
          </a:xfrm>
          <a:prstGeom prst="rect">
            <a:avLst/>
          </a:prstGeom>
          <a:solidFill>
            <a:srgbClr val="EDEDED"/>
          </a:solidFill>
          <a:ln>
            <a:noFill/>
          </a:ln>
          <a:effectLst/>
        </p:spPr>
        <p:txBody>
          <a:bodyPr lIns="87281" tIns="43641" rIns="87281" bIns="43641">
            <a:noAutofit/>
          </a:bodyPr>
          <a:lstStyle>
            <a:defPPr>
              <a:defRPr lang="en-US"/>
            </a:defPPr>
            <a:lvl1pPr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pPr algn="ctr">
              <a:buFont typeface="Symbol" panose="05050102010706020507" pitchFamily="18" charset="2"/>
              <a:buNone/>
            </a:pPr>
            <a:endParaRPr lang="en-US" altLang="zh-CN" sz="1800" i="1" dirty="0">
              <a:solidFill>
                <a:schemeClr val="bg1"/>
              </a:solidFill>
              <a:ea typeface="宋体" panose="02010600030101010101" pitchFamily="2" charset="-122"/>
            </a:endParaRPr>
          </a:p>
          <a:p>
            <a:pPr algn="ctr">
              <a:buFont typeface="Symbol" panose="05050102010706020507" pitchFamily="18" charset="2"/>
              <a:buNone/>
            </a:pPr>
            <a:endParaRPr lang="en-US" altLang="zh-CN" sz="1800" i="1" dirty="0">
              <a:solidFill>
                <a:schemeClr val="bg1"/>
              </a:solidFill>
              <a:ea typeface="宋体" panose="02010600030101010101" pitchFamily="2" charset="-122"/>
            </a:endParaRPr>
          </a:p>
        </p:txBody>
      </p:sp>
      <p:pic>
        <p:nvPicPr>
          <p:cNvPr id="10" name="Grafik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09119"/>
            <a:ext cx="4032448" cy="6006898"/>
          </a:xfrm>
          <a:prstGeom prst="rect">
            <a:avLst/>
          </a:prstGeom>
        </p:spPr>
      </p:pic>
      <p:sp>
        <p:nvSpPr>
          <p:cNvPr id="11" name="Rectangle 2"/>
          <p:cNvSpPr>
            <a:spLocks noGrp="1" noChangeArrowheads="1"/>
          </p:cNvSpPr>
          <p:nvPr/>
        </p:nvSpPr>
        <p:spPr bwMode="auto">
          <a:xfrm>
            <a:off x="3563888" y="4882852"/>
            <a:ext cx="5184576" cy="792088"/>
          </a:xfrm>
          <a:prstGeom prst="rect">
            <a:avLst/>
          </a:prstGeom>
          <a:gradFill rotWithShape="1">
            <a:gsLst>
              <a:gs pos="0">
                <a:srgbClr val="0C325C"/>
              </a:gs>
              <a:gs pos="100000">
                <a:srgbClr val="CC0000">
                  <a:alpha val="67998"/>
                </a:srgbClr>
              </a:gs>
            </a:gsLst>
            <a:lin ang="0" scaled="1"/>
          </a:gradFill>
          <a:ln>
            <a:noFill/>
          </a:ln>
          <a:effectLst/>
          <a:extLst>
            <a:ext uri="{91240B29-F687-4F45-9708-019B960494DF}">
              <a14:hiddenLine xmlns:a14="http://schemas.microsoft.com/office/drawing/2010/main" w="31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67941" numCol="1" anchor="ctr" anchorCtr="0" compatLnSpc="1">
            <a:prstTxWarp prst="textNoShape">
              <a:avLst/>
            </a:prstTxWarp>
          </a:bodyPr>
          <a:lstStyle>
            <a:defPPr>
              <a:defRPr lang="en-US"/>
            </a:defPPr>
            <a:lvl1pPr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1pPr>
            <a:lvl2pPr marL="4572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2pPr>
            <a:lvl3pPr marL="9144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3pPr>
            <a:lvl4pPr marL="13716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4pPr>
            <a:lvl5pPr marL="1828800" algn="l" rtl="0" eaLnBrk="0" fontAlgn="base" hangingPunct="0">
              <a:spcBef>
                <a:spcPct val="50000"/>
              </a:spcBef>
              <a:spcAft>
                <a:spcPct val="0"/>
              </a:spcAft>
              <a:defRPr sz="1700" kern="1200">
                <a:solidFill>
                  <a:schemeClr val="tx1"/>
                </a:solidFill>
                <a:latin typeface="Arial" panose="020B0604020202020204" pitchFamily="34" charset="0"/>
                <a:ea typeface="+mn-ea"/>
                <a:cs typeface="+mn-cs"/>
              </a:defRPr>
            </a:lvl5pPr>
            <a:lvl6pPr marL="2286000" algn="l" defTabSz="914400" rtl="0" eaLnBrk="1" latinLnBrk="0" hangingPunct="1">
              <a:defRPr sz="1700" kern="1200">
                <a:solidFill>
                  <a:schemeClr val="tx1"/>
                </a:solidFill>
                <a:latin typeface="Arial" panose="020B0604020202020204" pitchFamily="34" charset="0"/>
                <a:ea typeface="+mn-ea"/>
                <a:cs typeface="+mn-cs"/>
              </a:defRPr>
            </a:lvl6pPr>
            <a:lvl7pPr marL="2743200" algn="l" defTabSz="914400" rtl="0" eaLnBrk="1" latinLnBrk="0" hangingPunct="1">
              <a:defRPr sz="1700" kern="1200">
                <a:solidFill>
                  <a:schemeClr val="tx1"/>
                </a:solidFill>
                <a:latin typeface="Arial" panose="020B0604020202020204" pitchFamily="34" charset="0"/>
                <a:ea typeface="+mn-ea"/>
                <a:cs typeface="+mn-cs"/>
              </a:defRPr>
            </a:lvl7pPr>
            <a:lvl8pPr marL="3200400" algn="l" defTabSz="914400" rtl="0" eaLnBrk="1" latinLnBrk="0" hangingPunct="1">
              <a:defRPr sz="1700" kern="1200">
                <a:solidFill>
                  <a:schemeClr val="tx1"/>
                </a:solidFill>
                <a:latin typeface="Arial" panose="020B0604020202020204" pitchFamily="34" charset="0"/>
                <a:ea typeface="+mn-ea"/>
                <a:cs typeface="+mn-cs"/>
              </a:defRPr>
            </a:lvl8pPr>
            <a:lvl9pPr marL="3657600" algn="l" defTabSz="914400" rtl="0" eaLnBrk="1" latinLnBrk="0" hangingPunct="1">
              <a:defRPr sz="1700" kern="1200">
                <a:solidFill>
                  <a:schemeClr val="tx1"/>
                </a:solidFill>
                <a:latin typeface="Arial" panose="020B0604020202020204" pitchFamily="34" charset="0"/>
                <a:ea typeface="+mn-ea"/>
                <a:cs typeface="+mn-cs"/>
              </a:defRPr>
            </a:lvl9pPr>
          </a:lstStyle>
          <a:p>
            <a:r>
              <a:rPr lang="en-US" altLang="zh-CN" b="1" dirty="0">
                <a:solidFill>
                  <a:schemeClr val="bg1"/>
                </a:solidFill>
                <a:ea typeface="宋体" panose="02010600030101010101" pitchFamily="2" charset="-122"/>
              </a:rPr>
              <a:t>Chapter 2 – Netlist and System Partitioning</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80AECCF8-43E3-44B6-86BD-B1896910F94B}" type="slidenum">
              <a:rPr lang="en-US" altLang="de-DE" sz="1000">
                <a:solidFill>
                  <a:srgbClr val="C0C0C0"/>
                </a:solidFill>
              </a:rPr>
              <a:pPr/>
              <a:t>2</a:t>
            </a:fld>
            <a:endParaRPr lang="en-US" altLang="de-DE" sz="1000">
              <a:solidFill>
                <a:srgbClr val="C0C0C0"/>
              </a:solidFill>
            </a:endParaRPr>
          </a:p>
        </p:txBody>
      </p:sp>
      <p:sp>
        <p:nvSpPr>
          <p:cNvPr id="3075" name="Rectangle 2"/>
          <p:cNvSpPr>
            <a:spLocks noGrp="1" noChangeArrowheads="1"/>
          </p:cNvSpPr>
          <p:nvPr>
            <p:ph type="title"/>
          </p:nvPr>
        </p:nvSpPr>
        <p:spPr/>
        <p:txBody>
          <a:bodyPr/>
          <a:lstStyle/>
          <a:p>
            <a:r>
              <a:rPr lang="en-US" altLang="zh-CN">
                <a:ea typeface="宋体" panose="02010600030101010101" pitchFamily="2" charset="-122"/>
              </a:rPr>
              <a:t>Chapter 2 – Netlist and System Partitioning</a:t>
            </a:r>
          </a:p>
        </p:txBody>
      </p:sp>
      <p:sp>
        <p:nvSpPr>
          <p:cNvPr id="3076" name="Rectangle 3"/>
          <p:cNvSpPr>
            <a:spLocks noGrp="1" noChangeArrowheads="1"/>
          </p:cNvSpPr>
          <p:nvPr>
            <p:ph type="body" idx="1"/>
          </p:nvPr>
        </p:nvSpPr>
        <p:spPr>
          <a:xfrm>
            <a:off x="608013" y="1484313"/>
            <a:ext cx="8193087" cy="4392612"/>
          </a:xfrm>
        </p:spPr>
        <p:txBody>
          <a:bodyPr/>
          <a:lstStyle/>
          <a:p>
            <a:pPr marL="0" indent="0">
              <a:lnSpc>
                <a:spcPct val="100000"/>
              </a:lnSpc>
              <a:buFont typeface="Symbol" panose="05050102010706020507" pitchFamily="18" charset="2"/>
              <a:buNone/>
            </a:pPr>
            <a:r>
              <a:rPr lang="en-US" altLang="zh-CN">
                <a:ea typeface="宋体" panose="02010600030101010101" pitchFamily="2" charset="-122"/>
              </a:rPr>
              <a:t>2.1	Introduction</a:t>
            </a:r>
          </a:p>
          <a:p>
            <a:pPr marL="0" indent="0">
              <a:lnSpc>
                <a:spcPct val="100000"/>
              </a:lnSpc>
              <a:buFont typeface="Symbol" panose="05050102010706020507" pitchFamily="18" charset="2"/>
              <a:buNone/>
            </a:pPr>
            <a:r>
              <a:rPr lang="en-US" altLang="zh-CN">
                <a:ea typeface="宋体" panose="02010600030101010101" pitchFamily="2" charset="-122"/>
              </a:rPr>
              <a:t>2.2	Terminology</a:t>
            </a:r>
          </a:p>
          <a:p>
            <a:pPr marL="0" indent="0">
              <a:lnSpc>
                <a:spcPct val="100000"/>
              </a:lnSpc>
              <a:buFont typeface="Symbol" panose="05050102010706020507" pitchFamily="18" charset="2"/>
              <a:buNone/>
            </a:pPr>
            <a:r>
              <a:rPr lang="en-US" altLang="zh-CN">
                <a:ea typeface="宋体" panose="02010600030101010101" pitchFamily="2" charset="-122"/>
              </a:rPr>
              <a:t>2.3	Optimization Goals</a:t>
            </a:r>
          </a:p>
          <a:p>
            <a:pPr marL="0" indent="0">
              <a:lnSpc>
                <a:spcPct val="100000"/>
              </a:lnSpc>
              <a:buFont typeface="Symbol" panose="05050102010706020507" pitchFamily="18" charset="2"/>
              <a:buNone/>
            </a:pPr>
            <a:r>
              <a:rPr lang="en-US" altLang="zh-CN">
                <a:ea typeface="宋体" panose="02010600030101010101" pitchFamily="2" charset="-122"/>
              </a:rPr>
              <a:t>2.4	Partitioning Algorithms</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2.4.1  Kernighan-Lin (KL) Algorithm</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2.4.2  Extensions of the Kernighan-Lin Algorithm</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2.4.3  Fiduccia-Mattheyses (FM) Algorithm</a:t>
            </a:r>
            <a:endParaRPr lang="en-US" altLang="zh-CN" sz="800">
              <a:ea typeface="宋体" panose="02010600030101010101" pitchFamily="2" charset="-122"/>
            </a:endParaRPr>
          </a:p>
          <a:p>
            <a:pPr marL="0" indent="0">
              <a:lnSpc>
                <a:spcPct val="100000"/>
              </a:lnSpc>
              <a:buFont typeface="Symbol" panose="05050102010706020507" pitchFamily="18" charset="2"/>
              <a:buNone/>
            </a:pPr>
            <a:r>
              <a:rPr lang="en-US" altLang="zh-CN">
                <a:ea typeface="宋体" panose="02010600030101010101" pitchFamily="2" charset="-122"/>
              </a:rPr>
              <a:t>2.5	Framework for Multilevel Partitioning</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2.5.1  Clustering</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2.5.2  Multilevel Partitioning</a:t>
            </a:r>
          </a:p>
          <a:p>
            <a:pPr marL="0" indent="0">
              <a:lnSpc>
                <a:spcPct val="100000"/>
              </a:lnSpc>
              <a:buFont typeface="Symbol" panose="05050102010706020507" pitchFamily="18" charset="2"/>
              <a:buNone/>
            </a:pPr>
            <a:r>
              <a:rPr lang="en-US" altLang="zh-CN">
                <a:ea typeface="宋体" panose="02010600030101010101" pitchFamily="2" charset="-122"/>
              </a:rPr>
              <a:t>2.6	System Partitioning onto Multiple FPGAs</a:t>
            </a:r>
          </a:p>
          <a:p>
            <a:pPr lvl="1" indent="0">
              <a:lnSpc>
                <a:spcPct val="100000"/>
              </a:lnSpc>
              <a:spcBef>
                <a:spcPct val="20000"/>
              </a:spcBef>
              <a:buFont typeface="Symbol" panose="05050102010706020507" pitchFamily="18" charset="2"/>
              <a:buNone/>
            </a:pPr>
            <a:endParaRPr lang="en-US" altLang="zh-CN">
              <a:ea typeface="宋体" panose="02010600030101010101" pitchFamily="2" charset="-122"/>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8F40777-A5D0-4369-8990-24464156DCB1}" type="slidenum">
              <a:rPr lang="en-US" altLang="de-DE" sz="1000">
                <a:solidFill>
                  <a:srgbClr val="C0C0C0"/>
                </a:solidFill>
              </a:rPr>
              <a:pPr/>
              <a:t>3</a:t>
            </a:fld>
            <a:endParaRPr lang="en-US" altLang="de-DE" sz="1000">
              <a:solidFill>
                <a:srgbClr val="C0C0C0"/>
              </a:solidFill>
            </a:endParaRPr>
          </a:p>
        </p:txBody>
      </p:sp>
      <p:sp>
        <p:nvSpPr>
          <p:cNvPr id="4099" name="Line 443"/>
          <p:cNvSpPr>
            <a:spLocks noChangeShapeType="1"/>
          </p:cNvSpPr>
          <p:nvPr/>
        </p:nvSpPr>
        <p:spPr bwMode="auto">
          <a:xfrm>
            <a:off x="5610225" y="4508500"/>
            <a:ext cx="1588" cy="446088"/>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4100" name="Line 574"/>
          <p:cNvSpPr>
            <a:spLocks noChangeShapeType="1"/>
          </p:cNvSpPr>
          <p:nvPr/>
        </p:nvSpPr>
        <p:spPr bwMode="auto">
          <a:xfrm>
            <a:off x="5610225" y="3821113"/>
            <a:ext cx="0" cy="47148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4101" name="Rectangle 327"/>
          <p:cNvSpPr>
            <a:spLocks noGrp="1" noChangeArrowheads="1"/>
          </p:cNvSpPr>
          <p:nvPr>
            <p:ph type="title"/>
          </p:nvPr>
        </p:nvSpPr>
        <p:spPr/>
        <p:txBody>
          <a:bodyPr/>
          <a:lstStyle/>
          <a:p>
            <a:r>
              <a:rPr lang="de-DE" altLang="de-DE"/>
              <a:t>2.1	Introduction</a:t>
            </a:r>
            <a:endParaRPr lang="en-US" altLang="zh-CN">
              <a:ea typeface="宋体" panose="02010600030101010101" pitchFamily="2" charset="-122"/>
            </a:endParaRPr>
          </a:p>
        </p:txBody>
      </p:sp>
      <p:grpSp>
        <p:nvGrpSpPr>
          <p:cNvPr id="4102" name="Group 328"/>
          <p:cNvGrpSpPr>
            <a:grpSpLocks/>
          </p:cNvGrpSpPr>
          <p:nvPr/>
        </p:nvGrpSpPr>
        <p:grpSpPr bwMode="auto">
          <a:xfrm>
            <a:off x="7002463" y="1398588"/>
            <a:ext cx="996950" cy="576262"/>
            <a:chOff x="617" y="1399"/>
            <a:chExt cx="687" cy="454"/>
          </a:xfrm>
        </p:grpSpPr>
        <p:sp>
          <p:nvSpPr>
            <p:cNvPr id="4390" name="Rectangle 329"/>
            <p:cNvSpPr>
              <a:spLocks noChangeArrowheads="1"/>
            </p:cNvSpPr>
            <p:nvPr/>
          </p:nvSpPr>
          <p:spPr bwMode="auto">
            <a:xfrm>
              <a:off x="617" y="1399"/>
              <a:ext cx="687" cy="454"/>
            </a:xfrm>
            <a:prstGeom prst="rect">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91" name="Line 330"/>
            <p:cNvSpPr>
              <a:spLocks noChangeShapeType="1"/>
            </p:cNvSpPr>
            <p:nvPr/>
          </p:nvSpPr>
          <p:spPr bwMode="auto">
            <a:xfrm>
              <a:off x="976" y="1724"/>
              <a:ext cx="40" cy="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4392" name="Group 331"/>
            <p:cNvGrpSpPr>
              <a:grpSpLocks/>
            </p:cNvGrpSpPr>
            <p:nvPr/>
          </p:nvGrpSpPr>
          <p:grpSpPr bwMode="auto">
            <a:xfrm>
              <a:off x="682" y="1504"/>
              <a:ext cx="105" cy="88"/>
              <a:chOff x="328" y="1585"/>
              <a:chExt cx="145" cy="121"/>
            </a:xfrm>
          </p:grpSpPr>
          <p:sp>
            <p:nvSpPr>
              <p:cNvPr id="4411" name="AutoShape 332"/>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12" name="Oval 333"/>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4393" name="Group 334"/>
            <p:cNvGrpSpPr>
              <a:grpSpLocks/>
            </p:cNvGrpSpPr>
            <p:nvPr/>
          </p:nvGrpSpPr>
          <p:grpSpPr bwMode="auto">
            <a:xfrm>
              <a:off x="866" y="1679"/>
              <a:ext cx="105" cy="88"/>
              <a:chOff x="328" y="1585"/>
              <a:chExt cx="145" cy="121"/>
            </a:xfrm>
          </p:grpSpPr>
          <p:sp>
            <p:nvSpPr>
              <p:cNvPr id="4409" name="AutoShape 335"/>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10" name="Oval 336"/>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4394" name="Freeform 337"/>
            <p:cNvSpPr>
              <a:spLocks/>
            </p:cNvSpPr>
            <p:nvPr/>
          </p:nvSpPr>
          <p:spPr bwMode="auto">
            <a:xfrm>
              <a:off x="639" y="1470"/>
              <a:ext cx="336" cy="60"/>
            </a:xfrm>
            <a:custGeom>
              <a:avLst/>
              <a:gdLst>
                <a:gd name="T0" fmla="*/ 0 w 288"/>
                <a:gd name="T1" fmla="*/ 0 h 60"/>
                <a:gd name="T2" fmla="*/ 291 w 288"/>
                <a:gd name="T3" fmla="*/ 0 h 60"/>
                <a:gd name="T4" fmla="*/ 291 w 288"/>
                <a:gd name="T5" fmla="*/ 60 h 60"/>
                <a:gd name="T6" fmla="*/ 336 w 288"/>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60">
                  <a:moveTo>
                    <a:pt x="0" y="0"/>
                  </a:moveTo>
                  <a:lnTo>
                    <a:pt x="249" y="0"/>
                  </a:lnTo>
                  <a:lnTo>
                    <a:pt x="249" y="60"/>
                  </a:lnTo>
                  <a:lnTo>
                    <a:pt x="288" y="6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95" name="Line 338"/>
            <p:cNvSpPr>
              <a:spLocks noChangeShapeType="1"/>
            </p:cNvSpPr>
            <p:nvPr/>
          </p:nvSpPr>
          <p:spPr bwMode="auto">
            <a:xfrm flipH="1">
              <a:off x="639" y="1551"/>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96" name="Line 339"/>
            <p:cNvSpPr>
              <a:spLocks noChangeShapeType="1"/>
            </p:cNvSpPr>
            <p:nvPr/>
          </p:nvSpPr>
          <p:spPr bwMode="auto">
            <a:xfrm flipH="1">
              <a:off x="787" y="1549"/>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97" name="Line 340"/>
            <p:cNvSpPr>
              <a:spLocks noChangeShapeType="1"/>
            </p:cNvSpPr>
            <p:nvPr/>
          </p:nvSpPr>
          <p:spPr bwMode="auto">
            <a:xfrm>
              <a:off x="909" y="1575"/>
              <a:ext cx="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98" name="Moon 11"/>
            <p:cNvSpPr>
              <a:spLocks noChangeArrowheads="1"/>
            </p:cNvSpPr>
            <p:nvPr/>
          </p:nvSpPr>
          <p:spPr bwMode="auto">
            <a:xfrm rot="10800000">
              <a:off x="961" y="150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TW" sz="1100">
                <a:ea typeface="新細明體" pitchFamily="18" charset="-120"/>
                <a:cs typeface="Arial" panose="020B0604020202020204" pitchFamily="34" charset="0"/>
              </a:endParaRPr>
            </a:p>
          </p:txBody>
        </p:sp>
        <p:sp>
          <p:nvSpPr>
            <p:cNvPr id="4399" name="AutoShape 342"/>
            <p:cNvSpPr>
              <a:spLocks noChangeArrowheads="1"/>
            </p:cNvSpPr>
            <p:nvPr/>
          </p:nvSpPr>
          <p:spPr bwMode="auto">
            <a:xfrm>
              <a:off x="822" y="1533"/>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0" name="Line 343"/>
            <p:cNvSpPr>
              <a:spLocks noChangeShapeType="1"/>
            </p:cNvSpPr>
            <p:nvPr/>
          </p:nvSpPr>
          <p:spPr bwMode="auto">
            <a:xfrm>
              <a:off x="639" y="1725"/>
              <a:ext cx="2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1" name="Freeform 344"/>
            <p:cNvSpPr>
              <a:spLocks/>
            </p:cNvSpPr>
            <p:nvPr/>
          </p:nvSpPr>
          <p:spPr bwMode="auto">
            <a:xfrm>
              <a:off x="780" y="1599"/>
              <a:ext cx="42" cy="123"/>
            </a:xfrm>
            <a:custGeom>
              <a:avLst/>
              <a:gdLst>
                <a:gd name="T0" fmla="*/ 0 w 42"/>
                <a:gd name="T1" fmla="*/ 123 h 123"/>
                <a:gd name="T2" fmla="*/ 0 w 42"/>
                <a:gd name="T3" fmla="*/ 0 h 123"/>
                <a:gd name="T4" fmla="*/ 42 w 42"/>
                <a:gd name="T5" fmla="*/ 0 h 123"/>
                <a:gd name="T6" fmla="*/ 0 60000 65536"/>
                <a:gd name="T7" fmla="*/ 0 60000 65536"/>
                <a:gd name="T8" fmla="*/ 0 60000 65536"/>
              </a:gdLst>
              <a:ahLst/>
              <a:cxnLst>
                <a:cxn ang="T6">
                  <a:pos x="T0" y="T1"/>
                </a:cxn>
                <a:cxn ang="T7">
                  <a:pos x="T2" y="T3"/>
                </a:cxn>
                <a:cxn ang="T8">
                  <a:pos x="T4" y="T5"/>
                </a:cxn>
              </a:cxnLst>
              <a:rect l="0" t="0" r="r" b="b"/>
              <a:pathLst>
                <a:path w="42" h="123">
                  <a:moveTo>
                    <a:pt x="0" y="123"/>
                  </a:moveTo>
                  <a:lnTo>
                    <a:pt x="0" y="0"/>
                  </a:lnTo>
                  <a:lnTo>
                    <a:pt x="42"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2" name="Oval 345"/>
            <p:cNvSpPr>
              <a:spLocks noChangeArrowheads="1"/>
            </p:cNvSpPr>
            <p:nvPr/>
          </p:nvSpPr>
          <p:spPr bwMode="auto">
            <a:xfrm>
              <a:off x="765" y="1710"/>
              <a:ext cx="29" cy="29"/>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3" name="Line 346"/>
            <p:cNvSpPr>
              <a:spLocks noChangeShapeType="1"/>
            </p:cNvSpPr>
            <p:nvPr/>
          </p:nvSpPr>
          <p:spPr bwMode="auto">
            <a:xfrm>
              <a:off x="636" y="1773"/>
              <a:ext cx="36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4" name="Freeform 347"/>
            <p:cNvSpPr>
              <a:spLocks/>
            </p:cNvSpPr>
            <p:nvPr/>
          </p:nvSpPr>
          <p:spPr bwMode="auto">
            <a:xfrm>
              <a:off x="1062" y="1560"/>
              <a:ext cx="99" cy="147"/>
            </a:xfrm>
            <a:custGeom>
              <a:avLst/>
              <a:gdLst>
                <a:gd name="T0" fmla="*/ 0 w 99"/>
                <a:gd name="T1" fmla="*/ 0 h 126"/>
                <a:gd name="T2" fmla="*/ 60 w 99"/>
                <a:gd name="T3" fmla="*/ 0 h 126"/>
                <a:gd name="T4" fmla="*/ 60 w 99"/>
                <a:gd name="T5" fmla="*/ 147 h 126"/>
                <a:gd name="T6" fmla="*/ 99 w 99"/>
                <a:gd name="T7" fmla="*/ 147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126">
                  <a:moveTo>
                    <a:pt x="0" y="0"/>
                  </a:moveTo>
                  <a:lnTo>
                    <a:pt x="60" y="0"/>
                  </a:lnTo>
                  <a:lnTo>
                    <a:pt x="60" y="126"/>
                  </a:lnTo>
                  <a:lnTo>
                    <a:pt x="99" y="12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5" name="Line 348"/>
            <p:cNvSpPr>
              <a:spLocks noChangeShapeType="1"/>
            </p:cNvSpPr>
            <p:nvPr/>
          </p:nvSpPr>
          <p:spPr bwMode="auto">
            <a:xfrm>
              <a:off x="1092" y="1752"/>
              <a:ext cx="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6" name="AutoShape 349"/>
            <p:cNvSpPr>
              <a:spLocks noChangeArrowheads="1"/>
            </p:cNvSpPr>
            <p:nvPr/>
          </p:nvSpPr>
          <p:spPr bwMode="auto">
            <a:xfrm>
              <a:off x="1009" y="1708"/>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7" name="Moon 11"/>
            <p:cNvSpPr>
              <a:spLocks noChangeArrowheads="1"/>
            </p:cNvSpPr>
            <p:nvPr/>
          </p:nvSpPr>
          <p:spPr bwMode="auto">
            <a:xfrm rot="10800000">
              <a:off x="1143" y="167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TW" sz="1100">
                <a:ea typeface="新細明體" pitchFamily="18" charset="-120"/>
                <a:cs typeface="Arial" panose="020B0604020202020204" pitchFamily="34" charset="0"/>
              </a:endParaRPr>
            </a:p>
          </p:txBody>
        </p:sp>
        <p:sp>
          <p:nvSpPr>
            <p:cNvPr id="4408" name="Line 351"/>
            <p:cNvSpPr>
              <a:spLocks noChangeShapeType="1"/>
            </p:cNvSpPr>
            <p:nvPr/>
          </p:nvSpPr>
          <p:spPr bwMode="auto">
            <a:xfrm>
              <a:off x="1245" y="1731"/>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103" name="Line 352"/>
          <p:cNvSpPr>
            <a:spLocks noChangeShapeType="1"/>
          </p:cNvSpPr>
          <p:nvPr/>
        </p:nvSpPr>
        <p:spPr bwMode="auto">
          <a:xfrm>
            <a:off x="1328738" y="3986213"/>
            <a:ext cx="0" cy="158750"/>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04" name="Line 353"/>
          <p:cNvSpPr>
            <a:spLocks noChangeShapeType="1"/>
          </p:cNvSpPr>
          <p:nvPr/>
        </p:nvSpPr>
        <p:spPr bwMode="auto">
          <a:xfrm>
            <a:off x="5619750" y="1766888"/>
            <a:ext cx="0" cy="492125"/>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4105" name="Line 354"/>
          <p:cNvSpPr>
            <a:spLocks noChangeShapeType="1"/>
          </p:cNvSpPr>
          <p:nvPr/>
        </p:nvSpPr>
        <p:spPr bwMode="auto">
          <a:xfrm flipH="1">
            <a:off x="5610225" y="2479675"/>
            <a:ext cx="6350" cy="468313"/>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4106" name="Line 355"/>
          <p:cNvSpPr>
            <a:spLocks noChangeShapeType="1"/>
          </p:cNvSpPr>
          <p:nvPr/>
        </p:nvSpPr>
        <p:spPr bwMode="auto">
          <a:xfrm flipH="1">
            <a:off x="5610225" y="3148013"/>
            <a:ext cx="3175" cy="484187"/>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de-DE"/>
          </a:p>
        </p:txBody>
      </p:sp>
      <p:sp>
        <p:nvSpPr>
          <p:cNvPr id="4107" name="Line 356"/>
          <p:cNvSpPr>
            <a:spLocks noChangeShapeType="1"/>
          </p:cNvSpPr>
          <p:nvPr/>
        </p:nvSpPr>
        <p:spPr bwMode="auto">
          <a:xfrm>
            <a:off x="3017838" y="1300163"/>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08" name="Line 357"/>
          <p:cNvSpPr>
            <a:spLocks noChangeShapeType="1"/>
          </p:cNvSpPr>
          <p:nvPr/>
        </p:nvSpPr>
        <p:spPr bwMode="auto">
          <a:xfrm>
            <a:off x="3009900" y="1893888"/>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09" name="Line 358"/>
          <p:cNvSpPr>
            <a:spLocks noChangeShapeType="1"/>
          </p:cNvSpPr>
          <p:nvPr/>
        </p:nvSpPr>
        <p:spPr bwMode="auto">
          <a:xfrm>
            <a:off x="3009900" y="2487613"/>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10" name="Line 359"/>
          <p:cNvSpPr>
            <a:spLocks noChangeShapeType="1"/>
          </p:cNvSpPr>
          <p:nvPr/>
        </p:nvSpPr>
        <p:spPr bwMode="auto">
          <a:xfrm>
            <a:off x="3009900" y="3073400"/>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11" name="Line 360"/>
          <p:cNvSpPr>
            <a:spLocks noChangeShapeType="1"/>
          </p:cNvSpPr>
          <p:nvPr/>
        </p:nvSpPr>
        <p:spPr bwMode="auto">
          <a:xfrm>
            <a:off x="3009900" y="3648075"/>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12" name="Line 361"/>
          <p:cNvSpPr>
            <a:spLocks noChangeShapeType="1"/>
          </p:cNvSpPr>
          <p:nvPr/>
        </p:nvSpPr>
        <p:spPr bwMode="auto">
          <a:xfrm>
            <a:off x="3008313" y="4237038"/>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13" name="Line 362"/>
          <p:cNvSpPr>
            <a:spLocks noChangeShapeType="1"/>
          </p:cNvSpPr>
          <p:nvPr/>
        </p:nvSpPr>
        <p:spPr bwMode="auto">
          <a:xfrm>
            <a:off x="3001963" y="5399088"/>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14" name="Line 363"/>
          <p:cNvSpPr>
            <a:spLocks noChangeShapeType="1"/>
          </p:cNvSpPr>
          <p:nvPr/>
        </p:nvSpPr>
        <p:spPr bwMode="auto">
          <a:xfrm>
            <a:off x="3005138" y="4819650"/>
            <a:ext cx="0" cy="365125"/>
          </a:xfrm>
          <a:prstGeom prst="line">
            <a:avLst/>
          </a:prstGeom>
          <a:noFill/>
          <a:ln w="1270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15" name="Rectangle 364"/>
          <p:cNvSpPr>
            <a:spLocks noChangeArrowheads="1"/>
          </p:cNvSpPr>
          <p:nvPr/>
        </p:nvSpPr>
        <p:spPr bwMode="auto">
          <a:xfrm>
            <a:off x="2070100" y="2833688"/>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16" name="Rectangle 365"/>
          <p:cNvSpPr>
            <a:spLocks noChangeArrowheads="1"/>
          </p:cNvSpPr>
          <p:nvPr/>
        </p:nvSpPr>
        <p:spPr bwMode="auto">
          <a:xfrm>
            <a:off x="4622800" y="1584325"/>
            <a:ext cx="2011363"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17" name="Rectangle 366"/>
          <p:cNvSpPr>
            <a:spLocks noChangeArrowheads="1"/>
          </p:cNvSpPr>
          <p:nvPr/>
        </p:nvSpPr>
        <p:spPr bwMode="auto">
          <a:xfrm>
            <a:off x="4622800" y="2286000"/>
            <a:ext cx="2011363" cy="227013"/>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18" name="Rectangle 367"/>
          <p:cNvSpPr>
            <a:spLocks noChangeArrowheads="1"/>
          </p:cNvSpPr>
          <p:nvPr/>
        </p:nvSpPr>
        <p:spPr bwMode="auto">
          <a:xfrm>
            <a:off x="4622800" y="2954338"/>
            <a:ext cx="2011363" cy="223837"/>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19" name="Rectangle 368"/>
          <p:cNvSpPr>
            <a:spLocks noChangeArrowheads="1"/>
          </p:cNvSpPr>
          <p:nvPr/>
        </p:nvSpPr>
        <p:spPr bwMode="auto">
          <a:xfrm>
            <a:off x="4622800" y="3632200"/>
            <a:ext cx="2011363"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20" name="Rectangle 369"/>
          <p:cNvSpPr>
            <a:spLocks noChangeArrowheads="1"/>
          </p:cNvSpPr>
          <p:nvPr/>
        </p:nvSpPr>
        <p:spPr bwMode="auto">
          <a:xfrm>
            <a:off x="4622800" y="4305300"/>
            <a:ext cx="2011363"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21" name="Rectangle 370"/>
          <p:cNvSpPr>
            <a:spLocks noChangeArrowheads="1"/>
          </p:cNvSpPr>
          <p:nvPr/>
        </p:nvSpPr>
        <p:spPr bwMode="auto">
          <a:xfrm>
            <a:off x="2070100" y="2239963"/>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22" name="Rectangle 371"/>
          <p:cNvSpPr>
            <a:spLocks noChangeArrowheads="1"/>
          </p:cNvSpPr>
          <p:nvPr/>
        </p:nvSpPr>
        <p:spPr bwMode="auto">
          <a:xfrm>
            <a:off x="2074863" y="3413125"/>
            <a:ext cx="1917700" cy="44767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23" name="Rectangle 372"/>
          <p:cNvSpPr>
            <a:spLocks noChangeArrowheads="1"/>
          </p:cNvSpPr>
          <p:nvPr/>
        </p:nvSpPr>
        <p:spPr bwMode="auto">
          <a:xfrm>
            <a:off x="2071688" y="3992563"/>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24" name="Line 373"/>
          <p:cNvSpPr>
            <a:spLocks noChangeShapeType="1"/>
          </p:cNvSpPr>
          <p:nvPr/>
        </p:nvSpPr>
        <p:spPr bwMode="auto">
          <a:xfrm>
            <a:off x="3698875" y="3865563"/>
            <a:ext cx="6350" cy="7937"/>
          </a:xfrm>
          <a:prstGeom prst="line">
            <a:avLst/>
          </a:prstGeom>
          <a:noFill/>
          <a:ln w="14288">
            <a:solidFill>
              <a:srgbClr val="FFCC99"/>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4125" name="Group 374"/>
          <p:cNvGrpSpPr>
            <a:grpSpLocks/>
          </p:cNvGrpSpPr>
          <p:nvPr/>
        </p:nvGrpSpPr>
        <p:grpSpPr bwMode="auto">
          <a:xfrm>
            <a:off x="7008813" y="2752725"/>
            <a:ext cx="989012" cy="576263"/>
            <a:chOff x="3914" y="2070"/>
            <a:chExt cx="581" cy="387"/>
          </a:xfrm>
        </p:grpSpPr>
        <p:sp>
          <p:nvSpPr>
            <p:cNvPr id="4373" name="Rectangle 375"/>
            <p:cNvSpPr>
              <a:spLocks noChangeArrowheads="1"/>
            </p:cNvSpPr>
            <p:nvPr/>
          </p:nvSpPr>
          <p:spPr bwMode="auto">
            <a:xfrm>
              <a:off x="3914" y="2070"/>
              <a:ext cx="581" cy="387"/>
            </a:xfrm>
            <a:prstGeom prst="rect">
              <a:avLst/>
            </a:prstGeom>
            <a:solidFill>
              <a:srgbClr val="FFFFFF"/>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74" name="Rectangle 376"/>
            <p:cNvSpPr>
              <a:spLocks noChangeArrowheads="1"/>
            </p:cNvSpPr>
            <p:nvPr/>
          </p:nvSpPr>
          <p:spPr bwMode="auto">
            <a:xfrm>
              <a:off x="3914" y="2070"/>
              <a:ext cx="581" cy="387"/>
            </a:xfrm>
            <a:prstGeom prst="rect">
              <a:avLst/>
            </a:prstGeom>
            <a:solidFill>
              <a:srgbClr val="F8F8F8"/>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75" name="Rectangle 377"/>
            <p:cNvSpPr>
              <a:spLocks noChangeArrowheads="1"/>
            </p:cNvSpPr>
            <p:nvPr/>
          </p:nvSpPr>
          <p:spPr bwMode="auto">
            <a:xfrm>
              <a:off x="3979" y="210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76" name="Rectangle 378"/>
            <p:cNvSpPr>
              <a:spLocks noChangeArrowheads="1"/>
            </p:cNvSpPr>
            <p:nvPr/>
          </p:nvSpPr>
          <p:spPr bwMode="auto">
            <a:xfrm>
              <a:off x="4398" y="210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77" name="Rectangle 379"/>
            <p:cNvSpPr>
              <a:spLocks noChangeArrowheads="1"/>
            </p:cNvSpPr>
            <p:nvPr/>
          </p:nvSpPr>
          <p:spPr bwMode="auto">
            <a:xfrm>
              <a:off x="4188" y="210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78" name="Rectangle 380"/>
            <p:cNvSpPr>
              <a:spLocks noChangeArrowheads="1"/>
            </p:cNvSpPr>
            <p:nvPr/>
          </p:nvSpPr>
          <p:spPr bwMode="auto">
            <a:xfrm>
              <a:off x="4293" y="210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79" name="Rectangle 381"/>
            <p:cNvSpPr>
              <a:spLocks noChangeArrowheads="1"/>
            </p:cNvSpPr>
            <p:nvPr/>
          </p:nvSpPr>
          <p:spPr bwMode="auto">
            <a:xfrm>
              <a:off x="4084" y="210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0" name="Rectangle 382"/>
            <p:cNvSpPr>
              <a:spLocks noChangeArrowheads="1"/>
            </p:cNvSpPr>
            <p:nvPr/>
          </p:nvSpPr>
          <p:spPr bwMode="auto">
            <a:xfrm>
              <a:off x="3979" y="239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1" name="Rectangle 383"/>
            <p:cNvSpPr>
              <a:spLocks noChangeArrowheads="1"/>
            </p:cNvSpPr>
            <p:nvPr/>
          </p:nvSpPr>
          <p:spPr bwMode="auto">
            <a:xfrm>
              <a:off x="4398" y="239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2" name="Rectangle 384"/>
            <p:cNvSpPr>
              <a:spLocks noChangeArrowheads="1"/>
            </p:cNvSpPr>
            <p:nvPr/>
          </p:nvSpPr>
          <p:spPr bwMode="auto">
            <a:xfrm>
              <a:off x="4188" y="239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3" name="Rectangle 385"/>
            <p:cNvSpPr>
              <a:spLocks noChangeArrowheads="1"/>
            </p:cNvSpPr>
            <p:nvPr/>
          </p:nvSpPr>
          <p:spPr bwMode="auto">
            <a:xfrm>
              <a:off x="4293" y="239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4" name="Rectangle 386"/>
            <p:cNvSpPr>
              <a:spLocks noChangeArrowheads="1"/>
            </p:cNvSpPr>
            <p:nvPr/>
          </p:nvSpPr>
          <p:spPr bwMode="auto">
            <a:xfrm>
              <a:off x="4084" y="239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5" name="Rectangle 387"/>
            <p:cNvSpPr>
              <a:spLocks noChangeArrowheads="1"/>
            </p:cNvSpPr>
            <p:nvPr/>
          </p:nvSpPr>
          <p:spPr bwMode="auto">
            <a:xfrm>
              <a:off x="4398" y="2247"/>
              <a:ext cx="32"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6" name="Rectangle 388"/>
            <p:cNvSpPr>
              <a:spLocks noChangeArrowheads="1"/>
            </p:cNvSpPr>
            <p:nvPr/>
          </p:nvSpPr>
          <p:spPr bwMode="auto">
            <a:xfrm>
              <a:off x="3979" y="2247"/>
              <a:ext cx="31"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7" name="Rectangle 389"/>
            <p:cNvSpPr>
              <a:spLocks noChangeArrowheads="1"/>
            </p:cNvSpPr>
            <p:nvPr/>
          </p:nvSpPr>
          <p:spPr bwMode="auto">
            <a:xfrm>
              <a:off x="4067" y="2183"/>
              <a:ext cx="65" cy="178"/>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8" name="Rectangle 390"/>
            <p:cNvSpPr>
              <a:spLocks noChangeArrowheads="1"/>
            </p:cNvSpPr>
            <p:nvPr/>
          </p:nvSpPr>
          <p:spPr bwMode="auto">
            <a:xfrm>
              <a:off x="4220" y="2159"/>
              <a:ext cx="129" cy="9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89" name="Rectangle 391"/>
            <p:cNvSpPr>
              <a:spLocks noChangeArrowheads="1"/>
            </p:cNvSpPr>
            <p:nvPr/>
          </p:nvSpPr>
          <p:spPr bwMode="auto">
            <a:xfrm>
              <a:off x="4220" y="2304"/>
              <a:ext cx="81" cy="5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4126" name="Line 392"/>
          <p:cNvSpPr>
            <a:spLocks noChangeShapeType="1"/>
          </p:cNvSpPr>
          <p:nvPr/>
        </p:nvSpPr>
        <p:spPr bwMode="auto">
          <a:xfrm>
            <a:off x="1328738" y="1654175"/>
            <a:ext cx="0" cy="209550"/>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27" name="Rectangle 393"/>
          <p:cNvSpPr>
            <a:spLocks noChangeArrowheads="1"/>
          </p:cNvSpPr>
          <p:nvPr/>
        </p:nvSpPr>
        <p:spPr bwMode="auto">
          <a:xfrm>
            <a:off x="833438" y="1865313"/>
            <a:ext cx="987425" cy="574675"/>
          </a:xfrm>
          <a:prstGeom prst="rect">
            <a:avLst/>
          </a:prstGeom>
          <a:solidFill>
            <a:srgbClr val="FFFFFF"/>
          </a:solidFill>
          <a:ln w="9525">
            <a:solidFill>
              <a:schemeClr val="tx1"/>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28" name="Rectangle 394"/>
          <p:cNvSpPr>
            <a:spLocks noChangeArrowheads="1"/>
          </p:cNvSpPr>
          <p:nvPr/>
        </p:nvSpPr>
        <p:spPr bwMode="auto">
          <a:xfrm>
            <a:off x="896938" y="1944688"/>
            <a:ext cx="87630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900">
                <a:solidFill>
                  <a:srgbClr val="000000"/>
                </a:solidFill>
                <a:ea typeface="宋体" panose="02010600030101010101" pitchFamily="2" charset="-122"/>
              </a:rPr>
              <a:t>ENTITY test is</a:t>
            </a:r>
            <a:br>
              <a:rPr lang="en-US" altLang="zh-CN" sz="900">
                <a:solidFill>
                  <a:srgbClr val="000000"/>
                </a:solidFill>
                <a:ea typeface="宋体" panose="02010600030101010101" pitchFamily="2" charset="-122"/>
              </a:rPr>
            </a:br>
            <a:r>
              <a:rPr lang="en-US" altLang="zh-CN" sz="900">
                <a:solidFill>
                  <a:srgbClr val="000000"/>
                </a:solidFill>
                <a:ea typeface="宋体" panose="02010600030101010101" pitchFamily="2" charset="-122"/>
              </a:rPr>
              <a:t>port a: in bit;</a:t>
            </a:r>
            <a:br>
              <a:rPr lang="en-US" altLang="zh-CN" sz="900">
                <a:solidFill>
                  <a:srgbClr val="000000"/>
                </a:solidFill>
                <a:ea typeface="宋体" panose="02010600030101010101" pitchFamily="2" charset="-122"/>
              </a:rPr>
            </a:br>
            <a:r>
              <a:rPr lang="en-US" altLang="zh-CN" sz="900">
                <a:solidFill>
                  <a:srgbClr val="000000"/>
                </a:solidFill>
                <a:ea typeface="宋体" panose="02010600030101010101" pitchFamily="2" charset="-122"/>
              </a:rPr>
              <a:t>end ENTITY test;</a:t>
            </a:r>
            <a:endParaRPr lang="en-US" altLang="zh-CN" sz="900">
              <a:ea typeface="宋体" panose="02010600030101010101" pitchFamily="2" charset="-122"/>
            </a:endParaRPr>
          </a:p>
        </p:txBody>
      </p:sp>
      <p:grpSp>
        <p:nvGrpSpPr>
          <p:cNvPr id="4129" name="Group 395"/>
          <p:cNvGrpSpPr>
            <a:grpSpLocks/>
          </p:cNvGrpSpPr>
          <p:nvPr/>
        </p:nvGrpSpPr>
        <p:grpSpPr bwMode="auto">
          <a:xfrm>
            <a:off x="841375" y="5614988"/>
            <a:ext cx="1004888" cy="584200"/>
            <a:chOff x="623" y="3214"/>
            <a:chExt cx="590" cy="392"/>
          </a:xfrm>
        </p:grpSpPr>
        <p:sp>
          <p:nvSpPr>
            <p:cNvPr id="4342" name="Rectangle 396"/>
            <p:cNvSpPr>
              <a:spLocks noChangeArrowheads="1"/>
            </p:cNvSpPr>
            <p:nvPr/>
          </p:nvSpPr>
          <p:spPr bwMode="auto">
            <a:xfrm>
              <a:off x="629" y="3220"/>
              <a:ext cx="580" cy="38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3" name="Rectangle 397"/>
            <p:cNvSpPr>
              <a:spLocks noChangeArrowheads="1"/>
            </p:cNvSpPr>
            <p:nvPr/>
          </p:nvSpPr>
          <p:spPr bwMode="auto">
            <a:xfrm>
              <a:off x="629" y="3470"/>
              <a:ext cx="271" cy="15"/>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4" name="Rectangle 398"/>
            <p:cNvSpPr>
              <a:spLocks noChangeArrowheads="1"/>
            </p:cNvSpPr>
            <p:nvPr/>
          </p:nvSpPr>
          <p:spPr bwMode="auto">
            <a:xfrm>
              <a:off x="629" y="3437"/>
              <a:ext cx="271" cy="17"/>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5" name="Rectangle 399"/>
            <p:cNvSpPr>
              <a:spLocks noChangeArrowheads="1"/>
            </p:cNvSpPr>
            <p:nvPr/>
          </p:nvSpPr>
          <p:spPr bwMode="auto">
            <a:xfrm>
              <a:off x="629" y="3410"/>
              <a:ext cx="271" cy="16"/>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6" name="Rectangle 400"/>
            <p:cNvSpPr>
              <a:spLocks noChangeArrowheads="1"/>
            </p:cNvSpPr>
            <p:nvPr/>
          </p:nvSpPr>
          <p:spPr bwMode="auto">
            <a:xfrm>
              <a:off x="631" y="3383"/>
              <a:ext cx="270" cy="16"/>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7" name="Rectangle 401"/>
            <p:cNvSpPr>
              <a:spLocks noChangeArrowheads="1"/>
            </p:cNvSpPr>
            <p:nvPr/>
          </p:nvSpPr>
          <p:spPr bwMode="auto">
            <a:xfrm>
              <a:off x="630" y="3356"/>
              <a:ext cx="270" cy="17"/>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8" name="Rectangle 402"/>
            <p:cNvSpPr>
              <a:spLocks noChangeArrowheads="1"/>
            </p:cNvSpPr>
            <p:nvPr/>
          </p:nvSpPr>
          <p:spPr bwMode="auto">
            <a:xfrm>
              <a:off x="1121" y="3437"/>
              <a:ext cx="88" cy="17"/>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49" name="Rectangle 403"/>
            <p:cNvSpPr>
              <a:spLocks noChangeArrowheads="1"/>
            </p:cNvSpPr>
            <p:nvPr/>
          </p:nvSpPr>
          <p:spPr bwMode="auto">
            <a:xfrm>
              <a:off x="1072" y="3461"/>
              <a:ext cx="137" cy="17"/>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50" name="Rectangle 404"/>
            <p:cNvSpPr>
              <a:spLocks noChangeArrowheads="1"/>
            </p:cNvSpPr>
            <p:nvPr/>
          </p:nvSpPr>
          <p:spPr bwMode="auto">
            <a:xfrm>
              <a:off x="1030" y="3484"/>
              <a:ext cx="183" cy="15"/>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51" name="Rectangle 405"/>
            <p:cNvSpPr>
              <a:spLocks noChangeArrowheads="1"/>
            </p:cNvSpPr>
            <p:nvPr/>
          </p:nvSpPr>
          <p:spPr bwMode="auto">
            <a:xfrm>
              <a:off x="983" y="3503"/>
              <a:ext cx="228" cy="16"/>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52" name="Rectangle 406"/>
            <p:cNvSpPr>
              <a:spLocks noChangeArrowheads="1"/>
            </p:cNvSpPr>
            <p:nvPr/>
          </p:nvSpPr>
          <p:spPr bwMode="auto">
            <a:xfrm>
              <a:off x="939" y="3526"/>
              <a:ext cx="270" cy="16"/>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53" name="Rectangle 407"/>
            <p:cNvSpPr>
              <a:spLocks noChangeArrowheads="1"/>
            </p:cNvSpPr>
            <p:nvPr/>
          </p:nvSpPr>
          <p:spPr bwMode="auto">
            <a:xfrm>
              <a:off x="895" y="3550"/>
              <a:ext cx="314" cy="16"/>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54" name="Rectangle 408"/>
            <p:cNvSpPr>
              <a:spLocks noChangeArrowheads="1"/>
            </p:cNvSpPr>
            <p:nvPr/>
          </p:nvSpPr>
          <p:spPr bwMode="auto">
            <a:xfrm>
              <a:off x="623" y="3498"/>
              <a:ext cx="125" cy="17"/>
            </a:xfrm>
            <a:prstGeom prst="rect">
              <a:avLst/>
            </a:prstGeom>
            <a:solidFill>
              <a:srgbClr val="B3B3B3"/>
            </a:solidFill>
            <a:ln w="7938">
              <a:solidFill>
                <a:srgbClr val="FFFF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55" name="Line 409"/>
            <p:cNvSpPr>
              <a:spLocks noChangeShapeType="1"/>
            </p:cNvSpPr>
            <p:nvPr/>
          </p:nvSpPr>
          <p:spPr bwMode="auto">
            <a:xfrm flipV="1">
              <a:off x="693" y="3320"/>
              <a:ext cx="283" cy="14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56" name="Line 410"/>
            <p:cNvSpPr>
              <a:spLocks noChangeShapeType="1"/>
            </p:cNvSpPr>
            <p:nvPr/>
          </p:nvSpPr>
          <p:spPr bwMode="auto">
            <a:xfrm flipV="1">
              <a:off x="863" y="3361"/>
              <a:ext cx="282" cy="14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57" name="Line 411"/>
            <p:cNvSpPr>
              <a:spLocks noChangeShapeType="1"/>
            </p:cNvSpPr>
            <p:nvPr/>
          </p:nvSpPr>
          <p:spPr bwMode="auto">
            <a:xfrm>
              <a:off x="976" y="3320"/>
              <a:ext cx="169" cy="4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58" name="Line 412"/>
            <p:cNvSpPr>
              <a:spLocks noChangeShapeType="1"/>
            </p:cNvSpPr>
            <p:nvPr/>
          </p:nvSpPr>
          <p:spPr bwMode="auto">
            <a:xfrm>
              <a:off x="693" y="3466"/>
              <a:ext cx="170" cy="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59" name="Line 413"/>
            <p:cNvSpPr>
              <a:spLocks noChangeShapeType="1"/>
            </p:cNvSpPr>
            <p:nvPr/>
          </p:nvSpPr>
          <p:spPr bwMode="auto">
            <a:xfrm flipV="1">
              <a:off x="693" y="3268"/>
              <a:ext cx="283" cy="145"/>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60" name="Line 414"/>
            <p:cNvSpPr>
              <a:spLocks noChangeShapeType="1"/>
            </p:cNvSpPr>
            <p:nvPr/>
          </p:nvSpPr>
          <p:spPr bwMode="auto">
            <a:xfrm flipV="1">
              <a:off x="863" y="3308"/>
              <a:ext cx="282" cy="146"/>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61" name="Line 415"/>
            <p:cNvSpPr>
              <a:spLocks noChangeShapeType="1"/>
            </p:cNvSpPr>
            <p:nvPr/>
          </p:nvSpPr>
          <p:spPr bwMode="auto">
            <a:xfrm>
              <a:off x="976" y="3268"/>
              <a:ext cx="169" cy="40"/>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62" name="Line 416"/>
            <p:cNvSpPr>
              <a:spLocks noChangeShapeType="1"/>
            </p:cNvSpPr>
            <p:nvPr/>
          </p:nvSpPr>
          <p:spPr bwMode="auto">
            <a:xfrm>
              <a:off x="693" y="3413"/>
              <a:ext cx="170" cy="4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63" name="Freeform 417"/>
            <p:cNvSpPr>
              <a:spLocks/>
            </p:cNvSpPr>
            <p:nvPr/>
          </p:nvSpPr>
          <p:spPr bwMode="auto">
            <a:xfrm>
              <a:off x="693" y="3268"/>
              <a:ext cx="452" cy="186"/>
            </a:xfrm>
            <a:custGeom>
              <a:avLst/>
              <a:gdLst>
                <a:gd name="T0" fmla="*/ 0 w 452"/>
                <a:gd name="T1" fmla="*/ 145 h 186"/>
                <a:gd name="T2" fmla="*/ 283 w 452"/>
                <a:gd name="T3" fmla="*/ 0 h 186"/>
                <a:gd name="T4" fmla="*/ 452 w 452"/>
                <a:gd name="T5" fmla="*/ 40 h 186"/>
                <a:gd name="T6" fmla="*/ 170 w 452"/>
                <a:gd name="T7" fmla="*/ 186 h 186"/>
                <a:gd name="T8" fmla="*/ 0 w 452"/>
                <a:gd name="T9" fmla="*/ 145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52" h="186">
                  <a:moveTo>
                    <a:pt x="0" y="145"/>
                  </a:moveTo>
                  <a:lnTo>
                    <a:pt x="283" y="0"/>
                  </a:lnTo>
                  <a:lnTo>
                    <a:pt x="452" y="40"/>
                  </a:lnTo>
                  <a:lnTo>
                    <a:pt x="170" y="186"/>
                  </a:lnTo>
                  <a:lnTo>
                    <a:pt x="0" y="145"/>
                  </a:lnTo>
                  <a:close/>
                </a:path>
              </a:pathLst>
            </a:custGeom>
            <a:solidFill>
              <a:srgbClr val="E6E6E6"/>
            </a:solidFill>
            <a:ln w="7938">
              <a:solidFill>
                <a:srgbClr val="000000"/>
              </a:solidFill>
              <a:prstDash val="solid"/>
              <a:round/>
              <a:headEnd/>
              <a:tailEnd/>
            </a:ln>
          </p:spPr>
          <p:txBody>
            <a:bodyPr/>
            <a:lstStyle/>
            <a:p>
              <a:endParaRPr lang="de-DE"/>
            </a:p>
          </p:txBody>
        </p:sp>
        <p:sp>
          <p:nvSpPr>
            <p:cNvPr id="4364" name="Freeform 418"/>
            <p:cNvSpPr>
              <a:spLocks/>
            </p:cNvSpPr>
            <p:nvPr/>
          </p:nvSpPr>
          <p:spPr bwMode="auto">
            <a:xfrm>
              <a:off x="693" y="3308"/>
              <a:ext cx="452" cy="202"/>
            </a:xfrm>
            <a:custGeom>
              <a:avLst/>
              <a:gdLst>
                <a:gd name="T0" fmla="*/ 0 w 452"/>
                <a:gd name="T1" fmla="*/ 105 h 202"/>
                <a:gd name="T2" fmla="*/ 0 w 452"/>
                <a:gd name="T3" fmla="*/ 162 h 202"/>
                <a:gd name="T4" fmla="*/ 170 w 452"/>
                <a:gd name="T5" fmla="*/ 202 h 202"/>
                <a:gd name="T6" fmla="*/ 452 w 452"/>
                <a:gd name="T7" fmla="*/ 57 h 202"/>
                <a:gd name="T8" fmla="*/ 452 w 452"/>
                <a:gd name="T9" fmla="*/ 0 h 202"/>
                <a:gd name="T10" fmla="*/ 170 w 452"/>
                <a:gd name="T11" fmla="*/ 146 h 202"/>
                <a:gd name="T12" fmla="*/ 0 w 452"/>
                <a:gd name="T13" fmla="*/ 105 h 20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2" h="202">
                  <a:moveTo>
                    <a:pt x="0" y="105"/>
                  </a:moveTo>
                  <a:lnTo>
                    <a:pt x="0" y="162"/>
                  </a:lnTo>
                  <a:lnTo>
                    <a:pt x="170" y="202"/>
                  </a:lnTo>
                  <a:lnTo>
                    <a:pt x="452" y="57"/>
                  </a:lnTo>
                  <a:lnTo>
                    <a:pt x="452" y="0"/>
                  </a:lnTo>
                  <a:lnTo>
                    <a:pt x="170" y="146"/>
                  </a:lnTo>
                  <a:lnTo>
                    <a:pt x="0" y="105"/>
                  </a:lnTo>
                  <a:close/>
                </a:path>
              </a:pathLst>
            </a:custGeom>
            <a:solidFill>
              <a:srgbClr val="000000"/>
            </a:solidFill>
            <a:ln w="7938">
              <a:solidFill>
                <a:srgbClr val="000000"/>
              </a:solidFill>
              <a:prstDash val="solid"/>
              <a:round/>
              <a:headEnd/>
              <a:tailEnd/>
            </a:ln>
          </p:spPr>
          <p:txBody>
            <a:bodyPr/>
            <a:lstStyle/>
            <a:p>
              <a:endParaRPr lang="de-DE"/>
            </a:p>
          </p:txBody>
        </p:sp>
        <p:sp>
          <p:nvSpPr>
            <p:cNvPr id="4365" name="Freeform 419"/>
            <p:cNvSpPr>
              <a:spLocks/>
            </p:cNvSpPr>
            <p:nvPr/>
          </p:nvSpPr>
          <p:spPr bwMode="auto">
            <a:xfrm>
              <a:off x="733" y="3437"/>
              <a:ext cx="25" cy="73"/>
            </a:xfrm>
            <a:custGeom>
              <a:avLst/>
              <a:gdLst>
                <a:gd name="T0" fmla="*/ 0 w 25"/>
                <a:gd name="T1" fmla="*/ 17 h 73"/>
                <a:gd name="T2" fmla="*/ 25 w 25"/>
                <a:gd name="T3" fmla="*/ 0 h 73"/>
                <a:gd name="T4" fmla="*/ 25 w 25"/>
                <a:gd name="T5" fmla="*/ 24 h 73"/>
                <a:gd name="T6" fmla="*/ 19 w 25"/>
                <a:gd name="T7" fmla="*/ 33 h 73"/>
                <a:gd name="T8" fmla="*/ 19 w 25"/>
                <a:gd name="T9" fmla="*/ 65 h 73"/>
                <a:gd name="T10" fmla="*/ 13 w 25"/>
                <a:gd name="T11" fmla="*/ 73 h 73"/>
                <a:gd name="T12" fmla="*/ 13 w 25"/>
                <a:gd name="T13" fmla="*/ 41 h 73"/>
                <a:gd name="T14" fmla="*/ 0 w 25"/>
                <a:gd name="T15" fmla="*/ 48 h 73"/>
                <a:gd name="T16" fmla="*/ 0 w 25"/>
                <a:gd name="T17" fmla="*/ 17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3">
                  <a:moveTo>
                    <a:pt x="0" y="17"/>
                  </a:moveTo>
                  <a:lnTo>
                    <a:pt x="25" y="0"/>
                  </a:lnTo>
                  <a:lnTo>
                    <a:pt x="25" y="24"/>
                  </a:lnTo>
                  <a:lnTo>
                    <a:pt x="19" y="33"/>
                  </a:lnTo>
                  <a:lnTo>
                    <a:pt x="19" y="65"/>
                  </a:lnTo>
                  <a:lnTo>
                    <a:pt x="13" y="73"/>
                  </a:lnTo>
                  <a:lnTo>
                    <a:pt x="13" y="41"/>
                  </a:lnTo>
                  <a:lnTo>
                    <a:pt x="0" y="48"/>
                  </a:lnTo>
                  <a:lnTo>
                    <a:pt x="0" y="17"/>
                  </a:lnTo>
                  <a:close/>
                </a:path>
              </a:pathLst>
            </a:custGeom>
            <a:solidFill>
              <a:srgbClr val="000000"/>
            </a:solidFill>
            <a:ln w="7938">
              <a:solidFill>
                <a:srgbClr val="000000"/>
              </a:solidFill>
              <a:prstDash val="solid"/>
              <a:round/>
              <a:headEnd/>
              <a:tailEnd/>
            </a:ln>
          </p:spPr>
          <p:txBody>
            <a:bodyPr/>
            <a:lstStyle/>
            <a:p>
              <a:endParaRPr lang="de-DE"/>
            </a:p>
          </p:txBody>
        </p:sp>
        <p:sp>
          <p:nvSpPr>
            <p:cNvPr id="4366" name="Freeform 420"/>
            <p:cNvSpPr>
              <a:spLocks/>
            </p:cNvSpPr>
            <p:nvPr/>
          </p:nvSpPr>
          <p:spPr bwMode="auto">
            <a:xfrm>
              <a:off x="1113" y="3373"/>
              <a:ext cx="24" cy="73"/>
            </a:xfrm>
            <a:custGeom>
              <a:avLst/>
              <a:gdLst>
                <a:gd name="T0" fmla="*/ 0 w 24"/>
                <a:gd name="T1" fmla="*/ 16 h 73"/>
                <a:gd name="T2" fmla="*/ 24 w 24"/>
                <a:gd name="T3" fmla="*/ 0 h 73"/>
                <a:gd name="T4" fmla="*/ 24 w 24"/>
                <a:gd name="T5" fmla="*/ 24 h 73"/>
                <a:gd name="T6" fmla="*/ 18 w 24"/>
                <a:gd name="T7" fmla="*/ 32 h 73"/>
                <a:gd name="T8" fmla="*/ 18 w 24"/>
                <a:gd name="T9" fmla="*/ 64 h 73"/>
                <a:gd name="T10" fmla="*/ 12 w 24"/>
                <a:gd name="T11" fmla="*/ 73 h 73"/>
                <a:gd name="T12" fmla="*/ 12 w 24"/>
                <a:gd name="T13" fmla="*/ 40 h 73"/>
                <a:gd name="T14" fmla="*/ 0 w 24"/>
                <a:gd name="T15" fmla="*/ 48 h 73"/>
                <a:gd name="T16" fmla="*/ 0 w 24"/>
                <a:gd name="T17" fmla="*/ 16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73">
                  <a:moveTo>
                    <a:pt x="0" y="16"/>
                  </a:moveTo>
                  <a:lnTo>
                    <a:pt x="24" y="0"/>
                  </a:lnTo>
                  <a:lnTo>
                    <a:pt x="24" y="24"/>
                  </a:lnTo>
                  <a:lnTo>
                    <a:pt x="18" y="32"/>
                  </a:lnTo>
                  <a:lnTo>
                    <a:pt x="18" y="64"/>
                  </a:lnTo>
                  <a:lnTo>
                    <a:pt x="12" y="73"/>
                  </a:lnTo>
                  <a:lnTo>
                    <a:pt x="12" y="40"/>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4367" name="Freeform 421"/>
            <p:cNvSpPr>
              <a:spLocks/>
            </p:cNvSpPr>
            <p:nvPr/>
          </p:nvSpPr>
          <p:spPr bwMode="auto">
            <a:xfrm>
              <a:off x="1067" y="3395"/>
              <a:ext cx="25" cy="73"/>
            </a:xfrm>
            <a:custGeom>
              <a:avLst/>
              <a:gdLst>
                <a:gd name="T0" fmla="*/ 0 w 25"/>
                <a:gd name="T1" fmla="*/ 16 h 73"/>
                <a:gd name="T2" fmla="*/ 25 w 25"/>
                <a:gd name="T3" fmla="*/ 0 h 73"/>
                <a:gd name="T4" fmla="*/ 25 w 25"/>
                <a:gd name="T5" fmla="*/ 25 h 73"/>
                <a:gd name="T6" fmla="*/ 19 w 25"/>
                <a:gd name="T7" fmla="*/ 33 h 73"/>
                <a:gd name="T8" fmla="*/ 19 w 25"/>
                <a:gd name="T9" fmla="*/ 65 h 73"/>
                <a:gd name="T10" fmla="*/ 13 w 25"/>
                <a:gd name="T11" fmla="*/ 73 h 73"/>
                <a:gd name="T12" fmla="*/ 13 w 25"/>
                <a:gd name="T13" fmla="*/ 41 h 73"/>
                <a:gd name="T14" fmla="*/ 0 w 25"/>
                <a:gd name="T15" fmla="*/ 49 h 73"/>
                <a:gd name="T16" fmla="*/ 0 w 25"/>
                <a:gd name="T17" fmla="*/ 16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3">
                  <a:moveTo>
                    <a:pt x="0" y="16"/>
                  </a:moveTo>
                  <a:lnTo>
                    <a:pt x="25" y="0"/>
                  </a:lnTo>
                  <a:lnTo>
                    <a:pt x="25" y="25"/>
                  </a:lnTo>
                  <a:lnTo>
                    <a:pt x="19" y="33"/>
                  </a:lnTo>
                  <a:lnTo>
                    <a:pt x="19" y="65"/>
                  </a:lnTo>
                  <a:lnTo>
                    <a:pt x="13" y="73"/>
                  </a:lnTo>
                  <a:lnTo>
                    <a:pt x="13" y="41"/>
                  </a:lnTo>
                  <a:lnTo>
                    <a:pt x="0" y="49"/>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4368" name="Freeform 422"/>
            <p:cNvSpPr>
              <a:spLocks/>
            </p:cNvSpPr>
            <p:nvPr/>
          </p:nvSpPr>
          <p:spPr bwMode="auto">
            <a:xfrm>
              <a:off x="1023" y="3418"/>
              <a:ext cx="24" cy="72"/>
            </a:xfrm>
            <a:custGeom>
              <a:avLst/>
              <a:gdLst>
                <a:gd name="T0" fmla="*/ 0 w 24"/>
                <a:gd name="T1" fmla="*/ 16 h 72"/>
                <a:gd name="T2" fmla="*/ 24 w 24"/>
                <a:gd name="T3" fmla="*/ 0 h 72"/>
                <a:gd name="T4" fmla="*/ 24 w 24"/>
                <a:gd name="T5" fmla="*/ 24 h 72"/>
                <a:gd name="T6" fmla="*/ 18 w 24"/>
                <a:gd name="T7" fmla="*/ 32 h 72"/>
                <a:gd name="T8" fmla="*/ 18 w 24"/>
                <a:gd name="T9" fmla="*/ 65 h 72"/>
                <a:gd name="T10" fmla="*/ 12 w 24"/>
                <a:gd name="T11" fmla="*/ 72 h 72"/>
                <a:gd name="T12" fmla="*/ 12 w 24"/>
                <a:gd name="T13" fmla="*/ 41 h 72"/>
                <a:gd name="T14" fmla="*/ 0 w 24"/>
                <a:gd name="T15" fmla="*/ 48 h 72"/>
                <a:gd name="T16" fmla="*/ 0 w 24"/>
                <a:gd name="T17" fmla="*/ 16 h 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72">
                  <a:moveTo>
                    <a:pt x="0" y="16"/>
                  </a:moveTo>
                  <a:lnTo>
                    <a:pt x="24" y="0"/>
                  </a:lnTo>
                  <a:lnTo>
                    <a:pt x="24" y="24"/>
                  </a:lnTo>
                  <a:lnTo>
                    <a:pt x="18" y="32"/>
                  </a:lnTo>
                  <a:lnTo>
                    <a:pt x="18" y="65"/>
                  </a:lnTo>
                  <a:lnTo>
                    <a:pt x="12" y="72"/>
                  </a:lnTo>
                  <a:lnTo>
                    <a:pt x="12" y="41"/>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4369" name="Freeform 423"/>
            <p:cNvSpPr>
              <a:spLocks/>
            </p:cNvSpPr>
            <p:nvPr/>
          </p:nvSpPr>
          <p:spPr bwMode="auto">
            <a:xfrm>
              <a:off x="977" y="3441"/>
              <a:ext cx="25" cy="72"/>
            </a:xfrm>
            <a:custGeom>
              <a:avLst/>
              <a:gdLst>
                <a:gd name="T0" fmla="*/ 0 w 25"/>
                <a:gd name="T1" fmla="*/ 16 h 72"/>
                <a:gd name="T2" fmla="*/ 25 w 25"/>
                <a:gd name="T3" fmla="*/ 0 h 72"/>
                <a:gd name="T4" fmla="*/ 25 w 25"/>
                <a:gd name="T5" fmla="*/ 24 h 72"/>
                <a:gd name="T6" fmla="*/ 19 w 25"/>
                <a:gd name="T7" fmla="*/ 31 h 72"/>
                <a:gd name="T8" fmla="*/ 19 w 25"/>
                <a:gd name="T9" fmla="*/ 64 h 72"/>
                <a:gd name="T10" fmla="*/ 13 w 25"/>
                <a:gd name="T11" fmla="*/ 72 h 72"/>
                <a:gd name="T12" fmla="*/ 13 w 25"/>
                <a:gd name="T13" fmla="*/ 40 h 72"/>
                <a:gd name="T14" fmla="*/ 0 w 25"/>
                <a:gd name="T15" fmla="*/ 48 h 72"/>
                <a:gd name="T16" fmla="*/ 0 w 25"/>
                <a:gd name="T17" fmla="*/ 16 h 7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2">
                  <a:moveTo>
                    <a:pt x="0" y="16"/>
                  </a:moveTo>
                  <a:lnTo>
                    <a:pt x="25" y="0"/>
                  </a:lnTo>
                  <a:lnTo>
                    <a:pt x="25" y="24"/>
                  </a:lnTo>
                  <a:lnTo>
                    <a:pt x="19" y="31"/>
                  </a:lnTo>
                  <a:lnTo>
                    <a:pt x="19" y="64"/>
                  </a:lnTo>
                  <a:lnTo>
                    <a:pt x="13" y="72"/>
                  </a:lnTo>
                  <a:lnTo>
                    <a:pt x="13" y="40"/>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4370" name="Freeform 424"/>
            <p:cNvSpPr>
              <a:spLocks/>
            </p:cNvSpPr>
            <p:nvPr/>
          </p:nvSpPr>
          <p:spPr bwMode="auto">
            <a:xfrm>
              <a:off x="887" y="3485"/>
              <a:ext cx="25" cy="73"/>
            </a:xfrm>
            <a:custGeom>
              <a:avLst/>
              <a:gdLst>
                <a:gd name="T0" fmla="*/ 0 w 25"/>
                <a:gd name="T1" fmla="*/ 17 h 73"/>
                <a:gd name="T2" fmla="*/ 25 w 25"/>
                <a:gd name="T3" fmla="*/ 0 h 73"/>
                <a:gd name="T4" fmla="*/ 25 w 25"/>
                <a:gd name="T5" fmla="*/ 25 h 73"/>
                <a:gd name="T6" fmla="*/ 19 w 25"/>
                <a:gd name="T7" fmla="*/ 33 h 73"/>
                <a:gd name="T8" fmla="*/ 19 w 25"/>
                <a:gd name="T9" fmla="*/ 65 h 73"/>
                <a:gd name="T10" fmla="*/ 13 w 25"/>
                <a:gd name="T11" fmla="*/ 73 h 73"/>
                <a:gd name="T12" fmla="*/ 13 w 25"/>
                <a:gd name="T13" fmla="*/ 41 h 73"/>
                <a:gd name="T14" fmla="*/ 0 w 25"/>
                <a:gd name="T15" fmla="*/ 49 h 73"/>
                <a:gd name="T16" fmla="*/ 0 w 25"/>
                <a:gd name="T17" fmla="*/ 17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5" h="73">
                  <a:moveTo>
                    <a:pt x="0" y="17"/>
                  </a:moveTo>
                  <a:lnTo>
                    <a:pt x="25" y="0"/>
                  </a:lnTo>
                  <a:lnTo>
                    <a:pt x="25" y="25"/>
                  </a:lnTo>
                  <a:lnTo>
                    <a:pt x="19" y="33"/>
                  </a:lnTo>
                  <a:lnTo>
                    <a:pt x="19" y="65"/>
                  </a:lnTo>
                  <a:lnTo>
                    <a:pt x="13" y="73"/>
                  </a:lnTo>
                  <a:lnTo>
                    <a:pt x="13" y="41"/>
                  </a:lnTo>
                  <a:lnTo>
                    <a:pt x="0" y="49"/>
                  </a:lnTo>
                  <a:lnTo>
                    <a:pt x="0" y="17"/>
                  </a:lnTo>
                  <a:close/>
                </a:path>
              </a:pathLst>
            </a:custGeom>
            <a:solidFill>
              <a:srgbClr val="000000"/>
            </a:solidFill>
            <a:ln w="7938">
              <a:solidFill>
                <a:srgbClr val="000000"/>
              </a:solidFill>
              <a:prstDash val="solid"/>
              <a:round/>
              <a:headEnd/>
              <a:tailEnd/>
            </a:ln>
          </p:spPr>
          <p:txBody>
            <a:bodyPr/>
            <a:lstStyle/>
            <a:p>
              <a:endParaRPr lang="de-DE"/>
            </a:p>
          </p:txBody>
        </p:sp>
        <p:sp>
          <p:nvSpPr>
            <p:cNvPr id="4371" name="Freeform 425"/>
            <p:cNvSpPr>
              <a:spLocks/>
            </p:cNvSpPr>
            <p:nvPr/>
          </p:nvSpPr>
          <p:spPr bwMode="auto">
            <a:xfrm>
              <a:off x="932" y="3463"/>
              <a:ext cx="24" cy="73"/>
            </a:xfrm>
            <a:custGeom>
              <a:avLst/>
              <a:gdLst>
                <a:gd name="T0" fmla="*/ 0 w 24"/>
                <a:gd name="T1" fmla="*/ 16 h 73"/>
                <a:gd name="T2" fmla="*/ 24 w 24"/>
                <a:gd name="T3" fmla="*/ 0 h 73"/>
                <a:gd name="T4" fmla="*/ 24 w 24"/>
                <a:gd name="T5" fmla="*/ 24 h 73"/>
                <a:gd name="T6" fmla="*/ 18 w 24"/>
                <a:gd name="T7" fmla="*/ 33 h 73"/>
                <a:gd name="T8" fmla="*/ 18 w 24"/>
                <a:gd name="T9" fmla="*/ 64 h 73"/>
                <a:gd name="T10" fmla="*/ 12 w 24"/>
                <a:gd name="T11" fmla="*/ 73 h 73"/>
                <a:gd name="T12" fmla="*/ 12 w 24"/>
                <a:gd name="T13" fmla="*/ 40 h 73"/>
                <a:gd name="T14" fmla="*/ 0 w 24"/>
                <a:gd name="T15" fmla="*/ 48 h 73"/>
                <a:gd name="T16" fmla="*/ 0 w 24"/>
                <a:gd name="T17" fmla="*/ 16 h 7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 h="73">
                  <a:moveTo>
                    <a:pt x="0" y="16"/>
                  </a:moveTo>
                  <a:lnTo>
                    <a:pt x="24" y="0"/>
                  </a:lnTo>
                  <a:lnTo>
                    <a:pt x="24" y="24"/>
                  </a:lnTo>
                  <a:lnTo>
                    <a:pt x="18" y="33"/>
                  </a:lnTo>
                  <a:lnTo>
                    <a:pt x="18" y="64"/>
                  </a:lnTo>
                  <a:lnTo>
                    <a:pt x="12" y="73"/>
                  </a:lnTo>
                  <a:lnTo>
                    <a:pt x="12" y="40"/>
                  </a:lnTo>
                  <a:lnTo>
                    <a:pt x="0" y="48"/>
                  </a:lnTo>
                  <a:lnTo>
                    <a:pt x="0" y="16"/>
                  </a:lnTo>
                  <a:close/>
                </a:path>
              </a:pathLst>
            </a:custGeom>
            <a:solidFill>
              <a:srgbClr val="000000"/>
            </a:solidFill>
            <a:ln w="7938">
              <a:solidFill>
                <a:srgbClr val="000000"/>
              </a:solidFill>
              <a:prstDash val="solid"/>
              <a:round/>
              <a:headEnd/>
              <a:tailEnd/>
            </a:ln>
          </p:spPr>
          <p:txBody>
            <a:bodyPr/>
            <a:lstStyle/>
            <a:p>
              <a:endParaRPr lang="de-DE"/>
            </a:p>
          </p:txBody>
        </p:sp>
        <p:sp>
          <p:nvSpPr>
            <p:cNvPr id="4372" name="Rectangle 426"/>
            <p:cNvSpPr>
              <a:spLocks noChangeArrowheads="1"/>
            </p:cNvSpPr>
            <p:nvPr/>
          </p:nvSpPr>
          <p:spPr bwMode="auto">
            <a:xfrm>
              <a:off x="628" y="3214"/>
              <a:ext cx="580" cy="386"/>
            </a:xfrm>
            <a:prstGeom prst="rect">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4130" name="Line 427"/>
          <p:cNvSpPr>
            <a:spLocks noChangeShapeType="1"/>
          </p:cNvSpPr>
          <p:nvPr/>
        </p:nvSpPr>
        <p:spPr bwMode="auto">
          <a:xfrm flipV="1">
            <a:off x="3979863" y="1584325"/>
            <a:ext cx="647700" cy="183673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anchor="ctr">
            <a:spAutoFit/>
          </a:bodyPr>
          <a:lstStyle/>
          <a:p>
            <a:endParaRPr lang="de-DE"/>
          </a:p>
        </p:txBody>
      </p:sp>
      <p:sp>
        <p:nvSpPr>
          <p:cNvPr id="4131" name="Line 428"/>
          <p:cNvSpPr>
            <a:spLocks noChangeShapeType="1"/>
          </p:cNvSpPr>
          <p:nvPr/>
        </p:nvSpPr>
        <p:spPr bwMode="auto">
          <a:xfrm>
            <a:off x="3998913" y="3852863"/>
            <a:ext cx="628650" cy="13382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outerShdw>
                </a:effectLst>
              </a14:hiddenEffects>
            </a:ext>
          </a:extLst>
        </p:spPr>
        <p:txBody>
          <a:bodyPr anchor="ctr">
            <a:spAutoFit/>
          </a:bodyPr>
          <a:lstStyle/>
          <a:p>
            <a:endParaRPr lang="de-DE"/>
          </a:p>
        </p:txBody>
      </p:sp>
      <p:sp>
        <p:nvSpPr>
          <p:cNvPr id="4132" name="Line 429"/>
          <p:cNvSpPr>
            <a:spLocks noChangeShapeType="1"/>
          </p:cNvSpPr>
          <p:nvPr/>
        </p:nvSpPr>
        <p:spPr bwMode="auto">
          <a:xfrm flipV="1">
            <a:off x="7005638" y="1712913"/>
            <a:ext cx="993775" cy="3175"/>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5A5A5A"/>
                  </a:outerShdw>
                </a:effectLst>
              </a14:hiddenEffects>
            </a:ext>
          </a:extLst>
        </p:spPr>
        <p:txBody>
          <a:bodyPr anchor="ctr">
            <a:spAutoFit/>
          </a:bodyPr>
          <a:lstStyle/>
          <a:p>
            <a:endParaRPr lang="de-DE"/>
          </a:p>
        </p:txBody>
      </p:sp>
      <p:sp>
        <p:nvSpPr>
          <p:cNvPr id="4133" name="Line 430"/>
          <p:cNvSpPr>
            <a:spLocks noChangeShapeType="1"/>
          </p:cNvSpPr>
          <p:nvPr/>
        </p:nvSpPr>
        <p:spPr bwMode="auto">
          <a:xfrm>
            <a:off x="7546975" y="1730375"/>
            <a:ext cx="0" cy="246063"/>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5A5A5A"/>
                  </a:outerShdw>
                </a:effectLst>
              </a14:hiddenEffects>
            </a:ext>
          </a:extLst>
        </p:spPr>
        <p:txBody>
          <a:bodyPr wrap="none" anchor="ctr">
            <a:spAutoFit/>
          </a:bodyPr>
          <a:lstStyle/>
          <a:p>
            <a:endParaRPr lang="de-DE"/>
          </a:p>
        </p:txBody>
      </p:sp>
      <p:sp>
        <p:nvSpPr>
          <p:cNvPr id="4134" name="Line 431"/>
          <p:cNvSpPr>
            <a:spLocks noChangeShapeType="1"/>
          </p:cNvSpPr>
          <p:nvPr/>
        </p:nvSpPr>
        <p:spPr bwMode="auto">
          <a:xfrm>
            <a:off x="7461250" y="1401763"/>
            <a:ext cx="0" cy="327025"/>
          </a:xfrm>
          <a:prstGeom prst="line">
            <a:avLst/>
          </a:prstGeom>
          <a:noFill/>
          <a:ln w="38100">
            <a:solidFill>
              <a:srgbClr val="96969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5A5A5A"/>
                  </a:outerShdw>
                </a:effectLst>
              </a14:hiddenEffects>
            </a:ext>
          </a:extLst>
        </p:spPr>
        <p:txBody>
          <a:bodyPr anchor="ctr">
            <a:spAutoFit/>
          </a:bodyPr>
          <a:lstStyle/>
          <a:p>
            <a:endParaRPr lang="de-DE"/>
          </a:p>
        </p:txBody>
      </p:sp>
      <p:sp>
        <p:nvSpPr>
          <p:cNvPr id="4135" name="Rectangle 432"/>
          <p:cNvSpPr>
            <a:spLocks noChangeArrowheads="1"/>
          </p:cNvSpPr>
          <p:nvPr/>
        </p:nvSpPr>
        <p:spPr bwMode="auto">
          <a:xfrm>
            <a:off x="2071688" y="4578350"/>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36" name="Line 433"/>
          <p:cNvSpPr>
            <a:spLocks noChangeShapeType="1"/>
          </p:cNvSpPr>
          <p:nvPr/>
        </p:nvSpPr>
        <p:spPr bwMode="auto">
          <a:xfrm>
            <a:off x="2986088" y="1709738"/>
            <a:ext cx="0" cy="166687"/>
          </a:xfrm>
          <a:prstGeom prst="line">
            <a:avLst/>
          </a:prstGeom>
          <a:noFill/>
          <a:ln w="6350">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37" name="Rectangle 434"/>
          <p:cNvSpPr>
            <a:spLocks noChangeArrowheads="1"/>
          </p:cNvSpPr>
          <p:nvPr/>
        </p:nvSpPr>
        <p:spPr bwMode="auto">
          <a:xfrm>
            <a:off x="2076450" y="1049338"/>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38" name="Rectangle 435"/>
          <p:cNvSpPr>
            <a:spLocks noChangeArrowheads="1"/>
          </p:cNvSpPr>
          <p:nvPr/>
        </p:nvSpPr>
        <p:spPr bwMode="auto">
          <a:xfrm>
            <a:off x="2070100" y="1643063"/>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4139" name="Group 436"/>
          <p:cNvGrpSpPr>
            <a:grpSpLocks/>
          </p:cNvGrpSpPr>
          <p:nvPr/>
        </p:nvGrpSpPr>
        <p:grpSpPr bwMode="auto">
          <a:xfrm>
            <a:off x="823913" y="1089025"/>
            <a:ext cx="1003300" cy="568325"/>
            <a:chOff x="612" y="663"/>
            <a:chExt cx="590" cy="382"/>
          </a:xfrm>
        </p:grpSpPr>
        <p:sp>
          <p:nvSpPr>
            <p:cNvPr id="4336" name="Rectangle 437"/>
            <p:cNvSpPr>
              <a:spLocks noChangeArrowheads="1"/>
            </p:cNvSpPr>
            <p:nvPr/>
          </p:nvSpPr>
          <p:spPr bwMode="auto">
            <a:xfrm>
              <a:off x="612" y="663"/>
              <a:ext cx="590" cy="38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7" name="Rectangle 438"/>
            <p:cNvSpPr>
              <a:spLocks noChangeArrowheads="1"/>
            </p:cNvSpPr>
            <p:nvPr/>
          </p:nvSpPr>
          <p:spPr bwMode="auto">
            <a:xfrm>
              <a:off x="817" y="718"/>
              <a:ext cx="182" cy="2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8" name="Line 439"/>
            <p:cNvSpPr>
              <a:spLocks noChangeShapeType="1"/>
            </p:cNvSpPr>
            <p:nvPr/>
          </p:nvSpPr>
          <p:spPr bwMode="auto">
            <a:xfrm>
              <a:off x="727" y="763"/>
              <a:ext cx="9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39" name="Line 440"/>
            <p:cNvSpPr>
              <a:spLocks noChangeShapeType="1"/>
            </p:cNvSpPr>
            <p:nvPr/>
          </p:nvSpPr>
          <p:spPr bwMode="auto">
            <a:xfrm>
              <a:off x="727" y="854"/>
              <a:ext cx="9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40" name="Line 441"/>
            <p:cNvSpPr>
              <a:spLocks noChangeShapeType="1"/>
            </p:cNvSpPr>
            <p:nvPr/>
          </p:nvSpPr>
          <p:spPr bwMode="auto">
            <a:xfrm>
              <a:off x="727" y="944"/>
              <a:ext cx="9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41" name="Line 442"/>
            <p:cNvSpPr>
              <a:spLocks noChangeShapeType="1"/>
            </p:cNvSpPr>
            <p:nvPr/>
          </p:nvSpPr>
          <p:spPr bwMode="auto">
            <a:xfrm>
              <a:off x="999" y="854"/>
              <a:ext cx="91"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140" name="Rectangle 444"/>
          <p:cNvSpPr>
            <a:spLocks noChangeArrowheads="1"/>
          </p:cNvSpPr>
          <p:nvPr/>
        </p:nvSpPr>
        <p:spPr bwMode="auto">
          <a:xfrm>
            <a:off x="4627563" y="4972050"/>
            <a:ext cx="2014537" cy="225425"/>
          </a:xfrm>
          <a:prstGeom prst="rect">
            <a:avLst/>
          </a:prstGeom>
          <a:solidFill>
            <a:srgbClr val="808080"/>
          </a:solidFill>
          <a:ln>
            <a:noFill/>
          </a:ln>
          <a:extLst>
            <a:ext uri="{91240B29-F687-4F45-9708-019B960494DF}">
              <a14:hiddenLine xmlns:a14="http://schemas.microsoft.com/office/drawing/2010/main" w="8001">
                <a:solidFill>
                  <a:srgbClr val="000000"/>
                </a:solidFill>
                <a:miter lim="800000"/>
                <a:headEnd/>
                <a:tailEnd/>
              </a14:hiddenLine>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4141" name="Group 445"/>
          <p:cNvGrpSpPr>
            <a:grpSpLocks/>
          </p:cNvGrpSpPr>
          <p:nvPr/>
        </p:nvGrpSpPr>
        <p:grpSpPr bwMode="auto">
          <a:xfrm>
            <a:off x="7004050" y="3446463"/>
            <a:ext cx="989013" cy="576262"/>
            <a:chOff x="3915" y="2121"/>
            <a:chExt cx="581" cy="387"/>
          </a:xfrm>
        </p:grpSpPr>
        <p:grpSp>
          <p:nvGrpSpPr>
            <p:cNvPr id="4313" name="Group 446"/>
            <p:cNvGrpSpPr>
              <a:grpSpLocks/>
            </p:cNvGrpSpPr>
            <p:nvPr/>
          </p:nvGrpSpPr>
          <p:grpSpPr bwMode="auto">
            <a:xfrm>
              <a:off x="3915" y="2121"/>
              <a:ext cx="581" cy="387"/>
              <a:chOff x="3914" y="2070"/>
              <a:chExt cx="581" cy="387"/>
            </a:xfrm>
          </p:grpSpPr>
          <p:sp>
            <p:nvSpPr>
              <p:cNvPr id="4319" name="Rectangle 447"/>
              <p:cNvSpPr>
                <a:spLocks noChangeArrowheads="1"/>
              </p:cNvSpPr>
              <p:nvPr/>
            </p:nvSpPr>
            <p:spPr bwMode="auto">
              <a:xfrm>
                <a:off x="3914" y="2070"/>
                <a:ext cx="581" cy="387"/>
              </a:xfrm>
              <a:prstGeom prst="rect">
                <a:avLst/>
              </a:prstGeom>
              <a:solidFill>
                <a:srgbClr val="FFFFFF"/>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0" name="Rectangle 448"/>
              <p:cNvSpPr>
                <a:spLocks noChangeArrowheads="1"/>
              </p:cNvSpPr>
              <p:nvPr/>
            </p:nvSpPr>
            <p:spPr bwMode="auto">
              <a:xfrm>
                <a:off x="3914" y="2070"/>
                <a:ext cx="581" cy="387"/>
              </a:xfrm>
              <a:prstGeom prst="rect">
                <a:avLst/>
              </a:prstGeom>
              <a:solidFill>
                <a:srgbClr val="F8F8F8"/>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1" name="Rectangle 449"/>
              <p:cNvSpPr>
                <a:spLocks noChangeArrowheads="1"/>
              </p:cNvSpPr>
              <p:nvPr/>
            </p:nvSpPr>
            <p:spPr bwMode="auto">
              <a:xfrm>
                <a:off x="3979" y="210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2" name="Rectangle 450"/>
              <p:cNvSpPr>
                <a:spLocks noChangeArrowheads="1"/>
              </p:cNvSpPr>
              <p:nvPr/>
            </p:nvSpPr>
            <p:spPr bwMode="auto">
              <a:xfrm>
                <a:off x="4398" y="210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3" name="Rectangle 451"/>
              <p:cNvSpPr>
                <a:spLocks noChangeArrowheads="1"/>
              </p:cNvSpPr>
              <p:nvPr/>
            </p:nvSpPr>
            <p:spPr bwMode="auto">
              <a:xfrm>
                <a:off x="4188" y="210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4" name="Rectangle 452"/>
              <p:cNvSpPr>
                <a:spLocks noChangeArrowheads="1"/>
              </p:cNvSpPr>
              <p:nvPr/>
            </p:nvSpPr>
            <p:spPr bwMode="auto">
              <a:xfrm>
                <a:off x="4293" y="210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5" name="Rectangle 453"/>
              <p:cNvSpPr>
                <a:spLocks noChangeArrowheads="1"/>
              </p:cNvSpPr>
              <p:nvPr/>
            </p:nvSpPr>
            <p:spPr bwMode="auto">
              <a:xfrm>
                <a:off x="4084" y="210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6" name="Rectangle 454"/>
              <p:cNvSpPr>
                <a:spLocks noChangeArrowheads="1"/>
              </p:cNvSpPr>
              <p:nvPr/>
            </p:nvSpPr>
            <p:spPr bwMode="auto">
              <a:xfrm>
                <a:off x="3979" y="239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7" name="Rectangle 455"/>
              <p:cNvSpPr>
                <a:spLocks noChangeArrowheads="1"/>
              </p:cNvSpPr>
              <p:nvPr/>
            </p:nvSpPr>
            <p:spPr bwMode="auto">
              <a:xfrm>
                <a:off x="4398" y="239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8" name="Rectangle 456"/>
              <p:cNvSpPr>
                <a:spLocks noChangeArrowheads="1"/>
              </p:cNvSpPr>
              <p:nvPr/>
            </p:nvSpPr>
            <p:spPr bwMode="auto">
              <a:xfrm>
                <a:off x="4188" y="239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29" name="Rectangle 457"/>
              <p:cNvSpPr>
                <a:spLocks noChangeArrowheads="1"/>
              </p:cNvSpPr>
              <p:nvPr/>
            </p:nvSpPr>
            <p:spPr bwMode="auto">
              <a:xfrm>
                <a:off x="4293" y="2393"/>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0" name="Rectangle 458"/>
              <p:cNvSpPr>
                <a:spLocks noChangeArrowheads="1"/>
              </p:cNvSpPr>
              <p:nvPr/>
            </p:nvSpPr>
            <p:spPr bwMode="auto">
              <a:xfrm>
                <a:off x="4084" y="2393"/>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1" name="Rectangle 459"/>
              <p:cNvSpPr>
                <a:spLocks noChangeArrowheads="1"/>
              </p:cNvSpPr>
              <p:nvPr/>
            </p:nvSpPr>
            <p:spPr bwMode="auto">
              <a:xfrm>
                <a:off x="4398" y="2247"/>
                <a:ext cx="32"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2" name="Rectangle 460"/>
              <p:cNvSpPr>
                <a:spLocks noChangeArrowheads="1"/>
              </p:cNvSpPr>
              <p:nvPr/>
            </p:nvSpPr>
            <p:spPr bwMode="auto">
              <a:xfrm>
                <a:off x="3979" y="2247"/>
                <a:ext cx="31"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3" name="Rectangle 461"/>
              <p:cNvSpPr>
                <a:spLocks noChangeArrowheads="1"/>
              </p:cNvSpPr>
              <p:nvPr/>
            </p:nvSpPr>
            <p:spPr bwMode="auto">
              <a:xfrm>
                <a:off x="4067" y="2183"/>
                <a:ext cx="65" cy="178"/>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4" name="Rectangle 462"/>
              <p:cNvSpPr>
                <a:spLocks noChangeArrowheads="1"/>
              </p:cNvSpPr>
              <p:nvPr/>
            </p:nvSpPr>
            <p:spPr bwMode="auto">
              <a:xfrm>
                <a:off x="4220" y="2159"/>
                <a:ext cx="129" cy="9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35" name="Rectangle 463"/>
              <p:cNvSpPr>
                <a:spLocks noChangeArrowheads="1"/>
              </p:cNvSpPr>
              <p:nvPr/>
            </p:nvSpPr>
            <p:spPr bwMode="auto">
              <a:xfrm>
                <a:off x="4220" y="2304"/>
                <a:ext cx="81" cy="5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4314" name="Group 464"/>
            <p:cNvGrpSpPr>
              <a:grpSpLocks/>
            </p:cNvGrpSpPr>
            <p:nvPr/>
          </p:nvGrpSpPr>
          <p:grpSpPr bwMode="auto">
            <a:xfrm>
              <a:off x="4023" y="2262"/>
              <a:ext cx="195" cy="245"/>
              <a:chOff x="4023" y="2262"/>
              <a:chExt cx="195" cy="245"/>
            </a:xfrm>
          </p:grpSpPr>
          <p:sp>
            <p:nvSpPr>
              <p:cNvPr id="4315" name="AutoShape 465"/>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16" name="Freeform 466"/>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17" name="Line 467"/>
              <p:cNvSpPr>
                <a:spLocks noChangeShapeType="1"/>
              </p:cNvSpPr>
              <p:nvPr/>
            </p:nvSpPr>
            <p:spPr bwMode="auto">
              <a:xfrm>
                <a:off x="4182" y="2385"/>
                <a:ext cx="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18" name="Freeform 468"/>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grpSp>
        <p:nvGrpSpPr>
          <p:cNvPr id="4142" name="Group 469"/>
          <p:cNvGrpSpPr>
            <a:grpSpLocks/>
          </p:cNvGrpSpPr>
          <p:nvPr/>
        </p:nvGrpSpPr>
        <p:grpSpPr bwMode="auto">
          <a:xfrm>
            <a:off x="7194550" y="3656013"/>
            <a:ext cx="331788" cy="365125"/>
            <a:chOff x="4023" y="2262"/>
            <a:chExt cx="195" cy="245"/>
          </a:xfrm>
        </p:grpSpPr>
        <p:sp>
          <p:nvSpPr>
            <p:cNvPr id="4309" name="AutoShape 470"/>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10" name="Freeform 471"/>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11" name="Line 472"/>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12" name="Freeform 473"/>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4143" name="Group 474"/>
          <p:cNvGrpSpPr>
            <a:grpSpLocks/>
          </p:cNvGrpSpPr>
          <p:nvPr/>
        </p:nvGrpSpPr>
        <p:grpSpPr bwMode="auto">
          <a:xfrm>
            <a:off x="7008813" y="4140200"/>
            <a:ext cx="989012" cy="576263"/>
            <a:chOff x="3914" y="2587"/>
            <a:chExt cx="581" cy="387"/>
          </a:xfrm>
        </p:grpSpPr>
        <p:sp>
          <p:nvSpPr>
            <p:cNvPr id="4281" name="Rectangle 475"/>
            <p:cNvSpPr>
              <a:spLocks noChangeArrowheads="1"/>
            </p:cNvSpPr>
            <p:nvPr/>
          </p:nvSpPr>
          <p:spPr bwMode="auto">
            <a:xfrm>
              <a:off x="3914" y="2587"/>
              <a:ext cx="581" cy="387"/>
            </a:xfrm>
            <a:prstGeom prst="rect">
              <a:avLst/>
            </a:prstGeom>
            <a:solidFill>
              <a:srgbClr val="FFFFFF"/>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2" name="Rectangle 476"/>
            <p:cNvSpPr>
              <a:spLocks noChangeArrowheads="1"/>
            </p:cNvSpPr>
            <p:nvPr/>
          </p:nvSpPr>
          <p:spPr bwMode="auto">
            <a:xfrm>
              <a:off x="3914" y="2587"/>
              <a:ext cx="581" cy="387"/>
            </a:xfrm>
            <a:prstGeom prst="rect">
              <a:avLst/>
            </a:prstGeom>
            <a:solidFill>
              <a:srgbClr val="F8F8F8"/>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3" name="Rectangle 477"/>
            <p:cNvSpPr>
              <a:spLocks noChangeArrowheads="1"/>
            </p:cNvSpPr>
            <p:nvPr/>
          </p:nvSpPr>
          <p:spPr bwMode="auto">
            <a:xfrm>
              <a:off x="3979" y="262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4" name="Rectangle 478"/>
            <p:cNvSpPr>
              <a:spLocks noChangeArrowheads="1"/>
            </p:cNvSpPr>
            <p:nvPr/>
          </p:nvSpPr>
          <p:spPr bwMode="auto">
            <a:xfrm>
              <a:off x="4398"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5" name="Rectangle 479"/>
            <p:cNvSpPr>
              <a:spLocks noChangeArrowheads="1"/>
            </p:cNvSpPr>
            <p:nvPr/>
          </p:nvSpPr>
          <p:spPr bwMode="auto">
            <a:xfrm>
              <a:off x="4188"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6" name="Rectangle 480"/>
            <p:cNvSpPr>
              <a:spLocks noChangeArrowheads="1"/>
            </p:cNvSpPr>
            <p:nvPr/>
          </p:nvSpPr>
          <p:spPr bwMode="auto">
            <a:xfrm>
              <a:off x="4293"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7" name="Rectangle 481"/>
            <p:cNvSpPr>
              <a:spLocks noChangeArrowheads="1"/>
            </p:cNvSpPr>
            <p:nvPr/>
          </p:nvSpPr>
          <p:spPr bwMode="auto">
            <a:xfrm>
              <a:off x="4084" y="262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8" name="Rectangle 482"/>
            <p:cNvSpPr>
              <a:spLocks noChangeArrowheads="1"/>
            </p:cNvSpPr>
            <p:nvPr/>
          </p:nvSpPr>
          <p:spPr bwMode="auto">
            <a:xfrm>
              <a:off x="3979" y="291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89" name="Rectangle 483"/>
            <p:cNvSpPr>
              <a:spLocks noChangeArrowheads="1"/>
            </p:cNvSpPr>
            <p:nvPr/>
          </p:nvSpPr>
          <p:spPr bwMode="auto">
            <a:xfrm>
              <a:off x="4398"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0" name="Rectangle 484"/>
            <p:cNvSpPr>
              <a:spLocks noChangeArrowheads="1"/>
            </p:cNvSpPr>
            <p:nvPr/>
          </p:nvSpPr>
          <p:spPr bwMode="auto">
            <a:xfrm>
              <a:off x="4188"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1" name="Rectangle 485"/>
            <p:cNvSpPr>
              <a:spLocks noChangeArrowheads="1"/>
            </p:cNvSpPr>
            <p:nvPr/>
          </p:nvSpPr>
          <p:spPr bwMode="auto">
            <a:xfrm>
              <a:off x="4293"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2" name="Rectangle 486"/>
            <p:cNvSpPr>
              <a:spLocks noChangeArrowheads="1"/>
            </p:cNvSpPr>
            <p:nvPr/>
          </p:nvSpPr>
          <p:spPr bwMode="auto">
            <a:xfrm>
              <a:off x="4084" y="291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3" name="Rectangle 487"/>
            <p:cNvSpPr>
              <a:spLocks noChangeArrowheads="1"/>
            </p:cNvSpPr>
            <p:nvPr/>
          </p:nvSpPr>
          <p:spPr bwMode="auto">
            <a:xfrm>
              <a:off x="4398" y="2764"/>
              <a:ext cx="32"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4" name="Rectangle 488"/>
            <p:cNvSpPr>
              <a:spLocks noChangeArrowheads="1"/>
            </p:cNvSpPr>
            <p:nvPr/>
          </p:nvSpPr>
          <p:spPr bwMode="auto">
            <a:xfrm>
              <a:off x="3979" y="2764"/>
              <a:ext cx="31"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5" name="Rectangle 489"/>
            <p:cNvSpPr>
              <a:spLocks noChangeArrowheads="1"/>
            </p:cNvSpPr>
            <p:nvPr/>
          </p:nvSpPr>
          <p:spPr bwMode="auto">
            <a:xfrm>
              <a:off x="4067" y="2700"/>
              <a:ext cx="65" cy="178"/>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6" name="Rectangle 490"/>
            <p:cNvSpPr>
              <a:spLocks noChangeArrowheads="1"/>
            </p:cNvSpPr>
            <p:nvPr/>
          </p:nvSpPr>
          <p:spPr bwMode="auto">
            <a:xfrm>
              <a:off x="4220" y="2676"/>
              <a:ext cx="129" cy="9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7" name="Rectangle 491"/>
            <p:cNvSpPr>
              <a:spLocks noChangeArrowheads="1"/>
            </p:cNvSpPr>
            <p:nvPr/>
          </p:nvSpPr>
          <p:spPr bwMode="auto">
            <a:xfrm>
              <a:off x="4220" y="2821"/>
              <a:ext cx="81" cy="5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98" name="Line 492"/>
            <p:cNvSpPr>
              <a:spLocks noChangeShapeType="1"/>
            </p:cNvSpPr>
            <p:nvPr/>
          </p:nvSpPr>
          <p:spPr bwMode="auto">
            <a:xfrm>
              <a:off x="4010" y="2781"/>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99" name="Line 493"/>
            <p:cNvSpPr>
              <a:spLocks noChangeShapeType="1"/>
            </p:cNvSpPr>
            <p:nvPr/>
          </p:nvSpPr>
          <p:spPr bwMode="auto">
            <a:xfrm>
              <a:off x="4309" y="2652"/>
              <a:ext cx="1" cy="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300" name="Freeform 494"/>
            <p:cNvSpPr>
              <a:spLocks/>
            </p:cNvSpPr>
            <p:nvPr/>
          </p:nvSpPr>
          <p:spPr bwMode="auto">
            <a:xfrm>
              <a:off x="4301" y="2773"/>
              <a:ext cx="16" cy="80"/>
            </a:xfrm>
            <a:custGeom>
              <a:avLst/>
              <a:gdLst>
                <a:gd name="T0" fmla="*/ 0 w 16"/>
                <a:gd name="T1" fmla="*/ 80 h 80"/>
                <a:gd name="T2" fmla="*/ 16 w 16"/>
                <a:gd name="T3" fmla="*/ 80 h 80"/>
                <a:gd name="T4" fmla="*/ 16 w 16"/>
                <a:gd name="T5" fmla="*/ 0 h 80"/>
                <a:gd name="T6" fmla="*/ 0 60000 65536"/>
                <a:gd name="T7" fmla="*/ 0 60000 65536"/>
                <a:gd name="T8" fmla="*/ 0 60000 65536"/>
              </a:gdLst>
              <a:ahLst/>
              <a:cxnLst>
                <a:cxn ang="T6">
                  <a:pos x="T0" y="T1"/>
                </a:cxn>
                <a:cxn ang="T7">
                  <a:pos x="T2" y="T3"/>
                </a:cxn>
                <a:cxn ang="T8">
                  <a:pos x="T4" y="T5"/>
                </a:cxn>
              </a:cxnLst>
              <a:rect l="0" t="0" r="r" b="b"/>
              <a:pathLst>
                <a:path w="16" h="80">
                  <a:moveTo>
                    <a:pt x="0" y="80"/>
                  </a:moveTo>
                  <a:lnTo>
                    <a:pt x="16" y="80"/>
                  </a:lnTo>
                  <a:lnTo>
                    <a:pt x="1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4301" name="Freeform 495"/>
            <p:cNvSpPr>
              <a:spLocks/>
            </p:cNvSpPr>
            <p:nvPr/>
          </p:nvSpPr>
          <p:spPr bwMode="auto">
            <a:xfrm>
              <a:off x="4349" y="2724"/>
              <a:ext cx="65" cy="186"/>
            </a:xfrm>
            <a:custGeom>
              <a:avLst/>
              <a:gdLst>
                <a:gd name="T0" fmla="*/ 0 w 65"/>
                <a:gd name="T1" fmla="*/ 0 h 186"/>
                <a:gd name="T2" fmla="*/ 17 w 65"/>
                <a:gd name="T3" fmla="*/ 0 h 186"/>
                <a:gd name="T4" fmla="*/ 17 w 65"/>
                <a:gd name="T5" fmla="*/ 129 h 186"/>
                <a:gd name="T6" fmla="*/ 65 w 65"/>
                <a:gd name="T7" fmla="*/ 129 h 186"/>
                <a:gd name="T8" fmla="*/ 65 w 65"/>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86">
                  <a:moveTo>
                    <a:pt x="0" y="0"/>
                  </a:moveTo>
                  <a:lnTo>
                    <a:pt x="17" y="0"/>
                  </a:lnTo>
                  <a:lnTo>
                    <a:pt x="17" y="129"/>
                  </a:lnTo>
                  <a:lnTo>
                    <a:pt x="65" y="129"/>
                  </a:lnTo>
                  <a:lnTo>
                    <a:pt x="65" y="18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4302" name="Freeform 496"/>
            <p:cNvSpPr>
              <a:spLocks/>
            </p:cNvSpPr>
            <p:nvPr/>
          </p:nvSpPr>
          <p:spPr bwMode="auto">
            <a:xfrm>
              <a:off x="4220" y="2878"/>
              <a:ext cx="38" cy="48"/>
            </a:xfrm>
            <a:custGeom>
              <a:avLst/>
              <a:gdLst>
                <a:gd name="T0" fmla="*/ 38 w 40"/>
                <a:gd name="T1" fmla="*/ 0 h 50"/>
                <a:gd name="T2" fmla="*/ 38 w 40"/>
                <a:gd name="T3" fmla="*/ 48 h 50"/>
                <a:gd name="T4" fmla="*/ 0 w 40"/>
                <a:gd name="T5" fmla="*/ 48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40" y="50"/>
                  </a:lnTo>
                  <a:lnTo>
                    <a:pt x="0" y="5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4303" name="Group 497"/>
            <p:cNvGrpSpPr>
              <a:grpSpLocks/>
            </p:cNvGrpSpPr>
            <p:nvPr/>
          </p:nvGrpSpPr>
          <p:grpSpPr bwMode="auto">
            <a:xfrm>
              <a:off x="4024" y="2728"/>
              <a:ext cx="195" cy="245"/>
              <a:chOff x="4023" y="2262"/>
              <a:chExt cx="195" cy="245"/>
            </a:xfrm>
          </p:grpSpPr>
          <p:sp>
            <p:nvSpPr>
              <p:cNvPr id="4305" name="AutoShape 498"/>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06" name="Freeform 499"/>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7" name="Line 500"/>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8" name="Freeform 501"/>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304" name="Line 502"/>
            <p:cNvSpPr>
              <a:spLocks noChangeShapeType="1"/>
            </p:cNvSpPr>
            <p:nvPr/>
          </p:nvSpPr>
          <p:spPr bwMode="auto">
            <a:xfrm>
              <a:off x="4132" y="2710"/>
              <a:ext cx="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4144" name="Group 503"/>
          <p:cNvGrpSpPr>
            <a:grpSpLocks/>
          </p:cNvGrpSpPr>
          <p:nvPr/>
        </p:nvGrpSpPr>
        <p:grpSpPr bwMode="auto">
          <a:xfrm>
            <a:off x="7008813" y="4813300"/>
            <a:ext cx="989012" cy="574675"/>
            <a:chOff x="3914" y="2587"/>
            <a:chExt cx="581" cy="387"/>
          </a:xfrm>
        </p:grpSpPr>
        <p:sp>
          <p:nvSpPr>
            <p:cNvPr id="4250" name="Rectangle 504"/>
            <p:cNvSpPr>
              <a:spLocks noChangeArrowheads="1"/>
            </p:cNvSpPr>
            <p:nvPr/>
          </p:nvSpPr>
          <p:spPr bwMode="auto">
            <a:xfrm>
              <a:off x="3914" y="2587"/>
              <a:ext cx="581" cy="387"/>
            </a:xfrm>
            <a:prstGeom prst="rect">
              <a:avLst/>
            </a:prstGeom>
            <a:solidFill>
              <a:srgbClr val="FFFFFF"/>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1" name="Rectangle 505"/>
            <p:cNvSpPr>
              <a:spLocks noChangeArrowheads="1"/>
            </p:cNvSpPr>
            <p:nvPr/>
          </p:nvSpPr>
          <p:spPr bwMode="auto">
            <a:xfrm>
              <a:off x="3914" y="2587"/>
              <a:ext cx="581" cy="387"/>
            </a:xfrm>
            <a:prstGeom prst="rect">
              <a:avLst/>
            </a:prstGeom>
            <a:solidFill>
              <a:srgbClr val="F8F8F8"/>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2" name="Rectangle 506"/>
            <p:cNvSpPr>
              <a:spLocks noChangeArrowheads="1"/>
            </p:cNvSpPr>
            <p:nvPr/>
          </p:nvSpPr>
          <p:spPr bwMode="auto">
            <a:xfrm>
              <a:off x="3979" y="262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3" name="Rectangle 507"/>
            <p:cNvSpPr>
              <a:spLocks noChangeArrowheads="1"/>
            </p:cNvSpPr>
            <p:nvPr/>
          </p:nvSpPr>
          <p:spPr bwMode="auto">
            <a:xfrm>
              <a:off x="4398"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4" name="Rectangle 508"/>
            <p:cNvSpPr>
              <a:spLocks noChangeArrowheads="1"/>
            </p:cNvSpPr>
            <p:nvPr/>
          </p:nvSpPr>
          <p:spPr bwMode="auto">
            <a:xfrm>
              <a:off x="4188"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5" name="Rectangle 509"/>
            <p:cNvSpPr>
              <a:spLocks noChangeArrowheads="1"/>
            </p:cNvSpPr>
            <p:nvPr/>
          </p:nvSpPr>
          <p:spPr bwMode="auto">
            <a:xfrm>
              <a:off x="4293"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6" name="Rectangle 510"/>
            <p:cNvSpPr>
              <a:spLocks noChangeArrowheads="1"/>
            </p:cNvSpPr>
            <p:nvPr/>
          </p:nvSpPr>
          <p:spPr bwMode="auto">
            <a:xfrm>
              <a:off x="4084" y="262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7" name="Rectangle 511"/>
            <p:cNvSpPr>
              <a:spLocks noChangeArrowheads="1"/>
            </p:cNvSpPr>
            <p:nvPr/>
          </p:nvSpPr>
          <p:spPr bwMode="auto">
            <a:xfrm>
              <a:off x="3979" y="291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8" name="Rectangle 512"/>
            <p:cNvSpPr>
              <a:spLocks noChangeArrowheads="1"/>
            </p:cNvSpPr>
            <p:nvPr/>
          </p:nvSpPr>
          <p:spPr bwMode="auto">
            <a:xfrm>
              <a:off x="4398"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59" name="Rectangle 513"/>
            <p:cNvSpPr>
              <a:spLocks noChangeArrowheads="1"/>
            </p:cNvSpPr>
            <p:nvPr/>
          </p:nvSpPr>
          <p:spPr bwMode="auto">
            <a:xfrm>
              <a:off x="4188"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0" name="Rectangle 514"/>
            <p:cNvSpPr>
              <a:spLocks noChangeArrowheads="1"/>
            </p:cNvSpPr>
            <p:nvPr/>
          </p:nvSpPr>
          <p:spPr bwMode="auto">
            <a:xfrm>
              <a:off x="4293"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1" name="Rectangle 515"/>
            <p:cNvSpPr>
              <a:spLocks noChangeArrowheads="1"/>
            </p:cNvSpPr>
            <p:nvPr/>
          </p:nvSpPr>
          <p:spPr bwMode="auto">
            <a:xfrm>
              <a:off x="4084" y="291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2" name="Rectangle 516"/>
            <p:cNvSpPr>
              <a:spLocks noChangeArrowheads="1"/>
            </p:cNvSpPr>
            <p:nvPr/>
          </p:nvSpPr>
          <p:spPr bwMode="auto">
            <a:xfrm>
              <a:off x="4398" y="2764"/>
              <a:ext cx="32"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3" name="Rectangle 517"/>
            <p:cNvSpPr>
              <a:spLocks noChangeArrowheads="1"/>
            </p:cNvSpPr>
            <p:nvPr/>
          </p:nvSpPr>
          <p:spPr bwMode="auto">
            <a:xfrm>
              <a:off x="3979" y="2764"/>
              <a:ext cx="31"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4" name="Rectangle 518"/>
            <p:cNvSpPr>
              <a:spLocks noChangeArrowheads="1"/>
            </p:cNvSpPr>
            <p:nvPr/>
          </p:nvSpPr>
          <p:spPr bwMode="auto">
            <a:xfrm>
              <a:off x="4067" y="2700"/>
              <a:ext cx="65" cy="178"/>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5" name="Rectangle 519"/>
            <p:cNvSpPr>
              <a:spLocks noChangeArrowheads="1"/>
            </p:cNvSpPr>
            <p:nvPr/>
          </p:nvSpPr>
          <p:spPr bwMode="auto">
            <a:xfrm>
              <a:off x="4220" y="2676"/>
              <a:ext cx="129" cy="9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6" name="Rectangle 520"/>
            <p:cNvSpPr>
              <a:spLocks noChangeArrowheads="1"/>
            </p:cNvSpPr>
            <p:nvPr/>
          </p:nvSpPr>
          <p:spPr bwMode="auto">
            <a:xfrm>
              <a:off x="4220" y="2821"/>
              <a:ext cx="81" cy="5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67" name="Line 521"/>
            <p:cNvSpPr>
              <a:spLocks noChangeShapeType="1"/>
            </p:cNvSpPr>
            <p:nvPr/>
          </p:nvSpPr>
          <p:spPr bwMode="auto">
            <a:xfrm>
              <a:off x="4010" y="2781"/>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68" name="Line 522"/>
            <p:cNvSpPr>
              <a:spLocks noChangeShapeType="1"/>
            </p:cNvSpPr>
            <p:nvPr/>
          </p:nvSpPr>
          <p:spPr bwMode="auto">
            <a:xfrm>
              <a:off x="4309" y="2652"/>
              <a:ext cx="1" cy="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69" name="Freeform 523"/>
            <p:cNvSpPr>
              <a:spLocks/>
            </p:cNvSpPr>
            <p:nvPr/>
          </p:nvSpPr>
          <p:spPr bwMode="auto">
            <a:xfrm>
              <a:off x="4301" y="2773"/>
              <a:ext cx="16" cy="80"/>
            </a:xfrm>
            <a:custGeom>
              <a:avLst/>
              <a:gdLst>
                <a:gd name="T0" fmla="*/ 0 w 16"/>
                <a:gd name="T1" fmla="*/ 80 h 80"/>
                <a:gd name="T2" fmla="*/ 16 w 16"/>
                <a:gd name="T3" fmla="*/ 80 h 80"/>
                <a:gd name="T4" fmla="*/ 16 w 16"/>
                <a:gd name="T5" fmla="*/ 0 h 80"/>
                <a:gd name="T6" fmla="*/ 0 60000 65536"/>
                <a:gd name="T7" fmla="*/ 0 60000 65536"/>
                <a:gd name="T8" fmla="*/ 0 60000 65536"/>
              </a:gdLst>
              <a:ahLst/>
              <a:cxnLst>
                <a:cxn ang="T6">
                  <a:pos x="T0" y="T1"/>
                </a:cxn>
                <a:cxn ang="T7">
                  <a:pos x="T2" y="T3"/>
                </a:cxn>
                <a:cxn ang="T8">
                  <a:pos x="T4" y="T5"/>
                </a:cxn>
              </a:cxnLst>
              <a:rect l="0" t="0" r="r" b="b"/>
              <a:pathLst>
                <a:path w="16" h="80">
                  <a:moveTo>
                    <a:pt x="0" y="80"/>
                  </a:moveTo>
                  <a:lnTo>
                    <a:pt x="16" y="80"/>
                  </a:lnTo>
                  <a:lnTo>
                    <a:pt x="1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4270" name="Freeform 524"/>
            <p:cNvSpPr>
              <a:spLocks/>
            </p:cNvSpPr>
            <p:nvPr/>
          </p:nvSpPr>
          <p:spPr bwMode="auto">
            <a:xfrm>
              <a:off x="4349" y="2724"/>
              <a:ext cx="65" cy="186"/>
            </a:xfrm>
            <a:custGeom>
              <a:avLst/>
              <a:gdLst>
                <a:gd name="T0" fmla="*/ 0 w 65"/>
                <a:gd name="T1" fmla="*/ 0 h 186"/>
                <a:gd name="T2" fmla="*/ 17 w 65"/>
                <a:gd name="T3" fmla="*/ 0 h 186"/>
                <a:gd name="T4" fmla="*/ 17 w 65"/>
                <a:gd name="T5" fmla="*/ 129 h 186"/>
                <a:gd name="T6" fmla="*/ 65 w 65"/>
                <a:gd name="T7" fmla="*/ 129 h 186"/>
                <a:gd name="T8" fmla="*/ 65 w 65"/>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86">
                  <a:moveTo>
                    <a:pt x="0" y="0"/>
                  </a:moveTo>
                  <a:lnTo>
                    <a:pt x="17" y="0"/>
                  </a:lnTo>
                  <a:lnTo>
                    <a:pt x="17" y="129"/>
                  </a:lnTo>
                  <a:lnTo>
                    <a:pt x="65" y="129"/>
                  </a:lnTo>
                  <a:lnTo>
                    <a:pt x="65" y="18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4271" name="Freeform 525"/>
            <p:cNvSpPr>
              <a:spLocks/>
            </p:cNvSpPr>
            <p:nvPr/>
          </p:nvSpPr>
          <p:spPr bwMode="auto">
            <a:xfrm>
              <a:off x="4220" y="2878"/>
              <a:ext cx="38" cy="48"/>
            </a:xfrm>
            <a:custGeom>
              <a:avLst/>
              <a:gdLst>
                <a:gd name="T0" fmla="*/ 38 w 40"/>
                <a:gd name="T1" fmla="*/ 0 h 50"/>
                <a:gd name="T2" fmla="*/ 38 w 40"/>
                <a:gd name="T3" fmla="*/ 48 h 50"/>
                <a:gd name="T4" fmla="*/ 0 w 40"/>
                <a:gd name="T5" fmla="*/ 48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40" y="50"/>
                  </a:lnTo>
                  <a:lnTo>
                    <a:pt x="0" y="5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4272" name="Group 526"/>
            <p:cNvGrpSpPr>
              <a:grpSpLocks/>
            </p:cNvGrpSpPr>
            <p:nvPr/>
          </p:nvGrpSpPr>
          <p:grpSpPr bwMode="auto">
            <a:xfrm>
              <a:off x="4024" y="2728"/>
              <a:ext cx="195" cy="245"/>
              <a:chOff x="4023" y="2262"/>
              <a:chExt cx="195" cy="245"/>
            </a:xfrm>
          </p:grpSpPr>
          <p:sp>
            <p:nvSpPr>
              <p:cNvPr id="4277" name="AutoShape 527"/>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78" name="Freeform 528"/>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79" name="Line 529"/>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80" name="Freeform 530"/>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273" name="Line 531"/>
            <p:cNvSpPr>
              <a:spLocks noChangeShapeType="1"/>
            </p:cNvSpPr>
            <p:nvPr/>
          </p:nvSpPr>
          <p:spPr bwMode="auto">
            <a:xfrm>
              <a:off x="4132" y="2710"/>
              <a:ext cx="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74" name="AutoShape 532"/>
            <p:cNvSpPr>
              <a:spLocks noChangeArrowheads="1"/>
            </p:cNvSpPr>
            <p:nvPr/>
          </p:nvSpPr>
          <p:spPr bwMode="auto">
            <a:xfrm>
              <a:off x="4300" y="2788"/>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75" name="AutoShape 533"/>
            <p:cNvSpPr>
              <a:spLocks noChangeArrowheads="1"/>
            </p:cNvSpPr>
            <p:nvPr/>
          </p:nvSpPr>
          <p:spPr bwMode="auto">
            <a:xfrm flipV="1">
              <a:off x="4348" y="2812"/>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76" name="AutoShape 534"/>
            <p:cNvSpPr>
              <a:spLocks noChangeArrowheads="1"/>
            </p:cNvSpPr>
            <p:nvPr/>
          </p:nvSpPr>
          <p:spPr bwMode="auto">
            <a:xfrm rot="-5400000">
              <a:off x="4144" y="2696"/>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4145" name="Group 535"/>
          <p:cNvGrpSpPr>
            <a:grpSpLocks/>
          </p:cNvGrpSpPr>
          <p:nvPr/>
        </p:nvGrpSpPr>
        <p:grpSpPr bwMode="auto">
          <a:xfrm>
            <a:off x="831850" y="3408363"/>
            <a:ext cx="989013" cy="577850"/>
            <a:chOff x="3914" y="2587"/>
            <a:chExt cx="581" cy="387"/>
          </a:xfrm>
        </p:grpSpPr>
        <p:sp>
          <p:nvSpPr>
            <p:cNvPr id="4219" name="Rectangle 536"/>
            <p:cNvSpPr>
              <a:spLocks noChangeArrowheads="1"/>
            </p:cNvSpPr>
            <p:nvPr/>
          </p:nvSpPr>
          <p:spPr bwMode="auto">
            <a:xfrm>
              <a:off x="3914" y="2587"/>
              <a:ext cx="581" cy="387"/>
            </a:xfrm>
            <a:prstGeom prst="rect">
              <a:avLst/>
            </a:prstGeom>
            <a:solidFill>
              <a:srgbClr val="FFFFFF"/>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0" name="Rectangle 537"/>
            <p:cNvSpPr>
              <a:spLocks noChangeArrowheads="1"/>
            </p:cNvSpPr>
            <p:nvPr/>
          </p:nvSpPr>
          <p:spPr bwMode="auto">
            <a:xfrm>
              <a:off x="3914" y="2587"/>
              <a:ext cx="581" cy="387"/>
            </a:xfrm>
            <a:prstGeom prst="rect">
              <a:avLst/>
            </a:prstGeom>
            <a:solidFill>
              <a:srgbClr val="F8F8F8"/>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1" name="Rectangle 538"/>
            <p:cNvSpPr>
              <a:spLocks noChangeArrowheads="1"/>
            </p:cNvSpPr>
            <p:nvPr/>
          </p:nvSpPr>
          <p:spPr bwMode="auto">
            <a:xfrm>
              <a:off x="3979" y="262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2" name="Rectangle 539"/>
            <p:cNvSpPr>
              <a:spLocks noChangeArrowheads="1"/>
            </p:cNvSpPr>
            <p:nvPr/>
          </p:nvSpPr>
          <p:spPr bwMode="auto">
            <a:xfrm>
              <a:off x="4398"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3" name="Rectangle 540"/>
            <p:cNvSpPr>
              <a:spLocks noChangeArrowheads="1"/>
            </p:cNvSpPr>
            <p:nvPr/>
          </p:nvSpPr>
          <p:spPr bwMode="auto">
            <a:xfrm>
              <a:off x="4188"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4" name="Rectangle 541"/>
            <p:cNvSpPr>
              <a:spLocks noChangeArrowheads="1"/>
            </p:cNvSpPr>
            <p:nvPr/>
          </p:nvSpPr>
          <p:spPr bwMode="auto">
            <a:xfrm>
              <a:off x="4293" y="262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5" name="Rectangle 542"/>
            <p:cNvSpPr>
              <a:spLocks noChangeArrowheads="1"/>
            </p:cNvSpPr>
            <p:nvPr/>
          </p:nvSpPr>
          <p:spPr bwMode="auto">
            <a:xfrm>
              <a:off x="4084" y="262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6" name="Rectangle 543"/>
            <p:cNvSpPr>
              <a:spLocks noChangeArrowheads="1"/>
            </p:cNvSpPr>
            <p:nvPr/>
          </p:nvSpPr>
          <p:spPr bwMode="auto">
            <a:xfrm>
              <a:off x="3979" y="291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7" name="Rectangle 544"/>
            <p:cNvSpPr>
              <a:spLocks noChangeArrowheads="1"/>
            </p:cNvSpPr>
            <p:nvPr/>
          </p:nvSpPr>
          <p:spPr bwMode="auto">
            <a:xfrm>
              <a:off x="4398"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8" name="Rectangle 545"/>
            <p:cNvSpPr>
              <a:spLocks noChangeArrowheads="1"/>
            </p:cNvSpPr>
            <p:nvPr/>
          </p:nvSpPr>
          <p:spPr bwMode="auto">
            <a:xfrm>
              <a:off x="4188"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29" name="Rectangle 546"/>
            <p:cNvSpPr>
              <a:spLocks noChangeArrowheads="1"/>
            </p:cNvSpPr>
            <p:nvPr/>
          </p:nvSpPr>
          <p:spPr bwMode="auto">
            <a:xfrm>
              <a:off x="4293" y="2910"/>
              <a:ext cx="32"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0" name="Rectangle 547"/>
            <p:cNvSpPr>
              <a:spLocks noChangeArrowheads="1"/>
            </p:cNvSpPr>
            <p:nvPr/>
          </p:nvSpPr>
          <p:spPr bwMode="auto">
            <a:xfrm>
              <a:off x="4084" y="2910"/>
              <a:ext cx="31" cy="32"/>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1" name="Rectangle 548"/>
            <p:cNvSpPr>
              <a:spLocks noChangeArrowheads="1"/>
            </p:cNvSpPr>
            <p:nvPr/>
          </p:nvSpPr>
          <p:spPr bwMode="auto">
            <a:xfrm>
              <a:off x="4398" y="2764"/>
              <a:ext cx="32"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2" name="Rectangle 549"/>
            <p:cNvSpPr>
              <a:spLocks noChangeArrowheads="1"/>
            </p:cNvSpPr>
            <p:nvPr/>
          </p:nvSpPr>
          <p:spPr bwMode="auto">
            <a:xfrm>
              <a:off x="3979" y="2764"/>
              <a:ext cx="31" cy="33"/>
            </a:xfrm>
            <a:prstGeom prst="rect">
              <a:avLst/>
            </a:prstGeom>
            <a:solidFill>
              <a:srgbClr val="000000"/>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3" name="Rectangle 550"/>
            <p:cNvSpPr>
              <a:spLocks noChangeArrowheads="1"/>
            </p:cNvSpPr>
            <p:nvPr/>
          </p:nvSpPr>
          <p:spPr bwMode="auto">
            <a:xfrm>
              <a:off x="4067" y="2700"/>
              <a:ext cx="65" cy="178"/>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4" name="Rectangle 551"/>
            <p:cNvSpPr>
              <a:spLocks noChangeArrowheads="1"/>
            </p:cNvSpPr>
            <p:nvPr/>
          </p:nvSpPr>
          <p:spPr bwMode="auto">
            <a:xfrm>
              <a:off x="4220" y="2676"/>
              <a:ext cx="129" cy="9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5" name="Rectangle 552"/>
            <p:cNvSpPr>
              <a:spLocks noChangeArrowheads="1"/>
            </p:cNvSpPr>
            <p:nvPr/>
          </p:nvSpPr>
          <p:spPr bwMode="auto">
            <a:xfrm>
              <a:off x="4220" y="2821"/>
              <a:ext cx="81" cy="57"/>
            </a:xfrm>
            <a:prstGeom prst="rect">
              <a:avLst/>
            </a:prstGeom>
            <a:solidFill>
              <a:srgbClr val="B3B3B3"/>
            </a:solidFill>
            <a:ln w="7938">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36" name="Line 553"/>
            <p:cNvSpPr>
              <a:spLocks noChangeShapeType="1"/>
            </p:cNvSpPr>
            <p:nvPr/>
          </p:nvSpPr>
          <p:spPr bwMode="auto">
            <a:xfrm>
              <a:off x="4010" y="2781"/>
              <a:ext cx="57" cy="1"/>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37" name="Line 554"/>
            <p:cNvSpPr>
              <a:spLocks noChangeShapeType="1"/>
            </p:cNvSpPr>
            <p:nvPr/>
          </p:nvSpPr>
          <p:spPr bwMode="auto">
            <a:xfrm>
              <a:off x="4309" y="2652"/>
              <a:ext cx="1" cy="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238" name="Freeform 555"/>
            <p:cNvSpPr>
              <a:spLocks/>
            </p:cNvSpPr>
            <p:nvPr/>
          </p:nvSpPr>
          <p:spPr bwMode="auto">
            <a:xfrm>
              <a:off x="4301" y="2773"/>
              <a:ext cx="16" cy="80"/>
            </a:xfrm>
            <a:custGeom>
              <a:avLst/>
              <a:gdLst>
                <a:gd name="T0" fmla="*/ 0 w 16"/>
                <a:gd name="T1" fmla="*/ 80 h 80"/>
                <a:gd name="T2" fmla="*/ 16 w 16"/>
                <a:gd name="T3" fmla="*/ 80 h 80"/>
                <a:gd name="T4" fmla="*/ 16 w 16"/>
                <a:gd name="T5" fmla="*/ 0 h 80"/>
                <a:gd name="T6" fmla="*/ 0 60000 65536"/>
                <a:gd name="T7" fmla="*/ 0 60000 65536"/>
                <a:gd name="T8" fmla="*/ 0 60000 65536"/>
              </a:gdLst>
              <a:ahLst/>
              <a:cxnLst>
                <a:cxn ang="T6">
                  <a:pos x="T0" y="T1"/>
                </a:cxn>
                <a:cxn ang="T7">
                  <a:pos x="T2" y="T3"/>
                </a:cxn>
                <a:cxn ang="T8">
                  <a:pos x="T4" y="T5"/>
                </a:cxn>
              </a:cxnLst>
              <a:rect l="0" t="0" r="r" b="b"/>
              <a:pathLst>
                <a:path w="16" h="80">
                  <a:moveTo>
                    <a:pt x="0" y="80"/>
                  </a:moveTo>
                  <a:lnTo>
                    <a:pt x="16" y="80"/>
                  </a:lnTo>
                  <a:lnTo>
                    <a:pt x="16" y="0"/>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4239" name="Freeform 556"/>
            <p:cNvSpPr>
              <a:spLocks/>
            </p:cNvSpPr>
            <p:nvPr/>
          </p:nvSpPr>
          <p:spPr bwMode="auto">
            <a:xfrm>
              <a:off x="4349" y="2724"/>
              <a:ext cx="65" cy="186"/>
            </a:xfrm>
            <a:custGeom>
              <a:avLst/>
              <a:gdLst>
                <a:gd name="T0" fmla="*/ 0 w 65"/>
                <a:gd name="T1" fmla="*/ 0 h 186"/>
                <a:gd name="T2" fmla="*/ 17 w 65"/>
                <a:gd name="T3" fmla="*/ 0 h 186"/>
                <a:gd name="T4" fmla="*/ 17 w 65"/>
                <a:gd name="T5" fmla="*/ 129 h 186"/>
                <a:gd name="T6" fmla="*/ 65 w 65"/>
                <a:gd name="T7" fmla="*/ 129 h 186"/>
                <a:gd name="T8" fmla="*/ 65 w 65"/>
                <a:gd name="T9" fmla="*/ 186 h 1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5" h="186">
                  <a:moveTo>
                    <a:pt x="0" y="0"/>
                  </a:moveTo>
                  <a:lnTo>
                    <a:pt x="17" y="0"/>
                  </a:lnTo>
                  <a:lnTo>
                    <a:pt x="17" y="129"/>
                  </a:lnTo>
                  <a:lnTo>
                    <a:pt x="65" y="129"/>
                  </a:lnTo>
                  <a:lnTo>
                    <a:pt x="65" y="186"/>
                  </a:lnTo>
                </a:path>
              </a:pathLst>
            </a:custGeom>
            <a:noFill/>
            <a:ln w="9525">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de-DE"/>
            </a:p>
          </p:txBody>
        </p:sp>
        <p:sp>
          <p:nvSpPr>
            <p:cNvPr id="4240" name="Freeform 557"/>
            <p:cNvSpPr>
              <a:spLocks/>
            </p:cNvSpPr>
            <p:nvPr/>
          </p:nvSpPr>
          <p:spPr bwMode="auto">
            <a:xfrm>
              <a:off x="4220" y="2878"/>
              <a:ext cx="38" cy="48"/>
            </a:xfrm>
            <a:custGeom>
              <a:avLst/>
              <a:gdLst>
                <a:gd name="T0" fmla="*/ 38 w 40"/>
                <a:gd name="T1" fmla="*/ 0 h 50"/>
                <a:gd name="T2" fmla="*/ 38 w 40"/>
                <a:gd name="T3" fmla="*/ 48 h 50"/>
                <a:gd name="T4" fmla="*/ 0 w 40"/>
                <a:gd name="T5" fmla="*/ 48 h 50"/>
                <a:gd name="T6" fmla="*/ 0 60000 65536"/>
                <a:gd name="T7" fmla="*/ 0 60000 65536"/>
                <a:gd name="T8" fmla="*/ 0 60000 65536"/>
              </a:gdLst>
              <a:ahLst/>
              <a:cxnLst>
                <a:cxn ang="T6">
                  <a:pos x="T0" y="T1"/>
                </a:cxn>
                <a:cxn ang="T7">
                  <a:pos x="T2" y="T3"/>
                </a:cxn>
                <a:cxn ang="T8">
                  <a:pos x="T4" y="T5"/>
                </a:cxn>
              </a:cxnLst>
              <a:rect l="0" t="0" r="r" b="b"/>
              <a:pathLst>
                <a:path w="40" h="50">
                  <a:moveTo>
                    <a:pt x="40" y="0"/>
                  </a:moveTo>
                  <a:lnTo>
                    <a:pt x="40" y="50"/>
                  </a:lnTo>
                  <a:lnTo>
                    <a:pt x="0" y="5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nvGrpSpPr>
            <p:cNvPr id="4241" name="Group 558"/>
            <p:cNvGrpSpPr>
              <a:grpSpLocks/>
            </p:cNvGrpSpPr>
            <p:nvPr/>
          </p:nvGrpSpPr>
          <p:grpSpPr bwMode="auto">
            <a:xfrm>
              <a:off x="4024" y="2728"/>
              <a:ext cx="195" cy="245"/>
              <a:chOff x="4023" y="2262"/>
              <a:chExt cx="195" cy="245"/>
            </a:xfrm>
          </p:grpSpPr>
          <p:sp>
            <p:nvSpPr>
              <p:cNvPr id="4246" name="AutoShape 559"/>
              <p:cNvSpPr>
                <a:spLocks noChangeArrowheads="1"/>
              </p:cNvSpPr>
              <p:nvPr/>
            </p:nvSpPr>
            <p:spPr bwMode="auto">
              <a:xfrm>
                <a:off x="4023" y="2459"/>
                <a:ext cx="56" cy="48"/>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47" name="Freeform 560"/>
              <p:cNvSpPr>
                <a:spLocks/>
              </p:cNvSpPr>
              <p:nvPr/>
            </p:nvSpPr>
            <p:spPr bwMode="auto">
              <a:xfrm>
                <a:off x="4050" y="2325"/>
                <a:ext cx="132" cy="135"/>
              </a:xfrm>
              <a:custGeom>
                <a:avLst/>
                <a:gdLst>
                  <a:gd name="T0" fmla="*/ 0 w 132"/>
                  <a:gd name="T1" fmla="*/ 135 h 135"/>
                  <a:gd name="T2" fmla="*/ 0 w 132"/>
                  <a:gd name="T3" fmla="*/ 105 h 135"/>
                  <a:gd name="T4" fmla="*/ 132 w 132"/>
                  <a:gd name="T5" fmla="*/ 105 h 135"/>
                  <a:gd name="T6" fmla="*/ 132 w 132"/>
                  <a:gd name="T7" fmla="*/ 0 h 135"/>
                  <a:gd name="T8" fmla="*/ 84 w 132"/>
                  <a:gd name="T9" fmla="*/ 0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2" h="135">
                    <a:moveTo>
                      <a:pt x="0" y="135"/>
                    </a:moveTo>
                    <a:lnTo>
                      <a:pt x="0" y="105"/>
                    </a:lnTo>
                    <a:lnTo>
                      <a:pt x="132" y="105"/>
                    </a:lnTo>
                    <a:lnTo>
                      <a:pt x="132" y="0"/>
                    </a:lnTo>
                    <a:lnTo>
                      <a:pt x="84"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48" name="Line 561"/>
              <p:cNvSpPr>
                <a:spLocks noChangeShapeType="1"/>
              </p:cNvSpPr>
              <p:nvPr/>
            </p:nvSpPr>
            <p:spPr bwMode="auto">
              <a:xfrm>
                <a:off x="4182" y="2385"/>
                <a:ext cx="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49" name="Freeform 562"/>
              <p:cNvSpPr>
                <a:spLocks/>
              </p:cNvSpPr>
              <p:nvPr/>
            </p:nvSpPr>
            <p:spPr bwMode="auto">
              <a:xfrm>
                <a:off x="4182" y="2262"/>
                <a:ext cx="36" cy="63"/>
              </a:xfrm>
              <a:custGeom>
                <a:avLst/>
                <a:gdLst>
                  <a:gd name="T0" fmla="*/ 0 w 36"/>
                  <a:gd name="T1" fmla="*/ 63 h 63"/>
                  <a:gd name="T2" fmla="*/ 0 w 36"/>
                  <a:gd name="T3" fmla="*/ 0 h 63"/>
                  <a:gd name="T4" fmla="*/ 36 w 36"/>
                  <a:gd name="T5" fmla="*/ 0 h 63"/>
                  <a:gd name="T6" fmla="*/ 0 60000 65536"/>
                  <a:gd name="T7" fmla="*/ 0 60000 65536"/>
                  <a:gd name="T8" fmla="*/ 0 60000 65536"/>
                </a:gdLst>
                <a:ahLst/>
                <a:cxnLst>
                  <a:cxn ang="T6">
                    <a:pos x="T0" y="T1"/>
                  </a:cxn>
                  <a:cxn ang="T7">
                    <a:pos x="T2" y="T3"/>
                  </a:cxn>
                  <a:cxn ang="T8">
                    <a:pos x="T4" y="T5"/>
                  </a:cxn>
                </a:cxnLst>
                <a:rect l="0" t="0" r="r" b="b"/>
                <a:pathLst>
                  <a:path w="36" h="63">
                    <a:moveTo>
                      <a:pt x="0" y="63"/>
                    </a:moveTo>
                    <a:lnTo>
                      <a:pt x="0" y="0"/>
                    </a:lnTo>
                    <a:lnTo>
                      <a:pt x="36" y="0"/>
                    </a:lnTo>
                  </a:path>
                </a:pathLst>
              </a:cu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242" name="Line 563"/>
            <p:cNvSpPr>
              <a:spLocks noChangeShapeType="1"/>
            </p:cNvSpPr>
            <p:nvPr/>
          </p:nvSpPr>
          <p:spPr bwMode="auto">
            <a:xfrm>
              <a:off x="4132" y="2710"/>
              <a:ext cx="8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43" name="AutoShape 564"/>
            <p:cNvSpPr>
              <a:spLocks noChangeArrowheads="1"/>
            </p:cNvSpPr>
            <p:nvPr/>
          </p:nvSpPr>
          <p:spPr bwMode="auto">
            <a:xfrm>
              <a:off x="4300" y="2788"/>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44" name="AutoShape 565"/>
            <p:cNvSpPr>
              <a:spLocks noChangeArrowheads="1"/>
            </p:cNvSpPr>
            <p:nvPr/>
          </p:nvSpPr>
          <p:spPr bwMode="auto">
            <a:xfrm flipV="1">
              <a:off x="4348" y="2812"/>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45" name="AutoShape 566"/>
            <p:cNvSpPr>
              <a:spLocks noChangeArrowheads="1"/>
            </p:cNvSpPr>
            <p:nvPr/>
          </p:nvSpPr>
          <p:spPr bwMode="auto">
            <a:xfrm rot="-5400000">
              <a:off x="4144" y="2696"/>
              <a:ext cx="33" cy="28"/>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4146" name="Rectangle 567"/>
          <p:cNvSpPr>
            <a:spLocks noChangeArrowheads="1"/>
          </p:cNvSpPr>
          <p:nvPr/>
        </p:nvSpPr>
        <p:spPr bwMode="auto">
          <a:xfrm>
            <a:off x="2068513" y="5740400"/>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47" name="Rectangle 568"/>
          <p:cNvSpPr>
            <a:spLocks noChangeArrowheads="1"/>
          </p:cNvSpPr>
          <p:nvPr/>
        </p:nvSpPr>
        <p:spPr bwMode="auto">
          <a:xfrm>
            <a:off x="2074863" y="5160963"/>
            <a:ext cx="1917700" cy="447675"/>
          </a:xfrm>
          <a:prstGeom prst="rect">
            <a:avLst/>
          </a:prstGeom>
          <a:solidFill>
            <a:srgbClr val="CCCCFF"/>
          </a:solidFill>
          <a:ln w="8001">
            <a:solidFill>
              <a:srgbClr val="CCCCFF"/>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48" name="Rectangle 569"/>
          <p:cNvSpPr>
            <a:spLocks noChangeArrowheads="1"/>
          </p:cNvSpPr>
          <p:nvPr/>
        </p:nvSpPr>
        <p:spPr bwMode="auto">
          <a:xfrm>
            <a:off x="830263" y="4151313"/>
            <a:ext cx="987425" cy="574675"/>
          </a:xfrm>
          <a:prstGeom prst="rect">
            <a:avLst/>
          </a:prstGeom>
          <a:solidFill>
            <a:srgbClr val="FFFFFF"/>
          </a:solidFill>
          <a:ln w="9525">
            <a:solidFill>
              <a:schemeClr val="tx1"/>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49" name="Rectangle 570"/>
          <p:cNvSpPr>
            <a:spLocks noChangeArrowheads="1"/>
          </p:cNvSpPr>
          <p:nvPr/>
        </p:nvSpPr>
        <p:spPr bwMode="auto">
          <a:xfrm>
            <a:off x="1155700" y="4243388"/>
            <a:ext cx="247650"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900">
                <a:solidFill>
                  <a:srgbClr val="000000"/>
                </a:solidFill>
                <a:ea typeface="宋体" panose="02010600030101010101" pitchFamily="2" charset="-122"/>
              </a:rPr>
              <a:t>DRC</a:t>
            </a:r>
            <a:br>
              <a:rPr lang="en-US" altLang="zh-CN" sz="900">
                <a:solidFill>
                  <a:srgbClr val="000000"/>
                </a:solidFill>
                <a:ea typeface="宋体" panose="02010600030101010101" pitchFamily="2" charset="-122"/>
              </a:rPr>
            </a:br>
            <a:r>
              <a:rPr lang="en-US" altLang="zh-CN" sz="900">
                <a:solidFill>
                  <a:srgbClr val="000000"/>
                </a:solidFill>
                <a:ea typeface="宋体" panose="02010600030101010101" pitchFamily="2" charset="-122"/>
              </a:rPr>
              <a:t>LVS</a:t>
            </a:r>
          </a:p>
          <a:p>
            <a:pPr eaLnBrk="1" hangingPunct="1">
              <a:lnSpc>
                <a:spcPct val="100000"/>
              </a:lnSpc>
            </a:pPr>
            <a:r>
              <a:rPr lang="en-US" altLang="zh-CN" sz="900">
                <a:solidFill>
                  <a:srgbClr val="000000"/>
                </a:solidFill>
                <a:ea typeface="宋体" panose="02010600030101010101" pitchFamily="2" charset="-122"/>
              </a:rPr>
              <a:t>ERC</a:t>
            </a:r>
            <a:endParaRPr lang="en-US" altLang="zh-CN" sz="900">
              <a:ea typeface="宋体" panose="02010600030101010101" pitchFamily="2" charset="-122"/>
            </a:endParaRPr>
          </a:p>
        </p:txBody>
      </p:sp>
      <p:sp>
        <p:nvSpPr>
          <p:cNvPr id="4150" name="Line 571"/>
          <p:cNvSpPr>
            <a:spLocks noChangeShapeType="1"/>
          </p:cNvSpPr>
          <p:nvPr/>
        </p:nvSpPr>
        <p:spPr bwMode="auto">
          <a:xfrm>
            <a:off x="1323975" y="4727575"/>
            <a:ext cx="0" cy="147638"/>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51" name="Line 572"/>
          <p:cNvSpPr>
            <a:spLocks noChangeShapeType="1"/>
          </p:cNvSpPr>
          <p:nvPr/>
        </p:nvSpPr>
        <p:spPr bwMode="auto">
          <a:xfrm>
            <a:off x="1331913" y="3251200"/>
            <a:ext cx="0" cy="155575"/>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52" name="Line 573"/>
          <p:cNvSpPr>
            <a:spLocks noChangeShapeType="1"/>
          </p:cNvSpPr>
          <p:nvPr/>
        </p:nvSpPr>
        <p:spPr bwMode="auto">
          <a:xfrm>
            <a:off x="1328738" y="2444750"/>
            <a:ext cx="0" cy="212725"/>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53" name="Rectangle 575"/>
          <p:cNvSpPr>
            <a:spLocks noChangeArrowheads="1"/>
          </p:cNvSpPr>
          <p:nvPr/>
        </p:nvSpPr>
        <p:spPr bwMode="auto">
          <a:xfrm>
            <a:off x="2336800" y="2973388"/>
            <a:ext cx="1341438" cy="168275"/>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rgbClr val="000000"/>
                </a:solidFill>
                <a:ea typeface="宋体" panose="02010600030101010101" pitchFamily="2" charset="-122"/>
              </a:rPr>
              <a:t>Circuit Design</a:t>
            </a:r>
            <a:endParaRPr lang="en-US" altLang="zh-CN" sz="1100" b="1">
              <a:ea typeface="宋体" panose="02010600030101010101" pitchFamily="2" charset="-122"/>
            </a:endParaRPr>
          </a:p>
        </p:txBody>
      </p:sp>
      <p:sp>
        <p:nvSpPr>
          <p:cNvPr id="4154" name="Rectangle 576"/>
          <p:cNvSpPr>
            <a:spLocks noChangeArrowheads="1"/>
          </p:cNvSpPr>
          <p:nvPr/>
        </p:nvSpPr>
        <p:spPr bwMode="auto">
          <a:xfrm>
            <a:off x="2125663" y="2300288"/>
            <a:ext cx="1725612" cy="336550"/>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rgbClr val="000000"/>
                </a:solidFill>
                <a:ea typeface="宋体" panose="02010600030101010101" pitchFamily="2" charset="-122"/>
              </a:rPr>
              <a:t>Functional Design</a:t>
            </a:r>
            <a:br>
              <a:rPr lang="en-US" altLang="zh-CN" sz="1100" b="1">
                <a:solidFill>
                  <a:srgbClr val="000000"/>
                </a:solidFill>
                <a:ea typeface="宋体" panose="02010600030101010101" pitchFamily="2" charset="-122"/>
              </a:rPr>
            </a:br>
            <a:r>
              <a:rPr lang="en-US" altLang="zh-CN" sz="1100" b="1">
                <a:solidFill>
                  <a:srgbClr val="000000"/>
                </a:solidFill>
                <a:ea typeface="宋体" panose="02010600030101010101" pitchFamily="2" charset="-122"/>
              </a:rPr>
              <a:t>and Logic Design</a:t>
            </a:r>
            <a:endParaRPr lang="en-US" altLang="zh-CN" sz="1100" b="1">
              <a:ea typeface="宋体" panose="02010600030101010101" pitchFamily="2" charset="-122"/>
            </a:endParaRPr>
          </a:p>
        </p:txBody>
      </p:sp>
      <p:sp>
        <p:nvSpPr>
          <p:cNvPr id="4155" name="Rectangle 577"/>
          <p:cNvSpPr>
            <a:spLocks noChangeArrowheads="1"/>
          </p:cNvSpPr>
          <p:nvPr/>
        </p:nvSpPr>
        <p:spPr bwMode="auto">
          <a:xfrm>
            <a:off x="2200275" y="3548063"/>
            <a:ext cx="1654175" cy="168275"/>
          </a:xfrm>
          <a:prstGeom prst="rect">
            <a:avLst/>
          </a:prstGeom>
          <a:noFill/>
          <a:ln>
            <a:noFill/>
          </a:ln>
          <a:extLst>
            <a:ext uri="{909E8E84-426E-40DD-AFC4-6F175D3DCCD1}">
              <a14:hiddenFill xmlns:a14="http://schemas.microsoft.com/office/drawing/2010/main">
                <a:solidFill>
                  <a:srgbClr val="B2B2B2"/>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chemeClr val="bg1"/>
                </a:solidFill>
                <a:ea typeface="宋体" panose="02010600030101010101" pitchFamily="2" charset="-122"/>
              </a:rPr>
              <a:t>Physical Design</a:t>
            </a:r>
          </a:p>
        </p:txBody>
      </p:sp>
      <p:sp>
        <p:nvSpPr>
          <p:cNvPr id="4156" name="Rectangle 578"/>
          <p:cNvSpPr>
            <a:spLocks noChangeArrowheads="1"/>
          </p:cNvSpPr>
          <p:nvPr/>
        </p:nvSpPr>
        <p:spPr bwMode="auto">
          <a:xfrm>
            <a:off x="2065338" y="4029075"/>
            <a:ext cx="1928812" cy="336550"/>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zh-CN" sz="1100" b="1">
                <a:ea typeface="宋体" panose="02010600030101010101" pitchFamily="2" charset="-122"/>
              </a:rPr>
              <a:t>Physical Verification</a:t>
            </a:r>
            <a:br>
              <a:rPr lang="de-DE" altLang="zh-CN" sz="1100" b="1">
                <a:ea typeface="宋体" panose="02010600030101010101" pitchFamily="2" charset="-122"/>
              </a:rPr>
            </a:br>
            <a:r>
              <a:rPr lang="de-DE" altLang="zh-CN" sz="1100" b="1">
                <a:ea typeface="宋体" panose="02010600030101010101" pitchFamily="2" charset="-122"/>
              </a:rPr>
              <a:t>and Signoff</a:t>
            </a:r>
            <a:endParaRPr lang="en-US" altLang="zh-CN" sz="1100" b="1">
              <a:ea typeface="宋体" panose="02010600030101010101" pitchFamily="2" charset="-122"/>
            </a:endParaRPr>
          </a:p>
        </p:txBody>
      </p:sp>
      <p:sp>
        <p:nvSpPr>
          <p:cNvPr id="4157" name="Rectangle 579"/>
          <p:cNvSpPr>
            <a:spLocks noChangeArrowheads="1"/>
          </p:cNvSpPr>
          <p:nvPr/>
        </p:nvSpPr>
        <p:spPr bwMode="auto">
          <a:xfrm>
            <a:off x="2473325" y="4703763"/>
            <a:ext cx="1065213"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sz="1100" b="1">
                <a:solidFill>
                  <a:srgbClr val="000000"/>
                </a:solidFill>
              </a:rPr>
              <a:t>Fabrication</a:t>
            </a:r>
            <a:endParaRPr lang="en-US" altLang="zh-CN" sz="1100" b="1">
              <a:ea typeface="宋体" panose="02010600030101010101" pitchFamily="2" charset="-122"/>
            </a:endParaRPr>
          </a:p>
        </p:txBody>
      </p:sp>
      <p:sp>
        <p:nvSpPr>
          <p:cNvPr id="4158" name="Rectangle 580"/>
          <p:cNvSpPr>
            <a:spLocks noChangeArrowheads="1"/>
          </p:cNvSpPr>
          <p:nvPr/>
        </p:nvSpPr>
        <p:spPr bwMode="auto">
          <a:xfrm>
            <a:off x="2124075" y="1173163"/>
            <a:ext cx="1827213"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rgbClr val="000000"/>
                </a:solidFill>
                <a:ea typeface="宋体" panose="02010600030101010101" pitchFamily="2" charset="-122"/>
              </a:rPr>
              <a:t>System Specification</a:t>
            </a:r>
            <a:endParaRPr lang="en-US" altLang="zh-CN" sz="1100" b="1">
              <a:ea typeface="宋体" panose="02010600030101010101" pitchFamily="2" charset="-122"/>
            </a:endParaRPr>
          </a:p>
        </p:txBody>
      </p:sp>
      <p:sp>
        <p:nvSpPr>
          <p:cNvPr id="4159" name="Rectangle 581"/>
          <p:cNvSpPr>
            <a:spLocks noChangeArrowheads="1"/>
          </p:cNvSpPr>
          <p:nvPr/>
        </p:nvSpPr>
        <p:spPr bwMode="auto">
          <a:xfrm>
            <a:off x="2097088" y="1773238"/>
            <a:ext cx="1827212"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rgbClr val="000000"/>
                </a:solidFill>
                <a:ea typeface="宋体" panose="02010600030101010101" pitchFamily="2" charset="-122"/>
              </a:rPr>
              <a:t>Architectural Design</a:t>
            </a:r>
            <a:endParaRPr lang="en-US" altLang="zh-CN" sz="1100" b="1">
              <a:ea typeface="宋体" panose="02010600030101010101" pitchFamily="2" charset="-122"/>
            </a:endParaRPr>
          </a:p>
        </p:txBody>
      </p:sp>
      <p:sp>
        <p:nvSpPr>
          <p:cNvPr id="4160" name="Rectangle 582"/>
          <p:cNvSpPr>
            <a:spLocks noChangeArrowheads="1"/>
          </p:cNvSpPr>
          <p:nvPr/>
        </p:nvSpPr>
        <p:spPr bwMode="auto">
          <a:xfrm>
            <a:off x="2771775" y="5853113"/>
            <a:ext cx="4429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ea typeface="宋体" panose="02010600030101010101" pitchFamily="2" charset="-122"/>
              </a:rPr>
              <a:t>Chip</a:t>
            </a:r>
          </a:p>
        </p:txBody>
      </p:sp>
      <p:sp>
        <p:nvSpPr>
          <p:cNvPr id="4161" name="Rectangle 583"/>
          <p:cNvSpPr>
            <a:spLocks noChangeArrowheads="1"/>
          </p:cNvSpPr>
          <p:nvPr/>
        </p:nvSpPr>
        <p:spPr bwMode="auto">
          <a:xfrm>
            <a:off x="2238375" y="5300663"/>
            <a:ext cx="1612900" cy="168275"/>
          </a:xfrm>
          <a:prstGeom prst="rect">
            <a:avLst/>
          </a:prstGeom>
          <a:noFill/>
          <a:ln>
            <a:noFill/>
          </a:ln>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FFCC99"/>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rgbClr val="000000"/>
                </a:solidFill>
                <a:ea typeface="宋体" panose="02010600030101010101" pitchFamily="2" charset="-122"/>
              </a:rPr>
              <a:t>Packaging and Testing</a:t>
            </a:r>
            <a:endParaRPr lang="en-US" altLang="zh-CN" sz="1100" b="1">
              <a:ea typeface="宋体" panose="02010600030101010101" pitchFamily="2" charset="-122"/>
            </a:endParaRPr>
          </a:p>
        </p:txBody>
      </p:sp>
      <p:sp>
        <p:nvSpPr>
          <p:cNvPr id="4162" name="Rectangle 584"/>
          <p:cNvSpPr>
            <a:spLocks noChangeArrowheads="1"/>
          </p:cNvSpPr>
          <p:nvPr/>
        </p:nvSpPr>
        <p:spPr bwMode="auto">
          <a:xfrm>
            <a:off x="4954588" y="2300288"/>
            <a:ext cx="1341437"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sz="1100" b="1">
                <a:solidFill>
                  <a:schemeClr val="bg1"/>
                </a:solidFill>
              </a:rPr>
              <a:t>Chip Planning</a:t>
            </a:r>
            <a:endParaRPr lang="en-US" altLang="zh-CN" sz="1100" b="1">
              <a:solidFill>
                <a:schemeClr val="bg1"/>
              </a:solidFill>
              <a:ea typeface="宋体" panose="02010600030101010101" pitchFamily="2" charset="-122"/>
            </a:endParaRPr>
          </a:p>
        </p:txBody>
      </p:sp>
      <p:sp>
        <p:nvSpPr>
          <p:cNvPr id="4163" name="Rectangle 585"/>
          <p:cNvSpPr>
            <a:spLocks noChangeArrowheads="1"/>
          </p:cNvSpPr>
          <p:nvPr/>
        </p:nvSpPr>
        <p:spPr bwMode="auto">
          <a:xfrm>
            <a:off x="5106988" y="2968625"/>
            <a:ext cx="1019175"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chemeClr val="bg1"/>
                </a:solidFill>
                <a:ea typeface="宋体" panose="02010600030101010101" pitchFamily="2" charset="-122"/>
              </a:rPr>
              <a:t>Placement</a:t>
            </a:r>
          </a:p>
        </p:txBody>
      </p:sp>
      <p:sp>
        <p:nvSpPr>
          <p:cNvPr id="4164" name="Rectangle 586"/>
          <p:cNvSpPr>
            <a:spLocks noChangeArrowheads="1"/>
          </p:cNvSpPr>
          <p:nvPr/>
        </p:nvSpPr>
        <p:spPr bwMode="auto">
          <a:xfrm>
            <a:off x="4933950" y="4316413"/>
            <a:ext cx="1401763"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sz="1100" b="1">
                <a:solidFill>
                  <a:schemeClr val="bg1"/>
                </a:solidFill>
              </a:rPr>
              <a:t>Signal Routing</a:t>
            </a:r>
            <a:endParaRPr lang="en-US" altLang="zh-CN" sz="1100" b="1">
              <a:solidFill>
                <a:schemeClr val="bg1"/>
              </a:solidFill>
              <a:ea typeface="宋体" panose="02010600030101010101" pitchFamily="2" charset="-122"/>
            </a:endParaRPr>
          </a:p>
        </p:txBody>
      </p:sp>
      <p:sp>
        <p:nvSpPr>
          <p:cNvPr id="4165" name="Rectangle 587"/>
          <p:cNvSpPr>
            <a:spLocks noChangeArrowheads="1"/>
          </p:cNvSpPr>
          <p:nvPr/>
        </p:nvSpPr>
        <p:spPr bwMode="auto">
          <a:xfrm>
            <a:off x="5078413" y="1600200"/>
            <a:ext cx="1079500"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100" b="1">
                <a:solidFill>
                  <a:schemeClr val="bg1"/>
                </a:solidFill>
                <a:ea typeface="宋体" panose="02010600030101010101" pitchFamily="2" charset="-122"/>
              </a:rPr>
              <a:t>Partitioning</a:t>
            </a:r>
          </a:p>
        </p:txBody>
      </p:sp>
      <p:sp>
        <p:nvSpPr>
          <p:cNvPr id="4166" name="Rectangle 588"/>
          <p:cNvSpPr>
            <a:spLocks noChangeArrowheads="1"/>
          </p:cNvSpPr>
          <p:nvPr/>
        </p:nvSpPr>
        <p:spPr bwMode="auto">
          <a:xfrm>
            <a:off x="4887913" y="4989513"/>
            <a:ext cx="1447800"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zh-CN" sz="1100" b="1">
                <a:solidFill>
                  <a:schemeClr val="bg1"/>
                </a:solidFill>
                <a:ea typeface="宋体" panose="02010600030101010101" pitchFamily="2" charset="-122"/>
              </a:rPr>
              <a:t>Timing Closure</a:t>
            </a:r>
            <a:endParaRPr lang="en-US" altLang="zh-CN" sz="1100" b="1">
              <a:solidFill>
                <a:schemeClr val="bg1"/>
              </a:solidFill>
              <a:ea typeface="宋体" panose="02010600030101010101" pitchFamily="2" charset="-122"/>
            </a:endParaRPr>
          </a:p>
        </p:txBody>
      </p:sp>
      <p:sp>
        <p:nvSpPr>
          <p:cNvPr id="4167" name="Rectangle 589"/>
          <p:cNvSpPr>
            <a:spLocks noChangeArrowheads="1"/>
          </p:cNvSpPr>
          <p:nvPr/>
        </p:nvSpPr>
        <p:spPr bwMode="auto">
          <a:xfrm>
            <a:off x="4610100" y="3644900"/>
            <a:ext cx="2036763" cy="168275"/>
          </a:xfrm>
          <a:prstGeom prst="rect">
            <a:avLst/>
          </a:prstGeom>
          <a:noFill/>
          <a:ln>
            <a:noFill/>
          </a:ln>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zh-CN" sz="1100" b="1">
                <a:solidFill>
                  <a:schemeClr val="bg1"/>
                </a:solidFill>
                <a:ea typeface="宋体" panose="02010600030101010101" pitchFamily="2" charset="-122"/>
              </a:rPr>
              <a:t>Clock Tree Synthesis</a:t>
            </a:r>
            <a:endParaRPr lang="en-US" altLang="zh-CN" sz="1100" b="1">
              <a:solidFill>
                <a:schemeClr val="bg1"/>
              </a:solidFill>
              <a:ea typeface="宋体" panose="02010600030101010101" pitchFamily="2" charset="-122"/>
            </a:endParaRPr>
          </a:p>
        </p:txBody>
      </p:sp>
      <p:grpSp>
        <p:nvGrpSpPr>
          <p:cNvPr id="4168" name="Group 590"/>
          <p:cNvGrpSpPr>
            <a:grpSpLocks/>
          </p:cNvGrpSpPr>
          <p:nvPr/>
        </p:nvGrpSpPr>
        <p:grpSpPr bwMode="auto">
          <a:xfrm>
            <a:off x="830263" y="2671763"/>
            <a:ext cx="996950" cy="576262"/>
            <a:chOff x="617" y="1399"/>
            <a:chExt cx="687" cy="454"/>
          </a:xfrm>
        </p:grpSpPr>
        <p:sp>
          <p:nvSpPr>
            <p:cNvPr id="4196" name="Rectangle 591"/>
            <p:cNvSpPr>
              <a:spLocks noChangeArrowheads="1"/>
            </p:cNvSpPr>
            <p:nvPr/>
          </p:nvSpPr>
          <p:spPr bwMode="auto">
            <a:xfrm>
              <a:off x="617" y="1399"/>
              <a:ext cx="687" cy="454"/>
            </a:xfrm>
            <a:prstGeom prst="rect">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97" name="Line 592"/>
            <p:cNvSpPr>
              <a:spLocks noChangeShapeType="1"/>
            </p:cNvSpPr>
            <p:nvPr/>
          </p:nvSpPr>
          <p:spPr bwMode="auto">
            <a:xfrm>
              <a:off x="976" y="1724"/>
              <a:ext cx="40" cy="2"/>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nvGrpSpPr>
            <p:cNvPr id="4198" name="Group 593"/>
            <p:cNvGrpSpPr>
              <a:grpSpLocks/>
            </p:cNvGrpSpPr>
            <p:nvPr/>
          </p:nvGrpSpPr>
          <p:grpSpPr bwMode="auto">
            <a:xfrm>
              <a:off x="682" y="1504"/>
              <a:ext cx="105" cy="88"/>
              <a:chOff x="328" y="1585"/>
              <a:chExt cx="145" cy="121"/>
            </a:xfrm>
          </p:grpSpPr>
          <p:sp>
            <p:nvSpPr>
              <p:cNvPr id="4217" name="AutoShape 594"/>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18" name="Oval 595"/>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4199" name="Group 596"/>
            <p:cNvGrpSpPr>
              <a:grpSpLocks/>
            </p:cNvGrpSpPr>
            <p:nvPr/>
          </p:nvGrpSpPr>
          <p:grpSpPr bwMode="auto">
            <a:xfrm>
              <a:off x="866" y="1679"/>
              <a:ext cx="105" cy="88"/>
              <a:chOff x="328" y="1585"/>
              <a:chExt cx="145" cy="121"/>
            </a:xfrm>
          </p:grpSpPr>
          <p:sp>
            <p:nvSpPr>
              <p:cNvPr id="4215" name="AutoShape 597"/>
              <p:cNvSpPr>
                <a:spLocks noChangeArrowheads="1"/>
              </p:cNvSpPr>
              <p:nvPr/>
            </p:nvSpPr>
            <p:spPr bwMode="auto">
              <a:xfrm rot="5400000">
                <a:off x="320" y="1593"/>
                <a:ext cx="121" cy="105"/>
              </a:xfrm>
              <a:prstGeom prst="triangle">
                <a:avLst>
                  <a:gd name="adj" fmla="val 50000"/>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16" name="Oval 598"/>
              <p:cNvSpPr>
                <a:spLocks noChangeArrowheads="1"/>
              </p:cNvSpPr>
              <p:nvPr/>
            </p:nvSpPr>
            <p:spPr bwMode="auto">
              <a:xfrm>
                <a:off x="432" y="1626"/>
                <a:ext cx="41" cy="41"/>
              </a:xfrm>
              <a:prstGeom prst="ellipse">
                <a:avLst/>
              </a:prstGeom>
              <a:solidFill>
                <a:srgbClr val="C0C0C0"/>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4200" name="Freeform 599"/>
            <p:cNvSpPr>
              <a:spLocks/>
            </p:cNvSpPr>
            <p:nvPr/>
          </p:nvSpPr>
          <p:spPr bwMode="auto">
            <a:xfrm>
              <a:off x="639" y="1470"/>
              <a:ext cx="336" cy="60"/>
            </a:xfrm>
            <a:custGeom>
              <a:avLst/>
              <a:gdLst>
                <a:gd name="T0" fmla="*/ 0 w 288"/>
                <a:gd name="T1" fmla="*/ 0 h 60"/>
                <a:gd name="T2" fmla="*/ 291 w 288"/>
                <a:gd name="T3" fmla="*/ 0 h 60"/>
                <a:gd name="T4" fmla="*/ 291 w 288"/>
                <a:gd name="T5" fmla="*/ 60 h 60"/>
                <a:gd name="T6" fmla="*/ 336 w 288"/>
                <a:gd name="T7" fmla="*/ 60 h 6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8" h="60">
                  <a:moveTo>
                    <a:pt x="0" y="0"/>
                  </a:moveTo>
                  <a:lnTo>
                    <a:pt x="249" y="0"/>
                  </a:lnTo>
                  <a:lnTo>
                    <a:pt x="249" y="60"/>
                  </a:lnTo>
                  <a:lnTo>
                    <a:pt x="288" y="6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1" name="Line 600"/>
            <p:cNvSpPr>
              <a:spLocks noChangeShapeType="1"/>
            </p:cNvSpPr>
            <p:nvPr/>
          </p:nvSpPr>
          <p:spPr bwMode="auto">
            <a:xfrm flipH="1">
              <a:off x="639" y="1551"/>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2" name="Line 601"/>
            <p:cNvSpPr>
              <a:spLocks noChangeShapeType="1"/>
            </p:cNvSpPr>
            <p:nvPr/>
          </p:nvSpPr>
          <p:spPr bwMode="auto">
            <a:xfrm flipH="1">
              <a:off x="787" y="1549"/>
              <a:ext cx="3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3" name="Line 602"/>
            <p:cNvSpPr>
              <a:spLocks noChangeShapeType="1"/>
            </p:cNvSpPr>
            <p:nvPr/>
          </p:nvSpPr>
          <p:spPr bwMode="auto">
            <a:xfrm>
              <a:off x="909" y="1575"/>
              <a:ext cx="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4" name="Moon 11"/>
            <p:cNvSpPr>
              <a:spLocks noChangeArrowheads="1"/>
            </p:cNvSpPr>
            <p:nvPr/>
          </p:nvSpPr>
          <p:spPr bwMode="auto">
            <a:xfrm rot="10800000">
              <a:off x="961" y="150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TW" sz="1100">
                <a:ea typeface="新細明體" pitchFamily="18" charset="-120"/>
                <a:cs typeface="Arial" panose="020B0604020202020204" pitchFamily="34" charset="0"/>
              </a:endParaRPr>
            </a:p>
          </p:txBody>
        </p:sp>
        <p:sp>
          <p:nvSpPr>
            <p:cNvPr id="4205" name="AutoShape 604"/>
            <p:cNvSpPr>
              <a:spLocks noChangeArrowheads="1"/>
            </p:cNvSpPr>
            <p:nvPr/>
          </p:nvSpPr>
          <p:spPr bwMode="auto">
            <a:xfrm>
              <a:off x="822" y="1533"/>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06" name="Line 605"/>
            <p:cNvSpPr>
              <a:spLocks noChangeShapeType="1"/>
            </p:cNvSpPr>
            <p:nvPr/>
          </p:nvSpPr>
          <p:spPr bwMode="auto">
            <a:xfrm>
              <a:off x="639" y="1725"/>
              <a:ext cx="2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7" name="Freeform 606"/>
            <p:cNvSpPr>
              <a:spLocks/>
            </p:cNvSpPr>
            <p:nvPr/>
          </p:nvSpPr>
          <p:spPr bwMode="auto">
            <a:xfrm>
              <a:off x="780" y="1599"/>
              <a:ext cx="42" cy="123"/>
            </a:xfrm>
            <a:custGeom>
              <a:avLst/>
              <a:gdLst>
                <a:gd name="T0" fmla="*/ 0 w 42"/>
                <a:gd name="T1" fmla="*/ 123 h 123"/>
                <a:gd name="T2" fmla="*/ 0 w 42"/>
                <a:gd name="T3" fmla="*/ 0 h 123"/>
                <a:gd name="T4" fmla="*/ 42 w 42"/>
                <a:gd name="T5" fmla="*/ 0 h 123"/>
                <a:gd name="T6" fmla="*/ 0 60000 65536"/>
                <a:gd name="T7" fmla="*/ 0 60000 65536"/>
                <a:gd name="T8" fmla="*/ 0 60000 65536"/>
              </a:gdLst>
              <a:ahLst/>
              <a:cxnLst>
                <a:cxn ang="T6">
                  <a:pos x="T0" y="T1"/>
                </a:cxn>
                <a:cxn ang="T7">
                  <a:pos x="T2" y="T3"/>
                </a:cxn>
                <a:cxn ang="T8">
                  <a:pos x="T4" y="T5"/>
                </a:cxn>
              </a:cxnLst>
              <a:rect l="0" t="0" r="r" b="b"/>
              <a:pathLst>
                <a:path w="42" h="123">
                  <a:moveTo>
                    <a:pt x="0" y="123"/>
                  </a:moveTo>
                  <a:lnTo>
                    <a:pt x="0" y="0"/>
                  </a:lnTo>
                  <a:lnTo>
                    <a:pt x="42"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8" name="Oval 607"/>
            <p:cNvSpPr>
              <a:spLocks noChangeArrowheads="1"/>
            </p:cNvSpPr>
            <p:nvPr/>
          </p:nvSpPr>
          <p:spPr bwMode="auto">
            <a:xfrm>
              <a:off x="765" y="1710"/>
              <a:ext cx="29" cy="29"/>
            </a:xfrm>
            <a:prstGeom prst="ellipse">
              <a:avLst/>
            </a:prstGeom>
            <a:solidFill>
              <a:schemeClr val="tx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09" name="Line 608"/>
            <p:cNvSpPr>
              <a:spLocks noChangeShapeType="1"/>
            </p:cNvSpPr>
            <p:nvPr/>
          </p:nvSpPr>
          <p:spPr bwMode="auto">
            <a:xfrm>
              <a:off x="636" y="1773"/>
              <a:ext cx="36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10" name="Freeform 609"/>
            <p:cNvSpPr>
              <a:spLocks/>
            </p:cNvSpPr>
            <p:nvPr/>
          </p:nvSpPr>
          <p:spPr bwMode="auto">
            <a:xfrm>
              <a:off x="1062" y="1560"/>
              <a:ext cx="99" cy="147"/>
            </a:xfrm>
            <a:custGeom>
              <a:avLst/>
              <a:gdLst>
                <a:gd name="T0" fmla="*/ 0 w 99"/>
                <a:gd name="T1" fmla="*/ 0 h 126"/>
                <a:gd name="T2" fmla="*/ 60 w 99"/>
                <a:gd name="T3" fmla="*/ 0 h 126"/>
                <a:gd name="T4" fmla="*/ 60 w 99"/>
                <a:gd name="T5" fmla="*/ 147 h 126"/>
                <a:gd name="T6" fmla="*/ 99 w 99"/>
                <a:gd name="T7" fmla="*/ 147 h 12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9" h="126">
                  <a:moveTo>
                    <a:pt x="0" y="0"/>
                  </a:moveTo>
                  <a:lnTo>
                    <a:pt x="60" y="0"/>
                  </a:lnTo>
                  <a:lnTo>
                    <a:pt x="60" y="126"/>
                  </a:lnTo>
                  <a:lnTo>
                    <a:pt x="99" y="126"/>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11" name="Line 610"/>
            <p:cNvSpPr>
              <a:spLocks noChangeShapeType="1"/>
            </p:cNvSpPr>
            <p:nvPr/>
          </p:nvSpPr>
          <p:spPr bwMode="auto">
            <a:xfrm>
              <a:off x="1092" y="1752"/>
              <a:ext cx="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12" name="AutoShape 611"/>
            <p:cNvSpPr>
              <a:spLocks noChangeArrowheads="1"/>
            </p:cNvSpPr>
            <p:nvPr/>
          </p:nvSpPr>
          <p:spPr bwMode="auto">
            <a:xfrm>
              <a:off x="1009" y="1708"/>
              <a:ext cx="87" cy="87"/>
            </a:xfrm>
            <a:prstGeom prst="flowChartDelay">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13" name="Moon 11"/>
            <p:cNvSpPr>
              <a:spLocks noChangeArrowheads="1"/>
            </p:cNvSpPr>
            <p:nvPr/>
          </p:nvSpPr>
          <p:spPr bwMode="auto">
            <a:xfrm rot="10800000">
              <a:off x="1143" y="1673"/>
              <a:ext cx="101" cy="114"/>
            </a:xfrm>
            <a:prstGeom prst="moon">
              <a:avLst>
                <a:gd name="adj" fmla="val 75500"/>
              </a:avLst>
            </a:prstGeom>
            <a:solidFill>
              <a:srgbClr val="C0C0C0"/>
            </a:solidFill>
            <a:ln w="12700" algn="ctr">
              <a:solidFill>
                <a:schemeClr val="tx1"/>
              </a:solidFill>
              <a:miter lim="800000"/>
              <a:headEnd/>
              <a:tailEnd/>
            </a:ln>
          </p:spPr>
          <p:txBody>
            <a:bodyPr rot="108000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TW" sz="1100">
                <a:ea typeface="新細明體" pitchFamily="18" charset="-120"/>
                <a:cs typeface="Arial" panose="020B0604020202020204" pitchFamily="34" charset="0"/>
              </a:endParaRPr>
            </a:p>
          </p:txBody>
        </p:sp>
        <p:sp>
          <p:nvSpPr>
            <p:cNvPr id="4214" name="Line 613"/>
            <p:cNvSpPr>
              <a:spLocks noChangeShapeType="1"/>
            </p:cNvSpPr>
            <p:nvPr/>
          </p:nvSpPr>
          <p:spPr bwMode="auto">
            <a:xfrm>
              <a:off x="1245" y="1731"/>
              <a:ext cx="4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grpSp>
        <p:nvGrpSpPr>
          <p:cNvPr id="4169" name="Group 614"/>
          <p:cNvGrpSpPr>
            <a:grpSpLocks/>
          </p:cNvGrpSpPr>
          <p:nvPr/>
        </p:nvGrpSpPr>
        <p:grpSpPr bwMode="auto">
          <a:xfrm>
            <a:off x="827088" y="4883150"/>
            <a:ext cx="989012" cy="654050"/>
            <a:chOff x="1434" y="3142"/>
            <a:chExt cx="681" cy="516"/>
          </a:xfrm>
        </p:grpSpPr>
        <p:sp>
          <p:nvSpPr>
            <p:cNvPr id="4176" name="Rectangle 615"/>
            <p:cNvSpPr>
              <a:spLocks noChangeArrowheads="1"/>
            </p:cNvSpPr>
            <p:nvPr/>
          </p:nvSpPr>
          <p:spPr bwMode="auto">
            <a:xfrm>
              <a:off x="1632" y="3452"/>
              <a:ext cx="308"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7" name="Rectangle 616"/>
            <p:cNvSpPr>
              <a:spLocks noChangeArrowheads="1"/>
            </p:cNvSpPr>
            <p:nvPr/>
          </p:nvSpPr>
          <p:spPr bwMode="auto">
            <a:xfrm>
              <a:off x="1556" y="3376"/>
              <a:ext cx="384"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8" name="Rectangle 617"/>
            <p:cNvSpPr>
              <a:spLocks noChangeArrowheads="1"/>
            </p:cNvSpPr>
            <p:nvPr/>
          </p:nvSpPr>
          <p:spPr bwMode="auto">
            <a:xfrm>
              <a:off x="1632" y="3300"/>
              <a:ext cx="310"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9" name="Rectangle 618"/>
            <p:cNvSpPr>
              <a:spLocks noChangeArrowheads="1"/>
            </p:cNvSpPr>
            <p:nvPr/>
          </p:nvSpPr>
          <p:spPr bwMode="auto">
            <a:xfrm>
              <a:off x="1632" y="3224"/>
              <a:ext cx="230" cy="68"/>
            </a:xfrm>
            <a:prstGeom prst="rect">
              <a:avLst/>
            </a:prstGeom>
            <a:solidFill>
              <a:srgbClr val="C0C0C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nvGrpSpPr>
            <p:cNvPr id="4180" name="Group 619"/>
            <p:cNvGrpSpPr>
              <a:grpSpLocks/>
            </p:cNvGrpSpPr>
            <p:nvPr/>
          </p:nvGrpSpPr>
          <p:grpSpPr bwMode="auto">
            <a:xfrm>
              <a:off x="1536" y="3170"/>
              <a:ext cx="462" cy="488"/>
              <a:chOff x="696" y="3170"/>
              <a:chExt cx="462" cy="488"/>
            </a:xfrm>
          </p:grpSpPr>
          <p:sp>
            <p:nvSpPr>
              <p:cNvPr id="4193" name="Oval 620"/>
              <p:cNvSpPr>
                <a:spLocks noChangeArrowheads="1"/>
              </p:cNvSpPr>
              <p:nvPr/>
            </p:nvSpPr>
            <p:spPr bwMode="auto">
              <a:xfrm>
                <a:off x="696" y="3170"/>
                <a:ext cx="462" cy="46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94" name="Rectangle 621"/>
              <p:cNvSpPr>
                <a:spLocks noChangeArrowheads="1"/>
              </p:cNvSpPr>
              <p:nvPr/>
            </p:nvSpPr>
            <p:spPr bwMode="auto">
              <a:xfrm>
                <a:off x="698" y="3550"/>
                <a:ext cx="450" cy="10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95" name="Line 622"/>
              <p:cNvSpPr>
                <a:spLocks noChangeShapeType="1"/>
              </p:cNvSpPr>
              <p:nvPr/>
            </p:nvSpPr>
            <p:spPr bwMode="auto">
              <a:xfrm>
                <a:off x="750" y="3552"/>
                <a:ext cx="35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181" name="Rectangle 623"/>
            <p:cNvSpPr>
              <a:spLocks noChangeArrowheads="1"/>
            </p:cNvSpPr>
            <p:nvPr/>
          </p:nvSpPr>
          <p:spPr bwMode="auto">
            <a:xfrm>
              <a:off x="1434" y="3142"/>
              <a:ext cx="681" cy="45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82" name="Line 624"/>
            <p:cNvSpPr>
              <a:spLocks noChangeShapeType="1"/>
            </p:cNvSpPr>
            <p:nvPr/>
          </p:nvSpPr>
          <p:spPr bwMode="auto">
            <a:xfrm>
              <a:off x="1624" y="3220"/>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3" name="Line 625"/>
            <p:cNvSpPr>
              <a:spLocks noChangeShapeType="1"/>
            </p:cNvSpPr>
            <p:nvPr/>
          </p:nvSpPr>
          <p:spPr bwMode="auto">
            <a:xfrm>
              <a:off x="1562" y="3296"/>
              <a:ext cx="41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4" name="Line 626"/>
            <p:cNvSpPr>
              <a:spLocks noChangeShapeType="1"/>
            </p:cNvSpPr>
            <p:nvPr/>
          </p:nvSpPr>
          <p:spPr bwMode="auto">
            <a:xfrm>
              <a:off x="1542" y="3372"/>
              <a:ext cx="45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5" name="Line 627"/>
            <p:cNvSpPr>
              <a:spLocks noChangeShapeType="1"/>
            </p:cNvSpPr>
            <p:nvPr/>
          </p:nvSpPr>
          <p:spPr bwMode="auto">
            <a:xfrm>
              <a:off x="1544" y="3448"/>
              <a:ext cx="4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6" name="Line 628"/>
            <p:cNvSpPr>
              <a:spLocks noChangeShapeType="1"/>
            </p:cNvSpPr>
            <p:nvPr/>
          </p:nvSpPr>
          <p:spPr bwMode="auto">
            <a:xfrm>
              <a:off x="1574" y="3524"/>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7" name="Line 629"/>
            <p:cNvSpPr>
              <a:spLocks noChangeShapeType="1"/>
            </p:cNvSpPr>
            <p:nvPr/>
          </p:nvSpPr>
          <p:spPr bwMode="auto">
            <a:xfrm>
              <a:off x="1630" y="3220"/>
              <a:ext cx="0" cy="33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8" name="Line 630"/>
            <p:cNvSpPr>
              <a:spLocks noChangeShapeType="1"/>
            </p:cNvSpPr>
            <p:nvPr/>
          </p:nvSpPr>
          <p:spPr bwMode="auto">
            <a:xfrm flipV="1">
              <a:off x="1554" y="3312"/>
              <a:ext cx="0" cy="1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89" name="Line 631"/>
            <p:cNvSpPr>
              <a:spLocks noChangeShapeType="1"/>
            </p:cNvSpPr>
            <p:nvPr/>
          </p:nvSpPr>
          <p:spPr bwMode="auto">
            <a:xfrm flipV="1">
              <a:off x="1708" y="3180"/>
              <a:ext cx="0" cy="3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0" name="Line 632"/>
            <p:cNvSpPr>
              <a:spLocks noChangeShapeType="1"/>
            </p:cNvSpPr>
            <p:nvPr/>
          </p:nvSpPr>
          <p:spPr bwMode="auto">
            <a:xfrm flipV="1">
              <a:off x="1786" y="3174"/>
              <a:ext cx="0" cy="37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1" name="Line 633"/>
            <p:cNvSpPr>
              <a:spLocks noChangeShapeType="1"/>
            </p:cNvSpPr>
            <p:nvPr/>
          </p:nvSpPr>
          <p:spPr bwMode="auto">
            <a:xfrm flipV="1">
              <a:off x="1864" y="3192"/>
              <a:ext cx="0" cy="3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2" name="Line 634"/>
            <p:cNvSpPr>
              <a:spLocks noChangeShapeType="1"/>
            </p:cNvSpPr>
            <p:nvPr/>
          </p:nvSpPr>
          <p:spPr bwMode="auto">
            <a:xfrm flipV="1">
              <a:off x="1942" y="3252"/>
              <a:ext cx="0" cy="29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grpSp>
      <p:sp>
        <p:nvSpPr>
          <p:cNvPr id="4170" name="Line 635"/>
          <p:cNvSpPr>
            <a:spLocks noChangeShapeType="1"/>
          </p:cNvSpPr>
          <p:nvPr/>
        </p:nvSpPr>
        <p:spPr bwMode="auto">
          <a:xfrm>
            <a:off x="1319213" y="5461000"/>
            <a:ext cx="0" cy="153988"/>
          </a:xfrm>
          <a:prstGeom prst="line">
            <a:avLst/>
          </a:prstGeom>
          <a:noFill/>
          <a:ln w="9525">
            <a:solidFill>
              <a:srgbClr val="969696"/>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de-DE"/>
          </a:p>
        </p:txBody>
      </p:sp>
      <p:sp>
        <p:nvSpPr>
          <p:cNvPr id="4171" name="Rectangle 636"/>
          <p:cNvSpPr>
            <a:spLocks noChangeArrowheads="1"/>
          </p:cNvSpPr>
          <p:nvPr/>
        </p:nvSpPr>
        <p:spPr bwMode="auto">
          <a:xfrm>
            <a:off x="7213600" y="2424113"/>
            <a:ext cx="388938" cy="246062"/>
          </a:xfrm>
          <a:prstGeom prst="rect">
            <a:avLst/>
          </a:prstGeom>
          <a:solidFill>
            <a:srgbClr val="F8F8F8"/>
          </a:solidFill>
          <a:ln w="28575">
            <a:solidFill>
              <a:srgbClr val="969696"/>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2" name="Rectangle 637" descr="Diagonal weit nach unten"/>
          <p:cNvSpPr>
            <a:spLocks noChangeArrowheads="1"/>
          </p:cNvSpPr>
          <p:nvPr/>
        </p:nvSpPr>
        <p:spPr bwMode="auto">
          <a:xfrm>
            <a:off x="7605713" y="2425700"/>
            <a:ext cx="388937" cy="246063"/>
          </a:xfrm>
          <a:prstGeom prst="rect">
            <a:avLst/>
          </a:prstGeom>
          <a:pattFill prst="wdDnDiag">
            <a:fgClr>
              <a:srgbClr val="DDDDDD"/>
            </a:fgClr>
            <a:bgClr>
              <a:srgbClr val="FFFFFF"/>
            </a:bgClr>
          </a:pattFill>
          <a:ln w="28575">
            <a:solidFill>
              <a:srgbClr val="969696"/>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3" name="Rectangle 638" descr="Konturierte Raute"/>
          <p:cNvSpPr>
            <a:spLocks noChangeArrowheads="1"/>
          </p:cNvSpPr>
          <p:nvPr/>
        </p:nvSpPr>
        <p:spPr bwMode="auto">
          <a:xfrm>
            <a:off x="7200900" y="2103438"/>
            <a:ext cx="793750" cy="307975"/>
          </a:xfrm>
          <a:prstGeom prst="rect">
            <a:avLst/>
          </a:prstGeom>
          <a:pattFill prst="openDmnd">
            <a:fgClr>
              <a:srgbClr val="DDDDDD"/>
            </a:fgClr>
            <a:bgClr>
              <a:srgbClr val="FFFFFF"/>
            </a:bgClr>
          </a:pattFill>
          <a:ln w="28575">
            <a:solidFill>
              <a:srgbClr val="969696"/>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4" name="Rectangle 639" descr="Gepunktetes Gitternetz"/>
          <p:cNvSpPr>
            <a:spLocks noChangeArrowheads="1"/>
          </p:cNvSpPr>
          <p:nvPr/>
        </p:nvSpPr>
        <p:spPr bwMode="auto">
          <a:xfrm>
            <a:off x="7008813" y="2103438"/>
            <a:ext cx="192087" cy="568325"/>
          </a:xfrm>
          <a:prstGeom prst="rect">
            <a:avLst/>
          </a:prstGeom>
          <a:pattFill prst="dotGrid">
            <a:fgClr>
              <a:srgbClr val="DDDDDD"/>
            </a:fgClr>
            <a:bgClr>
              <a:srgbClr val="FFFFFF"/>
            </a:bgClr>
          </a:pattFill>
          <a:ln w="28575">
            <a:solidFill>
              <a:srgbClr val="969696"/>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75" name="Oval 326"/>
          <p:cNvSpPr>
            <a:spLocks noChangeArrowheads="1"/>
          </p:cNvSpPr>
          <p:nvPr/>
        </p:nvSpPr>
        <p:spPr bwMode="auto">
          <a:xfrm>
            <a:off x="4610100" y="1343025"/>
            <a:ext cx="2024063" cy="671513"/>
          </a:xfrm>
          <a:prstGeom prst="ellipse">
            <a:avLst/>
          </a:prstGeom>
          <a:noFill/>
          <a:ln w="28575"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17" name="Text Box 317"/>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defRPr sz="1700">
                <a:solidFill>
                  <a:schemeClr val="tx1"/>
                </a:solidFill>
                <a:latin typeface="Arial" panose="020B0604020202020204" pitchFamily="34" charset="0"/>
              </a:defRPr>
            </a:lvl1pPr>
            <a:lvl2pPr marL="742950" indent="-285750" defTabSz="871538">
              <a:defRPr sz="1700">
                <a:solidFill>
                  <a:schemeClr val="tx1"/>
                </a:solidFill>
                <a:latin typeface="Arial" panose="020B0604020202020204" pitchFamily="34" charset="0"/>
              </a:defRPr>
            </a:lvl2pPr>
            <a:lvl3pPr marL="1143000" indent="-228600" defTabSz="871538">
              <a:defRPr sz="1700">
                <a:solidFill>
                  <a:schemeClr val="tx1"/>
                </a:solidFill>
                <a:latin typeface="Arial" panose="020B0604020202020204" pitchFamily="34" charset="0"/>
              </a:defRPr>
            </a:lvl3pPr>
            <a:lvl4pPr marL="1600200" indent="-228600" defTabSz="871538">
              <a:defRPr sz="1700">
                <a:solidFill>
                  <a:schemeClr val="tx1"/>
                </a:solidFill>
                <a:latin typeface="Arial" panose="020B0604020202020204" pitchFamily="34" charset="0"/>
              </a:defRPr>
            </a:lvl4pPr>
            <a:lvl5pPr marL="2057400" indent="-228600" defTabSz="871538">
              <a:defRPr sz="1700">
                <a:solidFill>
                  <a:schemeClr val="tx1"/>
                </a:solidFill>
                <a:latin typeface="Arial" panose="020B0604020202020204" pitchFamily="34" charset="0"/>
              </a:defRPr>
            </a:lvl5pPr>
            <a:lvl6pPr marL="25146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800" dirty="0">
                <a:solidFill>
                  <a:srgbClr val="C0C0C0"/>
                </a:solidFill>
              </a:rPr>
              <a:t>© 2022 Springer Verlag</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DF837C2-A16D-4538-B3E1-CFB6F99C7146}" type="slidenum">
              <a:rPr lang="en-US" altLang="de-DE" sz="1000">
                <a:solidFill>
                  <a:srgbClr val="C0C0C0"/>
                </a:solidFill>
              </a:rPr>
              <a:pPr/>
              <a:t>4</a:t>
            </a:fld>
            <a:endParaRPr lang="en-US" altLang="de-DE" sz="1000">
              <a:solidFill>
                <a:srgbClr val="C0C0C0"/>
              </a:solidFill>
            </a:endParaRPr>
          </a:p>
        </p:txBody>
      </p:sp>
      <p:sp>
        <p:nvSpPr>
          <p:cNvPr id="478211" name="Rectangle 3"/>
          <p:cNvSpPr>
            <a:spLocks noChangeArrowheads="1"/>
          </p:cNvSpPr>
          <p:nvPr/>
        </p:nvSpPr>
        <p:spPr bwMode="auto">
          <a:xfrm>
            <a:off x="5213350" y="4002088"/>
            <a:ext cx="1550988" cy="1525587"/>
          </a:xfrm>
          <a:prstGeom prst="rect">
            <a:avLst/>
          </a:prstGeom>
          <a:solidFill>
            <a:srgbClr val="EAEAEA"/>
          </a:soli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124" name="Text Box 4"/>
          <p:cNvSpPr txBox="1">
            <a:spLocks noChangeArrowheads="1"/>
          </p:cNvSpPr>
          <p:nvPr/>
        </p:nvSpPr>
        <p:spPr bwMode="auto">
          <a:xfrm>
            <a:off x="2411413" y="1341438"/>
            <a:ext cx="865187"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ea typeface="宋体" panose="02010600030101010101" pitchFamily="2" charset="-122"/>
              </a:rPr>
              <a:t>Circuit:</a:t>
            </a:r>
          </a:p>
        </p:txBody>
      </p:sp>
      <p:sp>
        <p:nvSpPr>
          <p:cNvPr id="478213" name="Text Box 5"/>
          <p:cNvSpPr txBox="1">
            <a:spLocks noChangeArrowheads="1"/>
          </p:cNvSpPr>
          <p:nvPr/>
        </p:nvSpPr>
        <p:spPr bwMode="auto">
          <a:xfrm>
            <a:off x="750888" y="5591175"/>
            <a:ext cx="3316287"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solidFill>
                  <a:srgbClr val="CC0000"/>
                </a:solidFill>
                <a:ea typeface="宋体" panose="02010600030101010101" pitchFamily="2" charset="-122"/>
              </a:rPr>
              <a:t>Cut </a:t>
            </a:r>
            <a:r>
              <a:rPr lang="en-US" altLang="zh-CN" i="1">
                <a:solidFill>
                  <a:srgbClr val="CC0000"/>
                </a:solidFill>
                <a:ea typeface="宋体" panose="02010600030101010101" pitchFamily="2" charset="-122"/>
              </a:rPr>
              <a:t>c</a:t>
            </a:r>
            <a:r>
              <a:rPr lang="en-US" altLang="zh-CN" baseline="-25000">
                <a:solidFill>
                  <a:srgbClr val="CC0000"/>
                </a:solidFill>
                <a:ea typeface="宋体" panose="02010600030101010101" pitchFamily="2" charset="-122"/>
              </a:rPr>
              <a:t>a</a:t>
            </a:r>
            <a:r>
              <a:rPr lang="en-US" altLang="zh-CN">
                <a:solidFill>
                  <a:srgbClr val="CC0000"/>
                </a:solidFill>
                <a:ea typeface="宋体" panose="02010600030101010101" pitchFamily="2" charset="-122"/>
              </a:rPr>
              <a:t>: four external connections</a:t>
            </a:r>
          </a:p>
        </p:txBody>
      </p:sp>
      <p:grpSp>
        <p:nvGrpSpPr>
          <p:cNvPr id="5126" name="Group 6"/>
          <p:cNvGrpSpPr>
            <a:grpSpLocks/>
          </p:cNvGrpSpPr>
          <p:nvPr/>
        </p:nvGrpSpPr>
        <p:grpSpPr bwMode="auto">
          <a:xfrm>
            <a:off x="3736975" y="1447800"/>
            <a:ext cx="573088" cy="249238"/>
            <a:chOff x="6667" y="7209"/>
            <a:chExt cx="1119" cy="579"/>
          </a:xfrm>
        </p:grpSpPr>
        <p:sp>
          <p:nvSpPr>
            <p:cNvPr id="5355" name="Line 7"/>
            <p:cNvSpPr>
              <a:spLocks noChangeShapeType="1"/>
            </p:cNvSpPr>
            <p:nvPr/>
          </p:nvSpPr>
          <p:spPr bwMode="auto">
            <a:xfrm flipH="1">
              <a:off x="6677" y="733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56" name="Line 8"/>
            <p:cNvSpPr>
              <a:spLocks noChangeShapeType="1"/>
            </p:cNvSpPr>
            <p:nvPr/>
          </p:nvSpPr>
          <p:spPr bwMode="auto">
            <a:xfrm flipH="1">
              <a:off x="6667" y="766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57" name="Line 9"/>
            <p:cNvSpPr>
              <a:spLocks noChangeShapeType="1"/>
            </p:cNvSpPr>
            <p:nvPr/>
          </p:nvSpPr>
          <p:spPr bwMode="auto">
            <a:xfrm flipH="1">
              <a:off x="7643" y="7498"/>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58" name="Oval 10"/>
            <p:cNvSpPr>
              <a:spLocks noChangeArrowheads="1"/>
            </p:cNvSpPr>
            <p:nvPr/>
          </p:nvSpPr>
          <p:spPr bwMode="auto">
            <a:xfrm>
              <a:off x="7563" y="7455"/>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59" name="Freeform 11"/>
            <p:cNvSpPr>
              <a:spLocks/>
            </p:cNvSpPr>
            <p:nvPr/>
          </p:nvSpPr>
          <p:spPr bwMode="auto">
            <a:xfrm>
              <a:off x="6867" y="7209"/>
              <a:ext cx="699" cy="579"/>
            </a:xfrm>
            <a:custGeom>
              <a:avLst/>
              <a:gdLst>
                <a:gd name="T0" fmla="*/ 7 w 699"/>
                <a:gd name="T1" fmla="*/ 0 h 579"/>
                <a:gd name="T2" fmla="*/ 302 w 699"/>
                <a:gd name="T3" fmla="*/ 0 h 579"/>
                <a:gd name="T4" fmla="*/ 537 w 699"/>
                <a:gd name="T5" fmla="*/ 93 h 579"/>
                <a:gd name="T6" fmla="*/ 699 w 699"/>
                <a:gd name="T7" fmla="*/ 286 h 579"/>
                <a:gd name="T8" fmla="*/ 549 w 699"/>
                <a:gd name="T9" fmla="*/ 480 h 579"/>
                <a:gd name="T10" fmla="*/ 302 w 699"/>
                <a:gd name="T11" fmla="*/ 579 h 579"/>
                <a:gd name="T12" fmla="*/ 0 w 699"/>
                <a:gd name="T13" fmla="*/ 579 h 579"/>
                <a:gd name="T14" fmla="*/ 82 w 699"/>
                <a:gd name="T15" fmla="*/ 422 h 579"/>
                <a:gd name="T16" fmla="*/ 110 w 699"/>
                <a:gd name="T17" fmla="*/ 286 h 579"/>
                <a:gd name="T18" fmla="*/ 82 w 699"/>
                <a:gd name="T19" fmla="*/ 143 h 579"/>
                <a:gd name="T20" fmla="*/ 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grpSp>
      <p:grpSp>
        <p:nvGrpSpPr>
          <p:cNvPr id="5127" name="Group 12"/>
          <p:cNvGrpSpPr>
            <a:grpSpLocks/>
          </p:cNvGrpSpPr>
          <p:nvPr/>
        </p:nvGrpSpPr>
        <p:grpSpPr bwMode="auto">
          <a:xfrm>
            <a:off x="3733800" y="1798638"/>
            <a:ext cx="571500" cy="250825"/>
            <a:chOff x="6667" y="7209"/>
            <a:chExt cx="1119" cy="579"/>
          </a:xfrm>
        </p:grpSpPr>
        <p:sp>
          <p:nvSpPr>
            <p:cNvPr id="5350" name="Line 13"/>
            <p:cNvSpPr>
              <a:spLocks noChangeShapeType="1"/>
            </p:cNvSpPr>
            <p:nvPr/>
          </p:nvSpPr>
          <p:spPr bwMode="auto">
            <a:xfrm flipH="1">
              <a:off x="6677" y="733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51" name="Line 14"/>
            <p:cNvSpPr>
              <a:spLocks noChangeShapeType="1"/>
            </p:cNvSpPr>
            <p:nvPr/>
          </p:nvSpPr>
          <p:spPr bwMode="auto">
            <a:xfrm flipH="1">
              <a:off x="6667" y="766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52" name="Line 15"/>
            <p:cNvSpPr>
              <a:spLocks noChangeShapeType="1"/>
            </p:cNvSpPr>
            <p:nvPr/>
          </p:nvSpPr>
          <p:spPr bwMode="auto">
            <a:xfrm flipH="1">
              <a:off x="7643" y="7498"/>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53" name="Oval 16"/>
            <p:cNvSpPr>
              <a:spLocks noChangeArrowheads="1"/>
            </p:cNvSpPr>
            <p:nvPr/>
          </p:nvSpPr>
          <p:spPr bwMode="auto">
            <a:xfrm>
              <a:off x="7563" y="7455"/>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54" name="Freeform 17"/>
            <p:cNvSpPr>
              <a:spLocks/>
            </p:cNvSpPr>
            <p:nvPr/>
          </p:nvSpPr>
          <p:spPr bwMode="auto">
            <a:xfrm>
              <a:off x="6867" y="7209"/>
              <a:ext cx="699" cy="579"/>
            </a:xfrm>
            <a:custGeom>
              <a:avLst/>
              <a:gdLst>
                <a:gd name="T0" fmla="*/ 7 w 699"/>
                <a:gd name="T1" fmla="*/ 0 h 579"/>
                <a:gd name="T2" fmla="*/ 302 w 699"/>
                <a:gd name="T3" fmla="*/ 0 h 579"/>
                <a:gd name="T4" fmla="*/ 537 w 699"/>
                <a:gd name="T5" fmla="*/ 93 h 579"/>
                <a:gd name="T6" fmla="*/ 699 w 699"/>
                <a:gd name="T7" fmla="*/ 286 h 579"/>
                <a:gd name="T8" fmla="*/ 549 w 699"/>
                <a:gd name="T9" fmla="*/ 480 h 579"/>
                <a:gd name="T10" fmla="*/ 302 w 699"/>
                <a:gd name="T11" fmla="*/ 579 h 579"/>
                <a:gd name="T12" fmla="*/ 0 w 699"/>
                <a:gd name="T13" fmla="*/ 579 h 579"/>
                <a:gd name="T14" fmla="*/ 82 w 699"/>
                <a:gd name="T15" fmla="*/ 422 h 579"/>
                <a:gd name="T16" fmla="*/ 110 w 699"/>
                <a:gd name="T17" fmla="*/ 286 h 579"/>
                <a:gd name="T18" fmla="*/ 82 w 699"/>
                <a:gd name="T19" fmla="*/ 143 h 579"/>
                <a:gd name="T20" fmla="*/ 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grpSp>
      <p:grpSp>
        <p:nvGrpSpPr>
          <p:cNvPr id="5128" name="Group 18"/>
          <p:cNvGrpSpPr>
            <a:grpSpLocks/>
          </p:cNvGrpSpPr>
          <p:nvPr/>
        </p:nvGrpSpPr>
        <p:grpSpPr bwMode="auto">
          <a:xfrm>
            <a:off x="4302125" y="1624013"/>
            <a:ext cx="571500" cy="250825"/>
            <a:chOff x="6643" y="8446"/>
            <a:chExt cx="1114" cy="579"/>
          </a:xfrm>
        </p:grpSpPr>
        <p:sp>
          <p:nvSpPr>
            <p:cNvPr id="5345" name="AutoShape 19"/>
            <p:cNvSpPr>
              <a:spLocks noChangeArrowheads="1"/>
            </p:cNvSpPr>
            <p:nvPr/>
          </p:nvSpPr>
          <p:spPr bwMode="auto">
            <a:xfrm>
              <a:off x="6847" y="8446"/>
              <a:ext cx="690" cy="579"/>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46" name="Line 20"/>
            <p:cNvSpPr>
              <a:spLocks noChangeShapeType="1"/>
            </p:cNvSpPr>
            <p:nvPr/>
          </p:nvSpPr>
          <p:spPr bwMode="auto">
            <a:xfrm flipH="1">
              <a:off x="6651" y="856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47" name="Line 21"/>
            <p:cNvSpPr>
              <a:spLocks noChangeShapeType="1"/>
            </p:cNvSpPr>
            <p:nvPr/>
          </p:nvSpPr>
          <p:spPr bwMode="auto">
            <a:xfrm flipH="1">
              <a:off x="6643" y="889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48" name="Line 22"/>
            <p:cNvSpPr>
              <a:spLocks noChangeShapeType="1"/>
            </p:cNvSpPr>
            <p:nvPr/>
          </p:nvSpPr>
          <p:spPr bwMode="auto">
            <a:xfrm flipH="1">
              <a:off x="7614" y="8739"/>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49" name="Oval 23"/>
            <p:cNvSpPr>
              <a:spLocks noChangeArrowheads="1"/>
            </p:cNvSpPr>
            <p:nvPr/>
          </p:nvSpPr>
          <p:spPr bwMode="auto">
            <a:xfrm>
              <a:off x="7535" y="8705"/>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5129" name="Group 24"/>
          <p:cNvGrpSpPr>
            <a:grpSpLocks/>
          </p:cNvGrpSpPr>
          <p:nvPr/>
        </p:nvGrpSpPr>
        <p:grpSpPr bwMode="auto">
          <a:xfrm>
            <a:off x="3736975" y="2181225"/>
            <a:ext cx="571500" cy="250825"/>
            <a:chOff x="6643" y="8446"/>
            <a:chExt cx="1114" cy="579"/>
          </a:xfrm>
        </p:grpSpPr>
        <p:sp>
          <p:nvSpPr>
            <p:cNvPr id="5340" name="AutoShape 25"/>
            <p:cNvSpPr>
              <a:spLocks noChangeArrowheads="1"/>
            </p:cNvSpPr>
            <p:nvPr/>
          </p:nvSpPr>
          <p:spPr bwMode="auto">
            <a:xfrm>
              <a:off x="6847" y="8446"/>
              <a:ext cx="690" cy="579"/>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41" name="Line 26"/>
            <p:cNvSpPr>
              <a:spLocks noChangeShapeType="1"/>
            </p:cNvSpPr>
            <p:nvPr/>
          </p:nvSpPr>
          <p:spPr bwMode="auto">
            <a:xfrm flipH="1">
              <a:off x="6651" y="856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42" name="Line 27"/>
            <p:cNvSpPr>
              <a:spLocks noChangeShapeType="1"/>
            </p:cNvSpPr>
            <p:nvPr/>
          </p:nvSpPr>
          <p:spPr bwMode="auto">
            <a:xfrm flipH="1">
              <a:off x="6643" y="889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43" name="Line 28"/>
            <p:cNvSpPr>
              <a:spLocks noChangeShapeType="1"/>
            </p:cNvSpPr>
            <p:nvPr/>
          </p:nvSpPr>
          <p:spPr bwMode="auto">
            <a:xfrm flipH="1">
              <a:off x="7614" y="8739"/>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44" name="Oval 29"/>
            <p:cNvSpPr>
              <a:spLocks noChangeArrowheads="1"/>
            </p:cNvSpPr>
            <p:nvPr/>
          </p:nvSpPr>
          <p:spPr bwMode="auto">
            <a:xfrm>
              <a:off x="7535" y="8705"/>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5130" name="Group 30"/>
          <p:cNvGrpSpPr>
            <a:grpSpLocks/>
          </p:cNvGrpSpPr>
          <p:nvPr/>
        </p:nvGrpSpPr>
        <p:grpSpPr bwMode="auto">
          <a:xfrm>
            <a:off x="3736975" y="2532063"/>
            <a:ext cx="571500" cy="249237"/>
            <a:chOff x="6643" y="8446"/>
            <a:chExt cx="1114" cy="579"/>
          </a:xfrm>
        </p:grpSpPr>
        <p:sp>
          <p:nvSpPr>
            <p:cNvPr id="5335" name="AutoShape 31"/>
            <p:cNvSpPr>
              <a:spLocks noChangeArrowheads="1"/>
            </p:cNvSpPr>
            <p:nvPr/>
          </p:nvSpPr>
          <p:spPr bwMode="auto">
            <a:xfrm>
              <a:off x="6847" y="8446"/>
              <a:ext cx="690" cy="579"/>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 name="Line 32"/>
            <p:cNvSpPr>
              <a:spLocks noChangeShapeType="1"/>
            </p:cNvSpPr>
            <p:nvPr/>
          </p:nvSpPr>
          <p:spPr bwMode="auto">
            <a:xfrm flipH="1">
              <a:off x="6651" y="856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37" name="Line 33"/>
            <p:cNvSpPr>
              <a:spLocks noChangeShapeType="1"/>
            </p:cNvSpPr>
            <p:nvPr/>
          </p:nvSpPr>
          <p:spPr bwMode="auto">
            <a:xfrm flipH="1">
              <a:off x="6643" y="8899"/>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38" name="Line 34"/>
            <p:cNvSpPr>
              <a:spLocks noChangeShapeType="1"/>
            </p:cNvSpPr>
            <p:nvPr/>
          </p:nvSpPr>
          <p:spPr bwMode="auto">
            <a:xfrm flipH="1">
              <a:off x="7614" y="8739"/>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39" name="Oval 35"/>
            <p:cNvSpPr>
              <a:spLocks noChangeArrowheads="1"/>
            </p:cNvSpPr>
            <p:nvPr/>
          </p:nvSpPr>
          <p:spPr bwMode="auto">
            <a:xfrm>
              <a:off x="7535" y="8705"/>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grpSp>
        <p:nvGrpSpPr>
          <p:cNvPr id="5131" name="Group 36"/>
          <p:cNvGrpSpPr>
            <a:grpSpLocks/>
          </p:cNvGrpSpPr>
          <p:nvPr/>
        </p:nvGrpSpPr>
        <p:grpSpPr bwMode="auto">
          <a:xfrm>
            <a:off x="4310063" y="2363788"/>
            <a:ext cx="571500" cy="249237"/>
            <a:chOff x="6667" y="7209"/>
            <a:chExt cx="1119" cy="579"/>
          </a:xfrm>
        </p:grpSpPr>
        <p:sp>
          <p:nvSpPr>
            <p:cNvPr id="5330" name="Line 37"/>
            <p:cNvSpPr>
              <a:spLocks noChangeShapeType="1"/>
            </p:cNvSpPr>
            <p:nvPr/>
          </p:nvSpPr>
          <p:spPr bwMode="auto">
            <a:xfrm flipH="1">
              <a:off x="6677" y="733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31" name="Line 38"/>
            <p:cNvSpPr>
              <a:spLocks noChangeShapeType="1"/>
            </p:cNvSpPr>
            <p:nvPr/>
          </p:nvSpPr>
          <p:spPr bwMode="auto">
            <a:xfrm flipH="1">
              <a:off x="6667" y="766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32" name="Line 39"/>
            <p:cNvSpPr>
              <a:spLocks noChangeShapeType="1"/>
            </p:cNvSpPr>
            <p:nvPr/>
          </p:nvSpPr>
          <p:spPr bwMode="auto">
            <a:xfrm flipH="1">
              <a:off x="7643" y="7498"/>
              <a:ext cx="14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33" name="Oval 40"/>
            <p:cNvSpPr>
              <a:spLocks noChangeArrowheads="1"/>
            </p:cNvSpPr>
            <p:nvPr/>
          </p:nvSpPr>
          <p:spPr bwMode="auto">
            <a:xfrm>
              <a:off x="7563" y="7455"/>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 name="Freeform 41"/>
            <p:cNvSpPr>
              <a:spLocks/>
            </p:cNvSpPr>
            <p:nvPr/>
          </p:nvSpPr>
          <p:spPr bwMode="auto">
            <a:xfrm>
              <a:off x="6867" y="7209"/>
              <a:ext cx="699" cy="579"/>
            </a:xfrm>
            <a:custGeom>
              <a:avLst/>
              <a:gdLst>
                <a:gd name="T0" fmla="*/ 7 w 699"/>
                <a:gd name="T1" fmla="*/ 0 h 579"/>
                <a:gd name="T2" fmla="*/ 302 w 699"/>
                <a:gd name="T3" fmla="*/ 0 h 579"/>
                <a:gd name="T4" fmla="*/ 537 w 699"/>
                <a:gd name="T5" fmla="*/ 93 h 579"/>
                <a:gd name="T6" fmla="*/ 699 w 699"/>
                <a:gd name="T7" fmla="*/ 286 h 579"/>
                <a:gd name="T8" fmla="*/ 549 w 699"/>
                <a:gd name="T9" fmla="*/ 480 h 579"/>
                <a:gd name="T10" fmla="*/ 302 w 699"/>
                <a:gd name="T11" fmla="*/ 579 h 579"/>
                <a:gd name="T12" fmla="*/ 0 w 699"/>
                <a:gd name="T13" fmla="*/ 579 h 579"/>
                <a:gd name="T14" fmla="*/ 82 w 699"/>
                <a:gd name="T15" fmla="*/ 422 h 579"/>
                <a:gd name="T16" fmla="*/ 110 w 699"/>
                <a:gd name="T17" fmla="*/ 286 h 579"/>
                <a:gd name="T18" fmla="*/ 82 w 699"/>
                <a:gd name="T19" fmla="*/ 143 h 579"/>
                <a:gd name="T20" fmla="*/ 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grpSp>
      <p:grpSp>
        <p:nvGrpSpPr>
          <p:cNvPr id="5132" name="Group 42"/>
          <p:cNvGrpSpPr>
            <a:grpSpLocks/>
          </p:cNvGrpSpPr>
          <p:nvPr/>
        </p:nvGrpSpPr>
        <p:grpSpPr bwMode="auto">
          <a:xfrm>
            <a:off x="4884738" y="1998663"/>
            <a:ext cx="593725" cy="250825"/>
            <a:chOff x="6672" y="2616"/>
            <a:chExt cx="1160" cy="579"/>
          </a:xfrm>
        </p:grpSpPr>
        <p:sp>
          <p:nvSpPr>
            <p:cNvPr id="5326" name="Freeform 43"/>
            <p:cNvSpPr>
              <a:spLocks/>
            </p:cNvSpPr>
            <p:nvPr/>
          </p:nvSpPr>
          <p:spPr bwMode="auto">
            <a:xfrm>
              <a:off x="6876" y="2616"/>
              <a:ext cx="699" cy="579"/>
            </a:xfrm>
            <a:custGeom>
              <a:avLst/>
              <a:gdLst>
                <a:gd name="T0" fmla="*/ 7 w 699"/>
                <a:gd name="T1" fmla="*/ 0 h 579"/>
                <a:gd name="T2" fmla="*/ 302 w 699"/>
                <a:gd name="T3" fmla="*/ 0 h 579"/>
                <a:gd name="T4" fmla="*/ 537 w 699"/>
                <a:gd name="T5" fmla="*/ 93 h 579"/>
                <a:gd name="T6" fmla="*/ 699 w 699"/>
                <a:gd name="T7" fmla="*/ 286 h 579"/>
                <a:gd name="T8" fmla="*/ 549 w 699"/>
                <a:gd name="T9" fmla="*/ 480 h 579"/>
                <a:gd name="T10" fmla="*/ 302 w 699"/>
                <a:gd name="T11" fmla="*/ 579 h 579"/>
                <a:gd name="T12" fmla="*/ 0 w 699"/>
                <a:gd name="T13" fmla="*/ 579 h 579"/>
                <a:gd name="T14" fmla="*/ 82 w 699"/>
                <a:gd name="T15" fmla="*/ 422 h 579"/>
                <a:gd name="T16" fmla="*/ 110 w 699"/>
                <a:gd name="T17" fmla="*/ 286 h 579"/>
                <a:gd name="T18" fmla="*/ 82 w 699"/>
                <a:gd name="T19" fmla="*/ 143 h 579"/>
                <a:gd name="T20" fmla="*/ 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5327" name="Line 44"/>
            <p:cNvSpPr>
              <a:spLocks noChangeShapeType="1"/>
            </p:cNvSpPr>
            <p:nvPr/>
          </p:nvSpPr>
          <p:spPr bwMode="auto">
            <a:xfrm flipH="1">
              <a:off x="6682" y="2739"/>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28" name="Line 45"/>
            <p:cNvSpPr>
              <a:spLocks noChangeShapeType="1"/>
            </p:cNvSpPr>
            <p:nvPr/>
          </p:nvSpPr>
          <p:spPr bwMode="auto">
            <a:xfrm flipH="1">
              <a:off x="6672" y="3069"/>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29" name="Line 46"/>
            <p:cNvSpPr>
              <a:spLocks noChangeShapeType="1"/>
            </p:cNvSpPr>
            <p:nvPr/>
          </p:nvSpPr>
          <p:spPr bwMode="auto">
            <a:xfrm flipH="1">
              <a:off x="7568" y="2903"/>
              <a:ext cx="26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grpSp>
      <p:grpSp>
        <p:nvGrpSpPr>
          <p:cNvPr id="5133" name="Group 47"/>
          <p:cNvGrpSpPr>
            <a:grpSpLocks/>
          </p:cNvGrpSpPr>
          <p:nvPr/>
        </p:nvGrpSpPr>
        <p:grpSpPr bwMode="auto">
          <a:xfrm>
            <a:off x="5468938" y="2003425"/>
            <a:ext cx="452437" cy="246063"/>
            <a:chOff x="6787" y="5804"/>
            <a:chExt cx="885" cy="568"/>
          </a:xfrm>
        </p:grpSpPr>
        <p:sp>
          <p:nvSpPr>
            <p:cNvPr id="5322" name="AutoShape 48"/>
            <p:cNvSpPr>
              <a:spLocks noChangeArrowheads="1"/>
            </p:cNvSpPr>
            <p:nvPr/>
          </p:nvSpPr>
          <p:spPr bwMode="auto">
            <a:xfrm rot="5400000">
              <a:off x="6948" y="5850"/>
              <a:ext cx="568" cy="476"/>
            </a:xfrm>
            <a:prstGeom prst="triangle">
              <a:avLst>
                <a:gd name="adj" fmla="val 50000"/>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3" name="Line 49"/>
            <p:cNvSpPr>
              <a:spLocks noChangeShapeType="1"/>
            </p:cNvSpPr>
            <p:nvPr/>
          </p:nvSpPr>
          <p:spPr bwMode="auto">
            <a:xfrm flipH="1">
              <a:off x="6787" y="6085"/>
              <a:ext cx="20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24" name="Line 50"/>
            <p:cNvSpPr>
              <a:spLocks noChangeShapeType="1"/>
            </p:cNvSpPr>
            <p:nvPr/>
          </p:nvSpPr>
          <p:spPr bwMode="auto">
            <a:xfrm flipH="1">
              <a:off x="7548" y="6083"/>
              <a:ext cx="124"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5325" name="Oval 51"/>
            <p:cNvSpPr>
              <a:spLocks noChangeArrowheads="1"/>
            </p:cNvSpPr>
            <p:nvPr/>
          </p:nvSpPr>
          <p:spPr bwMode="auto">
            <a:xfrm>
              <a:off x="7473" y="6043"/>
              <a:ext cx="85" cy="85"/>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5134" name="Line 52"/>
          <p:cNvSpPr>
            <a:spLocks noChangeShapeType="1"/>
          </p:cNvSpPr>
          <p:nvPr/>
        </p:nvSpPr>
        <p:spPr bwMode="auto">
          <a:xfrm>
            <a:off x="4305300" y="1571625"/>
            <a:ext cx="0" cy="98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135" name="Line 53"/>
          <p:cNvSpPr>
            <a:spLocks noChangeShapeType="1"/>
          </p:cNvSpPr>
          <p:nvPr/>
        </p:nvSpPr>
        <p:spPr bwMode="auto">
          <a:xfrm>
            <a:off x="4302125" y="1822450"/>
            <a:ext cx="0" cy="98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136" name="Line 54"/>
          <p:cNvSpPr>
            <a:spLocks noChangeShapeType="1"/>
          </p:cNvSpPr>
          <p:nvPr/>
        </p:nvSpPr>
        <p:spPr bwMode="auto">
          <a:xfrm>
            <a:off x="4314825" y="2312988"/>
            <a:ext cx="0" cy="98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137" name="Line 55"/>
          <p:cNvSpPr>
            <a:spLocks noChangeShapeType="1"/>
          </p:cNvSpPr>
          <p:nvPr/>
        </p:nvSpPr>
        <p:spPr bwMode="auto">
          <a:xfrm>
            <a:off x="4314825" y="2560638"/>
            <a:ext cx="0" cy="98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138" name="Line 56"/>
          <p:cNvSpPr>
            <a:spLocks noChangeShapeType="1"/>
          </p:cNvSpPr>
          <p:nvPr/>
        </p:nvSpPr>
        <p:spPr bwMode="auto">
          <a:xfrm>
            <a:off x="4883150" y="1751013"/>
            <a:ext cx="0" cy="296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139" name="Line 57"/>
          <p:cNvSpPr>
            <a:spLocks noChangeShapeType="1"/>
          </p:cNvSpPr>
          <p:nvPr/>
        </p:nvSpPr>
        <p:spPr bwMode="auto">
          <a:xfrm flipH="1">
            <a:off x="4879975" y="2193925"/>
            <a:ext cx="3175"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140" name="Text Box 58"/>
          <p:cNvSpPr txBox="1">
            <a:spLocks noChangeArrowheads="1"/>
          </p:cNvSpPr>
          <p:nvPr/>
        </p:nvSpPr>
        <p:spPr bwMode="auto">
          <a:xfrm>
            <a:off x="3843338" y="1408113"/>
            <a:ext cx="300037"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1</a:t>
            </a:r>
          </a:p>
        </p:txBody>
      </p:sp>
      <p:sp>
        <p:nvSpPr>
          <p:cNvPr id="5141" name="Text Box 59"/>
          <p:cNvSpPr txBox="1">
            <a:spLocks noChangeArrowheads="1"/>
          </p:cNvSpPr>
          <p:nvPr/>
        </p:nvSpPr>
        <p:spPr bwMode="auto">
          <a:xfrm>
            <a:off x="3838575" y="1763713"/>
            <a:ext cx="29845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2</a:t>
            </a:r>
          </a:p>
        </p:txBody>
      </p:sp>
      <p:sp>
        <p:nvSpPr>
          <p:cNvPr id="5142" name="Text Box 60"/>
          <p:cNvSpPr txBox="1">
            <a:spLocks noChangeArrowheads="1"/>
          </p:cNvSpPr>
          <p:nvPr/>
        </p:nvSpPr>
        <p:spPr bwMode="auto">
          <a:xfrm>
            <a:off x="3835400" y="2141538"/>
            <a:ext cx="29845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4</a:t>
            </a:r>
          </a:p>
        </p:txBody>
      </p:sp>
      <p:sp>
        <p:nvSpPr>
          <p:cNvPr id="5143" name="Text Box 61"/>
          <p:cNvSpPr txBox="1">
            <a:spLocks noChangeArrowheads="1"/>
          </p:cNvSpPr>
          <p:nvPr/>
        </p:nvSpPr>
        <p:spPr bwMode="auto">
          <a:xfrm>
            <a:off x="3838575" y="2493963"/>
            <a:ext cx="2984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5</a:t>
            </a:r>
          </a:p>
        </p:txBody>
      </p:sp>
      <p:sp>
        <p:nvSpPr>
          <p:cNvPr id="5144" name="Text Box 62"/>
          <p:cNvSpPr txBox="1">
            <a:spLocks noChangeArrowheads="1"/>
          </p:cNvSpPr>
          <p:nvPr/>
        </p:nvSpPr>
        <p:spPr bwMode="auto">
          <a:xfrm>
            <a:off x="4394200" y="1587500"/>
            <a:ext cx="300038"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3</a:t>
            </a:r>
          </a:p>
        </p:txBody>
      </p:sp>
      <p:sp>
        <p:nvSpPr>
          <p:cNvPr id="5145" name="Text Box 63"/>
          <p:cNvSpPr txBox="1">
            <a:spLocks noChangeArrowheads="1"/>
          </p:cNvSpPr>
          <p:nvPr/>
        </p:nvSpPr>
        <p:spPr bwMode="auto">
          <a:xfrm>
            <a:off x="4411663" y="2327275"/>
            <a:ext cx="2984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6</a:t>
            </a:r>
          </a:p>
        </p:txBody>
      </p:sp>
      <p:sp>
        <p:nvSpPr>
          <p:cNvPr id="5146" name="Text Box 64"/>
          <p:cNvSpPr txBox="1">
            <a:spLocks noChangeArrowheads="1"/>
          </p:cNvSpPr>
          <p:nvPr/>
        </p:nvSpPr>
        <p:spPr bwMode="auto">
          <a:xfrm>
            <a:off x="4984750" y="1955800"/>
            <a:ext cx="29845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7</a:t>
            </a:r>
          </a:p>
        </p:txBody>
      </p:sp>
      <p:sp>
        <p:nvSpPr>
          <p:cNvPr id="5147" name="Text Box 65"/>
          <p:cNvSpPr txBox="1">
            <a:spLocks noChangeArrowheads="1"/>
          </p:cNvSpPr>
          <p:nvPr/>
        </p:nvSpPr>
        <p:spPr bwMode="auto">
          <a:xfrm>
            <a:off x="5492750" y="1966913"/>
            <a:ext cx="29845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8</a:t>
            </a:r>
          </a:p>
        </p:txBody>
      </p:sp>
      <p:sp>
        <p:nvSpPr>
          <p:cNvPr id="478274" name="Rectangle 66"/>
          <p:cNvSpPr>
            <a:spLocks noChangeArrowheads="1"/>
          </p:cNvSpPr>
          <p:nvPr/>
        </p:nvSpPr>
        <p:spPr bwMode="auto">
          <a:xfrm>
            <a:off x="7011988" y="4002088"/>
            <a:ext cx="1524000" cy="1525587"/>
          </a:xfrm>
          <a:prstGeom prst="rect">
            <a:avLst/>
          </a:prstGeom>
          <a:solidFill>
            <a:srgbClr val="EAEAEA"/>
          </a:soli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75" name="Rectangle 67"/>
          <p:cNvSpPr>
            <a:spLocks noChangeArrowheads="1"/>
          </p:cNvSpPr>
          <p:nvPr/>
        </p:nvSpPr>
        <p:spPr bwMode="auto">
          <a:xfrm>
            <a:off x="6054725" y="4256088"/>
            <a:ext cx="522288"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76" name="AutoShape 68"/>
          <p:cNvSpPr>
            <a:spLocks noChangeArrowheads="1"/>
          </p:cNvSpPr>
          <p:nvPr/>
        </p:nvSpPr>
        <p:spPr bwMode="auto">
          <a:xfrm>
            <a:off x="6156325" y="4321175"/>
            <a:ext cx="354013" cy="250825"/>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77" name="Line 69"/>
          <p:cNvSpPr>
            <a:spLocks noChangeShapeType="1"/>
          </p:cNvSpPr>
          <p:nvPr/>
        </p:nvSpPr>
        <p:spPr bwMode="auto">
          <a:xfrm flipH="1">
            <a:off x="6054725" y="4375150"/>
            <a:ext cx="106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78" name="Line 70"/>
          <p:cNvSpPr>
            <a:spLocks noChangeShapeType="1"/>
          </p:cNvSpPr>
          <p:nvPr/>
        </p:nvSpPr>
        <p:spPr bwMode="auto">
          <a:xfrm flipH="1">
            <a:off x="6051550" y="4518025"/>
            <a:ext cx="106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79" name="Line 71"/>
          <p:cNvSpPr>
            <a:spLocks noChangeShapeType="1"/>
          </p:cNvSpPr>
          <p:nvPr/>
        </p:nvSpPr>
        <p:spPr bwMode="auto">
          <a:xfrm flipH="1">
            <a:off x="6548438" y="4448175"/>
            <a:ext cx="746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80" name="Oval 72"/>
          <p:cNvSpPr>
            <a:spLocks noChangeArrowheads="1"/>
          </p:cNvSpPr>
          <p:nvPr/>
        </p:nvSpPr>
        <p:spPr bwMode="auto">
          <a:xfrm>
            <a:off x="6508750" y="4433888"/>
            <a:ext cx="44450"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81" name="Text Box 73"/>
          <p:cNvSpPr txBox="1">
            <a:spLocks noChangeArrowheads="1"/>
          </p:cNvSpPr>
          <p:nvPr/>
        </p:nvSpPr>
        <p:spPr bwMode="auto">
          <a:xfrm>
            <a:off x="6137275" y="4294188"/>
            <a:ext cx="228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5</a:t>
            </a:r>
          </a:p>
        </p:txBody>
      </p:sp>
      <p:sp>
        <p:nvSpPr>
          <p:cNvPr id="478282" name="Rectangle 74"/>
          <p:cNvSpPr>
            <a:spLocks noChangeArrowheads="1"/>
          </p:cNvSpPr>
          <p:nvPr/>
        </p:nvSpPr>
        <p:spPr bwMode="auto">
          <a:xfrm>
            <a:off x="6057900" y="4848225"/>
            <a:ext cx="523875"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83" name="Line 75"/>
          <p:cNvSpPr>
            <a:spLocks noChangeShapeType="1"/>
          </p:cNvSpPr>
          <p:nvPr/>
        </p:nvSpPr>
        <p:spPr bwMode="auto">
          <a:xfrm flipH="1">
            <a:off x="6056313" y="4973638"/>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84" name="Line 76"/>
          <p:cNvSpPr>
            <a:spLocks noChangeShapeType="1"/>
          </p:cNvSpPr>
          <p:nvPr/>
        </p:nvSpPr>
        <p:spPr bwMode="auto">
          <a:xfrm flipH="1">
            <a:off x="6051550" y="5114925"/>
            <a:ext cx="1349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85" name="Line 77"/>
          <p:cNvSpPr>
            <a:spLocks noChangeShapeType="1"/>
          </p:cNvSpPr>
          <p:nvPr/>
        </p:nvSpPr>
        <p:spPr bwMode="auto">
          <a:xfrm flipH="1">
            <a:off x="6551613" y="5045075"/>
            <a:ext cx="73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86" name="Oval 78"/>
          <p:cNvSpPr>
            <a:spLocks noChangeArrowheads="1"/>
          </p:cNvSpPr>
          <p:nvPr/>
        </p:nvSpPr>
        <p:spPr bwMode="auto">
          <a:xfrm>
            <a:off x="6510338" y="5026025"/>
            <a:ext cx="44450" cy="36513"/>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87" name="Freeform 79"/>
          <p:cNvSpPr>
            <a:spLocks/>
          </p:cNvSpPr>
          <p:nvPr/>
        </p:nvSpPr>
        <p:spPr bwMode="auto">
          <a:xfrm>
            <a:off x="6154738" y="4919663"/>
            <a:ext cx="357187" cy="249237"/>
          </a:xfrm>
          <a:custGeom>
            <a:avLst/>
            <a:gdLst>
              <a:gd name="T0" fmla="*/ 3577 w 699"/>
              <a:gd name="T1" fmla="*/ 0 h 579"/>
              <a:gd name="T2" fmla="*/ 154321 w 699"/>
              <a:gd name="T3" fmla="*/ 0 h 579"/>
              <a:gd name="T4" fmla="*/ 274405 w 699"/>
              <a:gd name="T5" fmla="*/ 40033 h 579"/>
              <a:gd name="T6" fmla="*/ 357187 w 699"/>
              <a:gd name="T7" fmla="*/ 123112 h 579"/>
              <a:gd name="T8" fmla="*/ 280537 w 699"/>
              <a:gd name="T9" fmla="*/ 206621 h 579"/>
              <a:gd name="T10" fmla="*/ 154321 w 699"/>
              <a:gd name="T11" fmla="*/ 249237 h 579"/>
              <a:gd name="T12" fmla="*/ 0 w 699"/>
              <a:gd name="T13" fmla="*/ 249237 h 579"/>
              <a:gd name="T14" fmla="*/ 41902 w 699"/>
              <a:gd name="T15" fmla="*/ 181655 h 579"/>
              <a:gd name="T16" fmla="*/ 56210 w 699"/>
              <a:gd name="T17" fmla="*/ 123112 h 579"/>
              <a:gd name="T18" fmla="*/ 41902 w 699"/>
              <a:gd name="T19" fmla="*/ 61556 h 579"/>
              <a:gd name="T20" fmla="*/ 3577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288" name="Text Box 80"/>
          <p:cNvSpPr txBox="1">
            <a:spLocks noChangeArrowheads="1"/>
          </p:cNvSpPr>
          <p:nvPr/>
        </p:nvSpPr>
        <p:spPr bwMode="auto">
          <a:xfrm>
            <a:off x="6165850" y="4895850"/>
            <a:ext cx="2270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6</a:t>
            </a:r>
          </a:p>
        </p:txBody>
      </p:sp>
      <p:sp>
        <p:nvSpPr>
          <p:cNvPr id="478289" name="Rectangle 81"/>
          <p:cNvSpPr>
            <a:spLocks noChangeArrowheads="1"/>
          </p:cNvSpPr>
          <p:nvPr/>
        </p:nvSpPr>
        <p:spPr bwMode="auto">
          <a:xfrm>
            <a:off x="7131050" y="4256088"/>
            <a:ext cx="522288"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90" name="AutoShape 82"/>
          <p:cNvSpPr>
            <a:spLocks noChangeArrowheads="1"/>
          </p:cNvSpPr>
          <p:nvPr/>
        </p:nvSpPr>
        <p:spPr bwMode="auto">
          <a:xfrm>
            <a:off x="7231063" y="4321175"/>
            <a:ext cx="355600" cy="250825"/>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91" name="Line 83"/>
          <p:cNvSpPr>
            <a:spLocks noChangeShapeType="1"/>
          </p:cNvSpPr>
          <p:nvPr/>
        </p:nvSpPr>
        <p:spPr bwMode="auto">
          <a:xfrm flipH="1">
            <a:off x="7131050" y="4375150"/>
            <a:ext cx="1047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92" name="Line 84"/>
          <p:cNvSpPr>
            <a:spLocks noChangeShapeType="1"/>
          </p:cNvSpPr>
          <p:nvPr/>
        </p:nvSpPr>
        <p:spPr bwMode="auto">
          <a:xfrm flipH="1">
            <a:off x="7127875" y="4518025"/>
            <a:ext cx="1047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93" name="Line 85"/>
          <p:cNvSpPr>
            <a:spLocks noChangeShapeType="1"/>
          </p:cNvSpPr>
          <p:nvPr/>
        </p:nvSpPr>
        <p:spPr bwMode="auto">
          <a:xfrm flipH="1">
            <a:off x="7624763" y="4448175"/>
            <a:ext cx="746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94" name="Oval 86"/>
          <p:cNvSpPr>
            <a:spLocks noChangeArrowheads="1"/>
          </p:cNvSpPr>
          <p:nvPr/>
        </p:nvSpPr>
        <p:spPr bwMode="auto">
          <a:xfrm>
            <a:off x="7585075" y="4433888"/>
            <a:ext cx="42863"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95" name="Text Box 87"/>
          <p:cNvSpPr txBox="1">
            <a:spLocks noChangeArrowheads="1"/>
          </p:cNvSpPr>
          <p:nvPr/>
        </p:nvSpPr>
        <p:spPr bwMode="auto">
          <a:xfrm>
            <a:off x="7223125" y="4294188"/>
            <a:ext cx="22701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4</a:t>
            </a:r>
          </a:p>
        </p:txBody>
      </p:sp>
      <p:sp>
        <p:nvSpPr>
          <p:cNvPr id="478296" name="Rectangle 88"/>
          <p:cNvSpPr>
            <a:spLocks noChangeArrowheads="1"/>
          </p:cNvSpPr>
          <p:nvPr/>
        </p:nvSpPr>
        <p:spPr bwMode="auto">
          <a:xfrm>
            <a:off x="5356225" y="4256088"/>
            <a:ext cx="522288"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97" name="AutoShape 89"/>
          <p:cNvSpPr>
            <a:spLocks noChangeArrowheads="1"/>
          </p:cNvSpPr>
          <p:nvPr/>
        </p:nvSpPr>
        <p:spPr bwMode="auto">
          <a:xfrm rot="5400000">
            <a:off x="5491162" y="4348163"/>
            <a:ext cx="246063" cy="242888"/>
          </a:xfrm>
          <a:prstGeom prst="triangle">
            <a:avLst>
              <a:gd name="adj" fmla="val 50000"/>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298" name="Line 90"/>
          <p:cNvSpPr>
            <a:spLocks noChangeShapeType="1"/>
          </p:cNvSpPr>
          <p:nvPr/>
        </p:nvSpPr>
        <p:spPr bwMode="auto">
          <a:xfrm flipH="1">
            <a:off x="5386388" y="4467225"/>
            <a:ext cx="1063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299" name="Line 91"/>
          <p:cNvSpPr>
            <a:spLocks noChangeShapeType="1"/>
          </p:cNvSpPr>
          <p:nvPr/>
        </p:nvSpPr>
        <p:spPr bwMode="auto">
          <a:xfrm flipH="1">
            <a:off x="5776913" y="4467225"/>
            <a:ext cx="63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00" name="Oval 92"/>
          <p:cNvSpPr>
            <a:spLocks noChangeArrowheads="1"/>
          </p:cNvSpPr>
          <p:nvPr/>
        </p:nvSpPr>
        <p:spPr bwMode="auto">
          <a:xfrm>
            <a:off x="5737225" y="4449763"/>
            <a:ext cx="44450"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01" name="Text Box 93"/>
          <p:cNvSpPr txBox="1">
            <a:spLocks noChangeArrowheads="1"/>
          </p:cNvSpPr>
          <p:nvPr/>
        </p:nvSpPr>
        <p:spPr bwMode="auto">
          <a:xfrm>
            <a:off x="5405438" y="4310063"/>
            <a:ext cx="22860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8</a:t>
            </a:r>
          </a:p>
        </p:txBody>
      </p:sp>
      <p:sp>
        <p:nvSpPr>
          <p:cNvPr id="478302" name="Rectangle 94"/>
          <p:cNvSpPr>
            <a:spLocks noChangeArrowheads="1"/>
          </p:cNvSpPr>
          <p:nvPr/>
        </p:nvSpPr>
        <p:spPr bwMode="auto">
          <a:xfrm>
            <a:off x="5364163" y="4848225"/>
            <a:ext cx="522287"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03" name="Freeform 95"/>
          <p:cNvSpPr>
            <a:spLocks/>
          </p:cNvSpPr>
          <p:nvPr/>
        </p:nvSpPr>
        <p:spPr bwMode="auto">
          <a:xfrm>
            <a:off x="5459413" y="4927600"/>
            <a:ext cx="358775" cy="250825"/>
          </a:xfrm>
          <a:custGeom>
            <a:avLst/>
            <a:gdLst>
              <a:gd name="T0" fmla="*/ 3593 w 699"/>
              <a:gd name="T1" fmla="*/ 0 h 579"/>
              <a:gd name="T2" fmla="*/ 155007 w 699"/>
              <a:gd name="T3" fmla="*/ 0 h 579"/>
              <a:gd name="T4" fmla="*/ 275625 w 699"/>
              <a:gd name="T5" fmla="*/ 40288 h 579"/>
              <a:gd name="T6" fmla="*/ 358775 w 699"/>
              <a:gd name="T7" fmla="*/ 123896 h 579"/>
              <a:gd name="T8" fmla="*/ 281785 w 699"/>
              <a:gd name="T9" fmla="*/ 207938 h 579"/>
              <a:gd name="T10" fmla="*/ 155007 w 699"/>
              <a:gd name="T11" fmla="*/ 250825 h 579"/>
              <a:gd name="T12" fmla="*/ 0 w 699"/>
              <a:gd name="T13" fmla="*/ 250825 h 579"/>
              <a:gd name="T14" fmla="*/ 42088 w 699"/>
              <a:gd name="T15" fmla="*/ 182812 h 579"/>
              <a:gd name="T16" fmla="*/ 56460 w 699"/>
              <a:gd name="T17" fmla="*/ 123896 h 579"/>
              <a:gd name="T18" fmla="*/ 42088 w 699"/>
              <a:gd name="T19" fmla="*/ 61948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304" name="Line 96"/>
          <p:cNvSpPr>
            <a:spLocks noChangeShapeType="1"/>
          </p:cNvSpPr>
          <p:nvPr/>
        </p:nvSpPr>
        <p:spPr bwMode="auto">
          <a:xfrm flipH="1">
            <a:off x="5360988" y="4981575"/>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05" name="Line 97"/>
          <p:cNvSpPr>
            <a:spLocks noChangeShapeType="1"/>
          </p:cNvSpPr>
          <p:nvPr/>
        </p:nvSpPr>
        <p:spPr bwMode="auto">
          <a:xfrm flipH="1">
            <a:off x="5356225" y="5124450"/>
            <a:ext cx="1349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06" name="Line 98"/>
          <p:cNvSpPr>
            <a:spLocks noChangeShapeType="1"/>
          </p:cNvSpPr>
          <p:nvPr/>
        </p:nvSpPr>
        <p:spPr bwMode="auto">
          <a:xfrm flipH="1">
            <a:off x="5815013" y="5053013"/>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07" name="Text Box 99"/>
          <p:cNvSpPr txBox="1">
            <a:spLocks noChangeArrowheads="1"/>
          </p:cNvSpPr>
          <p:nvPr/>
        </p:nvSpPr>
        <p:spPr bwMode="auto">
          <a:xfrm>
            <a:off x="5467350" y="4891088"/>
            <a:ext cx="225425"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7</a:t>
            </a:r>
          </a:p>
        </p:txBody>
      </p:sp>
      <p:sp>
        <p:nvSpPr>
          <p:cNvPr id="478308" name="Rectangle 100"/>
          <p:cNvSpPr>
            <a:spLocks noChangeArrowheads="1"/>
          </p:cNvSpPr>
          <p:nvPr/>
        </p:nvSpPr>
        <p:spPr bwMode="auto">
          <a:xfrm>
            <a:off x="7829550" y="4848225"/>
            <a:ext cx="522288"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09" name="Line 101"/>
          <p:cNvSpPr>
            <a:spLocks noChangeShapeType="1"/>
          </p:cNvSpPr>
          <p:nvPr/>
        </p:nvSpPr>
        <p:spPr bwMode="auto">
          <a:xfrm flipH="1">
            <a:off x="7827963" y="4973638"/>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10" name="Line 102"/>
          <p:cNvSpPr>
            <a:spLocks noChangeShapeType="1"/>
          </p:cNvSpPr>
          <p:nvPr/>
        </p:nvSpPr>
        <p:spPr bwMode="auto">
          <a:xfrm flipH="1">
            <a:off x="7823200" y="5114925"/>
            <a:ext cx="1349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11" name="Line 103"/>
          <p:cNvSpPr>
            <a:spLocks noChangeShapeType="1"/>
          </p:cNvSpPr>
          <p:nvPr/>
        </p:nvSpPr>
        <p:spPr bwMode="auto">
          <a:xfrm flipH="1">
            <a:off x="8321675" y="5045075"/>
            <a:ext cx="746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12" name="Oval 104"/>
          <p:cNvSpPr>
            <a:spLocks noChangeArrowheads="1"/>
          </p:cNvSpPr>
          <p:nvPr/>
        </p:nvSpPr>
        <p:spPr bwMode="auto">
          <a:xfrm>
            <a:off x="8281988" y="5026025"/>
            <a:ext cx="42862" cy="36513"/>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13" name="Freeform 105"/>
          <p:cNvSpPr>
            <a:spLocks/>
          </p:cNvSpPr>
          <p:nvPr/>
        </p:nvSpPr>
        <p:spPr bwMode="auto">
          <a:xfrm>
            <a:off x="7924800" y="4919663"/>
            <a:ext cx="358775" cy="249237"/>
          </a:xfrm>
          <a:custGeom>
            <a:avLst/>
            <a:gdLst>
              <a:gd name="T0" fmla="*/ 3593 w 699"/>
              <a:gd name="T1" fmla="*/ 0 h 579"/>
              <a:gd name="T2" fmla="*/ 155007 w 699"/>
              <a:gd name="T3" fmla="*/ 0 h 579"/>
              <a:gd name="T4" fmla="*/ 275625 w 699"/>
              <a:gd name="T5" fmla="*/ 40033 h 579"/>
              <a:gd name="T6" fmla="*/ 358775 w 699"/>
              <a:gd name="T7" fmla="*/ 123112 h 579"/>
              <a:gd name="T8" fmla="*/ 281785 w 699"/>
              <a:gd name="T9" fmla="*/ 206621 h 579"/>
              <a:gd name="T10" fmla="*/ 155007 w 699"/>
              <a:gd name="T11" fmla="*/ 249237 h 579"/>
              <a:gd name="T12" fmla="*/ 0 w 699"/>
              <a:gd name="T13" fmla="*/ 249237 h 579"/>
              <a:gd name="T14" fmla="*/ 42088 w 699"/>
              <a:gd name="T15" fmla="*/ 181655 h 579"/>
              <a:gd name="T16" fmla="*/ 56460 w 699"/>
              <a:gd name="T17" fmla="*/ 123112 h 579"/>
              <a:gd name="T18" fmla="*/ 42088 w 699"/>
              <a:gd name="T19" fmla="*/ 61556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314" name="Text Box 106"/>
          <p:cNvSpPr txBox="1">
            <a:spLocks noChangeArrowheads="1"/>
          </p:cNvSpPr>
          <p:nvPr/>
        </p:nvSpPr>
        <p:spPr bwMode="auto">
          <a:xfrm>
            <a:off x="7948613" y="4887913"/>
            <a:ext cx="228600"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2</a:t>
            </a:r>
          </a:p>
        </p:txBody>
      </p:sp>
      <p:sp>
        <p:nvSpPr>
          <p:cNvPr id="478315" name="Rectangle 107"/>
          <p:cNvSpPr>
            <a:spLocks noChangeArrowheads="1"/>
          </p:cNvSpPr>
          <p:nvPr/>
        </p:nvSpPr>
        <p:spPr bwMode="auto">
          <a:xfrm>
            <a:off x="7131050" y="4848225"/>
            <a:ext cx="522288"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16" name="AutoShape 108"/>
          <p:cNvSpPr>
            <a:spLocks noChangeArrowheads="1"/>
          </p:cNvSpPr>
          <p:nvPr/>
        </p:nvSpPr>
        <p:spPr bwMode="auto">
          <a:xfrm>
            <a:off x="7231063" y="4913313"/>
            <a:ext cx="355600" cy="250825"/>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17" name="Line 109"/>
          <p:cNvSpPr>
            <a:spLocks noChangeShapeType="1"/>
          </p:cNvSpPr>
          <p:nvPr/>
        </p:nvSpPr>
        <p:spPr bwMode="auto">
          <a:xfrm flipH="1">
            <a:off x="7131050" y="4967288"/>
            <a:ext cx="1047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18" name="Line 110"/>
          <p:cNvSpPr>
            <a:spLocks noChangeShapeType="1"/>
          </p:cNvSpPr>
          <p:nvPr/>
        </p:nvSpPr>
        <p:spPr bwMode="auto">
          <a:xfrm flipH="1">
            <a:off x="7127875" y="5110163"/>
            <a:ext cx="1047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19" name="Line 111"/>
          <p:cNvSpPr>
            <a:spLocks noChangeShapeType="1"/>
          </p:cNvSpPr>
          <p:nvPr/>
        </p:nvSpPr>
        <p:spPr bwMode="auto">
          <a:xfrm flipH="1">
            <a:off x="7624763" y="5038725"/>
            <a:ext cx="746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20" name="Oval 112"/>
          <p:cNvSpPr>
            <a:spLocks noChangeArrowheads="1"/>
          </p:cNvSpPr>
          <p:nvPr/>
        </p:nvSpPr>
        <p:spPr bwMode="auto">
          <a:xfrm>
            <a:off x="7585075" y="5026025"/>
            <a:ext cx="42863" cy="36513"/>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21" name="Text Box 113"/>
          <p:cNvSpPr txBox="1">
            <a:spLocks noChangeArrowheads="1"/>
          </p:cNvSpPr>
          <p:nvPr/>
        </p:nvSpPr>
        <p:spPr bwMode="auto">
          <a:xfrm>
            <a:off x="7229475" y="4891088"/>
            <a:ext cx="258763" cy="322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3</a:t>
            </a:r>
          </a:p>
        </p:txBody>
      </p:sp>
      <p:sp>
        <p:nvSpPr>
          <p:cNvPr id="478322" name="Rectangle 114"/>
          <p:cNvSpPr>
            <a:spLocks noChangeArrowheads="1"/>
          </p:cNvSpPr>
          <p:nvPr/>
        </p:nvSpPr>
        <p:spPr bwMode="auto">
          <a:xfrm>
            <a:off x="7829550" y="4256088"/>
            <a:ext cx="522288"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23" name="Line 115"/>
          <p:cNvSpPr>
            <a:spLocks noChangeShapeType="1"/>
          </p:cNvSpPr>
          <p:nvPr/>
        </p:nvSpPr>
        <p:spPr bwMode="auto">
          <a:xfrm flipH="1">
            <a:off x="7827963" y="4381500"/>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24" name="Line 116"/>
          <p:cNvSpPr>
            <a:spLocks noChangeShapeType="1"/>
          </p:cNvSpPr>
          <p:nvPr/>
        </p:nvSpPr>
        <p:spPr bwMode="auto">
          <a:xfrm flipH="1">
            <a:off x="7823200" y="4522788"/>
            <a:ext cx="1349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25" name="Line 117"/>
          <p:cNvSpPr>
            <a:spLocks noChangeShapeType="1"/>
          </p:cNvSpPr>
          <p:nvPr/>
        </p:nvSpPr>
        <p:spPr bwMode="auto">
          <a:xfrm flipH="1">
            <a:off x="8321675" y="4452938"/>
            <a:ext cx="746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26" name="Oval 118"/>
          <p:cNvSpPr>
            <a:spLocks noChangeArrowheads="1"/>
          </p:cNvSpPr>
          <p:nvPr/>
        </p:nvSpPr>
        <p:spPr bwMode="auto">
          <a:xfrm>
            <a:off x="8281988" y="4433888"/>
            <a:ext cx="42862"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27" name="Freeform 119"/>
          <p:cNvSpPr>
            <a:spLocks/>
          </p:cNvSpPr>
          <p:nvPr/>
        </p:nvSpPr>
        <p:spPr bwMode="auto">
          <a:xfrm>
            <a:off x="7924800" y="4327525"/>
            <a:ext cx="358775" cy="249238"/>
          </a:xfrm>
          <a:custGeom>
            <a:avLst/>
            <a:gdLst>
              <a:gd name="T0" fmla="*/ 3593 w 699"/>
              <a:gd name="T1" fmla="*/ 0 h 579"/>
              <a:gd name="T2" fmla="*/ 155007 w 699"/>
              <a:gd name="T3" fmla="*/ 0 h 579"/>
              <a:gd name="T4" fmla="*/ 275625 w 699"/>
              <a:gd name="T5" fmla="*/ 40033 h 579"/>
              <a:gd name="T6" fmla="*/ 358775 w 699"/>
              <a:gd name="T7" fmla="*/ 123112 h 579"/>
              <a:gd name="T8" fmla="*/ 281785 w 699"/>
              <a:gd name="T9" fmla="*/ 206622 h 579"/>
              <a:gd name="T10" fmla="*/ 155007 w 699"/>
              <a:gd name="T11" fmla="*/ 249238 h 579"/>
              <a:gd name="T12" fmla="*/ 0 w 699"/>
              <a:gd name="T13" fmla="*/ 249238 h 579"/>
              <a:gd name="T14" fmla="*/ 42088 w 699"/>
              <a:gd name="T15" fmla="*/ 181655 h 579"/>
              <a:gd name="T16" fmla="*/ 56460 w 699"/>
              <a:gd name="T17" fmla="*/ 123112 h 579"/>
              <a:gd name="T18" fmla="*/ 42088 w 699"/>
              <a:gd name="T19" fmla="*/ 61556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328" name="Text Box 120"/>
          <p:cNvSpPr txBox="1">
            <a:spLocks noChangeArrowheads="1"/>
          </p:cNvSpPr>
          <p:nvPr/>
        </p:nvSpPr>
        <p:spPr bwMode="auto">
          <a:xfrm>
            <a:off x="7937500" y="4294188"/>
            <a:ext cx="228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1</a:t>
            </a:r>
          </a:p>
        </p:txBody>
      </p:sp>
      <p:sp>
        <p:nvSpPr>
          <p:cNvPr id="478329" name="Line 121"/>
          <p:cNvSpPr>
            <a:spLocks noChangeShapeType="1"/>
          </p:cNvSpPr>
          <p:nvPr/>
        </p:nvSpPr>
        <p:spPr bwMode="auto">
          <a:xfrm>
            <a:off x="5387975" y="4470400"/>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0" name="Line 122"/>
          <p:cNvSpPr>
            <a:spLocks noChangeShapeType="1"/>
          </p:cNvSpPr>
          <p:nvPr/>
        </p:nvSpPr>
        <p:spPr bwMode="auto">
          <a:xfrm flipV="1">
            <a:off x="5953125" y="4773613"/>
            <a:ext cx="0" cy="277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1" name="Line 123"/>
          <p:cNvSpPr>
            <a:spLocks noChangeShapeType="1"/>
          </p:cNvSpPr>
          <p:nvPr/>
        </p:nvSpPr>
        <p:spPr bwMode="auto">
          <a:xfrm flipV="1">
            <a:off x="5387975" y="4768850"/>
            <a:ext cx="55880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2" name="Line 124"/>
          <p:cNvSpPr>
            <a:spLocks noChangeShapeType="1"/>
          </p:cNvSpPr>
          <p:nvPr/>
        </p:nvSpPr>
        <p:spPr bwMode="auto">
          <a:xfrm>
            <a:off x="5356225" y="5289550"/>
            <a:ext cx="1276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3" name="Line 125"/>
          <p:cNvSpPr>
            <a:spLocks noChangeShapeType="1"/>
          </p:cNvSpPr>
          <p:nvPr/>
        </p:nvSpPr>
        <p:spPr bwMode="auto">
          <a:xfrm>
            <a:off x="6632575" y="5045075"/>
            <a:ext cx="0" cy="244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4" name="Line 126"/>
          <p:cNvSpPr>
            <a:spLocks noChangeShapeType="1"/>
          </p:cNvSpPr>
          <p:nvPr/>
        </p:nvSpPr>
        <p:spPr bwMode="auto">
          <a:xfrm>
            <a:off x="5356225" y="512603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5" name="Line 127"/>
          <p:cNvSpPr>
            <a:spLocks noChangeShapeType="1"/>
          </p:cNvSpPr>
          <p:nvPr/>
        </p:nvSpPr>
        <p:spPr bwMode="auto">
          <a:xfrm>
            <a:off x="7704138" y="5033963"/>
            <a:ext cx="1587" cy="3127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6" name="Line 128"/>
          <p:cNvSpPr>
            <a:spLocks noChangeShapeType="1"/>
          </p:cNvSpPr>
          <p:nvPr/>
        </p:nvSpPr>
        <p:spPr bwMode="auto">
          <a:xfrm flipH="1" flipV="1">
            <a:off x="5297488" y="5345113"/>
            <a:ext cx="24003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7" name="Line 129"/>
          <p:cNvSpPr>
            <a:spLocks noChangeShapeType="1"/>
          </p:cNvSpPr>
          <p:nvPr/>
        </p:nvSpPr>
        <p:spPr bwMode="auto">
          <a:xfrm flipH="1" flipV="1">
            <a:off x="5297488" y="4979988"/>
            <a:ext cx="1587"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8" name="Line 130"/>
          <p:cNvSpPr>
            <a:spLocks noChangeShapeType="1"/>
          </p:cNvSpPr>
          <p:nvPr/>
        </p:nvSpPr>
        <p:spPr bwMode="auto">
          <a:xfrm>
            <a:off x="5302250" y="4979988"/>
            <a:ext cx="587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39" name="Line 131"/>
          <p:cNvSpPr>
            <a:spLocks noChangeShapeType="1"/>
          </p:cNvSpPr>
          <p:nvPr/>
        </p:nvSpPr>
        <p:spPr bwMode="auto">
          <a:xfrm>
            <a:off x="6632575" y="4452938"/>
            <a:ext cx="0" cy="2460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0" name="Line 132"/>
          <p:cNvSpPr>
            <a:spLocks noChangeShapeType="1"/>
          </p:cNvSpPr>
          <p:nvPr/>
        </p:nvSpPr>
        <p:spPr bwMode="auto">
          <a:xfrm flipH="1">
            <a:off x="5994400" y="4699000"/>
            <a:ext cx="6381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1" name="Line 133"/>
          <p:cNvSpPr>
            <a:spLocks noChangeShapeType="1"/>
          </p:cNvSpPr>
          <p:nvPr/>
        </p:nvSpPr>
        <p:spPr bwMode="auto">
          <a:xfrm>
            <a:off x="5994400" y="4699000"/>
            <a:ext cx="0" cy="271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2" name="Line 134"/>
          <p:cNvSpPr>
            <a:spLocks noChangeShapeType="1"/>
          </p:cNvSpPr>
          <p:nvPr/>
        </p:nvSpPr>
        <p:spPr bwMode="auto">
          <a:xfrm>
            <a:off x="5994400" y="4973638"/>
            <a:ext cx="571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3" name="Line 135"/>
          <p:cNvSpPr>
            <a:spLocks noChangeShapeType="1"/>
          </p:cNvSpPr>
          <p:nvPr/>
        </p:nvSpPr>
        <p:spPr bwMode="auto">
          <a:xfrm>
            <a:off x="7707313" y="4452938"/>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4" name="Line 136"/>
          <p:cNvSpPr>
            <a:spLocks noChangeShapeType="1"/>
          </p:cNvSpPr>
          <p:nvPr/>
        </p:nvSpPr>
        <p:spPr bwMode="auto">
          <a:xfrm flipH="1" flipV="1">
            <a:off x="6048375" y="4748213"/>
            <a:ext cx="1662113" cy="15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5" name="Line 137"/>
          <p:cNvSpPr>
            <a:spLocks noChangeShapeType="1"/>
          </p:cNvSpPr>
          <p:nvPr/>
        </p:nvSpPr>
        <p:spPr bwMode="auto">
          <a:xfrm flipH="1">
            <a:off x="6049963" y="4748213"/>
            <a:ext cx="1587" cy="368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6" name="Line 138"/>
          <p:cNvSpPr>
            <a:spLocks noChangeShapeType="1"/>
          </p:cNvSpPr>
          <p:nvPr/>
        </p:nvSpPr>
        <p:spPr bwMode="auto">
          <a:xfrm>
            <a:off x="8404225" y="4452938"/>
            <a:ext cx="0" cy="3460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7" name="Line 139"/>
          <p:cNvSpPr>
            <a:spLocks noChangeShapeType="1"/>
          </p:cNvSpPr>
          <p:nvPr/>
        </p:nvSpPr>
        <p:spPr bwMode="auto">
          <a:xfrm flipH="1">
            <a:off x="7127875" y="4799013"/>
            <a:ext cx="1276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8" name="Line 140"/>
          <p:cNvSpPr>
            <a:spLocks noChangeShapeType="1"/>
          </p:cNvSpPr>
          <p:nvPr/>
        </p:nvSpPr>
        <p:spPr bwMode="auto">
          <a:xfrm flipH="1">
            <a:off x="7126288" y="4799013"/>
            <a:ext cx="1587" cy="1666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49" name="Line 141"/>
          <p:cNvSpPr>
            <a:spLocks noChangeShapeType="1"/>
          </p:cNvSpPr>
          <p:nvPr/>
        </p:nvSpPr>
        <p:spPr bwMode="auto">
          <a:xfrm>
            <a:off x="8404225" y="5045075"/>
            <a:ext cx="0" cy="244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50" name="Line 142"/>
          <p:cNvSpPr>
            <a:spLocks noChangeShapeType="1"/>
          </p:cNvSpPr>
          <p:nvPr/>
        </p:nvSpPr>
        <p:spPr bwMode="auto">
          <a:xfrm flipH="1">
            <a:off x="7127875" y="5289550"/>
            <a:ext cx="12763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51" name="Line 143"/>
          <p:cNvSpPr>
            <a:spLocks noChangeShapeType="1"/>
          </p:cNvSpPr>
          <p:nvPr/>
        </p:nvSpPr>
        <p:spPr bwMode="auto">
          <a:xfrm flipH="1" flipV="1">
            <a:off x="7126288" y="5108575"/>
            <a:ext cx="1587" cy="1809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352" name="Rectangle 144"/>
          <p:cNvSpPr>
            <a:spLocks noChangeArrowheads="1"/>
          </p:cNvSpPr>
          <p:nvPr/>
        </p:nvSpPr>
        <p:spPr bwMode="auto">
          <a:xfrm>
            <a:off x="814388" y="4002088"/>
            <a:ext cx="1552575" cy="1525587"/>
          </a:xfrm>
          <a:prstGeom prst="rect">
            <a:avLst/>
          </a:prstGeom>
          <a:solidFill>
            <a:srgbClr val="EAEAEA"/>
          </a:soli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53" name="Rectangle 145"/>
          <p:cNvSpPr>
            <a:spLocks noChangeArrowheads="1"/>
          </p:cNvSpPr>
          <p:nvPr/>
        </p:nvSpPr>
        <p:spPr bwMode="auto">
          <a:xfrm>
            <a:off x="2613025" y="4002088"/>
            <a:ext cx="1524000" cy="1525587"/>
          </a:xfrm>
          <a:prstGeom prst="rect">
            <a:avLst/>
          </a:prstGeom>
          <a:solidFill>
            <a:srgbClr val="EAEAEA"/>
          </a:solidFill>
          <a:ln w="9525">
            <a:solidFill>
              <a:srgbClr val="96969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54" name="Rectangle 146"/>
          <p:cNvSpPr>
            <a:spLocks noChangeArrowheads="1"/>
          </p:cNvSpPr>
          <p:nvPr/>
        </p:nvSpPr>
        <p:spPr bwMode="auto">
          <a:xfrm>
            <a:off x="2732088" y="4838700"/>
            <a:ext cx="523875"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55" name="AutoShape 147"/>
          <p:cNvSpPr>
            <a:spLocks noChangeArrowheads="1"/>
          </p:cNvSpPr>
          <p:nvPr/>
        </p:nvSpPr>
        <p:spPr bwMode="auto">
          <a:xfrm>
            <a:off x="2833688" y="4905375"/>
            <a:ext cx="354012" cy="249238"/>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56" name="Line 148"/>
          <p:cNvSpPr>
            <a:spLocks noChangeShapeType="1"/>
          </p:cNvSpPr>
          <p:nvPr/>
        </p:nvSpPr>
        <p:spPr bwMode="auto">
          <a:xfrm flipH="1">
            <a:off x="2732088" y="4959350"/>
            <a:ext cx="1063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57" name="Line 149"/>
          <p:cNvSpPr>
            <a:spLocks noChangeShapeType="1"/>
          </p:cNvSpPr>
          <p:nvPr/>
        </p:nvSpPr>
        <p:spPr bwMode="auto">
          <a:xfrm flipH="1">
            <a:off x="2728913" y="5102225"/>
            <a:ext cx="1063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58" name="Line 150"/>
          <p:cNvSpPr>
            <a:spLocks noChangeShapeType="1"/>
          </p:cNvSpPr>
          <p:nvPr/>
        </p:nvSpPr>
        <p:spPr bwMode="auto">
          <a:xfrm flipH="1">
            <a:off x="3227388" y="5030788"/>
            <a:ext cx="73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59" name="Oval 151"/>
          <p:cNvSpPr>
            <a:spLocks noChangeArrowheads="1"/>
          </p:cNvSpPr>
          <p:nvPr/>
        </p:nvSpPr>
        <p:spPr bwMode="auto">
          <a:xfrm>
            <a:off x="3186113" y="5018088"/>
            <a:ext cx="44450"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60" name="Text Box 152"/>
          <p:cNvSpPr txBox="1">
            <a:spLocks noChangeArrowheads="1"/>
          </p:cNvSpPr>
          <p:nvPr/>
        </p:nvSpPr>
        <p:spPr bwMode="auto">
          <a:xfrm>
            <a:off x="2820988" y="4870450"/>
            <a:ext cx="228600"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5</a:t>
            </a:r>
          </a:p>
        </p:txBody>
      </p:sp>
      <p:sp>
        <p:nvSpPr>
          <p:cNvPr id="478361" name="Rectangle 153"/>
          <p:cNvSpPr>
            <a:spLocks noChangeArrowheads="1"/>
          </p:cNvSpPr>
          <p:nvPr/>
        </p:nvSpPr>
        <p:spPr bwMode="auto">
          <a:xfrm>
            <a:off x="1633538" y="4848225"/>
            <a:ext cx="522287"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62" name="Line 154"/>
          <p:cNvSpPr>
            <a:spLocks noChangeShapeType="1"/>
          </p:cNvSpPr>
          <p:nvPr/>
        </p:nvSpPr>
        <p:spPr bwMode="auto">
          <a:xfrm flipH="1">
            <a:off x="1631950" y="4973638"/>
            <a:ext cx="1349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63" name="Line 155"/>
          <p:cNvSpPr>
            <a:spLocks noChangeShapeType="1"/>
          </p:cNvSpPr>
          <p:nvPr/>
        </p:nvSpPr>
        <p:spPr bwMode="auto">
          <a:xfrm flipH="1">
            <a:off x="1627188" y="5114925"/>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64" name="Line 156"/>
          <p:cNvSpPr>
            <a:spLocks noChangeShapeType="1"/>
          </p:cNvSpPr>
          <p:nvPr/>
        </p:nvSpPr>
        <p:spPr bwMode="auto">
          <a:xfrm flipH="1">
            <a:off x="2125663" y="5045075"/>
            <a:ext cx="7461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65" name="Oval 157"/>
          <p:cNvSpPr>
            <a:spLocks noChangeArrowheads="1"/>
          </p:cNvSpPr>
          <p:nvPr/>
        </p:nvSpPr>
        <p:spPr bwMode="auto">
          <a:xfrm>
            <a:off x="2085975" y="5026025"/>
            <a:ext cx="42863" cy="36513"/>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66" name="Freeform 158"/>
          <p:cNvSpPr>
            <a:spLocks/>
          </p:cNvSpPr>
          <p:nvPr/>
        </p:nvSpPr>
        <p:spPr bwMode="auto">
          <a:xfrm>
            <a:off x="1728788" y="4919663"/>
            <a:ext cx="358775" cy="249237"/>
          </a:xfrm>
          <a:custGeom>
            <a:avLst/>
            <a:gdLst>
              <a:gd name="T0" fmla="*/ 3593 w 699"/>
              <a:gd name="T1" fmla="*/ 0 h 579"/>
              <a:gd name="T2" fmla="*/ 155007 w 699"/>
              <a:gd name="T3" fmla="*/ 0 h 579"/>
              <a:gd name="T4" fmla="*/ 275625 w 699"/>
              <a:gd name="T5" fmla="*/ 40033 h 579"/>
              <a:gd name="T6" fmla="*/ 358775 w 699"/>
              <a:gd name="T7" fmla="*/ 123112 h 579"/>
              <a:gd name="T8" fmla="*/ 281785 w 699"/>
              <a:gd name="T9" fmla="*/ 206621 h 579"/>
              <a:gd name="T10" fmla="*/ 155007 w 699"/>
              <a:gd name="T11" fmla="*/ 249237 h 579"/>
              <a:gd name="T12" fmla="*/ 0 w 699"/>
              <a:gd name="T13" fmla="*/ 249237 h 579"/>
              <a:gd name="T14" fmla="*/ 42088 w 699"/>
              <a:gd name="T15" fmla="*/ 181655 h 579"/>
              <a:gd name="T16" fmla="*/ 56460 w 699"/>
              <a:gd name="T17" fmla="*/ 123112 h 579"/>
              <a:gd name="T18" fmla="*/ 42088 w 699"/>
              <a:gd name="T19" fmla="*/ 61556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367" name="Text Box 159"/>
          <p:cNvSpPr txBox="1">
            <a:spLocks noChangeArrowheads="1"/>
          </p:cNvSpPr>
          <p:nvPr/>
        </p:nvSpPr>
        <p:spPr bwMode="auto">
          <a:xfrm>
            <a:off x="1747838" y="4895850"/>
            <a:ext cx="2270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6</a:t>
            </a:r>
          </a:p>
        </p:txBody>
      </p:sp>
      <p:sp>
        <p:nvSpPr>
          <p:cNvPr id="478368" name="Rectangle 160"/>
          <p:cNvSpPr>
            <a:spLocks noChangeArrowheads="1"/>
          </p:cNvSpPr>
          <p:nvPr/>
        </p:nvSpPr>
        <p:spPr bwMode="auto">
          <a:xfrm>
            <a:off x="2732088" y="4256088"/>
            <a:ext cx="523875"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69" name="AutoShape 161"/>
          <p:cNvSpPr>
            <a:spLocks noChangeArrowheads="1"/>
          </p:cNvSpPr>
          <p:nvPr/>
        </p:nvSpPr>
        <p:spPr bwMode="auto">
          <a:xfrm>
            <a:off x="2833688" y="4321175"/>
            <a:ext cx="354012" cy="250825"/>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70" name="Line 162"/>
          <p:cNvSpPr>
            <a:spLocks noChangeShapeType="1"/>
          </p:cNvSpPr>
          <p:nvPr/>
        </p:nvSpPr>
        <p:spPr bwMode="auto">
          <a:xfrm flipH="1">
            <a:off x="2732088" y="4375150"/>
            <a:ext cx="1063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71" name="Line 163"/>
          <p:cNvSpPr>
            <a:spLocks noChangeShapeType="1"/>
          </p:cNvSpPr>
          <p:nvPr/>
        </p:nvSpPr>
        <p:spPr bwMode="auto">
          <a:xfrm flipH="1">
            <a:off x="2728913" y="4518025"/>
            <a:ext cx="106362"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72" name="Line 164"/>
          <p:cNvSpPr>
            <a:spLocks noChangeShapeType="1"/>
          </p:cNvSpPr>
          <p:nvPr/>
        </p:nvSpPr>
        <p:spPr bwMode="auto">
          <a:xfrm flipH="1">
            <a:off x="3227388" y="4448175"/>
            <a:ext cx="73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73" name="Oval 165"/>
          <p:cNvSpPr>
            <a:spLocks noChangeArrowheads="1"/>
          </p:cNvSpPr>
          <p:nvPr/>
        </p:nvSpPr>
        <p:spPr bwMode="auto">
          <a:xfrm>
            <a:off x="3186113" y="4433888"/>
            <a:ext cx="44450"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74" name="Text Box 166"/>
          <p:cNvSpPr txBox="1">
            <a:spLocks noChangeArrowheads="1"/>
          </p:cNvSpPr>
          <p:nvPr/>
        </p:nvSpPr>
        <p:spPr bwMode="auto">
          <a:xfrm>
            <a:off x="2805113" y="4302125"/>
            <a:ext cx="227012"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4</a:t>
            </a:r>
          </a:p>
        </p:txBody>
      </p:sp>
      <p:sp>
        <p:nvSpPr>
          <p:cNvPr id="478375" name="Rectangle 167"/>
          <p:cNvSpPr>
            <a:spLocks noChangeArrowheads="1"/>
          </p:cNvSpPr>
          <p:nvPr/>
        </p:nvSpPr>
        <p:spPr bwMode="auto">
          <a:xfrm>
            <a:off x="930275" y="4256088"/>
            <a:ext cx="523875"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76" name="AutoShape 168"/>
          <p:cNvSpPr>
            <a:spLocks noChangeArrowheads="1"/>
          </p:cNvSpPr>
          <p:nvPr/>
        </p:nvSpPr>
        <p:spPr bwMode="auto">
          <a:xfrm rot="5400000">
            <a:off x="1066800" y="4335463"/>
            <a:ext cx="244475" cy="244475"/>
          </a:xfrm>
          <a:prstGeom prst="triangle">
            <a:avLst>
              <a:gd name="adj" fmla="val 50000"/>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77" name="Line 169"/>
          <p:cNvSpPr>
            <a:spLocks noChangeShapeType="1"/>
          </p:cNvSpPr>
          <p:nvPr/>
        </p:nvSpPr>
        <p:spPr bwMode="auto">
          <a:xfrm flipH="1">
            <a:off x="962025" y="4467225"/>
            <a:ext cx="10477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78" name="Line 170"/>
          <p:cNvSpPr>
            <a:spLocks noChangeShapeType="1"/>
          </p:cNvSpPr>
          <p:nvPr/>
        </p:nvSpPr>
        <p:spPr bwMode="auto">
          <a:xfrm flipH="1">
            <a:off x="1350963" y="4467225"/>
            <a:ext cx="635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79" name="Oval 171"/>
          <p:cNvSpPr>
            <a:spLocks noChangeArrowheads="1"/>
          </p:cNvSpPr>
          <p:nvPr/>
        </p:nvSpPr>
        <p:spPr bwMode="auto">
          <a:xfrm>
            <a:off x="1312863" y="4449763"/>
            <a:ext cx="42862"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80" name="Text Box 172"/>
          <p:cNvSpPr txBox="1">
            <a:spLocks noChangeArrowheads="1"/>
          </p:cNvSpPr>
          <p:nvPr/>
        </p:nvSpPr>
        <p:spPr bwMode="auto">
          <a:xfrm>
            <a:off x="982663" y="4298950"/>
            <a:ext cx="228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8</a:t>
            </a:r>
          </a:p>
        </p:txBody>
      </p:sp>
      <p:sp>
        <p:nvSpPr>
          <p:cNvPr id="478381" name="Rectangle 173"/>
          <p:cNvSpPr>
            <a:spLocks noChangeArrowheads="1"/>
          </p:cNvSpPr>
          <p:nvPr/>
        </p:nvSpPr>
        <p:spPr bwMode="auto">
          <a:xfrm>
            <a:off x="939800" y="4848225"/>
            <a:ext cx="522288"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82" name="Freeform 174"/>
          <p:cNvSpPr>
            <a:spLocks/>
          </p:cNvSpPr>
          <p:nvPr/>
        </p:nvSpPr>
        <p:spPr bwMode="auto">
          <a:xfrm>
            <a:off x="1035050" y="4927600"/>
            <a:ext cx="358775" cy="250825"/>
          </a:xfrm>
          <a:custGeom>
            <a:avLst/>
            <a:gdLst>
              <a:gd name="T0" fmla="*/ 3593 w 699"/>
              <a:gd name="T1" fmla="*/ 0 h 579"/>
              <a:gd name="T2" fmla="*/ 155007 w 699"/>
              <a:gd name="T3" fmla="*/ 0 h 579"/>
              <a:gd name="T4" fmla="*/ 275625 w 699"/>
              <a:gd name="T5" fmla="*/ 40288 h 579"/>
              <a:gd name="T6" fmla="*/ 358775 w 699"/>
              <a:gd name="T7" fmla="*/ 123896 h 579"/>
              <a:gd name="T8" fmla="*/ 281785 w 699"/>
              <a:gd name="T9" fmla="*/ 207938 h 579"/>
              <a:gd name="T10" fmla="*/ 155007 w 699"/>
              <a:gd name="T11" fmla="*/ 250825 h 579"/>
              <a:gd name="T12" fmla="*/ 0 w 699"/>
              <a:gd name="T13" fmla="*/ 250825 h 579"/>
              <a:gd name="T14" fmla="*/ 42088 w 699"/>
              <a:gd name="T15" fmla="*/ 182812 h 579"/>
              <a:gd name="T16" fmla="*/ 56460 w 699"/>
              <a:gd name="T17" fmla="*/ 123896 h 579"/>
              <a:gd name="T18" fmla="*/ 42088 w 699"/>
              <a:gd name="T19" fmla="*/ 61948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383" name="Line 175"/>
          <p:cNvSpPr>
            <a:spLocks noChangeShapeType="1"/>
          </p:cNvSpPr>
          <p:nvPr/>
        </p:nvSpPr>
        <p:spPr bwMode="auto">
          <a:xfrm flipH="1">
            <a:off x="936625" y="4981575"/>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84" name="Line 176"/>
          <p:cNvSpPr>
            <a:spLocks noChangeShapeType="1"/>
          </p:cNvSpPr>
          <p:nvPr/>
        </p:nvSpPr>
        <p:spPr bwMode="auto">
          <a:xfrm flipH="1">
            <a:off x="930275" y="5124450"/>
            <a:ext cx="1349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85" name="Line 177"/>
          <p:cNvSpPr>
            <a:spLocks noChangeShapeType="1"/>
          </p:cNvSpPr>
          <p:nvPr/>
        </p:nvSpPr>
        <p:spPr bwMode="auto">
          <a:xfrm flipH="1">
            <a:off x="1389063" y="5053013"/>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86" name="Text Box 178"/>
          <p:cNvSpPr txBox="1">
            <a:spLocks noChangeArrowheads="1"/>
          </p:cNvSpPr>
          <p:nvPr/>
        </p:nvSpPr>
        <p:spPr bwMode="auto">
          <a:xfrm>
            <a:off x="1054100" y="4905375"/>
            <a:ext cx="227013"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7</a:t>
            </a:r>
          </a:p>
        </p:txBody>
      </p:sp>
      <p:sp>
        <p:nvSpPr>
          <p:cNvPr id="478387" name="Rectangle 179"/>
          <p:cNvSpPr>
            <a:spLocks noChangeArrowheads="1"/>
          </p:cNvSpPr>
          <p:nvPr/>
        </p:nvSpPr>
        <p:spPr bwMode="auto">
          <a:xfrm>
            <a:off x="3432175" y="4848225"/>
            <a:ext cx="522288" cy="392113"/>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88" name="Line 180"/>
          <p:cNvSpPr>
            <a:spLocks noChangeShapeType="1"/>
          </p:cNvSpPr>
          <p:nvPr/>
        </p:nvSpPr>
        <p:spPr bwMode="auto">
          <a:xfrm flipH="1">
            <a:off x="3430588" y="4973638"/>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89" name="Line 181"/>
          <p:cNvSpPr>
            <a:spLocks noChangeShapeType="1"/>
          </p:cNvSpPr>
          <p:nvPr/>
        </p:nvSpPr>
        <p:spPr bwMode="auto">
          <a:xfrm flipH="1">
            <a:off x="3424238" y="5114925"/>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90" name="Line 182"/>
          <p:cNvSpPr>
            <a:spLocks noChangeShapeType="1"/>
          </p:cNvSpPr>
          <p:nvPr/>
        </p:nvSpPr>
        <p:spPr bwMode="auto">
          <a:xfrm flipH="1">
            <a:off x="3924300" y="5045075"/>
            <a:ext cx="73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91" name="Oval 183"/>
          <p:cNvSpPr>
            <a:spLocks noChangeArrowheads="1"/>
          </p:cNvSpPr>
          <p:nvPr/>
        </p:nvSpPr>
        <p:spPr bwMode="auto">
          <a:xfrm>
            <a:off x="3883025" y="5026025"/>
            <a:ext cx="44450" cy="36513"/>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92" name="Freeform 184"/>
          <p:cNvSpPr>
            <a:spLocks/>
          </p:cNvSpPr>
          <p:nvPr/>
        </p:nvSpPr>
        <p:spPr bwMode="auto">
          <a:xfrm>
            <a:off x="3527425" y="4919663"/>
            <a:ext cx="358775" cy="249237"/>
          </a:xfrm>
          <a:custGeom>
            <a:avLst/>
            <a:gdLst>
              <a:gd name="T0" fmla="*/ 3593 w 699"/>
              <a:gd name="T1" fmla="*/ 0 h 579"/>
              <a:gd name="T2" fmla="*/ 155007 w 699"/>
              <a:gd name="T3" fmla="*/ 0 h 579"/>
              <a:gd name="T4" fmla="*/ 275625 w 699"/>
              <a:gd name="T5" fmla="*/ 40033 h 579"/>
              <a:gd name="T6" fmla="*/ 358775 w 699"/>
              <a:gd name="T7" fmla="*/ 123112 h 579"/>
              <a:gd name="T8" fmla="*/ 281785 w 699"/>
              <a:gd name="T9" fmla="*/ 206621 h 579"/>
              <a:gd name="T10" fmla="*/ 155007 w 699"/>
              <a:gd name="T11" fmla="*/ 249237 h 579"/>
              <a:gd name="T12" fmla="*/ 0 w 699"/>
              <a:gd name="T13" fmla="*/ 249237 h 579"/>
              <a:gd name="T14" fmla="*/ 42088 w 699"/>
              <a:gd name="T15" fmla="*/ 181655 h 579"/>
              <a:gd name="T16" fmla="*/ 56460 w 699"/>
              <a:gd name="T17" fmla="*/ 123112 h 579"/>
              <a:gd name="T18" fmla="*/ 42088 w 699"/>
              <a:gd name="T19" fmla="*/ 61556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393" name="Text Box 185"/>
          <p:cNvSpPr txBox="1">
            <a:spLocks noChangeArrowheads="1"/>
          </p:cNvSpPr>
          <p:nvPr/>
        </p:nvSpPr>
        <p:spPr bwMode="auto">
          <a:xfrm>
            <a:off x="3551238" y="4894263"/>
            <a:ext cx="228600"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2</a:t>
            </a:r>
          </a:p>
        </p:txBody>
      </p:sp>
      <p:sp>
        <p:nvSpPr>
          <p:cNvPr id="478394" name="Rectangle 186"/>
          <p:cNvSpPr>
            <a:spLocks noChangeArrowheads="1"/>
          </p:cNvSpPr>
          <p:nvPr/>
        </p:nvSpPr>
        <p:spPr bwMode="auto">
          <a:xfrm>
            <a:off x="1689100" y="4249738"/>
            <a:ext cx="520700" cy="392112"/>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95" name="AutoShape 187"/>
          <p:cNvSpPr>
            <a:spLocks noChangeArrowheads="1"/>
          </p:cNvSpPr>
          <p:nvPr/>
        </p:nvSpPr>
        <p:spPr bwMode="auto">
          <a:xfrm>
            <a:off x="1789113" y="4314825"/>
            <a:ext cx="354012" cy="250825"/>
          </a:xfrm>
          <a:prstGeom prst="flowChartDelay">
            <a:avLst/>
          </a:prstGeom>
          <a:solidFill>
            <a:srgbClr val="FFFFFF"/>
          </a:solidFill>
          <a:ln w="9525">
            <a:solidFill>
              <a:srgbClr val="000000"/>
            </a:solidFill>
            <a:miter lim="800000"/>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396" name="Line 188"/>
          <p:cNvSpPr>
            <a:spLocks noChangeShapeType="1"/>
          </p:cNvSpPr>
          <p:nvPr/>
        </p:nvSpPr>
        <p:spPr bwMode="auto">
          <a:xfrm flipH="1">
            <a:off x="1689100" y="4368800"/>
            <a:ext cx="10636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97" name="Line 189"/>
          <p:cNvSpPr>
            <a:spLocks noChangeShapeType="1"/>
          </p:cNvSpPr>
          <p:nvPr/>
        </p:nvSpPr>
        <p:spPr bwMode="auto">
          <a:xfrm flipH="1">
            <a:off x="1685925" y="4511675"/>
            <a:ext cx="10318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98" name="Line 190"/>
          <p:cNvSpPr>
            <a:spLocks noChangeShapeType="1"/>
          </p:cNvSpPr>
          <p:nvPr/>
        </p:nvSpPr>
        <p:spPr bwMode="auto">
          <a:xfrm flipH="1">
            <a:off x="2181225" y="4440238"/>
            <a:ext cx="7461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399" name="Oval 191"/>
          <p:cNvSpPr>
            <a:spLocks noChangeArrowheads="1"/>
          </p:cNvSpPr>
          <p:nvPr/>
        </p:nvSpPr>
        <p:spPr bwMode="auto">
          <a:xfrm>
            <a:off x="2141538" y="4427538"/>
            <a:ext cx="42862"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400" name="Text Box 192"/>
          <p:cNvSpPr txBox="1">
            <a:spLocks noChangeArrowheads="1"/>
          </p:cNvSpPr>
          <p:nvPr/>
        </p:nvSpPr>
        <p:spPr bwMode="auto">
          <a:xfrm>
            <a:off x="1795463" y="4298950"/>
            <a:ext cx="227012"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3</a:t>
            </a:r>
          </a:p>
        </p:txBody>
      </p:sp>
      <p:sp>
        <p:nvSpPr>
          <p:cNvPr id="478401" name="Rectangle 193"/>
          <p:cNvSpPr>
            <a:spLocks noChangeArrowheads="1"/>
          </p:cNvSpPr>
          <p:nvPr/>
        </p:nvSpPr>
        <p:spPr bwMode="auto">
          <a:xfrm>
            <a:off x="3432175" y="4256088"/>
            <a:ext cx="522288" cy="393700"/>
          </a:xfrm>
          <a:prstGeom prst="rect">
            <a:avLst/>
          </a:prstGeom>
          <a:solidFill>
            <a:srgbClr val="B2B2B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402" name="Line 194"/>
          <p:cNvSpPr>
            <a:spLocks noChangeShapeType="1"/>
          </p:cNvSpPr>
          <p:nvPr/>
        </p:nvSpPr>
        <p:spPr bwMode="auto">
          <a:xfrm flipH="1">
            <a:off x="3430588" y="4381500"/>
            <a:ext cx="13335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403" name="Line 195"/>
          <p:cNvSpPr>
            <a:spLocks noChangeShapeType="1"/>
          </p:cNvSpPr>
          <p:nvPr/>
        </p:nvSpPr>
        <p:spPr bwMode="auto">
          <a:xfrm flipH="1">
            <a:off x="3424238" y="4522788"/>
            <a:ext cx="13493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404" name="Line 196"/>
          <p:cNvSpPr>
            <a:spLocks noChangeShapeType="1"/>
          </p:cNvSpPr>
          <p:nvPr/>
        </p:nvSpPr>
        <p:spPr bwMode="auto">
          <a:xfrm flipH="1">
            <a:off x="3924300" y="4452938"/>
            <a:ext cx="7302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de-DE"/>
          </a:p>
        </p:txBody>
      </p:sp>
      <p:sp>
        <p:nvSpPr>
          <p:cNvPr id="478405" name="Oval 197"/>
          <p:cNvSpPr>
            <a:spLocks noChangeArrowheads="1"/>
          </p:cNvSpPr>
          <p:nvPr/>
        </p:nvSpPr>
        <p:spPr bwMode="auto">
          <a:xfrm>
            <a:off x="3883025" y="4433888"/>
            <a:ext cx="44450" cy="36512"/>
          </a:xfrm>
          <a:prstGeom prst="ellipse">
            <a:avLst/>
          </a:prstGeom>
          <a:solidFill>
            <a:srgbClr val="FFFFFF"/>
          </a:solidFill>
          <a:ln w="9525">
            <a:solidFill>
              <a:srgbClr val="000000"/>
            </a:solidFill>
            <a:round/>
            <a:headEnd/>
            <a:tailEnd/>
          </a:ln>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406" name="Freeform 198"/>
          <p:cNvSpPr>
            <a:spLocks/>
          </p:cNvSpPr>
          <p:nvPr/>
        </p:nvSpPr>
        <p:spPr bwMode="auto">
          <a:xfrm>
            <a:off x="3527425" y="4327525"/>
            <a:ext cx="358775" cy="249238"/>
          </a:xfrm>
          <a:custGeom>
            <a:avLst/>
            <a:gdLst>
              <a:gd name="T0" fmla="*/ 3593 w 699"/>
              <a:gd name="T1" fmla="*/ 0 h 579"/>
              <a:gd name="T2" fmla="*/ 155007 w 699"/>
              <a:gd name="T3" fmla="*/ 0 h 579"/>
              <a:gd name="T4" fmla="*/ 275625 w 699"/>
              <a:gd name="T5" fmla="*/ 40033 h 579"/>
              <a:gd name="T6" fmla="*/ 358775 w 699"/>
              <a:gd name="T7" fmla="*/ 123112 h 579"/>
              <a:gd name="T8" fmla="*/ 281785 w 699"/>
              <a:gd name="T9" fmla="*/ 206622 h 579"/>
              <a:gd name="T10" fmla="*/ 155007 w 699"/>
              <a:gd name="T11" fmla="*/ 249238 h 579"/>
              <a:gd name="T12" fmla="*/ 0 w 699"/>
              <a:gd name="T13" fmla="*/ 249238 h 579"/>
              <a:gd name="T14" fmla="*/ 42088 w 699"/>
              <a:gd name="T15" fmla="*/ 181655 h 579"/>
              <a:gd name="T16" fmla="*/ 56460 w 699"/>
              <a:gd name="T17" fmla="*/ 123112 h 579"/>
              <a:gd name="T18" fmla="*/ 42088 w 699"/>
              <a:gd name="T19" fmla="*/ 61556 h 579"/>
              <a:gd name="T20" fmla="*/ 3593 w 699"/>
              <a:gd name="T21" fmla="*/ 0 h 5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9" h="579">
                <a:moveTo>
                  <a:pt x="7" y="0"/>
                </a:moveTo>
                <a:cubicBezTo>
                  <a:pt x="154" y="0"/>
                  <a:pt x="171" y="0"/>
                  <a:pt x="302" y="0"/>
                </a:cubicBezTo>
                <a:cubicBezTo>
                  <a:pt x="357" y="3"/>
                  <a:pt x="471" y="45"/>
                  <a:pt x="537" y="93"/>
                </a:cubicBezTo>
                <a:cubicBezTo>
                  <a:pt x="603" y="141"/>
                  <a:pt x="652" y="186"/>
                  <a:pt x="699" y="286"/>
                </a:cubicBezTo>
                <a:cubicBezTo>
                  <a:pt x="672" y="364"/>
                  <a:pt x="615" y="431"/>
                  <a:pt x="549" y="480"/>
                </a:cubicBezTo>
                <a:cubicBezTo>
                  <a:pt x="483" y="528"/>
                  <a:pt x="375" y="579"/>
                  <a:pt x="302" y="579"/>
                </a:cubicBezTo>
                <a:cubicBezTo>
                  <a:pt x="174" y="579"/>
                  <a:pt x="151" y="579"/>
                  <a:pt x="0" y="579"/>
                </a:cubicBezTo>
                <a:cubicBezTo>
                  <a:pt x="48" y="513"/>
                  <a:pt x="64" y="471"/>
                  <a:pt x="82" y="422"/>
                </a:cubicBezTo>
                <a:cubicBezTo>
                  <a:pt x="101" y="373"/>
                  <a:pt x="110" y="332"/>
                  <a:pt x="110" y="286"/>
                </a:cubicBezTo>
                <a:cubicBezTo>
                  <a:pt x="110" y="239"/>
                  <a:pt x="99" y="191"/>
                  <a:pt x="82" y="143"/>
                </a:cubicBezTo>
                <a:cubicBezTo>
                  <a:pt x="66" y="95"/>
                  <a:pt x="39" y="51"/>
                  <a:pt x="7" y="0"/>
                </a:cubicBezTo>
                <a:close/>
              </a:path>
            </a:pathLst>
          </a:custGeom>
          <a:solidFill>
            <a:srgbClr val="FFFFFF"/>
          </a:solidFill>
          <a:ln w="9525">
            <a:solidFill>
              <a:srgbClr val="000000"/>
            </a:solidFill>
            <a:round/>
            <a:headEnd/>
            <a:tailEnd/>
          </a:ln>
        </p:spPr>
        <p:txBody>
          <a:bodyPr/>
          <a:lstStyle/>
          <a:p>
            <a:endParaRPr lang="de-DE"/>
          </a:p>
        </p:txBody>
      </p:sp>
      <p:sp>
        <p:nvSpPr>
          <p:cNvPr id="478407" name="Text Box 199"/>
          <p:cNvSpPr txBox="1">
            <a:spLocks noChangeArrowheads="1"/>
          </p:cNvSpPr>
          <p:nvPr/>
        </p:nvSpPr>
        <p:spPr bwMode="auto">
          <a:xfrm>
            <a:off x="3552825" y="4308475"/>
            <a:ext cx="228600"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b="1">
                <a:ea typeface="宋体" panose="02010600030101010101" pitchFamily="2" charset="-122"/>
              </a:rPr>
              <a:t>1</a:t>
            </a:r>
          </a:p>
        </p:txBody>
      </p:sp>
      <p:sp>
        <p:nvSpPr>
          <p:cNvPr id="478408" name="Line 200"/>
          <p:cNvSpPr>
            <a:spLocks noChangeShapeType="1"/>
          </p:cNvSpPr>
          <p:nvPr/>
        </p:nvSpPr>
        <p:spPr bwMode="auto">
          <a:xfrm>
            <a:off x="963613" y="4470400"/>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09" name="Line 201"/>
          <p:cNvSpPr>
            <a:spLocks noChangeShapeType="1"/>
          </p:cNvSpPr>
          <p:nvPr/>
        </p:nvSpPr>
        <p:spPr bwMode="auto">
          <a:xfrm flipV="1">
            <a:off x="1527175" y="4773613"/>
            <a:ext cx="0" cy="2778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0" name="Line 202"/>
          <p:cNvSpPr>
            <a:spLocks noChangeShapeType="1"/>
          </p:cNvSpPr>
          <p:nvPr/>
        </p:nvSpPr>
        <p:spPr bwMode="auto">
          <a:xfrm flipV="1">
            <a:off x="963613" y="4768850"/>
            <a:ext cx="55880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1" name="Line 203"/>
          <p:cNvSpPr>
            <a:spLocks noChangeShapeType="1"/>
          </p:cNvSpPr>
          <p:nvPr/>
        </p:nvSpPr>
        <p:spPr bwMode="auto">
          <a:xfrm>
            <a:off x="930275" y="5289550"/>
            <a:ext cx="12779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2" name="Line 204"/>
          <p:cNvSpPr>
            <a:spLocks noChangeShapeType="1"/>
          </p:cNvSpPr>
          <p:nvPr/>
        </p:nvSpPr>
        <p:spPr bwMode="auto">
          <a:xfrm>
            <a:off x="2208213" y="5045075"/>
            <a:ext cx="0" cy="244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3" name="Line 205"/>
          <p:cNvSpPr>
            <a:spLocks noChangeShapeType="1"/>
          </p:cNvSpPr>
          <p:nvPr/>
        </p:nvSpPr>
        <p:spPr bwMode="auto">
          <a:xfrm>
            <a:off x="930275" y="5126038"/>
            <a:ext cx="0" cy="163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4" name="Line 206"/>
          <p:cNvSpPr>
            <a:spLocks noChangeShapeType="1"/>
          </p:cNvSpPr>
          <p:nvPr/>
        </p:nvSpPr>
        <p:spPr bwMode="auto">
          <a:xfrm flipH="1">
            <a:off x="871538" y="4691063"/>
            <a:ext cx="0" cy="288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5" name="Line 207"/>
          <p:cNvSpPr>
            <a:spLocks noChangeShapeType="1"/>
          </p:cNvSpPr>
          <p:nvPr/>
        </p:nvSpPr>
        <p:spPr bwMode="auto">
          <a:xfrm>
            <a:off x="877888" y="4979988"/>
            <a:ext cx="587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6" name="Line 208"/>
          <p:cNvSpPr>
            <a:spLocks noChangeShapeType="1"/>
          </p:cNvSpPr>
          <p:nvPr/>
        </p:nvSpPr>
        <p:spPr bwMode="auto">
          <a:xfrm>
            <a:off x="3308350" y="4452938"/>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7" name="Line 209"/>
          <p:cNvSpPr>
            <a:spLocks noChangeShapeType="1"/>
          </p:cNvSpPr>
          <p:nvPr/>
        </p:nvSpPr>
        <p:spPr bwMode="auto">
          <a:xfrm flipH="1">
            <a:off x="1624013" y="4748213"/>
            <a:ext cx="16827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8" name="Line 210"/>
          <p:cNvSpPr>
            <a:spLocks noChangeShapeType="1"/>
          </p:cNvSpPr>
          <p:nvPr/>
        </p:nvSpPr>
        <p:spPr bwMode="auto">
          <a:xfrm flipH="1">
            <a:off x="1627188" y="4748213"/>
            <a:ext cx="0" cy="2238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19" name="Line 211"/>
          <p:cNvSpPr>
            <a:spLocks noChangeShapeType="1"/>
          </p:cNvSpPr>
          <p:nvPr/>
        </p:nvSpPr>
        <p:spPr bwMode="auto">
          <a:xfrm flipV="1">
            <a:off x="4006850" y="4149725"/>
            <a:ext cx="0" cy="303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0" name="Line 212"/>
          <p:cNvSpPr>
            <a:spLocks noChangeShapeType="1"/>
          </p:cNvSpPr>
          <p:nvPr/>
        </p:nvSpPr>
        <p:spPr bwMode="auto">
          <a:xfrm flipH="1">
            <a:off x="1689100" y="4148138"/>
            <a:ext cx="0" cy="214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1" name="Line 213"/>
          <p:cNvSpPr>
            <a:spLocks noChangeShapeType="1"/>
          </p:cNvSpPr>
          <p:nvPr/>
        </p:nvSpPr>
        <p:spPr bwMode="auto">
          <a:xfrm>
            <a:off x="4005263" y="4802188"/>
            <a:ext cx="1587" cy="2365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2" name="Line 214"/>
          <p:cNvSpPr>
            <a:spLocks noChangeShapeType="1"/>
          </p:cNvSpPr>
          <p:nvPr/>
        </p:nvSpPr>
        <p:spPr bwMode="auto">
          <a:xfrm>
            <a:off x="1627188" y="5118100"/>
            <a:ext cx="0" cy="3127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3" name="Line 215"/>
          <p:cNvSpPr>
            <a:spLocks noChangeShapeType="1"/>
          </p:cNvSpPr>
          <p:nvPr/>
        </p:nvSpPr>
        <p:spPr bwMode="auto">
          <a:xfrm>
            <a:off x="1627188" y="5430838"/>
            <a:ext cx="16811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4" name="Line 216"/>
          <p:cNvSpPr>
            <a:spLocks noChangeShapeType="1"/>
          </p:cNvSpPr>
          <p:nvPr/>
        </p:nvSpPr>
        <p:spPr bwMode="auto">
          <a:xfrm>
            <a:off x="3308350" y="5037138"/>
            <a:ext cx="0" cy="393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5" name="Line 217"/>
          <p:cNvSpPr>
            <a:spLocks noChangeShapeType="1"/>
          </p:cNvSpPr>
          <p:nvPr/>
        </p:nvSpPr>
        <p:spPr bwMode="auto">
          <a:xfrm>
            <a:off x="1685925" y="4149725"/>
            <a:ext cx="23209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6" name="Line 218"/>
          <p:cNvSpPr>
            <a:spLocks noChangeShapeType="1"/>
          </p:cNvSpPr>
          <p:nvPr/>
        </p:nvSpPr>
        <p:spPr bwMode="auto">
          <a:xfrm>
            <a:off x="871538" y="4691063"/>
            <a:ext cx="1393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7" name="Line 219"/>
          <p:cNvSpPr>
            <a:spLocks noChangeShapeType="1"/>
          </p:cNvSpPr>
          <p:nvPr/>
        </p:nvSpPr>
        <p:spPr bwMode="auto">
          <a:xfrm flipV="1">
            <a:off x="2265363" y="4446588"/>
            <a:ext cx="0" cy="2444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8" name="Line 220"/>
          <p:cNvSpPr>
            <a:spLocks noChangeShapeType="1"/>
          </p:cNvSpPr>
          <p:nvPr/>
        </p:nvSpPr>
        <p:spPr bwMode="auto">
          <a:xfrm flipH="1">
            <a:off x="1677988" y="4803775"/>
            <a:ext cx="23193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29" name="Line 221"/>
          <p:cNvSpPr>
            <a:spLocks noChangeShapeType="1"/>
          </p:cNvSpPr>
          <p:nvPr/>
        </p:nvSpPr>
        <p:spPr bwMode="auto">
          <a:xfrm>
            <a:off x="1684338" y="4510088"/>
            <a:ext cx="0" cy="295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30" name="Line 222"/>
          <p:cNvSpPr>
            <a:spLocks noChangeShapeType="1"/>
          </p:cNvSpPr>
          <p:nvPr/>
        </p:nvSpPr>
        <p:spPr bwMode="auto">
          <a:xfrm>
            <a:off x="4364038" y="1473200"/>
            <a:ext cx="0" cy="1328738"/>
          </a:xfrm>
          <a:prstGeom prst="line">
            <a:avLst/>
          </a:prstGeom>
          <a:noFill/>
          <a:ln w="28575">
            <a:solidFill>
              <a:srgbClr val="CC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31" name="Freeform 223"/>
          <p:cNvSpPr>
            <a:spLocks/>
          </p:cNvSpPr>
          <p:nvPr/>
        </p:nvSpPr>
        <p:spPr bwMode="auto">
          <a:xfrm>
            <a:off x="3741738" y="1544638"/>
            <a:ext cx="1276350" cy="935037"/>
          </a:xfrm>
          <a:custGeom>
            <a:avLst/>
            <a:gdLst>
              <a:gd name="T0" fmla="*/ 0 w 998"/>
              <a:gd name="T1" fmla="*/ 935037 h 907"/>
              <a:gd name="T2" fmla="*/ 521794 w 998"/>
              <a:gd name="T3" fmla="*/ 935037 h 907"/>
              <a:gd name="T4" fmla="*/ 1276350 w 998"/>
              <a:gd name="T5" fmla="*/ 0 h 907"/>
              <a:gd name="T6" fmla="*/ 0 60000 65536"/>
              <a:gd name="T7" fmla="*/ 0 60000 65536"/>
              <a:gd name="T8" fmla="*/ 0 60000 65536"/>
            </a:gdLst>
            <a:ahLst/>
            <a:cxnLst>
              <a:cxn ang="T6">
                <a:pos x="T0" y="T1"/>
              </a:cxn>
              <a:cxn ang="T7">
                <a:pos x="T2" y="T3"/>
              </a:cxn>
              <a:cxn ang="T8">
                <a:pos x="T4" y="T5"/>
              </a:cxn>
            </a:cxnLst>
            <a:rect l="0" t="0" r="r" b="b"/>
            <a:pathLst>
              <a:path w="998" h="907">
                <a:moveTo>
                  <a:pt x="0" y="907"/>
                </a:moveTo>
                <a:lnTo>
                  <a:pt x="408" y="907"/>
                </a:lnTo>
                <a:lnTo>
                  <a:pt x="998" y="0"/>
                </a:lnTo>
              </a:path>
            </a:pathLst>
          </a:custGeom>
          <a:noFill/>
          <a:ln w="28575" cap="flat" cmpd="sng">
            <a:solidFill>
              <a:schemeClr val="accent2"/>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32" name="Text Box 224"/>
          <p:cNvSpPr txBox="1">
            <a:spLocks noChangeArrowheads="1"/>
          </p:cNvSpPr>
          <p:nvPr/>
        </p:nvSpPr>
        <p:spPr bwMode="auto">
          <a:xfrm>
            <a:off x="3862388" y="2789238"/>
            <a:ext cx="776287"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solidFill>
                  <a:srgbClr val="CC0000"/>
                </a:solidFill>
                <a:ea typeface="宋体" panose="02010600030101010101" pitchFamily="2" charset="-122"/>
              </a:rPr>
              <a:t>Cut </a:t>
            </a:r>
            <a:r>
              <a:rPr lang="en-US" altLang="zh-CN" i="1">
                <a:solidFill>
                  <a:srgbClr val="CC0000"/>
                </a:solidFill>
                <a:ea typeface="宋体" panose="02010600030101010101" pitchFamily="2" charset="-122"/>
              </a:rPr>
              <a:t>c</a:t>
            </a:r>
            <a:r>
              <a:rPr lang="en-US" altLang="zh-CN" baseline="-25000">
                <a:solidFill>
                  <a:srgbClr val="CC0000"/>
                </a:solidFill>
                <a:ea typeface="宋体" panose="02010600030101010101" pitchFamily="2" charset="-122"/>
              </a:rPr>
              <a:t>a</a:t>
            </a:r>
            <a:endParaRPr lang="en-US" altLang="zh-CN">
              <a:solidFill>
                <a:srgbClr val="CC0000"/>
              </a:solidFill>
              <a:ea typeface="宋体" panose="02010600030101010101" pitchFamily="2" charset="-122"/>
            </a:endParaRPr>
          </a:p>
        </p:txBody>
      </p:sp>
      <p:sp>
        <p:nvSpPr>
          <p:cNvPr id="478433" name="Text Box 225"/>
          <p:cNvSpPr txBox="1">
            <a:spLocks noChangeArrowheads="1"/>
          </p:cNvSpPr>
          <p:nvPr/>
        </p:nvSpPr>
        <p:spPr bwMode="auto">
          <a:xfrm>
            <a:off x="4876800" y="1341438"/>
            <a:ext cx="776288" cy="354012"/>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solidFill>
                  <a:schemeClr val="accent2"/>
                </a:solidFill>
                <a:ea typeface="宋体" panose="02010600030101010101" pitchFamily="2" charset="-122"/>
              </a:rPr>
              <a:t>Cut </a:t>
            </a:r>
            <a:r>
              <a:rPr lang="en-US" altLang="zh-CN" i="1">
                <a:solidFill>
                  <a:schemeClr val="accent2"/>
                </a:solidFill>
                <a:ea typeface="宋体" panose="02010600030101010101" pitchFamily="2" charset="-122"/>
              </a:rPr>
              <a:t>c</a:t>
            </a:r>
            <a:r>
              <a:rPr lang="en-US" altLang="zh-CN" baseline="-25000">
                <a:solidFill>
                  <a:schemeClr val="accent2"/>
                </a:solidFill>
                <a:ea typeface="宋体" panose="02010600030101010101" pitchFamily="2" charset="-122"/>
              </a:rPr>
              <a:t>b</a:t>
            </a:r>
            <a:endParaRPr lang="en-US" altLang="zh-CN">
              <a:solidFill>
                <a:schemeClr val="accent2"/>
              </a:solidFill>
              <a:ea typeface="宋体" panose="02010600030101010101" pitchFamily="2" charset="-122"/>
            </a:endParaRPr>
          </a:p>
        </p:txBody>
      </p:sp>
      <p:sp>
        <p:nvSpPr>
          <p:cNvPr id="478434" name="Text Box 226"/>
          <p:cNvSpPr txBox="1">
            <a:spLocks noChangeArrowheads="1"/>
          </p:cNvSpPr>
          <p:nvPr/>
        </p:nvSpPr>
        <p:spPr bwMode="auto">
          <a:xfrm>
            <a:off x="684213" y="3636963"/>
            <a:ext cx="927100"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ea typeface="宋体" panose="02010600030101010101" pitchFamily="2" charset="-122"/>
              </a:rPr>
              <a:t>Block </a:t>
            </a:r>
            <a:r>
              <a:rPr lang="en-US" altLang="zh-CN" i="1">
                <a:ea typeface="宋体" panose="02010600030101010101" pitchFamily="2" charset="-122"/>
              </a:rPr>
              <a:t>A</a:t>
            </a:r>
          </a:p>
        </p:txBody>
      </p:sp>
      <p:sp>
        <p:nvSpPr>
          <p:cNvPr id="478435" name="Text Box 227"/>
          <p:cNvSpPr txBox="1">
            <a:spLocks noChangeArrowheads="1"/>
          </p:cNvSpPr>
          <p:nvPr/>
        </p:nvSpPr>
        <p:spPr bwMode="auto">
          <a:xfrm>
            <a:off x="2490788" y="3636963"/>
            <a:ext cx="927100" cy="354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ea typeface="宋体" panose="02010600030101010101" pitchFamily="2" charset="-122"/>
              </a:rPr>
              <a:t>Block </a:t>
            </a:r>
            <a:r>
              <a:rPr lang="en-US" altLang="zh-CN" i="1">
                <a:ea typeface="宋体" panose="02010600030101010101" pitchFamily="2" charset="-122"/>
              </a:rPr>
              <a:t>B</a:t>
            </a:r>
          </a:p>
        </p:txBody>
      </p:sp>
      <p:sp>
        <p:nvSpPr>
          <p:cNvPr id="478436" name="Text Box 228"/>
          <p:cNvSpPr txBox="1">
            <a:spLocks noChangeArrowheads="1"/>
          </p:cNvSpPr>
          <p:nvPr/>
        </p:nvSpPr>
        <p:spPr bwMode="auto">
          <a:xfrm>
            <a:off x="5081588" y="3644900"/>
            <a:ext cx="9271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ea typeface="宋体" panose="02010600030101010101" pitchFamily="2" charset="-122"/>
              </a:rPr>
              <a:t>Block </a:t>
            </a:r>
            <a:r>
              <a:rPr lang="en-US" altLang="zh-CN" i="1">
                <a:ea typeface="宋体" panose="02010600030101010101" pitchFamily="2" charset="-122"/>
              </a:rPr>
              <a:t>A</a:t>
            </a:r>
          </a:p>
        </p:txBody>
      </p:sp>
      <p:sp>
        <p:nvSpPr>
          <p:cNvPr id="478437" name="Text Box 229"/>
          <p:cNvSpPr txBox="1">
            <a:spLocks noChangeArrowheads="1"/>
          </p:cNvSpPr>
          <p:nvPr/>
        </p:nvSpPr>
        <p:spPr bwMode="auto">
          <a:xfrm>
            <a:off x="6888163" y="3644900"/>
            <a:ext cx="927100"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ea typeface="宋体" panose="02010600030101010101" pitchFamily="2" charset="-122"/>
              </a:rPr>
              <a:t>Block </a:t>
            </a:r>
            <a:r>
              <a:rPr lang="en-US" altLang="zh-CN" i="1">
                <a:ea typeface="宋体" panose="02010600030101010101" pitchFamily="2" charset="-122"/>
              </a:rPr>
              <a:t>B</a:t>
            </a:r>
          </a:p>
        </p:txBody>
      </p:sp>
      <p:sp>
        <p:nvSpPr>
          <p:cNvPr id="478438" name="Text Box 230"/>
          <p:cNvSpPr txBox="1">
            <a:spLocks noChangeArrowheads="1"/>
          </p:cNvSpPr>
          <p:nvPr/>
        </p:nvSpPr>
        <p:spPr bwMode="auto">
          <a:xfrm>
            <a:off x="5180013" y="5594350"/>
            <a:ext cx="3279775" cy="35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796" tIns="48398" rIns="96796" bIns="48398">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a:solidFill>
                  <a:schemeClr val="accent2"/>
                </a:solidFill>
                <a:ea typeface="宋体" panose="02010600030101010101" pitchFamily="2" charset="-122"/>
              </a:rPr>
              <a:t>Cut </a:t>
            </a:r>
            <a:r>
              <a:rPr lang="en-US" altLang="zh-CN" i="1">
                <a:solidFill>
                  <a:schemeClr val="accent2"/>
                </a:solidFill>
                <a:ea typeface="宋体" panose="02010600030101010101" pitchFamily="2" charset="-122"/>
              </a:rPr>
              <a:t>c</a:t>
            </a:r>
            <a:r>
              <a:rPr lang="en-US" altLang="zh-CN" baseline="-25000">
                <a:solidFill>
                  <a:schemeClr val="accent2"/>
                </a:solidFill>
                <a:ea typeface="宋体" panose="02010600030101010101" pitchFamily="2" charset="-122"/>
              </a:rPr>
              <a:t>b</a:t>
            </a:r>
            <a:r>
              <a:rPr lang="en-US" altLang="zh-CN">
                <a:solidFill>
                  <a:schemeClr val="accent2"/>
                </a:solidFill>
                <a:ea typeface="宋体" panose="02010600030101010101" pitchFamily="2" charset="-122"/>
              </a:rPr>
              <a:t>: two external connections</a:t>
            </a:r>
          </a:p>
        </p:txBody>
      </p:sp>
      <p:sp>
        <p:nvSpPr>
          <p:cNvPr id="478439" name="Line 231"/>
          <p:cNvSpPr>
            <a:spLocks noChangeShapeType="1"/>
          </p:cNvSpPr>
          <p:nvPr/>
        </p:nvSpPr>
        <p:spPr bwMode="auto">
          <a:xfrm>
            <a:off x="2381250" y="5430838"/>
            <a:ext cx="231775"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40" name="Line 232"/>
          <p:cNvSpPr>
            <a:spLocks noChangeShapeType="1"/>
          </p:cNvSpPr>
          <p:nvPr/>
        </p:nvSpPr>
        <p:spPr bwMode="auto">
          <a:xfrm>
            <a:off x="2381250" y="4800600"/>
            <a:ext cx="231775"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41" name="Line 233"/>
          <p:cNvSpPr>
            <a:spLocks noChangeShapeType="1"/>
          </p:cNvSpPr>
          <p:nvPr/>
        </p:nvSpPr>
        <p:spPr bwMode="auto">
          <a:xfrm>
            <a:off x="2373313" y="4743450"/>
            <a:ext cx="233362"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42" name="Line 234"/>
          <p:cNvSpPr>
            <a:spLocks noChangeShapeType="1"/>
          </p:cNvSpPr>
          <p:nvPr/>
        </p:nvSpPr>
        <p:spPr bwMode="auto">
          <a:xfrm>
            <a:off x="2381250" y="4149725"/>
            <a:ext cx="231775" cy="0"/>
          </a:xfrm>
          <a:prstGeom prst="line">
            <a:avLst/>
          </a:prstGeom>
          <a:noFill/>
          <a:ln w="38100">
            <a:solidFill>
              <a:srgbClr val="CC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43" name="Line 235"/>
          <p:cNvSpPr>
            <a:spLocks noChangeShapeType="1"/>
          </p:cNvSpPr>
          <p:nvPr/>
        </p:nvSpPr>
        <p:spPr bwMode="auto">
          <a:xfrm>
            <a:off x="6780213" y="4746625"/>
            <a:ext cx="231775"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44" name="Line 236"/>
          <p:cNvSpPr>
            <a:spLocks noChangeShapeType="1"/>
          </p:cNvSpPr>
          <p:nvPr/>
        </p:nvSpPr>
        <p:spPr bwMode="auto">
          <a:xfrm>
            <a:off x="6780213" y="5345113"/>
            <a:ext cx="231775" cy="0"/>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8445" name="AutoShape 237"/>
          <p:cNvSpPr>
            <a:spLocks noChangeArrowheads="1"/>
          </p:cNvSpPr>
          <p:nvPr/>
        </p:nvSpPr>
        <p:spPr bwMode="auto">
          <a:xfrm rot="-2140116">
            <a:off x="2589213" y="2844800"/>
            <a:ext cx="595312" cy="508000"/>
          </a:xfrm>
          <a:prstGeom prst="leftArrow">
            <a:avLst>
              <a:gd name="adj1" fmla="val 50000"/>
              <a:gd name="adj2" fmla="val 29297"/>
            </a:avLst>
          </a:prstGeom>
          <a:gradFill rotWithShape="1">
            <a:gsLst>
              <a:gs pos="0">
                <a:schemeClr val="tx1"/>
              </a:gs>
              <a:gs pos="100000">
                <a:srgbClr val="EAEAEA"/>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8446" name="AutoShape 238"/>
          <p:cNvSpPr>
            <a:spLocks noChangeArrowheads="1"/>
          </p:cNvSpPr>
          <p:nvPr/>
        </p:nvSpPr>
        <p:spPr bwMode="auto">
          <a:xfrm rot="2140116" flipH="1">
            <a:off x="5730875" y="2844800"/>
            <a:ext cx="595313" cy="508000"/>
          </a:xfrm>
          <a:prstGeom prst="leftArrow">
            <a:avLst>
              <a:gd name="adj1" fmla="val 50000"/>
              <a:gd name="adj2" fmla="val 29297"/>
            </a:avLst>
          </a:prstGeom>
          <a:gradFill rotWithShape="1">
            <a:gsLst>
              <a:gs pos="0">
                <a:schemeClr val="tx1"/>
              </a:gs>
              <a:gs pos="100000">
                <a:srgbClr val="EAEAEA"/>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1" name="Rectangle 240"/>
          <p:cNvSpPr>
            <a:spLocks noGrp="1" noChangeArrowheads="1"/>
          </p:cNvSpPr>
          <p:nvPr>
            <p:ph type="title"/>
          </p:nvPr>
        </p:nvSpPr>
        <p:spPr/>
        <p:txBody>
          <a:bodyPr/>
          <a:lstStyle/>
          <a:p>
            <a:pPr defTabSz="914400"/>
            <a:r>
              <a:rPr lang="de-DE" altLang="de-DE"/>
              <a:t>2.1	Introduction</a:t>
            </a:r>
            <a:endParaRPr lang="en-US" altLang="zh-CN">
              <a:ea typeface="宋体" panose="02010600030101010101" pitchFamily="2" charset="-122"/>
            </a:endParaRPr>
          </a:p>
        </p:txBody>
      </p:sp>
      <p:sp>
        <p:nvSpPr>
          <p:cNvPr id="240" name="Text Box 317"/>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defRPr sz="1700">
                <a:solidFill>
                  <a:schemeClr val="tx1"/>
                </a:solidFill>
                <a:latin typeface="Arial" panose="020B0604020202020204" pitchFamily="34" charset="0"/>
              </a:defRPr>
            </a:lvl1pPr>
            <a:lvl2pPr marL="742950" indent="-285750" defTabSz="871538">
              <a:defRPr sz="1700">
                <a:solidFill>
                  <a:schemeClr val="tx1"/>
                </a:solidFill>
                <a:latin typeface="Arial" panose="020B0604020202020204" pitchFamily="34" charset="0"/>
              </a:defRPr>
            </a:lvl2pPr>
            <a:lvl3pPr marL="1143000" indent="-228600" defTabSz="871538">
              <a:defRPr sz="1700">
                <a:solidFill>
                  <a:schemeClr val="tx1"/>
                </a:solidFill>
                <a:latin typeface="Arial" panose="020B0604020202020204" pitchFamily="34" charset="0"/>
              </a:defRPr>
            </a:lvl3pPr>
            <a:lvl4pPr marL="1600200" indent="-228600" defTabSz="871538">
              <a:defRPr sz="1700">
                <a:solidFill>
                  <a:schemeClr val="tx1"/>
                </a:solidFill>
                <a:latin typeface="Arial" panose="020B0604020202020204" pitchFamily="34" charset="0"/>
              </a:defRPr>
            </a:lvl4pPr>
            <a:lvl5pPr marL="2057400" indent="-228600" defTabSz="871538">
              <a:defRPr sz="1700">
                <a:solidFill>
                  <a:schemeClr val="tx1"/>
                </a:solidFill>
                <a:latin typeface="Arial" panose="020B0604020202020204" pitchFamily="34" charset="0"/>
              </a:defRPr>
            </a:lvl5pPr>
            <a:lvl6pPr marL="25146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800" dirty="0">
                <a:solidFill>
                  <a:srgbClr val="C0C0C0"/>
                </a:solidFill>
              </a:rPr>
              <a:t>© 2022 Springer Verlag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8432"/>
                                        </p:tgtEl>
                                        <p:attrNameLst>
                                          <p:attrName>style.visibility</p:attrName>
                                        </p:attrNameLst>
                                      </p:cBhvr>
                                      <p:to>
                                        <p:strVal val="visible"/>
                                      </p:to>
                                    </p:set>
                                    <p:animEffect transition="in" filter="dissolve">
                                      <p:cBhvr>
                                        <p:cTn id="7" dur="500"/>
                                        <p:tgtEl>
                                          <p:spTgt spid="478432"/>
                                        </p:tgtEl>
                                      </p:cBhvr>
                                    </p:animEffect>
                                  </p:childTnLst>
                                </p:cTn>
                              </p:par>
                              <p:par>
                                <p:cTn id="8" presetID="9" presetClass="entr" presetSubtype="0" fill="hold" nodeType="withEffect">
                                  <p:stCondLst>
                                    <p:cond delay="0"/>
                                  </p:stCondLst>
                                  <p:childTnLst>
                                    <p:set>
                                      <p:cBhvr>
                                        <p:cTn id="9" dur="1" fill="hold">
                                          <p:stCondLst>
                                            <p:cond delay="0"/>
                                          </p:stCondLst>
                                        </p:cTn>
                                        <p:tgtEl>
                                          <p:spTgt spid="478430"/>
                                        </p:tgtEl>
                                        <p:attrNameLst>
                                          <p:attrName>style.visibility</p:attrName>
                                        </p:attrNameLst>
                                      </p:cBhvr>
                                      <p:to>
                                        <p:strVal val="visible"/>
                                      </p:to>
                                    </p:set>
                                    <p:animEffect transition="in" filter="dissolve">
                                      <p:cBhvr>
                                        <p:cTn id="10" dur="500"/>
                                        <p:tgtEl>
                                          <p:spTgt spid="47843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78213"/>
                                        </p:tgtEl>
                                        <p:attrNameLst>
                                          <p:attrName>style.visibility</p:attrName>
                                        </p:attrNameLst>
                                      </p:cBhvr>
                                      <p:to>
                                        <p:strVal val="visible"/>
                                      </p:to>
                                    </p:set>
                                    <p:animEffect transition="in" filter="dissolve">
                                      <p:cBhvr>
                                        <p:cTn id="15" dur="500"/>
                                        <p:tgtEl>
                                          <p:spTgt spid="478213"/>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478352"/>
                                        </p:tgtEl>
                                        <p:attrNameLst>
                                          <p:attrName>style.visibility</p:attrName>
                                        </p:attrNameLst>
                                      </p:cBhvr>
                                      <p:to>
                                        <p:strVal val="visible"/>
                                      </p:to>
                                    </p:set>
                                    <p:animEffect transition="in" filter="dissolve">
                                      <p:cBhvr>
                                        <p:cTn id="18" dur="500"/>
                                        <p:tgtEl>
                                          <p:spTgt spid="478352"/>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478353"/>
                                        </p:tgtEl>
                                        <p:attrNameLst>
                                          <p:attrName>style.visibility</p:attrName>
                                        </p:attrNameLst>
                                      </p:cBhvr>
                                      <p:to>
                                        <p:strVal val="visible"/>
                                      </p:to>
                                    </p:set>
                                    <p:animEffect transition="in" filter="dissolve">
                                      <p:cBhvr>
                                        <p:cTn id="21" dur="500"/>
                                        <p:tgtEl>
                                          <p:spTgt spid="478353"/>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478354"/>
                                        </p:tgtEl>
                                        <p:attrNameLst>
                                          <p:attrName>style.visibility</p:attrName>
                                        </p:attrNameLst>
                                      </p:cBhvr>
                                      <p:to>
                                        <p:strVal val="visible"/>
                                      </p:to>
                                    </p:set>
                                    <p:animEffect transition="in" filter="dissolve">
                                      <p:cBhvr>
                                        <p:cTn id="24" dur="500"/>
                                        <p:tgtEl>
                                          <p:spTgt spid="478354"/>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478355"/>
                                        </p:tgtEl>
                                        <p:attrNameLst>
                                          <p:attrName>style.visibility</p:attrName>
                                        </p:attrNameLst>
                                      </p:cBhvr>
                                      <p:to>
                                        <p:strVal val="visible"/>
                                      </p:to>
                                    </p:set>
                                    <p:animEffect transition="in" filter="dissolve">
                                      <p:cBhvr>
                                        <p:cTn id="27" dur="500"/>
                                        <p:tgtEl>
                                          <p:spTgt spid="478355"/>
                                        </p:tgtEl>
                                      </p:cBhvr>
                                    </p:animEffect>
                                  </p:childTnLst>
                                </p:cTn>
                              </p:par>
                              <p:par>
                                <p:cTn id="28" presetID="9" presetClass="entr" presetSubtype="0" fill="hold" nodeType="withEffect">
                                  <p:stCondLst>
                                    <p:cond delay="0"/>
                                  </p:stCondLst>
                                  <p:childTnLst>
                                    <p:set>
                                      <p:cBhvr>
                                        <p:cTn id="29" dur="1" fill="hold">
                                          <p:stCondLst>
                                            <p:cond delay="0"/>
                                          </p:stCondLst>
                                        </p:cTn>
                                        <p:tgtEl>
                                          <p:spTgt spid="478356"/>
                                        </p:tgtEl>
                                        <p:attrNameLst>
                                          <p:attrName>style.visibility</p:attrName>
                                        </p:attrNameLst>
                                      </p:cBhvr>
                                      <p:to>
                                        <p:strVal val="visible"/>
                                      </p:to>
                                    </p:set>
                                    <p:animEffect transition="in" filter="dissolve">
                                      <p:cBhvr>
                                        <p:cTn id="30" dur="500"/>
                                        <p:tgtEl>
                                          <p:spTgt spid="478356"/>
                                        </p:tgtEl>
                                      </p:cBhvr>
                                    </p:animEffect>
                                  </p:childTnLst>
                                </p:cTn>
                              </p:par>
                              <p:par>
                                <p:cTn id="31" presetID="9" presetClass="entr" presetSubtype="0" fill="hold" nodeType="withEffect">
                                  <p:stCondLst>
                                    <p:cond delay="0"/>
                                  </p:stCondLst>
                                  <p:childTnLst>
                                    <p:set>
                                      <p:cBhvr>
                                        <p:cTn id="32" dur="1" fill="hold">
                                          <p:stCondLst>
                                            <p:cond delay="0"/>
                                          </p:stCondLst>
                                        </p:cTn>
                                        <p:tgtEl>
                                          <p:spTgt spid="478357"/>
                                        </p:tgtEl>
                                        <p:attrNameLst>
                                          <p:attrName>style.visibility</p:attrName>
                                        </p:attrNameLst>
                                      </p:cBhvr>
                                      <p:to>
                                        <p:strVal val="visible"/>
                                      </p:to>
                                    </p:set>
                                    <p:animEffect transition="in" filter="dissolve">
                                      <p:cBhvr>
                                        <p:cTn id="33" dur="500"/>
                                        <p:tgtEl>
                                          <p:spTgt spid="478357"/>
                                        </p:tgtEl>
                                      </p:cBhvr>
                                    </p:animEffect>
                                  </p:childTnLst>
                                </p:cTn>
                              </p:par>
                              <p:par>
                                <p:cTn id="34" presetID="9" presetClass="entr" presetSubtype="0" fill="hold" nodeType="withEffect">
                                  <p:stCondLst>
                                    <p:cond delay="0"/>
                                  </p:stCondLst>
                                  <p:childTnLst>
                                    <p:set>
                                      <p:cBhvr>
                                        <p:cTn id="35" dur="1" fill="hold">
                                          <p:stCondLst>
                                            <p:cond delay="0"/>
                                          </p:stCondLst>
                                        </p:cTn>
                                        <p:tgtEl>
                                          <p:spTgt spid="478358"/>
                                        </p:tgtEl>
                                        <p:attrNameLst>
                                          <p:attrName>style.visibility</p:attrName>
                                        </p:attrNameLst>
                                      </p:cBhvr>
                                      <p:to>
                                        <p:strVal val="visible"/>
                                      </p:to>
                                    </p:set>
                                    <p:animEffect transition="in" filter="dissolve">
                                      <p:cBhvr>
                                        <p:cTn id="36" dur="500"/>
                                        <p:tgtEl>
                                          <p:spTgt spid="478358"/>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478359"/>
                                        </p:tgtEl>
                                        <p:attrNameLst>
                                          <p:attrName>style.visibility</p:attrName>
                                        </p:attrNameLst>
                                      </p:cBhvr>
                                      <p:to>
                                        <p:strVal val="visible"/>
                                      </p:to>
                                    </p:set>
                                    <p:animEffect transition="in" filter="dissolve">
                                      <p:cBhvr>
                                        <p:cTn id="39" dur="500"/>
                                        <p:tgtEl>
                                          <p:spTgt spid="478359"/>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478360"/>
                                        </p:tgtEl>
                                        <p:attrNameLst>
                                          <p:attrName>style.visibility</p:attrName>
                                        </p:attrNameLst>
                                      </p:cBhvr>
                                      <p:to>
                                        <p:strVal val="visible"/>
                                      </p:to>
                                    </p:set>
                                    <p:animEffect transition="in" filter="dissolve">
                                      <p:cBhvr>
                                        <p:cTn id="42" dur="500"/>
                                        <p:tgtEl>
                                          <p:spTgt spid="478360"/>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478361"/>
                                        </p:tgtEl>
                                        <p:attrNameLst>
                                          <p:attrName>style.visibility</p:attrName>
                                        </p:attrNameLst>
                                      </p:cBhvr>
                                      <p:to>
                                        <p:strVal val="visible"/>
                                      </p:to>
                                    </p:set>
                                    <p:animEffect transition="in" filter="dissolve">
                                      <p:cBhvr>
                                        <p:cTn id="45" dur="500"/>
                                        <p:tgtEl>
                                          <p:spTgt spid="478361"/>
                                        </p:tgtEl>
                                      </p:cBhvr>
                                    </p:animEffect>
                                  </p:childTnLst>
                                </p:cTn>
                              </p:par>
                              <p:par>
                                <p:cTn id="46" presetID="9" presetClass="entr" presetSubtype="0" fill="hold" nodeType="withEffect">
                                  <p:stCondLst>
                                    <p:cond delay="0"/>
                                  </p:stCondLst>
                                  <p:childTnLst>
                                    <p:set>
                                      <p:cBhvr>
                                        <p:cTn id="47" dur="1" fill="hold">
                                          <p:stCondLst>
                                            <p:cond delay="0"/>
                                          </p:stCondLst>
                                        </p:cTn>
                                        <p:tgtEl>
                                          <p:spTgt spid="478362"/>
                                        </p:tgtEl>
                                        <p:attrNameLst>
                                          <p:attrName>style.visibility</p:attrName>
                                        </p:attrNameLst>
                                      </p:cBhvr>
                                      <p:to>
                                        <p:strVal val="visible"/>
                                      </p:to>
                                    </p:set>
                                    <p:animEffect transition="in" filter="dissolve">
                                      <p:cBhvr>
                                        <p:cTn id="48" dur="500"/>
                                        <p:tgtEl>
                                          <p:spTgt spid="478362"/>
                                        </p:tgtEl>
                                      </p:cBhvr>
                                    </p:animEffect>
                                  </p:childTnLst>
                                </p:cTn>
                              </p:par>
                              <p:par>
                                <p:cTn id="49" presetID="9" presetClass="entr" presetSubtype="0" fill="hold" nodeType="withEffect">
                                  <p:stCondLst>
                                    <p:cond delay="0"/>
                                  </p:stCondLst>
                                  <p:childTnLst>
                                    <p:set>
                                      <p:cBhvr>
                                        <p:cTn id="50" dur="1" fill="hold">
                                          <p:stCondLst>
                                            <p:cond delay="0"/>
                                          </p:stCondLst>
                                        </p:cTn>
                                        <p:tgtEl>
                                          <p:spTgt spid="478363"/>
                                        </p:tgtEl>
                                        <p:attrNameLst>
                                          <p:attrName>style.visibility</p:attrName>
                                        </p:attrNameLst>
                                      </p:cBhvr>
                                      <p:to>
                                        <p:strVal val="visible"/>
                                      </p:to>
                                    </p:set>
                                    <p:animEffect transition="in" filter="dissolve">
                                      <p:cBhvr>
                                        <p:cTn id="51" dur="500"/>
                                        <p:tgtEl>
                                          <p:spTgt spid="478363"/>
                                        </p:tgtEl>
                                      </p:cBhvr>
                                    </p:animEffect>
                                  </p:childTnLst>
                                </p:cTn>
                              </p:par>
                              <p:par>
                                <p:cTn id="52" presetID="9" presetClass="entr" presetSubtype="0" fill="hold" nodeType="withEffect">
                                  <p:stCondLst>
                                    <p:cond delay="0"/>
                                  </p:stCondLst>
                                  <p:childTnLst>
                                    <p:set>
                                      <p:cBhvr>
                                        <p:cTn id="53" dur="1" fill="hold">
                                          <p:stCondLst>
                                            <p:cond delay="0"/>
                                          </p:stCondLst>
                                        </p:cTn>
                                        <p:tgtEl>
                                          <p:spTgt spid="478364"/>
                                        </p:tgtEl>
                                        <p:attrNameLst>
                                          <p:attrName>style.visibility</p:attrName>
                                        </p:attrNameLst>
                                      </p:cBhvr>
                                      <p:to>
                                        <p:strVal val="visible"/>
                                      </p:to>
                                    </p:set>
                                    <p:animEffect transition="in" filter="dissolve">
                                      <p:cBhvr>
                                        <p:cTn id="54" dur="500"/>
                                        <p:tgtEl>
                                          <p:spTgt spid="478364"/>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478365"/>
                                        </p:tgtEl>
                                        <p:attrNameLst>
                                          <p:attrName>style.visibility</p:attrName>
                                        </p:attrNameLst>
                                      </p:cBhvr>
                                      <p:to>
                                        <p:strVal val="visible"/>
                                      </p:to>
                                    </p:set>
                                    <p:animEffect transition="in" filter="dissolve">
                                      <p:cBhvr>
                                        <p:cTn id="57" dur="500"/>
                                        <p:tgtEl>
                                          <p:spTgt spid="478365"/>
                                        </p:tgtEl>
                                      </p:cBhvr>
                                    </p:animEffect>
                                  </p:childTnLst>
                                </p:cTn>
                              </p:par>
                              <p:par>
                                <p:cTn id="58" presetID="9" presetClass="entr" presetSubtype="0" fill="hold" nodeType="withEffect">
                                  <p:stCondLst>
                                    <p:cond delay="0"/>
                                  </p:stCondLst>
                                  <p:childTnLst>
                                    <p:set>
                                      <p:cBhvr>
                                        <p:cTn id="59" dur="1" fill="hold">
                                          <p:stCondLst>
                                            <p:cond delay="0"/>
                                          </p:stCondLst>
                                        </p:cTn>
                                        <p:tgtEl>
                                          <p:spTgt spid="478366"/>
                                        </p:tgtEl>
                                        <p:attrNameLst>
                                          <p:attrName>style.visibility</p:attrName>
                                        </p:attrNameLst>
                                      </p:cBhvr>
                                      <p:to>
                                        <p:strVal val="visible"/>
                                      </p:to>
                                    </p:set>
                                    <p:animEffect transition="in" filter="dissolve">
                                      <p:cBhvr>
                                        <p:cTn id="60" dur="500"/>
                                        <p:tgtEl>
                                          <p:spTgt spid="478366"/>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478367"/>
                                        </p:tgtEl>
                                        <p:attrNameLst>
                                          <p:attrName>style.visibility</p:attrName>
                                        </p:attrNameLst>
                                      </p:cBhvr>
                                      <p:to>
                                        <p:strVal val="visible"/>
                                      </p:to>
                                    </p:set>
                                    <p:animEffect transition="in" filter="dissolve">
                                      <p:cBhvr>
                                        <p:cTn id="63" dur="500"/>
                                        <p:tgtEl>
                                          <p:spTgt spid="478367"/>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478368"/>
                                        </p:tgtEl>
                                        <p:attrNameLst>
                                          <p:attrName>style.visibility</p:attrName>
                                        </p:attrNameLst>
                                      </p:cBhvr>
                                      <p:to>
                                        <p:strVal val="visible"/>
                                      </p:to>
                                    </p:set>
                                    <p:animEffect transition="in" filter="dissolve">
                                      <p:cBhvr>
                                        <p:cTn id="66" dur="500"/>
                                        <p:tgtEl>
                                          <p:spTgt spid="478368"/>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478369"/>
                                        </p:tgtEl>
                                        <p:attrNameLst>
                                          <p:attrName>style.visibility</p:attrName>
                                        </p:attrNameLst>
                                      </p:cBhvr>
                                      <p:to>
                                        <p:strVal val="visible"/>
                                      </p:to>
                                    </p:set>
                                    <p:animEffect transition="in" filter="dissolve">
                                      <p:cBhvr>
                                        <p:cTn id="69" dur="500"/>
                                        <p:tgtEl>
                                          <p:spTgt spid="478369"/>
                                        </p:tgtEl>
                                      </p:cBhvr>
                                    </p:animEffect>
                                  </p:childTnLst>
                                </p:cTn>
                              </p:par>
                              <p:par>
                                <p:cTn id="70" presetID="9" presetClass="entr" presetSubtype="0" fill="hold" nodeType="withEffect">
                                  <p:stCondLst>
                                    <p:cond delay="0"/>
                                  </p:stCondLst>
                                  <p:childTnLst>
                                    <p:set>
                                      <p:cBhvr>
                                        <p:cTn id="71" dur="1" fill="hold">
                                          <p:stCondLst>
                                            <p:cond delay="0"/>
                                          </p:stCondLst>
                                        </p:cTn>
                                        <p:tgtEl>
                                          <p:spTgt spid="478370"/>
                                        </p:tgtEl>
                                        <p:attrNameLst>
                                          <p:attrName>style.visibility</p:attrName>
                                        </p:attrNameLst>
                                      </p:cBhvr>
                                      <p:to>
                                        <p:strVal val="visible"/>
                                      </p:to>
                                    </p:set>
                                    <p:animEffect transition="in" filter="dissolve">
                                      <p:cBhvr>
                                        <p:cTn id="72" dur="500"/>
                                        <p:tgtEl>
                                          <p:spTgt spid="478370"/>
                                        </p:tgtEl>
                                      </p:cBhvr>
                                    </p:animEffect>
                                  </p:childTnLst>
                                </p:cTn>
                              </p:par>
                              <p:par>
                                <p:cTn id="73" presetID="9" presetClass="entr" presetSubtype="0" fill="hold" nodeType="withEffect">
                                  <p:stCondLst>
                                    <p:cond delay="0"/>
                                  </p:stCondLst>
                                  <p:childTnLst>
                                    <p:set>
                                      <p:cBhvr>
                                        <p:cTn id="74" dur="1" fill="hold">
                                          <p:stCondLst>
                                            <p:cond delay="0"/>
                                          </p:stCondLst>
                                        </p:cTn>
                                        <p:tgtEl>
                                          <p:spTgt spid="478371"/>
                                        </p:tgtEl>
                                        <p:attrNameLst>
                                          <p:attrName>style.visibility</p:attrName>
                                        </p:attrNameLst>
                                      </p:cBhvr>
                                      <p:to>
                                        <p:strVal val="visible"/>
                                      </p:to>
                                    </p:set>
                                    <p:animEffect transition="in" filter="dissolve">
                                      <p:cBhvr>
                                        <p:cTn id="75" dur="500"/>
                                        <p:tgtEl>
                                          <p:spTgt spid="478371"/>
                                        </p:tgtEl>
                                      </p:cBhvr>
                                    </p:animEffect>
                                  </p:childTnLst>
                                </p:cTn>
                              </p:par>
                              <p:par>
                                <p:cTn id="76" presetID="9" presetClass="entr" presetSubtype="0" fill="hold" nodeType="withEffect">
                                  <p:stCondLst>
                                    <p:cond delay="0"/>
                                  </p:stCondLst>
                                  <p:childTnLst>
                                    <p:set>
                                      <p:cBhvr>
                                        <p:cTn id="77" dur="1" fill="hold">
                                          <p:stCondLst>
                                            <p:cond delay="0"/>
                                          </p:stCondLst>
                                        </p:cTn>
                                        <p:tgtEl>
                                          <p:spTgt spid="478372"/>
                                        </p:tgtEl>
                                        <p:attrNameLst>
                                          <p:attrName>style.visibility</p:attrName>
                                        </p:attrNameLst>
                                      </p:cBhvr>
                                      <p:to>
                                        <p:strVal val="visible"/>
                                      </p:to>
                                    </p:set>
                                    <p:animEffect transition="in" filter="dissolve">
                                      <p:cBhvr>
                                        <p:cTn id="78" dur="500"/>
                                        <p:tgtEl>
                                          <p:spTgt spid="478372"/>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478373"/>
                                        </p:tgtEl>
                                        <p:attrNameLst>
                                          <p:attrName>style.visibility</p:attrName>
                                        </p:attrNameLst>
                                      </p:cBhvr>
                                      <p:to>
                                        <p:strVal val="visible"/>
                                      </p:to>
                                    </p:set>
                                    <p:animEffect transition="in" filter="dissolve">
                                      <p:cBhvr>
                                        <p:cTn id="81" dur="500"/>
                                        <p:tgtEl>
                                          <p:spTgt spid="478373"/>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478374"/>
                                        </p:tgtEl>
                                        <p:attrNameLst>
                                          <p:attrName>style.visibility</p:attrName>
                                        </p:attrNameLst>
                                      </p:cBhvr>
                                      <p:to>
                                        <p:strVal val="visible"/>
                                      </p:to>
                                    </p:set>
                                    <p:animEffect transition="in" filter="dissolve">
                                      <p:cBhvr>
                                        <p:cTn id="84" dur="500"/>
                                        <p:tgtEl>
                                          <p:spTgt spid="478374"/>
                                        </p:tgtEl>
                                      </p:cBhvr>
                                    </p:animEffect>
                                  </p:childTnLst>
                                </p:cTn>
                              </p:par>
                              <p:par>
                                <p:cTn id="85" presetID="9" presetClass="entr" presetSubtype="0" fill="hold" grpId="0" nodeType="withEffect">
                                  <p:stCondLst>
                                    <p:cond delay="0"/>
                                  </p:stCondLst>
                                  <p:childTnLst>
                                    <p:set>
                                      <p:cBhvr>
                                        <p:cTn id="86" dur="1" fill="hold">
                                          <p:stCondLst>
                                            <p:cond delay="0"/>
                                          </p:stCondLst>
                                        </p:cTn>
                                        <p:tgtEl>
                                          <p:spTgt spid="478375"/>
                                        </p:tgtEl>
                                        <p:attrNameLst>
                                          <p:attrName>style.visibility</p:attrName>
                                        </p:attrNameLst>
                                      </p:cBhvr>
                                      <p:to>
                                        <p:strVal val="visible"/>
                                      </p:to>
                                    </p:set>
                                    <p:animEffect transition="in" filter="dissolve">
                                      <p:cBhvr>
                                        <p:cTn id="87" dur="500"/>
                                        <p:tgtEl>
                                          <p:spTgt spid="478375"/>
                                        </p:tgtEl>
                                      </p:cBhvr>
                                    </p:animEffect>
                                  </p:childTnLst>
                                </p:cTn>
                              </p:par>
                              <p:par>
                                <p:cTn id="88" presetID="9" presetClass="entr" presetSubtype="0" fill="hold" grpId="0" nodeType="withEffect">
                                  <p:stCondLst>
                                    <p:cond delay="0"/>
                                  </p:stCondLst>
                                  <p:childTnLst>
                                    <p:set>
                                      <p:cBhvr>
                                        <p:cTn id="89" dur="1" fill="hold">
                                          <p:stCondLst>
                                            <p:cond delay="0"/>
                                          </p:stCondLst>
                                        </p:cTn>
                                        <p:tgtEl>
                                          <p:spTgt spid="478376"/>
                                        </p:tgtEl>
                                        <p:attrNameLst>
                                          <p:attrName>style.visibility</p:attrName>
                                        </p:attrNameLst>
                                      </p:cBhvr>
                                      <p:to>
                                        <p:strVal val="visible"/>
                                      </p:to>
                                    </p:set>
                                    <p:animEffect transition="in" filter="dissolve">
                                      <p:cBhvr>
                                        <p:cTn id="90" dur="500"/>
                                        <p:tgtEl>
                                          <p:spTgt spid="478376"/>
                                        </p:tgtEl>
                                      </p:cBhvr>
                                    </p:animEffect>
                                  </p:childTnLst>
                                </p:cTn>
                              </p:par>
                              <p:par>
                                <p:cTn id="91" presetID="9" presetClass="entr" presetSubtype="0" fill="hold" nodeType="withEffect">
                                  <p:stCondLst>
                                    <p:cond delay="0"/>
                                  </p:stCondLst>
                                  <p:childTnLst>
                                    <p:set>
                                      <p:cBhvr>
                                        <p:cTn id="92" dur="1" fill="hold">
                                          <p:stCondLst>
                                            <p:cond delay="0"/>
                                          </p:stCondLst>
                                        </p:cTn>
                                        <p:tgtEl>
                                          <p:spTgt spid="478377"/>
                                        </p:tgtEl>
                                        <p:attrNameLst>
                                          <p:attrName>style.visibility</p:attrName>
                                        </p:attrNameLst>
                                      </p:cBhvr>
                                      <p:to>
                                        <p:strVal val="visible"/>
                                      </p:to>
                                    </p:set>
                                    <p:animEffect transition="in" filter="dissolve">
                                      <p:cBhvr>
                                        <p:cTn id="93" dur="500"/>
                                        <p:tgtEl>
                                          <p:spTgt spid="478377"/>
                                        </p:tgtEl>
                                      </p:cBhvr>
                                    </p:animEffect>
                                  </p:childTnLst>
                                </p:cTn>
                              </p:par>
                              <p:par>
                                <p:cTn id="94" presetID="9" presetClass="entr" presetSubtype="0" fill="hold" nodeType="withEffect">
                                  <p:stCondLst>
                                    <p:cond delay="0"/>
                                  </p:stCondLst>
                                  <p:childTnLst>
                                    <p:set>
                                      <p:cBhvr>
                                        <p:cTn id="95" dur="1" fill="hold">
                                          <p:stCondLst>
                                            <p:cond delay="0"/>
                                          </p:stCondLst>
                                        </p:cTn>
                                        <p:tgtEl>
                                          <p:spTgt spid="478378"/>
                                        </p:tgtEl>
                                        <p:attrNameLst>
                                          <p:attrName>style.visibility</p:attrName>
                                        </p:attrNameLst>
                                      </p:cBhvr>
                                      <p:to>
                                        <p:strVal val="visible"/>
                                      </p:to>
                                    </p:set>
                                    <p:animEffect transition="in" filter="dissolve">
                                      <p:cBhvr>
                                        <p:cTn id="96" dur="500"/>
                                        <p:tgtEl>
                                          <p:spTgt spid="478378"/>
                                        </p:tgtEl>
                                      </p:cBhvr>
                                    </p:animEffect>
                                  </p:childTnLst>
                                </p:cTn>
                              </p:par>
                              <p:par>
                                <p:cTn id="97" presetID="9" presetClass="entr" presetSubtype="0" fill="hold" grpId="0" nodeType="withEffect">
                                  <p:stCondLst>
                                    <p:cond delay="0"/>
                                  </p:stCondLst>
                                  <p:childTnLst>
                                    <p:set>
                                      <p:cBhvr>
                                        <p:cTn id="98" dur="1" fill="hold">
                                          <p:stCondLst>
                                            <p:cond delay="0"/>
                                          </p:stCondLst>
                                        </p:cTn>
                                        <p:tgtEl>
                                          <p:spTgt spid="478379"/>
                                        </p:tgtEl>
                                        <p:attrNameLst>
                                          <p:attrName>style.visibility</p:attrName>
                                        </p:attrNameLst>
                                      </p:cBhvr>
                                      <p:to>
                                        <p:strVal val="visible"/>
                                      </p:to>
                                    </p:set>
                                    <p:animEffect transition="in" filter="dissolve">
                                      <p:cBhvr>
                                        <p:cTn id="99" dur="500"/>
                                        <p:tgtEl>
                                          <p:spTgt spid="478379"/>
                                        </p:tgtEl>
                                      </p:cBhvr>
                                    </p:animEffect>
                                  </p:childTnLst>
                                </p:cTn>
                              </p:par>
                              <p:par>
                                <p:cTn id="100" presetID="9" presetClass="entr" presetSubtype="0" fill="hold" grpId="0" nodeType="withEffect">
                                  <p:stCondLst>
                                    <p:cond delay="0"/>
                                  </p:stCondLst>
                                  <p:childTnLst>
                                    <p:set>
                                      <p:cBhvr>
                                        <p:cTn id="101" dur="1" fill="hold">
                                          <p:stCondLst>
                                            <p:cond delay="0"/>
                                          </p:stCondLst>
                                        </p:cTn>
                                        <p:tgtEl>
                                          <p:spTgt spid="478380"/>
                                        </p:tgtEl>
                                        <p:attrNameLst>
                                          <p:attrName>style.visibility</p:attrName>
                                        </p:attrNameLst>
                                      </p:cBhvr>
                                      <p:to>
                                        <p:strVal val="visible"/>
                                      </p:to>
                                    </p:set>
                                    <p:animEffect transition="in" filter="dissolve">
                                      <p:cBhvr>
                                        <p:cTn id="102" dur="500"/>
                                        <p:tgtEl>
                                          <p:spTgt spid="478380"/>
                                        </p:tgtEl>
                                      </p:cBhvr>
                                    </p:animEffect>
                                  </p:childTnLst>
                                </p:cTn>
                              </p:par>
                              <p:par>
                                <p:cTn id="103" presetID="9" presetClass="entr" presetSubtype="0" fill="hold" grpId="0" nodeType="withEffect">
                                  <p:stCondLst>
                                    <p:cond delay="0"/>
                                  </p:stCondLst>
                                  <p:childTnLst>
                                    <p:set>
                                      <p:cBhvr>
                                        <p:cTn id="104" dur="1" fill="hold">
                                          <p:stCondLst>
                                            <p:cond delay="0"/>
                                          </p:stCondLst>
                                        </p:cTn>
                                        <p:tgtEl>
                                          <p:spTgt spid="478381"/>
                                        </p:tgtEl>
                                        <p:attrNameLst>
                                          <p:attrName>style.visibility</p:attrName>
                                        </p:attrNameLst>
                                      </p:cBhvr>
                                      <p:to>
                                        <p:strVal val="visible"/>
                                      </p:to>
                                    </p:set>
                                    <p:animEffect transition="in" filter="dissolve">
                                      <p:cBhvr>
                                        <p:cTn id="105" dur="500"/>
                                        <p:tgtEl>
                                          <p:spTgt spid="478381"/>
                                        </p:tgtEl>
                                      </p:cBhvr>
                                    </p:animEffect>
                                  </p:childTnLst>
                                </p:cTn>
                              </p:par>
                              <p:par>
                                <p:cTn id="106" presetID="9" presetClass="entr" presetSubtype="0" fill="hold" nodeType="withEffect">
                                  <p:stCondLst>
                                    <p:cond delay="0"/>
                                  </p:stCondLst>
                                  <p:childTnLst>
                                    <p:set>
                                      <p:cBhvr>
                                        <p:cTn id="107" dur="1" fill="hold">
                                          <p:stCondLst>
                                            <p:cond delay="0"/>
                                          </p:stCondLst>
                                        </p:cTn>
                                        <p:tgtEl>
                                          <p:spTgt spid="478382"/>
                                        </p:tgtEl>
                                        <p:attrNameLst>
                                          <p:attrName>style.visibility</p:attrName>
                                        </p:attrNameLst>
                                      </p:cBhvr>
                                      <p:to>
                                        <p:strVal val="visible"/>
                                      </p:to>
                                    </p:set>
                                    <p:animEffect transition="in" filter="dissolve">
                                      <p:cBhvr>
                                        <p:cTn id="108" dur="500"/>
                                        <p:tgtEl>
                                          <p:spTgt spid="478382"/>
                                        </p:tgtEl>
                                      </p:cBhvr>
                                    </p:animEffect>
                                  </p:childTnLst>
                                </p:cTn>
                              </p:par>
                              <p:par>
                                <p:cTn id="109" presetID="9" presetClass="entr" presetSubtype="0" fill="hold" nodeType="withEffect">
                                  <p:stCondLst>
                                    <p:cond delay="0"/>
                                  </p:stCondLst>
                                  <p:childTnLst>
                                    <p:set>
                                      <p:cBhvr>
                                        <p:cTn id="110" dur="1" fill="hold">
                                          <p:stCondLst>
                                            <p:cond delay="0"/>
                                          </p:stCondLst>
                                        </p:cTn>
                                        <p:tgtEl>
                                          <p:spTgt spid="478383"/>
                                        </p:tgtEl>
                                        <p:attrNameLst>
                                          <p:attrName>style.visibility</p:attrName>
                                        </p:attrNameLst>
                                      </p:cBhvr>
                                      <p:to>
                                        <p:strVal val="visible"/>
                                      </p:to>
                                    </p:set>
                                    <p:animEffect transition="in" filter="dissolve">
                                      <p:cBhvr>
                                        <p:cTn id="111" dur="500"/>
                                        <p:tgtEl>
                                          <p:spTgt spid="478383"/>
                                        </p:tgtEl>
                                      </p:cBhvr>
                                    </p:animEffect>
                                  </p:childTnLst>
                                </p:cTn>
                              </p:par>
                              <p:par>
                                <p:cTn id="112" presetID="9" presetClass="entr" presetSubtype="0" fill="hold" nodeType="withEffect">
                                  <p:stCondLst>
                                    <p:cond delay="0"/>
                                  </p:stCondLst>
                                  <p:childTnLst>
                                    <p:set>
                                      <p:cBhvr>
                                        <p:cTn id="113" dur="1" fill="hold">
                                          <p:stCondLst>
                                            <p:cond delay="0"/>
                                          </p:stCondLst>
                                        </p:cTn>
                                        <p:tgtEl>
                                          <p:spTgt spid="478384"/>
                                        </p:tgtEl>
                                        <p:attrNameLst>
                                          <p:attrName>style.visibility</p:attrName>
                                        </p:attrNameLst>
                                      </p:cBhvr>
                                      <p:to>
                                        <p:strVal val="visible"/>
                                      </p:to>
                                    </p:set>
                                    <p:animEffect transition="in" filter="dissolve">
                                      <p:cBhvr>
                                        <p:cTn id="114" dur="500"/>
                                        <p:tgtEl>
                                          <p:spTgt spid="478384"/>
                                        </p:tgtEl>
                                      </p:cBhvr>
                                    </p:animEffect>
                                  </p:childTnLst>
                                </p:cTn>
                              </p:par>
                              <p:par>
                                <p:cTn id="115" presetID="9" presetClass="entr" presetSubtype="0" fill="hold" nodeType="withEffect">
                                  <p:stCondLst>
                                    <p:cond delay="0"/>
                                  </p:stCondLst>
                                  <p:childTnLst>
                                    <p:set>
                                      <p:cBhvr>
                                        <p:cTn id="116" dur="1" fill="hold">
                                          <p:stCondLst>
                                            <p:cond delay="0"/>
                                          </p:stCondLst>
                                        </p:cTn>
                                        <p:tgtEl>
                                          <p:spTgt spid="478385"/>
                                        </p:tgtEl>
                                        <p:attrNameLst>
                                          <p:attrName>style.visibility</p:attrName>
                                        </p:attrNameLst>
                                      </p:cBhvr>
                                      <p:to>
                                        <p:strVal val="visible"/>
                                      </p:to>
                                    </p:set>
                                    <p:animEffect transition="in" filter="dissolve">
                                      <p:cBhvr>
                                        <p:cTn id="117" dur="500"/>
                                        <p:tgtEl>
                                          <p:spTgt spid="478385"/>
                                        </p:tgtEl>
                                      </p:cBhvr>
                                    </p:animEffect>
                                  </p:childTnLst>
                                </p:cTn>
                              </p:par>
                              <p:par>
                                <p:cTn id="118" presetID="9" presetClass="entr" presetSubtype="0" fill="hold" grpId="0" nodeType="withEffect">
                                  <p:stCondLst>
                                    <p:cond delay="0"/>
                                  </p:stCondLst>
                                  <p:childTnLst>
                                    <p:set>
                                      <p:cBhvr>
                                        <p:cTn id="119" dur="1" fill="hold">
                                          <p:stCondLst>
                                            <p:cond delay="0"/>
                                          </p:stCondLst>
                                        </p:cTn>
                                        <p:tgtEl>
                                          <p:spTgt spid="478386"/>
                                        </p:tgtEl>
                                        <p:attrNameLst>
                                          <p:attrName>style.visibility</p:attrName>
                                        </p:attrNameLst>
                                      </p:cBhvr>
                                      <p:to>
                                        <p:strVal val="visible"/>
                                      </p:to>
                                    </p:set>
                                    <p:animEffect transition="in" filter="dissolve">
                                      <p:cBhvr>
                                        <p:cTn id="120" dur="500"/>
                                        <p:tgtEl>
                                          <p:spTgt spid="478386"/>
                                        </p:tgtEl>
                                      </p:cBhvr>
                                    </p:animEffect>
                                  </p:childTnLst>
                                </p:cTn>
                              </p:par>
                              <p:par>
                                <p:cTn id="121" presetID="9" presetClass="entr" presetSubtype="0" fill="hold" grpId="0" nodeType="withEffect">
                                  <p:stCondLst>
                                    <p:cond delay="0"/>
                                  </p:stCondLst>
                                  <p:childTnLst>
                                    <p:set>
                                      <p:cBhvr>
                                        <p:cTn id="122" dur="1" fill="hold">
                                          <p:stCondLst>
                                            <p:cond delay="0"/>
                                          </p:stCondLst>
                                        </p:cTn>
                                        <p:tgtEl>
                                          <p:spTgt spid="478387"/>
                                        </p:tgtEl>
                                        <p:attrNameLst>
                                          <p:attrName>style.visibility</p:attrName>
                                        </p:attrNameLst>
                                      </p:cBhvr>
                                      <p:to>
                                        <p:strVal val="visible"/>
                                      </p:to>
                                    </p:set>
                                    <p:animEffect transition="in" filter="dissolve">
                                      <p:cBhvr>
                                        <p:cTn id="123" dur="500"/>
                                        <p:tgtEl>
                                          <p:spTgt spid="478387"/>
                                        </p:tgtEl>
                                      </p:cBhvr>
                                    </p:animEffect>
                                  </p:childTnLst>
                                </p:cTn>
                              </p:par>
                              <p:par>
                                <p:cTn id="124" presetID="9" presetClass="entr" presetSubtype="0" fill="hold" nodeType="withEffect">
                                  <p:stCondLst>
                                    <p:cond delay="0"/>
                                  </p:stCondLst>
                                  <p:childTnLst>
                                    <p:set>
                                      <p:cBhvr>
                                        <p:cTn id="125" dur="1" fill="hold">
                                          <p:stCondLst>
                                            <p:cond delay="0"/>
                                          </p:stCondLst>
                                        </p:cTn>
                                        <p:tgtEl>
                                          <p:spTgt spid="478388"/>
                                        </p:tgtEl>
                                        <p:attrNameLst>
                                          <p:attrName>style.visibility</p:attrName>
                                        </p:attrNameLst>
                                      </p:cBhvr>
                                      <p:to>
                                        <p:strVal val="visible"/>
                                      </p:to>
                                    </p:set>
                                    <p:animEffect transition="in" filter="dissolve">
                                      <p:cBhvr>
                                        <p:cTn id="126" dur="500"/>
                                        <p:tgtEl>
                                          <p:spTgt spid="478388"/>
                                        </p:tgtEl>
                                      </p:cBhvr>
                                    </p:animEffect>
                                  </p:childTnLst>
                                </p:cTn>
                              </p:par>
                              <p:par>
                                <p:cTn id="127" presetID="9" presetClass="entr" presetSubtype="0" fill="hold" nodeType="withEffect">
                                  <p:stCondLst>
                                    <p:cond delay="0"/>
                                  </p:stCondLst>
                                  <p:childTnLst>
                                    <p:set>
                                      <p:cBhvr>
                                        <p:cTn id="128" dur="1" fill="hold">
                                          <p:stCondLst>
                                            <p:cond delay="0"/>
                                          </p:stCondLst>
                                        </p:cTn>
                                        <p:tgtEl>
                                          <p:spTgt spid="478389"/>
                                        </p:tgtEl>
                                        <p:attrNameLst>
                                          <p:attrName>style.visibility</p:attrName>
                                        </p:attrNameLst>
                                      </p:cBhvr>
                                      <p:to>
                                        <p:strVal val="visible"/>
                                      </p:to>
                                    </p:set>
                                    <p:animEffect transition="in" filter="dissolve">
                                      <p:cBhvr>
                                        <p:cTn id="129" dur="500"/>
                                        <p:tgtEl>
                                          <p:spTgt spid="478389"/>
                                        </p:tgtEl>
                                      </p:cBhvr>
                                    </p:animEffect>
                                  </p:childTnLst>
                                </p:cTn>
                              </p:par>
                              <p:par>
                                <p:cTn id="130" presetID="9" presetClass="entr" presetSubtype="0" fill="hold" nodeType="withEffect">
                                  <p:stCondLst>
                                    <p:cond delay="0"/>
                                  </p:stCondLst>
                                  <p:childTnLst>
                                    <p:set>
                                      <p:cBhvr>
                                        <p:cTn id="131" dur="1" fill="hold">
                                          <p:stCondLst>
                                            <p:cond delay="0"/>
                                          </p:stCondLst>
                                        </p:cTn>
                                        <p:tgtEl>
                                          <p:spTgt spid="478390"/>
                                        </p:tgtEl>
                                        <p:attrNameLst>
                                          <p:attrName>style.visibility</p:attrName>
                                        </p:attrNameLst>
                                      </p:cBhvr>
                                      <p:to>
                                        <p:strVal val="visible"/>
                                      </p:to>
                                    </p:set>
                                    <p:animEffect transition="in" filter="dissolve">
                                      <p:cBhvr>
                                        <p:cTn id="132" dur="500"/>
                                        <p:tgtEl>
                                          <p:spTgt spid="478390"/>
                                        </p:tgtEl>
                                      </p:cBhvr>
                                    </p:animEffect>
                                  </p:childTnLst>
                                </p:cTn>
                              </p:par>
                              <p:par>
                                <p:cTn id="133" presetID="9" presetClass="entr" presetSubtype="0" fill="hold" grpId="0" nodeType="withEffect">
                                  <p:stCondLst>
                                    <p:cond delay="0"/>
                                  </p:stCondLst>
                                  <p:childTnLst>
                                    <p:set>
                                      <p:cBhvr>
                                        <p:cTn id="134" dur="1" fill="hold">
                                          <p:stCondLst>
                                            <p:cond delay="0"/>
                                          </p:stCondLst>
                                        </p:cTn>
                                        <p:tgtEl>
                                          <p:spTgt spid="478391"/>
                                        </p:tgtEl>
                                        <p:attrNameLst>
                                          <p:attrName>style.visibility</p:attrName>
                                        </p:attrNameLst>
                                      </p:cBhvr>
                                      <p:to>
                                        <p:strVal val="visible"/>
                                      </p:to>
                                    </p:set>
                                    <p:animEffect transition="in" filter="dissolve">
                                      <p:cBhvr>
                                        <p:cTn id="135" dur="500"/>
                                        <p:tgtEl>
                                          <p:spTgt spid="478391"/>
                                        </p:tgtEl>
                                      </p:cBhvr>
                                    </p:animEffect>
                                  </p:childTnLst>
                                </p:cTn>
                              </p:par>
                              <p:par>
                                <p:cTn id="136" presetID="9" presetClass="entr" presetSubtype="0" fill="hold" nodeType="withEffect">
                                  <p:stCondLst>
                                    <p:cond delay="0"/>
                                  </p:stCondLst>
                                  <p:childTnLst>
                                    <p:set>
                                      <p:cBhvr>
                                        <p:cTn id="137" dur="1" fill="hold">
                                          <p:stCondLst>
                                            <p:cond delay="0"/>
                                          </p:stCondLst>
                                        </p:cTn>
                                        <p:tgtEl>
                                          <p:spTgt spid="478392"/>
                                        </p:tgtEl>
                                        <p:attrNameLst>
                                          <p:attrName>style.visibility</p:attrName>
                                        </p:attrNameLst>
                                      </p:cBhvr>
                                      <p:to>
                                        <p:strVal val="visible"/>
                                      </p:to>
                                    </p:set>
                                    <p:animEffect transition="in" filter="dissolve">
                                      <p:cBhvr>
                                        <p:cTn id="138" dur="500"/>
                                        <p:tgtEl>
                                          <p:spTgt spid="478392"/>
                                        </p:tgtEl>
                                      </p:cBhvr>
                                    </p:animEffect>
                                  </p:childTnLst>
                                </p:cTn>
                              </p:par>
                              <p:par>
                                <p:cTn id="139" presetID="9" presetClass="entr" presetSubtype="0" fill="hold" grpId="0" nodeType="withEffect">
                                  <p:stCondLst>
                                    <p:cond delay="0"/>
                                  </p:stCondLst>
                                  <p:childTnLst>
                                    <p:set>
                                      <p:cBhvr>
                                        <p:cTn id="140" dur="1" fill="hold">
                                          <p:stCondLst>
                                            <p:cond delay="0"/>
                                          </p:stCondLst>
                                        </p:cTn>
                                        <p:tgtEl>
                                          <p:spTgt spid="478393"/>
                                        </p:tgtEl>
                                        <p:attrNameLst>
                                          <p:attrName>style.visibility</p:attrName>
                                        </p:attrNameLst>
                                      </p:cBhvr>
                                      <p:to>
                                        <p:strVal val="visible"/>
                                      </p:to>
                                    </p:set>
                                    <p:animEffect transition="in" filter="dissolve">
                                      <p:cBhvr>
                                        <p:cTn id="141" dur="500"/>
                                        <p:tgtEl>
                                          <p:spTgt spid="478393"/>
                                        </p:tgtEl>
                                      </p:cBhvr>
                                    </p:animEffect>
                                  </p:childTnLst>
                                </p:cTn>
                              </p:par>
                              <p:par>
                                <p:cTn id="142" presetID="9" presetClass="entr" presetSubtype="0" fill="hold" grpId="0" nodeType="withEffect">
                                  <p:stCondLst>
                                    <p:cond delay="0"/>
                                  </p:stCondLst>
                                  <p:childTnLst>
                                    <p:set>
                                      <p:cBhvr>
                                        <p:cTn id="143" dur="1" fill="hold">
                                          <p:stCondLst>
                                            <p:cond delay="0"/>
                                          </p:stCondLst>
                                        </p:cTn>
                                        <p:tgtEl>
                                          <p:spTgt spid="478394"/>
                                        </p:tgtEl>
                                        <p:attrNameLst>
                                          <p:attrName>style.visibility</p:attrName>
                                        </p:attrNameLst>
                                      </p:cBhvr>
                                      <p:to>
                                        <p:strVal val="visible"/>
                                      </p:to>
                                    </p:set>
                                    <p:animEffect transition="in" filter="dissolve">
                                      <p:cBhvr>
                                        <p:cTn id="144" dur="500"/>
                                        <p:tgtEl>
                                          <p:spTgt spid="478394"/>
                                        </p:tgtEl>
                                      </p:cBhvr>
                                    </p:animEffect>
                                  </p:childTnLst>
                                </p:cTn>
                              </p:par>
                              <p:par>
                                <p:cTn id="145" presetID="9" presetClass="entr" presetSubtype="0" fill="hold" grpId="0" nodeType="withEffect">
                                  <p:stCondLst>
                                    <p:cond delay="0"/>
                                  </p:stCondLst>
                                  <p:childTnLst>
                                    <p:set>
                                      <p:cBhvr>
                                        <p:cTn id="146" dur="1" fill="hold">
                                          <p:stCondLst>
                                            <p:cond delay="0"/>
                                          </p:stCondLst>
                                        </p:cTn>
                                        <p:tgtEl>
                                          <p:spTgt spid="478395"/>
                                        </p:tgtEl>
                                        <p:attrNameLst>
                                          <p:attrName>style.visibility</p:attrName>
                                        </p:attrNameLst>
                                      </p:cBhvr>
                                      <p:to>
                                        <p:strVal val="visible"/>
                                      </p:to>
                                    </p:set>
                                    <p:animEffect transition="in" filter="dissolve">
                                      <p:cBhvr>
                                        <p:cTn id="147" dur="500"/>
                                        <p:tgtEl>
                                          <p:spTgt spid="478395"/>
                                        </p:tgtEl>
                                      </p:cBhvr>
                                    </p:animEffect>
                                  </p:childTnLst>
                                </p:cTn>
                              </p:par>
                              <p:par>
                                <p:cTn id="148" presetID="9" presetClass="entr" presetSubtype="0" fill="hold" nodeType="withEffect">
                                  <p:stCondLst>
                                    <p:cond delay="0"/>
                                  </p:stCondLst>
                                  <p:childTnLst>
                                    <p:set>
                                      <p:cBhvr>
                                        <p:cTn id="149" dur="1" fill="hold">
                                          <p:stCondLst>
                                            <p:cond delay="0"/>
                                          </p:stCondLst>
                                        </p:cTn>
                                        <p:tgtEl>
                                          <p:spTgt spid="478396"/>
                                        </p:tgtEl>
                                        <p:attrNameLst>
                                          <p:attrName>style.visibility</p:attrName>
                                        </p:attrNameLst>
                                      </p:cBhvr>
                                      <p:to>
                                        <p:strVal val="visible"/>
                                      </p:to>
                                    </p:set>
                                    <p:animEffect transition="in" filter="dissolve">
                                      <p:cBhvr>
                                        <p:cTn id="150" dur="500"/>
                                        <p:tgtEl>
                                          <p:spTgt spid="478396"/>
                                        </p:tgtEl>
                                      </p:cBhvr>
                                    </p:animEffect>
                                  </p:childTnLst>
                                </p:cTn>
                              </p:par>
                              <p:par>
                                <p:cTn id="151" presetID="9" presetClass="entr" presetSubtype="0" fill="hold" nodeType="withEffect">
                                  <p:stCondLst>
                                    <p:cond delay="0"/>
                                  </p:stCondLst>
                                  <p:childTnLst>
                                    <p:set>
                                      <p:cBhvr>
                                        <p:cTn id="152" dur="1" fill="hold">
                                          <p:stCondLst>
                                            <p:cond delay="0"/>
                                          </p:stCondLst>
                                        </p:cTn>
                                        <p:tgtEl>
                                          <p:spTgt spid="478397"/>
                                        </p:tgtEl>
                                        <p:attrNameLst>
                                          <p:attrName>style.visibility</p:attrName>
                                        </p:attrNameLst>
                                      </p:cBhvr>
                                      <p:to>
                                        <p:strVal val="visible"/>
                                      </p:to>
                                    </p:set>
                                    <p:animEffect transition="in" filter="dissolve">
                                      <p:cBhvr>
                                        <p:cTn id="153" dur="500"/>
                                        <p:tgtEl>
                                          <p:spTgt spid="478397"/>
                                        </p:tgtEl>
                                      </p:cBhvr>
                                    </p:animEffect>
                                  </p:childTnLst>
                                </p:cTn>
                              </p:par>
                              <p:par>
                                <p:cTn id="154" presetID="9" presetClass="entr" presetSubtype="0" fill="hold" nodeType="withEffect">
                                  <p:stCondLst>
                                    <p:cond delay="0"/>
                                  </p:stCondLst>
                                  <p:childTnLst>
                                    <p:set>
                                      <p:cBhvr>
                                        <p:cTn id="155" dur="1" fill="hold">
                                          <p:stCondLst>
                                            <p:cond delay="0"/>
                                          </p:stCondLst>
                                        </p:cTn>
                                        <p:tgtEl>
                                          <p:spTgt spid="478398"/>
                                        </p:tgtEl>
                                        <p:attrNameLst>
                                          <p:attrName>style.visibility</p:attrName>
                                        </p:attrNameLst>
                                      </p:cBhvr>
                                      <p:to>
                                        <p:strVal val="visible"/>
                                      </p:to>
                                    </p:set>
                                    <p:animEffect transition="in" filter="dissolve">
                                      <p:cBhvr>
                                        <p:cTn id="156" dur="500"/>
                                        <p:tgtEl>
                                          <p:spTgt spid="478398"/>
                                        </p:tgtEl>
                                      </p:cBhvr>
                                    </p:animEffect>
                                  </p:childTnLst>
                                </p:cTn>
                              </p:par>
                              <p:par>
                                <p:cTn id="157" presetID="9" presetClass="entr" presetSubtype="0" fill="hold" grpId="0" nodeType="withEffect">
                                  <p:stCondLst>
                                    <p:cond delay="0"/>
                                  </p:stCondLst>
                                  <p:childTnLst>
                                    <p:set>
                                      <p:cBhvr>
                                        <p:cTn id="158" dur="1" fill="hold">
                                          <p:stCondLst>
                                            <p:cond delay="0"/>
                                          </p:stCondLst>
                                        </p:cTn>
                                        <p:tgtEl>
                                          <p:spTgt spid="478399"/>
                                        </p:tgtEl>
                                        <p:attrNameLst>
                                          <p:attrName>style.visibility</p:attrName>
                                        </p:attrNameLst>
                                      </p:cBhvr>
                                      <p:to>
                                        <p:strVal val="visible"/>
                                      </p:to>
                                    </p:set>
                                    <p:animEffect transition="in" filter="dissolve">
                                      <p:cBhvr>
                                        <p:cTn id="159" dur="500"/>
                                        <p:tgtEl>
                                          <p:spTgt spid="478399"/>
                                        </p:tgtEl>
                                      </p:cBhvr>
                                    </p:animEffect>
                                  </p:childTnLst>
                                </p:cTn>
                              </p:par>
                              <p:par>
                                <p:cTn id="160" presetID="9" presetClass="entr" presetSubtype="0" fill="hold" grpId="0" nodeType="withEffect">
                                  <p:stCondLst>
                                    <p:cond delay="0"/>
                                  </p:stCondLst>
                                  <p:childTnLst>
                                    <p:set>
                                      <p:cBhvr>
                                        <p:cTn id="161" dur="1" fill="hold">
                                          <p:stCondLst>
                                            <p:cond delay="0"/>
                                          </p:stCondLst>
                                        </p:cTn>
                                        <p:tgtEl>
                                          <p:spTgt spid="478400"/>
                                        </p:tgtEl>
                                        <p:attrNameLst>
                                          <p:attrName>style.visibility</p:attrName>
                                        </p:attrNameLst>
                                      </p:cBhvr>
                                      <p:to>
                                        <p:strVal val="visible"/>
                                      </p:to>
                                    </p:set>
                                    <p:animEffect transition="in" filter="dissolve">
                                      <p:cBhvr>
                                        <p:cTn id="162" dur="500"/>
                                        <p:tgtEl>
                                          <p:spTgt spid="478400"/>
                                        </p:tgtEl>
                                      </p:cBhvr>
                                    </p:animEffect>
                                  </p:childTnLst>
                                </p:cTn>
                              </p:par>
                              <p:par>
                                <p:cTn id="163" presetID="9" presetClass="entr" presetSubtype="0" fill="hold" grpId="0" nodeType="withEffect">
                                  <p:stCondLst>
                                    <p:cond delay="0"/>
                                  </p:stCondLst>
                                  <p:childTnLst>
                                    <p:set>
                                      <p:cBhvr>
                                        <p:cTn id="164" dur="1" fill="hold">
                                          <p:stCondLst>
                                            <p:cond delay="0"/>
                                          </p:stCondLst>
                                        </p:cTn>
                                        <p:tgtEl>
                                          <p:spTgt spid="478401"/>
                                        </p:tgtEl>
                                        <p:attrNameLst>
                                          <p:attrName>style.visibility</p:attrName>
                                        </p:attrNameLst>
                                      </p:cBhvr>
                                      <p:to>
                                        <p:strVal val="visible"/>
                                      </p:to>
                                    </p:set>
                                    <p:animEffect transition="in" filter="dissolve">
                                      <p:cBhvr>
                                        <p:cTn id="165" dur="500"/>
                                        <p:tgtEl>
                                          <p:spTgt spid="478401"/>
                                        </p:tgtEl>
                                      </p:cBhvr>
                                    </p:animEffect>
                                  </p:childTnLst>
                                </p:cTn>
                              </p:par>
                              <p:par>
                                <p:cTn id="166" presetID="9" presetClass="entr" presetSubtype="0" fill="hold" nodeType="withEffect">
                                  <p:stCondLst>
                                    <p:cond delay="0"/>
                                  </p:stCondLst>
                                  <p:childTnLst>
                                    <p:set>
                                      <p:cBhvr>
                                        <p:cTn id="167" dur="1" fill="hold">
                                          <p:stCondLst>
                                            <p:cond delay="0"/>
                                          </p:stCondLst>
                                        </p:cTn>
                                        <p:tgtEl>
                                          <p:spTgt spid="478402"/>
                                        </p:tgtEl>
                                        <p:attrNameLst>
                                          <p:attrName>style.visibility</p:attrName>
                                        </p:attrNameLst>
                                      </p:cBhvr>
                                      <p:to>
                                        <p:strVal val="visible"/>
                                      </p:to>
                                    </p:set>
                                    <p:animEffect transition="in" filter="dissolve">
                                      <p:cBhvr>
                                        <p:cTn id="168" dur="500"/>
                                        <p:tgtEl>
                                          <p:spTgt spid="478402"/>
                                        </p:tgtEl>
                                      </p:cBhvr>
                                    </p:animEffect>
                                  </p:childTnLst>
                                </p:cTn>
                              </p:par>
                              <p:par>
                                <p:cTn id="169" presetID="9" presetClass="entr" presetSubtype="0" fill="hold" nodeType="withEffect">
                                  <p:stCondLst>
                                    <p:cond delay="0"/>
                                  </p:stCondLst>
                                  <p:childTnLst>
                                    <p:set>
                                      <p:cBhvr>
                                        <p:cTn id="170" dur="1" fill="hold">
                                          <p:stCondLst>
                                            <p:cond delay="0"/>
                                          </p:stCondLst>
                                        </p:cTn>
                                        <p:tgtEl>
                                          <p:spTgt spid="478403"/>
                                        </p:tgtEl>
                                        <p:attrNameLst>
                                          <p:attrName>style.visibility</p:attrName>
                                        </p:attrNameLst>
                                      </p:cBhvr>
                                      <p:to>
                                        <p:strVal val="visible"/>
                                      </p:to>
                                    </p:set>
                                    <p:animEffect transition="in" filter="dissolve">
                                      <p:cBhvr>
                                        <p:cTn id="171" dur="500"/>
                                        <p:tgtEl>
                                          <p:spTgt spid="478403"/>
                                        </p:tgtEl>
                                      </p:cBhvr>
                                    </p:animEffect>
                                  </p:childTnLst>
                                </p:cTn>
                              </p:par>
                              <p:par>
                                <p:cTn id="172" presetID="9" presetClass="entr" presetSubtype="0" fill="hold" nodeType="withEffect">
                                  <p:stCondLst>
                                    <p:cond delay="0"/>
                                  </p:stCondLst>
                                  <p:childTnLst>
                                    <p:set>
                                      <p:cBhvr>
                                        <p:cTn id="173" dur="1" fill="hold">
                                          <p:stCondLst>
                                            <p:cond delay="0"/>
                                          </p:stCondLst>
                                        </p:cTn>
                                        <p:tgtEl>
                                          <p:spTgt spid="478404"/>
                                        </p:tgtEl>
                                        <p:attrNameLst>
                                          <p:attrName>style.visibility</p:attrName>
                                        </p:attrNameLst>
                                      </p:cBhvr>
                                      <p:to>
                                        <p:strVal val="visible"/>
                                      </p:to>
                                    </p:set>
                                    <p:animEffect transition="in" filter="dissolve">
                                      <p:cBhvr>
                                        <p:cTn id="174" dur="500"/>
                                        <p:tgtEl>
                                          <p:spTgt spid="478404"/>
                                        </p:tgtEl>
                                      </p:cBhvr>
                                    </p:animEffect>
                                  </p:childTnLst>
                                </p:cTn>
                              </p:par>
                              <p:par>
                                <p:cTn id="175" presetID="9" presetClass="entr" presetSubtype="0" fill="hold" grpId="0" nodeType="withEffect">
                                  <p:stCondLst>
                                    <p:cond delay="0"/>
                                  </p:stCondLst>
                                  <p:childTnLst>
                                    <p:set>
                                      <p:cBhvr>
                                        <p:cTn id="176" dur="1" fill="hold">
                                          <p:stCondLst>
                                            <p:cond delay="0"/>
                                          </p:stCondLst>
                                        </p:cTn>
                                        <p:tgtEl>
                                          <p:spTgt spid="478405"/>
                                        </p:tgtEl>
                                        <p:attrNameLst>
                                          <p:attrName>style.visibility</p:attrName>
                                        </p:attrNameLst>
                                      </p:cBhvr>
                                      <p:to>
                                        <p:strVal val="visible"/>
                                      </p:to>
                                    </p:set>
                                    <p:animEffect transition="in" filter="dissolve">
                                      <p:cBhvr>
                                        <p:cTn id="177" dur="500"/>
                                        <p:tgtEl>
                                          <p:spTgt spid="478405"/>
                                        </p:tgtEl>
                                      </p:cBhvr>
                                    </p:animEffect>
                                  </p:childTnLst>
                                </p:cTn>
                              </p:par>
                              <p:par>
                                <p:cTn id="178" presetID="9" presetClass="entr" presetSubtype="0" fill="hold" nodeType="withEffect">
                                  <p:stCondLst>
                                    <p:cond delay="0"/>
                                  </p:stCondLst>
                                  <p:childTnLst>
                                    <p:set>
                                      <p:cBhvr>
                                        <p:cTn id="179" dur="1" fill="hold">
                                          <p:stCondLst>
                                            <p:cond delay="0"/>
                                          </p:stCondLst>
                                        </p:cTn>
                                        <p:tgtEl>
                                          <p:spTgt spid="478406"/>
                                        </p:tgtEl>
                                        <p:attrNameLst>
                                          <p:attrName>style.visibility</p:attrName>
                                        </p:attrNameLst>
                                      </p:cBhvr>
                                      <p:to>
                                        <p:strVal val="visible"/>
                                      </p:to>
                                    </p:set>
                                    <p:animEffect transition="in" filter="dissolve">
                                      <p:cBhvr>
                                        <p:cTn id="180" dur="500"/>
                                        <p:tgtEl>
                                          <p:spTgt spid="478406"/>
                                        </p:tgtEl>
                                      </p:cBhvr>
                                    </p:animEffect>
                                  </p:childTnLst>
                                </p:cTn>
                              </p:par>
                              <p:par>
                                <p:cTn id="181" presetID="9" presetClass="entr" presetSubtype="0" fill="hold" grpId="0" nodeType="withEffect">
                                  <p:stCondLst>
                                    <p:cond delay="0"/>
                                  </p:stCondLst>
                                  <p:childTnLst>
                                    <p:set>
                                      <p:cBhvr>
                                        <p:cTn id="182" dur="1" fill="hold">
                                          <p:stCondLst>
                                            <p:cond delay="0"/>
                                          </p:stCondLst>
                                        </p:cTn>
                                        <p:tgtEl>
                                          <p:spTgt spid="478407"/>
                                        </p:tgtEl>
                                        <p:attrNameLst>
                                          <p:attrName>style.visibility</p:attrName>
                                        </p:attrNameLst>
                                      </p:cBhvr>
                                      <p:to>
                                        <p:strVal val="visible"/>
                                      </p:to>
                                    </p:set>
                                    <p:animEffect transition="in" filter="dissolve">
                                      <p:cBhvr>
                                        <p:cTn id="183" dur="500"/>
                                        <p:tgtEl>
                                          <p:spTgt spid="478407"/>
                                        </p:tgtEl>
                                      </p:cBhvr>
                                    </p:animEffect>
                                  </p:childTnLst>
                                </p:cTn>
                              </p:par>
                              <p:par>
                                <p:cTn id="184" presetID="9" presetClass="entr" presetSubtype="0" fill="hold" nodeType="withEffect">
                                  <p:stCondLst>
                                    <p:cond delay="0"/>
                                  </p:stCondLst>
                                  <p:childTnLst>
                                    <p:set>
                                      <p:cBhvr>
                                        <p:cTn id="185" dur="1" fill="hold">
                                          <p:stCondLst>
                                            <p:cond delay="0"/>
                                          </p:stCondLst>
                                        </p:cTn>
                                        <p:tgtEl>
                                          <p:spTgt spid="478408"/>
                                        </p:tgtEl>
                                        <p:attrNameLst>
                                          <p:attrName>style.visibility</p:attrName>
                                        </p:attrNameLst>
                                      </p:cBhvr>
                                      <p:to>
                                        <p:strVal val="visible"/>
                                      </p:to>
                                    </p:set>
                                    <p:animEffect transition="in" filter="dissolve">
                                      <p:cBhvr>
                                        <p:cTn id="186" dur="500"/>
                                        <p:tgtEl>
                                          <p:spTgt spid="478408"/>
                                        </p:tgtEl>
                                      </p:cBhvr>
                                    </p:animEffect>
                                  </p:childTnLst>
                                </p:cTn>
                              </p:par>
                              <p:par>
                                <p:cTn id="187" presetID="9" presetClass="entr" presetSubtype="0" fill="hold" nodeType="withEffect">
                                  <p:stCondLst>
                                    <p:cond delay="0"/>
                                  </p:stCondLst>
                                  <p:childTnLst>
                                    <p:set>
                                      <p:cBhvr>
                                        <p:cTn id="188" dur="1" fill="hold">
                                          <p:stCondLst>
                                            <p:cond delay="0"/>
                                          </p:stCondLst>
                                        </p:cTn>
                                        <p:tgtEl>
                                          <p:spTgt spid="478409"/>
                                        </p:tgtEl>
                                        <p:attrNameLst>
                                          <p:attrName>style.visibility</p:attrName>
                                        </p:attrNameLst>
                                      </p:cBhvr>
                                      <p:to>
                                        <p:strVal val="visible"/>
                                      </p:to>
                                    </p:set>
                                    <p:animEffect transition="in" filter="dissolve">
                                      <p:cBhvr>
                                        <p:cTn id="189" dur="500"/>
                                        <p:tgtEl>
                                          <p:spTgt spid="478409"/>
                                        </p:tgtEl>
                                      </p:cBhvr>
                                    </p:animEffect>
                                  </p:childTnLst>
                                </p:cTn>
                              </p:par>
                              <p:par>
                                <p:cTn id="190" presetID="9" presetClass="entr" presetSubtype="0" fill="hold" nodeType="withEffect">
                                  <p:stCondLst>
                                    <p:cond delay="0"/>
                                  </p:stCondLst>
                                  <p:childTnLst>
                                    <p:set>
                                      <p:cBhvr>
                                        <p:cTn id="191" dur="1" fill="hold">
                                          <p:stCondLst>
                                            <p:cond delay="0"/>
                                          </p:stCondLst>
                                        </p:cTn>
                                        <p:tgtEl>
                                          <p:spTgt spid="478410"/>
                                        </p:tgtEl>
                                        <p:attrNameLst>
                                          <p:attrName>style.visibility</p:attrName>
                                        </p:attrNameLst>
                                      </p:cBhvr>
                                      <p:to>
                                        <p:strVal val="visible"/>
                                      </p:to>
                                    </p:set>
                                    <p:animEffect transition="in" filter="dissolve">
                                      <p:cBhvr>
                                        <p:cTn id="192" dur="500"/>
                                        <p:tgtEl>
                                          <p:spTgt spid="478410"/>
                                        </p:tgtEl>
                                      </p:cBhvr>
                                    </p:animEffect>
                                  </p:childTnLst>
                                </p:cTn>
                              </p:par>
                              <p:par>
                                <p:cTn id="193" presetID="9" presetClass="entr" presetSubtype="0" fill="hold" nodeType="withEffect">
                                  <p:stCondLst>
                                    <p:cond delay="0"/>
                                  </p:stCondLst>
                                  <p:childTnLst>
                                    <p:set>
                                      <p:cBhvr>
                                        <p:cTn id="194" dur="1" fill="hold">
                                          <p:stCondLst>
                                            <p:cond delay="0"/>
                                          </p:stCondLst>
                                        </p:cTn>
                                        <p:tgtEl>
                                          <p:spTgt spid="478411"/>
                                        </p:tgtEl>
                                        <p:attrNameLst>
                                          <p:attrName>style.visibility</p:attrName>
                                        </p:attrNameLst>
                                      </p:cBhvr>
                                      <p:to>
                                        <p:strVal val="visible"/>
                                      </p:to>
                                    </p:set>
                                    <p:animEffect transition="in" filter="dissolve">
                                      <p:cBhvr>
                                        <p:cTn id="195" dur="500"/>
                                        <p:tgtEl>
                                          <p:spTgt spid="478411"/>
                                        </p:tgtEl>
                                      </p:cBhvr>
                                    </p:animEffect>
                                  </p:childTnLst>
                                </p:cTn>
                              </p:par>
                              <p:par>
                                <p:cTn id="196" presetID="9" presetClass="entr" presetSubtype="0" fill="hold" nodeType="withEffect">
                                  <p:stCondLst>
                                    <p:cond delay="0"/>
                                  </p:stCondLst>
                                  <p:childTnLst>
                                    <p:set>
                                      <p:cBhvr>
                                        <p:cTn id="197" dur="1" fill="hold">
                                          <p:stCondLst>
                                            <p:cond delay="0"/>
                                          </p:stCondLst>
                                        </p:cTn>
                                        <p:tgtEl>
                                          <p:spTgt spid="478412"/>
                                        </p:tgtEl>
                                        <p:attrNameLst>
                                          <p:attrName>style.visibility</p:attrName>
                                        </p:attrNameLst>
                                      </p:cBhvr>
                                      <p:to>
                                        <p:strVal val="visible"/>
                                      </p:to>
                                    </p:set>
                                    <p:animEffect transition="in" filter="dissolve">
                                      <p:cBhvr>
                                        <p:cTn id="198" dur="500"/>
                                        <p:tgtEl>
                                          <p:spTgt spid="478412"/>
                                        </p:tgtEl>
                                      </p:cBhvr>
                                    </p:animEffect>
                                  </p:childTnLst>
                                </p:cTn>
                              </p:par>
                              <p:par>
                                <p:cTn id="199" presetID="9" presetClass="entr" presetSubtype="0" fill="hold" nodeType="withEffect">
                                  <p:stCondLst>
                                    <p:cond delay="0"/>
                                  </p:stCondLst>
                                  <p:childTnLst>
                                    <p:set>
                                      <p:cBhvr>
                                        <p:cTn id="200" dur="1" fill="hold">
                                          <p:stCondLst>
                                            <p:cond delay="0"/>
                                          </p:stCondLst>
                                        </p:cTn>
                                        <p:tgtEl>
                                          <p:spTgt spid="478413"/>
                                        </p:tgtEl>
                                        <p:attrNameLst>
                                          <p:attrName>style.visibility</p:attrName>
                                        </p:attrNameLst>
                                      </p:cBhvr>
                                      <p:to>
                                        <p:strVal val="visible"/>
                                      </p:to>
                                    </p:set>
                                    <p:animEffect transition="in" filter="dissolve">
                                      <p:cBhvr>
                                        <p:cTn id="201" dur="500"/>
                                        <p:tgtEl>
                                          <p:spTgt spid="478413"/>
                                        </p:tgtEl>
                                      </p:cBhvr>
                                    </p:animEffect>
                                  </p:childTnLst>
                                </p:cTn>
                              </p:par>
                              <p:par>
                                <p:cTn id="202" presetID="9" presetClass="entr" presetSubtype="0" fill="hold" nodeType="withEffect">
                                  <p:stCondLst>
                                    <p:cond delay="0"/>
                                  </p:stCondLst>
                                  <p:childTnLst>
                                    <p:set>
                                      <p:cBhvr>
                                        <p:cTn id="203" dur="1" fill="hold">
                                          <p:stCondLst>
                                            <p:cond delay="0"/>
                                          </p:stCondLst>
                                        </p:cTn>
                                        <p:tgtEl>
                                          <p:spTgt spid="478414"/>
                                        </p:tgtEl>
                                        <p:attrNameLst>
                                          <p:attrName>style.visibility</p:attrName>
                                        </p:attrNameLst>
                                      </p:cBhvr>
                                      <p:to>
                                        <p:strVal val="visible"/>
                                      </p:to>
                                    </p:set>
                                    <p:animEffect transition="in" filter="dissolve">
                                      <p:cBhvr>
                                        <p:cTn id="204" dur="500"/>
                                        <p:tgtEl>
                                          <p:spTgt spid="478414"/>
                                        </p:tgtEl>
                                      </p:cBhvr>
                                    </p:animEffect>
                                  </p:childTnLst>
                                </p:cTn>
                              </p:par>
                              <p:par>
                                <p:cTn id="205" presetID="9" presetClass="entr" presetSubtype="0" fill="hold" nodeType="withEffect">
                                  <p:stCondLst>
                                    <p:cond delay="0"/>
                                  </p:stCondLst>
                                  <p:childTnLst>
                                    <p:set>
                                      <p:cBhvr>
                                        <p:cTn id="206" dur="1" fill="hold">
                                          <p:stCondLst>
                                            <p:cond delay="0"/>
                                          </p:stCondLst>
                                        </p:cTn>
                                        <p:tgtEl>
                                          <p:spTgt spid="478415"/>
                                        </p:tgtEl>
                                        <p:attrNameLst>
                                          <p:attrName>style.visibility</p:attrName>
                                        </p:attrNameLst>
                                      </p:cBhvr>
                                      <p:to>
                                        <p:strVal val="visible"/>
                                      </p:to>
                                    </p:set>
                                    <p:animEffect transition="in" filter="dissolve">
                                      <p:cBhvr>
                                        <p:cTn id="207" dur="500"/>
                                        <p:tgtEl>
                                          <p:spTgt spid="478415"/>
                                        </p:tgtEl>
                                      </p:cBhvr>
                                    </p:animEffect>
                                  </p:childTnLst>
                                </p:cTn>
                              </p:par>
                              <p:par>
                                <p:cTn id="208" presetID="9" presetClass="entr" presetSubtype="0" fill="hold" nodeType="withEffect">
                                  <p:stCondLst>
                                    <p:cond delay="0"/>
                                  </p:stCondLst>
                                  <p:childTnLst>
                                    <p:set>
                                      <p:cBhvr>
                                        <p:cTn id="209" dur="1" fill="hold">
                                          <p:stCondLst>
                                            <p:cond delay="0"/>
                                          </p:stCondLst>
                                        </p:cTn>
                                        <p:tgtEl>
                                          <p:spTgt spid="478416"/>
                                        </p:tgtEl>
                                        <p:attrNameLst>
                                          <p:attrName>style.visibility</p:attrName>
                                        </p:attrNameLst>
                                      </p:cBhvr>
                                      <p:to>
                                        <p:strVal val="visible"/>
                                      </p:to>
                                    </p:set>
                                    <p:animEffect transition="in" filter="dissolve">
                                      <p:cBhvr>
                                        <p:cTn id="210" dur="500"/>
                                        <p:tgtEl>
                                          <p:spTgt spid="478416"/>
                                        </p:tgtEl>
                                      </p:cBhvr>
                                    </p:animEffect>
                                  </p:childTnLst>
                                </p:cTn>
                              </p:par>
                              <p:par>
                                <p:cTn id="211" presetID="9" presetClass="entr" presetSubtype="0" fill="hold" nodeType="withEffect">
                                  <p:stCondLst>
                                    <p:cond delay="0"/>
                                  </p:stCondLst>
                                  <p:childTnLst>
                                    <p:set>
                                      <p:cBhvr>
                                        <p:cTn id="212" dur="1" fill="hold">
                                          <p:stCondLst>
                                            <p:cond delay="0"/>
                                          </p:stCondLst>
                                        </p:cTn>
                                        <p:tgtEl>
                                          <p:spTgt spid="478417"/>
                                        </p:tgtEl>
                                        <p:attrNameLst>
                                          <p:attrName>style.visibility</p:attrName>
                                        </p:attrNameLst>
                                      </p:cBhvr>
                                      <p:to>
                                        <p:strVal val="visible"/>
                                      </p:to>
                                    </p:set>
                                    <p:animEffect transition="in" filter="dissolve">
                                      <p:cBhvr>
                                        <p:cTn id="213" dur="500"/>
                                        <p:tgtEl>
                                          <p:spTgt spid="478417"/>
                                        </p:tgtEl>
                                      </p:cBhvr>
                                    </p:animEffect>
                                  </p:childTnLst>
                                </p:cTn>
                              </p:par>
                              <p:par>
                                <p:cTn id="214" presetID="9" presetClass="entr" presetSubtype="0" fill="hold" nodeType="withEffect">
                                  <p:stCondLst>
                                    <p:cond delay="0"/>
                                  </p:stCondLst>
                                  <p:childTnLst>
                                    <p:set>
                                      <p:cBhvr>
                                        <p:cTn id="215" dur="1" fill="hold">
                                          <p:stCondLst>
                                            <p:cond delay="0"/>
                                          </p:stCondLst>
                                        </p:cTn>
                                        <p:tgtEl>
                                          <p:spTgt spid="478418"/>
                                        </p:tgtEl>
                                        <p:attrNameLst>
                                          <p:attrName>style.visibility</p:attrName>
                                        </p:attrNameLst>
                                      </p:cBhvr>
                                      <p:to>
                                        <p:strVal val="visible"/>
                                      </p:to>
                                    </p:set>
                                    <p:animEffect transition="in" filter="dissolve">
                                      <p:cBhvr>
                                        <p:cTn id="216" dur="500"/>
                                        <p:tgtEl>
                                          <p:spTgt spid="478418"/>
                                        </p:tgtEl>
                                      </p:cBhvr>
                                    </p:animEffect>
                                  </p:childTnLst>
                                </p:cTn>
                              </p:par>
                              <p:par>
                                <p:cTn id="217" presetID="9" presetClass="entr" presetSubtype="0" fill="hold" nodeType="withEffect">
                                  <p:stCondLst>
                                    <p:cond delay="0"/>
                                  </p:stCondLst>
                                  <p:childTnLst>
                                    <p:set>
                                      <p:cBhvr>
                                        <p:cTn id="218" dur="1" fill="hold">
                                          <p:stCondLst>
                                            <p:cond delay="0"/>
                                          </p:stCondLst>
                                        </p:cTn>
                                        <p:tgtEl>
                                          <p:spTgt spid="478419"/>
                                        </p:tgtEl>
                                        <p:attrNameLst>
                                          <p:attrName>style.visibility</p:attrName>
                                        </p:attrNameLst>
                                      </p:cBhvr>
                                      <p:to>
                                        <p:strVal val="visible"/>
                                      </p:to>
                                    </p:set>
                                    <p:animEffect transition="in" filter="dissolve">
                                      <p:cBhvr>
                                        <p:cTn id="219" dur="500"/>
                                        <p:tgtEl>
                                          <p:spTgt spid="478419"/>
                                        </p:tgtEl>
                                      </p:cBhvr>
                                    </p:animEffect>
                                  </p:childTnLst>
                                </p:cTn>
                              </p:par>
                              <p:par>
                                <p:cTn id="220" presetID="9" presetClass="entr" presetSubtype="0" fill="hold" nodeType="withEffect">
                                  <p:stCondLst>
                                    <p:cond delay="0"/>
                                  </p:stCondLst>
                                  <p:childTnLst>
                                    <p:set>
                                      <p:cBhvr>
                                        <p:cTn id="221" dur="1" fill="hold">
                                          <p:stCondLst>
                                            <p:cond delay="0"/>
                                          </p:stCondLst>
                                        </p:cTn>
                                        <p:tgtEl>
                                          <p:spTgt spid="478420"/>
                                        </p:tgtEl>
                                        <p:attrNameLst>
                                          <p:attrName>style.visibility</p:attrName>
                                        </p:attrNameLst>
                                      </p:cBhvr>
                                      <p:to>
                                        <p:strVal val="visible"/>
                                      </p:to>
                                    </p:set>
                                    <p:animEffect transition="in" filter="dissolve">
                                      <p:cBhvr>
                                        <p:cTn id="222" dur="500"/>
                                        <p:tgtEl>
                                          <p:spTgt spid="478420"/>
                                        </p:tgtEl>
                                      </p:cBhvr>
                                    </p:animEffect>
                                  </p:childTnLst>
                                </p:cTn>
                              </p:par>
                              <p:par>
                                <p:cTn id="223" presetID="9" presetClass="entr" presetSubtype="0" fill="hold" nodeType="withEffect">
                                  <p:stCondLst>
                                    <p:cond delay="0"/>
                                  </p:stCondLst>
                                  <p:childTnLst>
                                    <p:set>
                                      <p:cBhvr>
                                        <p:cTn id="224" dur="1" fill="hold">
                                          <p:stCondLst>
                                            <p:cond delay="0"/>
                                          </p:stCondLst>
                                        </p:cTn>
                                        <p:tgtEl>
                                          <p:spTgt spid="478421"/>
                                        </p:tgtEl>
                                        <p:attrNameLst>
                                          <p:attrName>style.visibility</p:attrName>
                                        </p:attrNameLst>
                                      </p:cBhvr>
                                      <p:to>
                                        <p:strVal val="visible"/>
                                      </p:to>
                                    </p:set>
                                    <p:animEffect transition="in" filter="dissolve">
                                      <p:cBhvr>
                                        <p:cTn id="225" dur="500"/>
                                        <p:tgtEl>
                                          <p:spTgt spid="478421"/>
                                        </p:tgtEl>
                                      </p:cBhvr>
                                    </p:animEffect>
                                  </p:childTnLst>
                                </p:cTn>
                              </p:par>
                              <p:par>
                                <p:cTn id="226" presetID="9" presetClass="entr" presetSubtype="0" fill="hold" nodeType="withEffect">
                                  <p:stCondLst>
                                    <p:cond delay="0"/>
                                  </p:stCondLst>
                                  <p:childTnLst>
                                    <p:set>
                                      <p:cBhvr>
                                        <p:cTn id="227" dur="1" fill="hold">
                                          <p:stCondLst>
                                            <p:cond delay="0"/>
                                          </p:stCondLst>
                                        </p:cTn>
                                        <p:tgtEl>
                                          <p:spTgt spid="478422"/>
                                        </p:tgtEl>
                                        <p:attrNameLst>
                                          <p:attrName>style.visibility</p:attrName>
                                        </p:attrNameLst>
                                      </p:cBhvr>
                                      <p:to>
                                        <p:strVal val="visible"/>
                                      </p:to>
                                    </p:set>
                                    <p:animEffect transition="in" filter="dissolve">
                                      <p:cBhvr>
                                        <p:cTn id="228" dur="500"/>
                                        <p:tgtEl>
                                          <p:spTgt spid="478422"/>
                                        </p:tgtEl>
                                      </p:cBhvr>
                                    </p:animEffect>
                                  </p:childTnLst>
                                </p:cTn>
                              </p:par>
                              <p:par>
                                <p:cTn id="229" presetID="9" presetClass="entr" presetSubtype="0" fill="hold" nodeType="withEffect">
                                  <p:stCondLst>
                                    <p:cond delay="0"/>
                                  </p:stCondLst>
                                  <p:childTnLst>
                                    <p:set>
                                      <p:cBhvr>
                                        <p:cTn id="230" dur="1" fill="hold">
                                          <p:stCondLst>
                                            <p:cond delay="0"/>
                                          </p:stCondLst>
                                        </p:cTn>
                                        <p:tgtEl>
                                          <p:spTgt spid="478423"/>
                                        </p:tgtEl>
                                        <p:attrNameLst>
                                          <p:attrName>style.visibility</p:attrName>
                                        </p:attrNameLst>
                                      </p:cBhvr>
                                      <p:to>
                                        <p:strVal val="visible"/>
                                      </p:to>
                                    </p:set>
                                    <p:animEffect transition="in" filter="dissolve">
                                      <p:cBhvr>
                                        <p:cTn id="231" dur="500"/>
                                        <p:tgtEl>
                                          <p:spTgt spid="478423"/>
                                        </p:tgtEl>
                                      </p:cBhvr>
                                    </p:animEffect>
                                  </p:childTnLst>
                                </p:cTn>
                              </p:par>
                              <p:par>
                                <p:cTn id="232" presetID="9" presetClass="entr" presetSubtype="0" fill="hold" nodeType="withEffect">
                                  <p:stCondLst>
                                    <p:cond delay="0"/>
                                  </p:stCondLst>
                                  <p:childTnLst>
                                    <p:set>
                                      <p:cBhvr>
                                        <p:cTn id="233" dur="1" fill="hold">
                                          <p:stCondLst>
                                            <p:cond delay="0"/>
                                          </p:stCondLst>
                                        </p:cTn>
                                        <p:tgtEl>
                                          <p:spTgt spid="478424"/>
                                        </p:tgtEl>
                                        <p:attrNameLst>
                                          <p:attrName>style.visibility</p:attrName>
                                        </p:attrNameLst>
                                      </p:cBhvr>
                                      <p:to>
                                        <p:strVal val="visible"/>
                                      </p:to>
                                    </p:set>
                                    <p:animEffect transition="in" filter="dissolve">
                                      <p:cBhvr>
                                        <p:cTn id="234" dur="500"/>
                                        <p:tgtEl>
                                          <p:spTgt spid="478424"/>
                                        </p:tgtEl>
                                      </p:cBhvr>
                                    </p:animEffect>
                                  </p:childTnLst>
                                </p:cTn>
                              </p:par>
                              <p:par>
                                <p:cTn id="235" presetID="9" presetClass="entr" presetSubtype="0" fill="hold" nodeType="withEffect">
                                  <p:stCondLst>
                                    <p:cond delay="0"/>
                                  </p:stCondLst>
                                  <p:childTnLst>
                                    <p:set>
                                      <p:cBhvr>
                                        <p:cTn id="236" dur="1" fill="hold">
                                          <p:stCondLst>
                                            <p:cond delay="0"/>
                                          </p:stCondLst>
                                        </p:cTn>
                                        <p:tgtEl>
                                          <p:spTgt spid="478425"/>
                                        </p:tgtEl>
                                        <p:attrNameLst>
                                          <p:attrName>style.visibility</p:attrName>
                                        </p:attrNameLst>
                                      </p:cBhvr>
                                      <p:to>
                                        <p:strVal val="visible"/>
                                      </p:to>
                                    </p:set>
                                    <p:animEffect transition="in" filter="dissolve">
                                      <p:cBhvr>
                                        <p:cTn id="237" dur="500"/>
                                        <p:tgtEl>
                                          <p:spTgt spid="478425"/>
                                        </p:tgtEl>
                                      </p:cBhvr>
                                    </p:animEffect>
                                  </p:childTnLst>
                                </p:cTn>
                              </p:par>
                              <p:par>
                                <p:cTn id="238" presetID="9" presetClass="entr" presetSubtype="0" fill="hold" nodeType="withEffect">
                                  <p:stCondLst>
                                    <p:cond delay="0"/>
                                  </p:stCondLst>
                                  <p:childTnLst>
                                    <p:set>
                                      <p:cBhvr>
                                        <p:cTn id="239" dur="1" fill="hold">
                                          <p:stCondLst>
                                            <p:cond delay="0"/>
                                          </p:stCondLst>
                                        </p:cTn>
                                        <p:tgtEl>
                                          <p:spTgt spid="478426"/>
                                        </p:tgtEl>
                                        <p:attrNameLst>
                                          <p:attrName>style.visibility</p:attrName>
                                        </p:attrNameLst>
                                      </p:cBhvr>
                                      <p:to>
                                        <p:strVal val="visible"/>
                                      </p:to>
                                    </p:set>
                                    <p:animEffect transition="in" filter="dissolve">
                                      <p:cBhvr>
                                        <p:cTn id="240" dur="500"/>
                                        <p:tgtEl>
                                          <p:spTgt spid="478426"/>
                                        </p:tgtEl>
                                      </p:cBhvr>
                                    </p:animEffect>
                                  </p:childTnLst>
                                </p:cTn>
                              </p:par>
                              <p:par>
                                <p:cTn id="241" presetID="9" presetClass="entr" presetSubtype="0" fill="hold" nodeType="withEffect">
                                  <p:stCondLst>
                                    <p:cond delay="0"/>
                                  </p:stCondLst>
                                  <p:childTnLst>
                                    <p:set>
                                      <p:cBhvr>
                                        <p:cTn id="242" dur="1" fill="hold">
                                          <p:stCondLst>
                                            <p:cond delay="0"/>
                                          </p:stCondLst>
                                        </p:cTn>
                                        <p:tgtEl>
                                          <p:spTgt spid="478427"/>
                                        </p:tgtEl>
                                        <p:attrNameLst>
                                          <p:attrName>style.visibility</p:attrName>
                                        </p:attrNameLst>
                                      </p:cBhvr>
                                      <p:to>
                                        <p:strVal val="visible"/>
                                      </p:to>
                                    </p:set>
                                    <p:animEffect transition="in" filter="dissolve">
                                      <p:cBhvr>
                                        <p:cTn id="243" dur="500"/>
                                        <p:tgtEl>
                                          <p:spTgt spid="478427"/>
                                        </p:tgtEl>
                                      </p:cBhvr>
                                    </p:animEffect>
                                  </p:childTnLst>
                                </p:cTn>
                              </p:par>
                              <p:par>
                                <p:cTn id="244" presetID="9" presetClass="entr" presetSubtype="0" fill="hold" nodeType="withEffect">
                                  <p:stCondLst>
                                    <p:cond delay="0"/>
                                  </p:stCondLst>
                                  <p:childTnLst>
                                    <p:set>
                                      <p:cBhvr>
                                        <p:cTn id="245" dur="1" fill="hold">
                                          <p:stCondLst>
                                            <p:cond delay="0"/>
                                          </p:stCondLst>
                                        </p:cTn>
                                        <p:tgtEl>
                                          <p:spTgt spid="478428"/>
                                        </p:tgtEl>
                                        <p:attrNameLst>
                                          <p:attrName>style.visibility</p:attrName>
                                        </p:attrNameLst>
                                      </p:cBhvr>
                                      <p:to>
                                        <p:strVal val="visible"/>
                                      </p:to>
                                    </p:set>
                                    <p:animEffect transition="in" filter="dissolve">
                                      <p:cBhvr>
                                        <p:cTn id="246" dur="500"/>
                                        <p:tgtEl>
                                          <p:spTgt spid="478428"/>
                                        </p:tgtEl>
                                      </p:cBhvr>
                                    </p:animEffect>
                                  </p:childTnLst>
                                </p:cTn>
                              </p:par>
                              <p:par>
                                <p:cTn id="247" presetID="9" presetClass="entr" presetSubtype="0" fill="hold" nodeType="withEffect">
                                  <p:stCondLst>
                                    <p:cond delay="0"/>
                                  </p:stCondLst>
                                  <p:childTnLst>
                                    <p:set>
                                      <p:cBhvr>
                                        <p:cTn id="248" dur="1" fill="hold">
                                          <p:stCondLst>
                                            <p:cond delay="0"/>
                                          </p:stCondLst>
                                        </p:cTn>
                                        <p:tgtEl>
                                          <p:spTgt spid="478429"/>
                                        </p:tgtEl>
                                        <p:attrNameLst>
                                          <p:attrName>style.visibility</p:attrName>
                                        </p:attrNameLst>
                                      </p:cBhvr>
                                      <p:to>
                                        <p:strVal val="visible"/>
                                      </p:to>
                                    </p:set>
                                    <p:animEffect transition="in" filter="dissolve">
                                      <p:cBhvr>
                                        <p:cTn id="249" dur="500"/>
                                        <p:tgtEl>
                                          <p:spTgt spid="478429"/>
                                        </p:tgtEl>
                                      </p:cBhvr>
                                    </p:animEffect>
                                  </p:childTnLst>
                                </p:cTn>
                              </p:par>
                              <p:par>
                                <p:cTn id="250" presetID="9" presetClass="entr" presetSubtype="0" fill="hold" grpId="0" nodeType="withEffect">
                                  <p:stCondLst>
                                    <p:cond delay="0"/>
                                  </p:stCondLst>
                                  <p:childTnLst>
                                    <p:set>
                                      <p:cBhvr>
                                        <p:cTn id="251" dur="1" fill="hold">
                                          <p:stCondLst>
                                            <p:cond delay="0"/>
                                          </p:stCondLst>
                                        </p:cTn>
                                        <p:tgtEl>
                                          <p:spTgt spid="478434"/>
                                        </p:tgtEl>
                                        <p:attrNameLst>
                                          <p:attrName>style.visibility</p:attrName>
                                        </p:attrNameLst>
                                      </p:cBhvr>
                                      <p:to>
                                        <p:strVal val="visible"/>
                                      </p:to>
                                    </p:set>
                                    <p:animEffect transition="in" filter="dissolve">
                                      <p:cBhvr>
                                        <p:cTn id="252" dur="500"/>
                                        <p:tgtEl>
                                          <p:spTgt spid="478434"/>
                                        </p:tgtEl>
                                      </p:cBhvr>
                                    </p:animEffect>
                                  </p:childTnLst>
                                </p:cTn>
                              </p:par>
                              <p:par>
                                <p:cTn id="253" presetID="9" presetClass="entr" presetSubtype="0" fill="hold" grpId="0" nodeType="withEffect">
                                  <p:stCondLst>
                                    <p:cond delay="0"/>
                                  </p:stCondLst>
                                  <p:childTnLst>
                                    <p:set>
                                      <p:cBhvr>
                                        <p:cTn id="254" dur="1" fill="hold">
                                          <p:stCondLst>
                                            <p:cond delay="0"/>
                                          </p:stCondLst>
                                        </p:cTn>
                                        <p:tgtEl>
                                          <p:spTgt spid="478435"/>
                                        </p:tgtEl>
                                        <p:attrNameLst>
                                          <p:attrName>style.visibility</p:attrName>
                                        </p:attrNameLst>
                                      </p:cBhvr>
                                      <p:to>
                                        <p:strVal val="visible"/>
                                      </p:to>
                                    </p:set>
                                    <p:animEffect transition="in" filter="dissolve">
                                      <p:cBhvr>
                                        <p:cTn id="255" dur="500"/>
                                        <p:tgtEl>
                                          <p:spTgt spid="478435"/>
                                        </p:tgtEl>
                                      </p:cBhvr>
                                    </p:animEffect>
                                  </p:childTnLst>
                                </p:cTn>
                              </p:par>
                              <p:par>
                                <p:cTn id="256" presetID="9" presetClass="entr" presetSubtype="0" fill="hold" nodeType="withEffect">
                                  <p:stCondLst>
                                    <p:cond delay="0"/>
                                  </p:stCondLst>
                                  <p:childTnLst>
                                    <p:set>
                                      <p:cBhvr>
                                        <p:cTn id="257" dur="1" fill="hold">
                                          <p:stCondLst>
                                            <p:cond delay="0"/>
                                          </p:stCondLst>
                                        </p:cTn>
                                        <p:tgtEl>
                                          <p:spTgt spid="478439"/>
                                        </p:tgtEl>
                                        <p:attrNameLst>
                                          <p:attrName>style.visibility</p:attrName>
                                        </p:attrNameLst>
                                      </p:cBhvr>
                                      <p:to>
                                        <p:strVal val="visible"/>
                                      </p:to>
                                    </p:set>
                                    <p:animEffect transition="in" filter="dissolve">
                                      <p:cBhvr>
                                        <p:cTn id="258" dur="500"/>
                                        <p:tgtEl>
                                          <p:spTgt spid="478439"/>
                                        </p:tgtEl>
                                      </p:cBhvr>
                                    </p:animEffect>
                                  </p:childTnLst>
                                </p:cTn>
                              </p:par>
                              <p:par>
                                <p:cTn id="259" presetID="9" presetClass="entr" presetSubtype="0" fill="hold" nodeType="withEffect">
                                  <p:stCondLst>
                                    <p:cond delay="0"/>
                                  </p:stCondLst>
                                  <p:childTnLst>
                                    <p:set>
                                      <p:cBhvr>
                                        <p:cTn id="260" dur="1" fill="hold">
                                          <p:stCondLst>
                                            <p:cond delay="0"/>
                                          </p:stCondLst>
                                        </p:cTn>
                                        <p:tgtEl>
                                          <p:spTgt spid="478440"/>
                                        </p:tgtEl>
                                        <p:attrNameLst>
                                          <p:attrName>style.visibility</p:attrName>
                                        </p:attrNameLst>
                                      </p:cBhvr>
                                      <p:to>
                                        <p:strVal val="visible"/>
                                      </p:to>
                                    </p:set>
                                    <p:animEffect transition="in" filter="dissolve">
                                      <p:cBhvr>
                                        <p:cTn id="261" dur="500"/>
                                        <p:tgtEl>
                                          <p:spTgt spid="478440"/>
                                        </p:tgtEl>
                                      </p:cBhvr>
                                    </p:animEffect>
                                  </p:childTnLst>
                                </p:cTn>
                              </p:par>
                              <p:par>
                                <p:cTn id="262" presetID="9" presetClass="entr" presetSubtype="0" fill="hold" nodeType="withEffect">
                                  <p:stCondLst>
                                    <p:cond delay="0"/>
                                  </p:stCondLst>
                                  <p:childTnLst>
                                    <p:set>
                                      <p:cBhvr>
                                        <p:cTn id="263" dur="1" fill="hold">
                                          <p:stCondLst>
                                            <p:cond delay="0"/>
                                          </p:stCondLst>
                                        </p:cTn>
                                        <p:tgtEl>
                                          <p:spTgt spid="478441"/>
                                        </p:tgtEl>
                                        <p:attrNameLst>
                                          <p:attrName>style.visibility</p:attrName>
                                        </p:attrNameLst>
                                      </p:cBhvr>
                                      <p:to>
                                        <p:strVal val="visible"/>
                                      </p:to>
                                    </p:set>
                                    <p:animEffect transition="in" filter="dissolve">
                                      <p:cBhvr>
                                        <p:cTn id="264" dur="500"/>
                                        <p:tgtEl>
                                          <p:spTgt spid="478441"/>
                                        </p:tgtEl>
                                      </p:cBhvr>
                                    </p:animEffect>
                                  </p:childTnLst>
                                </p:cTn>
                              </p:par>
                              <p:par>
                                <p:cTn id="265" presetID="9" presetClass="entr" presetSubtype="0" fill="hold" nodeType="withEffect">
                                  <p:stCondLst>
                                    <p:cond delay="0"/>
                                  </p:stCondLst>
                                  <p:childTnLst>
                                    <p:set>
                                      <p:cBhvr>
                                        <p:cTn id="266" dur="1" fill="hold">
                                          <p:stCondLst>
                                            <p:cond delay="0"/>
                                          </p:stCondLst>
                                        </p:cTn>
                                        <p:tgtEl>
                                          <p:spTgt spid="478442"/>
                                        </p:tgtEl>
                                        <p:attrNameLst>
                                          <p:attrName>style.visibility</p:attrName>
                                        </p:attrNameLst>
                                      </p:cBhvr>
                                      <p:to>
                                        <p:strVal val="visible"/>
                                      </p:to>
                                    </p:set>
                                    <p:animEffect transition="in" filter="dissolve">
                                      <p:cBhvr>
                                        <p:cTn id="267" dur="500"/>
                                        <p:tgtEl>
                                          <p:spTgt spid="478442"/>
                                        </p:tgtEl>
                                      </p:cBhvr>
                                    </p:animEffect>
                                  </p:childTnLst>
                                </p:cTn>
                              </p:par>
                              <p:par>
                                <p:cTn id="268" presetID="9" presetClass="entr" presetSubtype="0" fill="hold" grpId="0" nodeType="withEffect">
                                  <p:stCondLst>
                                    <p:cond delay="0"/>
                                  </p:stCondLst>
                                  <p:childTnLst>
                                    <p:set>
                                      <p:cBhvr>
                                        <p:cTn id="269" dur="1" fill="hold">
                                          <p:stCondLst>
                                            <p:cond delay="0"/>
                                          </p:stCondLst>
                                        </p:cTn>
                                        <p:tgtEl>
                                          <p:spTgt spid="478445"/>
                                        </p:tgtEl>
                                        <p:attrNameLst>
                                          <p:attrName>style.visibility</p:attrName>
                                        </p:attrNameLst>
                                      </p:cBhvr>
                                      <p:to>
                                        <p:strVal val="visible"/>
                                      </p:to>
                                    </p:set>
                                    <p:animEffect transition="in" filter="dissolve">
                                      <p:cBhvr>
                                        <p:cTn id="270" dur="500"/>
                                        <p:tgtEl>
                                          <p:spTgt spid="478445"/>
                                        </p:tgtEl>
                                      </p:cBhvr>
                                    </p:animEffect>
                                  </p:childTnLst>
                                </p:cTn>
                              </p:par>
                            </p:childTnLst>
                          </p:cTn>
                        </p:par>
                      </p:childTnLst>
                    </p:cTn>
                  </p:par>
                  <p:par>
                    <p:cTn id="271" fill="hold" nodeType="clickPar">
                      <p:stCondLst>
                        <p:cond delay="indefinite"/>
                      </p:stCondLst>
                      <p:childTnLst>
                        <p:par>
                          <p:cTn id="272" fill="hold" nodeType="withGroup">
                            <p:stCondLst>
                              <p:cond delay="0"/>
                            </p:stCondLst>
                            <p:childTnLst>
                              <p:par>
                                <p:cTn id="273" presetID="9" presetClass="entr" presetSubtype="0" fill="hold" grpId="0" nodeType="clickEffect">
                                  <p:stCondLst>
                                    <p:cond delay="0"/>
                                  </p:stCondLst>
                                  <p:childTnLst>
                                    <p:set>
                                      <p:cBhvr>
                                        <p:cTn id="274" dur="1" fill="hold">
                                          <p:stCondLst>
                                            <p:cond delay="0"/>
                                          </p:stCondLst>
                                        </p:cTn>
                                        <p:tgtEl>
                                          <p:spTgt spid="478433"/>
                                        </p:tgtEl>
                                        <p:attrNameLst>
                                          <p:attrName>style.visibility</p:attrName>
                                        </p:attrNameLst>
                                      </p:cBhvr>
                                      <p:to>
                                        <p:strVal val="visible"/>
                                      </p:to>
                                    </p:set>
                                    <p:animEffect transition="in" filter="dissolve">
                                      <p:cBhvr>
                                        <p:cTn id="275" dur="500"/>
                                        <p:tgtEl>
                                          <p:spTgt spid="478433"/>
                                        </p:tgtEl>
                                      </p:cBhvr>
                                    </p:animEffect>
                                  </p:childTnLst>
                                </p:cTn>
                              </p:par>
                              <p:par>
                                <p:cTn id="276" presetID="9" presetClass="entr" presetSubtype="0" fill="hold" nodeType="withEffect">
                                  <p:stCondLst>
                                    <p:cond delay="0"/>
                                  </p:stCondLst>
                                  <p:childTnLst>
                                    <p:set>
                                      <p:cBhvr>
                                        <p:cTn id="277" dur="1" fill="hold">
                                          <p:stCondLst>
                                            <p:cond delay="0"/>
                                          </p:stCondLst>
                                        </p:cTn>
                                        <p:tgtEl>
                                          <p:spTgt spid="478431"/>
                                        </p:tgtEl>
                                        <p:attrNameLst>
                                          <p:attrName>style.visibility</p:attrName>
                                        </p:attrNameLst>
                                      </p:cBhvr>
                                      <p:to>
                                        <p:strVal val="visible"/>
                                      </p:to>
                                    </p:set>
                                    <p:animEffect transition="in" filter="dissolve">
                                      <p:cBhvr>
                                        <p:cTn id="278" dur="500"/>
                                        <p:tgtEl>
                                          <p:spTgt spid="478431"/>
                                        </p:tgtEl>
                                      </p:cBhvr>
                                    </p:animEffect>
                                  </p:childTnLst>
                                </p:cTn>
                              </p:par>
                            </p:childTnLst>
                          </p:cTn>
                        </p:par>
                      </p:childTnLst>
                    </p:cTn>
                  </p:par>
                  <p:par>
                    <p:cTn id="279" fill="hold" nodeType="clickPar">
                      <p:stCondLst>
                        <p:cond delay="indefinite"/>
                      </p:stCondLst>
                      <p:childTnLst>
                        <p:par>
                          <p:cTn id="280" fill="hold" nodeType="withGroup">
                            <p:stCondLst>
                              <p:cond delay="0"/>
                            </p:stCondLst>
                            <p:childTnLst>
                              <p:par>
                                <p:cTn id="281" presetID="9" presetClass="entr" presetSubtype="0" fill="hold" grpId="0" nodeType="clickEffect">
                                  <p:stCondLst>
                                    <p:cond delay="0"/>
                                  </p:stCondLst>
                                  <p:childTnLst>
                                    <p:set>
                                      <p:cBhvr>
                                        <p:cTn id="282" dur="1" fill="hold">
                                          <p:stCondLst>
                                            <p:cond delay="0"/>
                                          </p:stCondLst>
                                        </p:cTn>
                                        <p:tgtEl>
                                          <p:spTgt spid="478211"/>
                                        </p:tgtEl>
                                        <p:attrNameLst>
                                          <p:attrName>style.visibility</p:attrName>
                                        </p:attrNameLst>
                                      </p:cBhvr>
                                      <p:to>
                                        <p:strVal val="visible"/>
                                      </p:to>
                                    </p:set>
                                    <p:animEffect transition="in" filter="dissolve">
                                      <p:cBhvr>
                                        <p:cTn id="283" dur="500"/>
                                        <p:tgtEl>
                                          <p:spTgt spid="478211"/>
                                        </p:tgtEl>
                                      </p:cBhvr>
                                    </p:animEffect>
                                  </p:childTnLst>
                                </p:cTn>
                              </p:par>
                              <p:par>
                                <p:cTn id="284" presetID="9" presetClass="entr" presetSubtype="0" fill="hold" grpId="0" nodeType="withEffect">
                                  <p:stCondLst>
                                    <p:cond delay="0"/>
                                  </p:stCondLst>
                                  <p:childTnLst>
                                    <p:set>
                                      <p:cBhvr>
                                        <p:cTn id="285" dur="1" fill="hold">
                                          <p:stCondLst>
                                            <p:cond delay="0"/>
                                          </p:stCondLst>
                                        </p:cTn>
                                        <p:tgtEl>
                                          <p:spTgt spid="478274"/>
                                        </p:tgtEl>
                                        <p:attrNameLst>
                                          <p:attrName>style.visibility</p:attrName>
                                        </p:attrNameLst>
                                      </p:cBhvr>
                                      <p:to>
                                        <p:strVal val="visible"/>
                                      </p:to>
                                    </p:set>
                                    <p:animEffect transition="in" filter="dissolve">
                                      <p:cBhvr>
                                        <p:cTn id="286" dur="500"/>
                                        <p:tgtEl>
                                          <p:spTgt spid="478274"/>
                                        </p:tgtEl>
                                      </p:cBhvr>
                                    </p:animEffect>
                                  </p:childTnLst>
                                </p:cTn>
                              </p:par>
                              <p:par>
                                <p:cTn id="287" presetID="9" presetClass="entr" presetSubtype="0" fill="hold" grpId="0" nodeType="withEffect">
                                  <p:stCondLst>
                                    <p:cond delay="0"/>
                                  </p:stCondLst>
                                  <p:childTnLst>
                                    <p:set>
                                      <p:cBhvr>
                                        <p:cTn id="288" dur="1" fill="hold">
                                          <p:stCondLst>
                                            <p:cond delay="0"/>
                                          </p:stCondLst>
                                        </p:cTn>
                                        <p:tgtEl>
                                          <p:spTgt spid="478275"/>
                                        </p:tgtEl>
                                        <p:attrNameLst>
                                          <p:attrName>style.visibility</p:attrName>
                                        </p:attrNameLst>
                                      </p:cBhvr>
                                      <p:to>
                                        <p:strVal val="visible"/>
                                      </p:to>
                                    </p:set>
                                    <p:animEffect transition="in" filter="dissolve">
                                      <p:cBhvr>
                                        <p:cTn id="289" dur="500"/>
                                        <p:tgtEl>
                                          <p:spTgt spid="478275"/>
                                        </p:tgtEl>
                                      </p:cBhvr>
                                    </p:animEffect>
                                  </p:childTnLst>
                                </p:cTn>
                              </p:par>
                              <p:par>
                                <p:cTn id="290" presetID="9" presetClass="entr" presetSubtype="0" fill="hold" grpId="0" nodeType="withEffect">
                                  <p:stCondLst>
                                    <p:cond delay="0"/>
                                  </p:stCondLst>
                                  <p:childTnLst>
                                    <p:set>
                                      <p:cBhvr>
                                        <p:cTn id="291" dur="1" fill="hold">
                                          <p:stCondLst>
                                            <p:cond delay="0"/>
                                          </p:stCondLst>
                                        </p:cTn>
                                        <p:tgtEl>
                                          <p:spTgt spid="478276"/>
                                        </p:tgtEl>
                                        <p:attrNameLst>
                                          <p:attrName>style.visibility</p:attrName>
                                        </p:attrNameLst>
                                      </p:cBhvr>
                                      <p:to>
                                        <p:strVal val="visible"/>
                                      </p:to>
                                    </p:set>
                                    <p:animEffect transition="in" filter="dissolve">
                                      <p:cBhvr>
                                        <p:cTn id="292" dur="500"/>
                                        <p:tgtEl>
                                          <p:spTgt spid="478276"/>
                                        </p:tgtEl>
                                      </p:cBhvr>
                                    </p:animEffect>
                                  </p:childTnLst>
                                </p:cTn>
                              </p:par>
                              <p:par>
                                <p:cTn id="293" presetID="9" presetClass="entr" presetSubtype="0" fill="hold" nodeType="withEffect">
                                  <p:stCondLst>
                                    <p:cond delay="0"/>
                                  </p:stCondLst>
                                  <p:childTnLst>
                                    <p:set>
                                      <p:cBhvr>
                                        <p:cTn id="294" dur="1" fill="hold">
                                          <p:stCondLst>
                                            <p:cond delay="0"/>
                                          </p:stCondLst>
                                        </p:cTn>
                                        <p:tgtEl>
                                          <p:spTgt spid="478277"/>
                                        </p:tgtEl>
                                        <p:attrNameLst>
                                          <p:attrName>style.visibility</p:attrName>
                                        </p:attrNameLst>
                                      </p:cBhvr>
                                      <p:to>
                                        <p:strVal val="visible"/>
                                      </p:to>
                                    </p:set>
                                    <p:animEffect transition="in" filter="dissolve">
                                      <p:cBhvr>
                                        <p:cTn id="295" dur="500"/>
                                        <p:tgtEl>
                                          <p:spTgt spid="478277"/>
                                        </p:tgtEl>
                                      </p:cBhvr>
                                    </p:animEffect>
                                  </p:childTnLst>
                                </p:cTn>
                              </p:par>
                              <p:par>
                                <p:cTn id="296" presetID="9" presetClass="entr" presetSubtype="0" fill="hold" nodeType="withEffect">
                                  <p:stCondLst>
                                    <p:cond delay="0"/>
                                  </p:stCondLst>
                                  <p:childTnLst>
                                    <p:set>
                                      <p:cBhvr>
                                        <p:cTn id="297" dur="1" fill="hold">
                                          <p:stCondLst>
                                            <p:cond delay="0"/>
                                          </p:stCondLst>
                                        </p:cTn>
                                        <p:tgtEl>
                                          <p:spTgt spid="478278"/>
                                        </p:tgtEl>
                                        <p:attrNameLst>
                                          <p:attrName>style.visibility</p:attrName>
                                        </p:attrNameLst>
                                      </p:cBhvr>
                                      <p:to>
                                        <p:strVal val="visible"/>
                                      </p:to>
                                    </p:set>
                                    <p:animEffect transition="in" filter="dissolve">
                                      <p:cBhvr>
                                        <p:cTn id="298" dur="500"/>
                                        <p:tgtEl>
                                          <p:spTgt spid="478278"/>
                                        </p:tgtEl>
                                      </p:cBhvr>
                                    </p:animEffect>
                                  </p:childTnLst>
                                </p:cTn>
                              </p:par>
                              <p:par>
                                <p:cTn id="299" presetID="9" presetClass="entr" presetSubtype="0" fill="hold" nodeType="withEffect">
                                  <p:stCondLst>
                                    <p:cond delay="0"/>
                                  </p:stCondLst>
                                  <p:childTnLst>
                                    <p:set>
                                      <p:cBhvr>
                                        <p:cTn id="300" dur="1" fill="hold">
                                          <p:stCondLst>
                                            <p:cond delay="0"/>
                                          </p:stCondLst>
                                        </p:cTn>
                                        <p:tgtEl>
                                          <p:spTgt spid="478279"/>
                                        </p:tgtEl>
                                        <p:attrNameLst>
                                          <p:attrName>style.visibility</p:attrName>
                                        </p:attrNameLst>
                                      </p:cBhvr>
                                      <p:to>
                                        <p:strVal val="visible"/>
                                      </p:to>
                                    </p:set>
                                    <p:animEffect transition="in" filter="dissolve">
                                      <p:cBhvr>
                                        <p:cTn id="301" dur="500"/>
                                        <p:tgtEl>
                                          <p:spTgt spid="478279"/>
                                        </p:tgtEl>
                                      </p:cBhvr>
                                    </p:animEffect>
                                  </p:childTnLst>
                                </p:cTn>
                              </p:par>
                              <p:par>
                                <p:cTn id="302" presetID="9" presetClass="entr" presetSubtype="0" fill="hold" grpId="0" nodeType="withEffect">
                                  <p:stCondLst>
                                    <p:cond delay="0"/>
                                  </p:stCondLst>
                                  <p:childTnLst>
                                    <p:set>
                                      <p:cBhvr>
                                        <p:cTn id="303" dur="1" fill="hold">
                                          <p:stCondLst>
                                            <p:cond delay="0"/>
                                          </p:stCondLst>
                                        </p:cTn>
                                        <p:tgtEl>
                                          <p:spTgt spid="478280"/>
                                        </p:tgtEl>
                                        <p:attrNameLst>
                                          <p:attrName>style.visibility</p:attrName>
                                        </p:attrNameLst>
                                      </p:cBhvr>
                                      <p:to>
                                        <p:strVal val="visible"/>
                                      </p:to>
                                    </p:set>
                                    <p:animEffect transition="in" filter="dissolve">
                                      <p:cBhvr>
                                        <p:cTn id="304" dur="500"/>
                                        <p:tgtEl>
                                          <p:spTgt spid="478280"/>
                                        </p:tgtEl>
                                      </p:cBhvr>
                                    </p:animEffect>
                                  </p:childTnLst>
                                </p:cTn>
                              </p:par>
                              <p:par>
                                <p:cTn id="305" presetID="9" presetClass="entr" presetSubtype="0" fill="hold" grpId="0" nodeType="withEffect">
                                  <p:stCondLst>
                                    <p:cond delay="0"/>
                                  </p:stCondLst>
                                  <p:childTnLst>
                                    <p:set>
                                      <p:cBhvr>
                                        <p:cTn id="306" dur="1" fill="hold">
                                          <p:stCondLst>
                                            <p:cond delay="0"/>
                                          </p:stCondLst>
                                        </p:cTn>
                                        <p:tgtEl>
                                          <p:spTgt spid="478281"/>
                                        </p:tgtEl>
                                        <p:attrNameLst>
                                          <p:attrName>style.visibility</p:attrName>
                                        </p:attrNameLst>
                                      </p:cBhvr>
                                      <p:to>
                                        <p:strVal val="visible"/>
                                      </p:to>
                                    </p:set>
                                    <p:animEffect transition="in" filter="dissolve">
                                      <p:cBhvr>
                                        <p:cTn id="307" dur="500"/>
                                        <p:tgtEl>
                                          <p:spTgt spid="478281"/>
                                        </p:tgtEl>
                                      </p:cBhvr>
                                    </p:animEffect>
                                  </p:childTnLst>
                                </p:cTn>
                              </p:par>
                              <p:par>
                                <p:cTn id="308" presetID="9" presetClass="entr" presetSubtype="0" fill="hold" grpId="0" nodeType="withEffect">
                                  <p:stCondLst>
                                    <p:cond delay="0"/>
                                  </p:stCondLst>
                                  <p:childTnLst>
                                    <p:set>
                                      <p:cBhvr>
                                        <p:cTn id="309" dur="1" fill="hold">
                                          <p:stCondLst>
                                            <p:cond delay="0"/>
                                          </p:stCondLst>
                                        </p:cTn>
                                        <p:tgtEl>
                                          <p:spTgt spid="478282"/>
                                        </p:tgtEl>
                                        <p:attrNameLst>
                                          <p:attrName>style.visibility</p:attrName>
                                        </p:attrNameLst>
                                      </p:cBhvr>
                                      <p:to>
                                        <p:strVal val="visible"/>
                                      </p:to>
                                    </p:set>
                                    <p:animEffect transition="in" filter="dissolve">
                                      <p:cBhvr>
                                        <p:cTn id="310" dur="500"/>
                                        <p:tgtEl>
                                          <p:spTgt spid="478282"/>
                                        </p:tgtEl>
                                      </p:cBhvr>
                                    </p:animEffect>
                                  </p:childTnLst>
                                </p:cTn>
                              </p:par>
                              <p:par>
                                <p:cTn id="311" presetID="9" presetClass="entr" presetSubtype="0" fill="hold" nodeType="withEffect">
                                  <p:stCondLst>
                                    <p:cond delay="0"/>
                                  </p:stCondLst>
                                  <p:childTnLst>
                                    <p:set>
                                      <p:cBhvr>
                                        <p:cTn id="312" dur="1" fill="hold">
                                          <p:stCondLst>
                                            <p:cond delay="0"/>
                                          </p:stCondLst>
                                        </p:cTn>
                                        <p:tgtEl>
                                          <p:spTgt spid="478283"/>
                                        </p:tgtEl>
                                        <p:attrNameLst>
                                          <p:attrName>style.visibility</p:attrName>
                                        </p:attrNameLst>
                                      </p:cBhvr>
                                      <p:to>
                                        <p:strVal val="visible"/>
                                      </p:to>
                                    </p:set>
                                    <p:animEffect transition="in" filter="dissolve">
                                      <p:cBhvr>
                                        <p:cTn id="313" dur="500"/>
                                        <p:tgtEl>
                                          <p:spTgt spid="478283"/>
                                        </p:tgtEl>
                                      </p:cBhvr>
                                    </p:animEffect>
                                  </p:childTnLst>
                                </p:cTn>
                              </p:par>
                              <p:par>
                                <p:cTn id="314" presetID="9" presetClass="entr" presetSubtype="0" fill="hold" nodeType="withEffect">
                                  <p:stCondLst>
                                    <p:cond delay="0"/>
                                  </p:stCondLst>
                                  <p:childTnLst>
                                    <p:set>
                                      <p:cBhvr>
                                        <p:cTn id="315" dur="1" fill="hold">
                                          <p:stCondLst>
                                            <p:cond delay="0"/>
                                          </p:stCondLst>
                                        </p:cTn>
                                        <p:tgtEl>
                                          <p:spTgt spid="478284"/>
                                        </p:tgtEl>
                                        <p:attrNameLst>
                                          <p:attrName>style.visibility</p:attrName>
                                        </p:attrNameLst>
                                      </p:cBhvr>
                                      <p:to>
                                        <p:strVal val="visible"/>
                                      </p:to>
                                    </p:set>
                                    <p:animEffect transition="in" filter="dissolve">
                                      <p:cBhvr>
                                        <p:cTn id="316" dur="500"/>
                                        <p:tgtEl>
                                          <p:spTgt spid="478284"/>
                                        </p:tgtEl>
                                      </p:cBhvr>
                                    </p:animEffect>
                                  </p:childTnLst>
                                </p:cTn>
                              </p:par>
                              <p:par>
                                <p:cTn id="317" presetID="9" presetClass="entr" presetSubtype="0" fill="hold" nodeType="withEffect">
                                  <p:stCondLst>
                                    <p:cond delay="0"/>
                                  </p:stCondLst>
                                  <p:childTnLst>
                                    <p:set>
                                      <p:cBhvr>
                                        <p:cTn id="318" dur="1" fill="hold">
                                          <p:stCondLst>
                                            <p:cond delay="0"/>
                                          </p:stCondLst>
                                        </p:cTn>
                                        <p:tgtEl>
                                          <p:spTgt spid="478285"/>
                                        </p:tgtEl>
                                        <p:attrNameLst>
                                          <p:attrName>style.visibility</p:attrName>
                                        </p:attrNameLst>
                                      </p:cBhvr>
                                      <p:to>
                                        <p:strVal val="visible"/>
                                      </p:to>
                                    </p:set>
                                    <p:animEffect transition="in" filter="dissolve">
                                      <p:cBhvr>
                                        <p:cTn id="319" dur="500"/>
                                        <p:tgtEl>
                                          <p:spTgt spid="478285"/>
                                        </p:tgtEl>
                                      </p:cBhvr>
                                    </p:animEffect>
                                  </p:childTnLst>
                                </p:cTn>
                              </p:par>
                              <p:par>
                                <p:cTn id="320" presetID="9" presetClass="entr" presetSubtype="0" fill="hold" grpId="0" nodeType="withEffect">
                                  <p:stCondLst>
                                    <p:cond delay="0"/>
                                  </p:stCondLst>
                                  <p:childTnLst>
                                    <p:set>
                                      <p:cBhvr>
                                        <p:cTn id="321" dur="1" fill="hold">
                                          <p:stCondLst>
                                            <p:cond delay="0"/>
                                          </p:stCondLst>
                                        </p:cTn>
                                        <p:tgtEl>
                                          <p:spTgt spid="478286"/>
                                        </p:tgtEl>
                                        <p:attrNameLst>
                                          <p:attrName>style.visibility</p:attrName>
                                        </p:attrNameLst>
                                      </p:cBhvr>
                                      <p:to>
                                        <p:strVal val="visible"/>
                                      </p:to>
                                    </p:set>
                                    <p:animEffect transition="in" filter="dissolve">
                                      <p:cBhvr>
                                        <p:cTn id="322" dur="500"/>
                                        <p:tgtEl>
                                          <p:spTgt spid="478286"/>
                                        </p:tgtEl>
                                      </p:cBhvr>
                                    </p:animEffect>
                                  </p:childTnLst>
                                </p:cTn>
                              </p:par>
                              <p:par>
                                <p:cTn id="323" presetID="9" presetClass="entr" presetSubtype="0" fill="hold" nodeType="withEffect">
                                  <p:stCondLst>
                                    <p:cond delay="0"/>
                                  </p:stCondLst>
                                  <p:childTnLst>
                                    <p:set>
                                      <p:cBhvr>
                                        <p:cTn id="324" dur="1" fill="hold">
                                          <p:stCondLst>
                                            <p:cond delay="0"/>
                                          </p:stCondLst>
                                        </p:cTn>
                                        <p:tgtEl>
                                          <p:spTgt spid="478287"/>
                                        </p:tgtEl>
                                        <p:attrNameLst>
                                          <p:attrName>style.visibility</p:attrName>
                                        </p:attrNameLst>
                                      </p:cBhvr>
                                      <p:to>
                                        <p:strVal val="visible"/>
                                      </p:to>
                                    </p:set>
                                    <p:animEffect transition="in" filter="dissolve">
                                      <p:cBhvr>
                                        <p:cTn id="325" dur="500"/>
                                        <p:tgtEl>
                                          <p:spTgt spid="478287"/>
                                        </p:tgtEl>
                                      </p:cBhvr>
                                    </p:animEffect>
                                  </p:childTnLst>
                                </p:cTn>
                              </p:par>
                              <p:par>
                                <p:cTn id="326" presetID="9" presetClass="entr" presetSubtype="0" fill="hold" grpId="0" nodeType="withEffect">
                                  <p:stCondLst>
                                    <p:cond delay="0"/>
                                  </p:stCondLst>
                                  <p:childTnLst>
                                    <p:set>
                                      <p:cBhvr>
                                        <p:cTn id="327" dur="1" fill="hold">
                                          <p:stCondLst>
                                            <p:cond delay="0"/>
                                          </p:stCondLst>
                                        </p:cTn>
                                        <p:tgtEl>
                                          <p:spTgt spid="478288"/>
                                        </p:tgtEl>
                                        <p:attrNameLst>
                                          <p:attrName>style.visibility</p:attrName>
                                        </p:attrNameLst>
                                      </p:cBhvr>
                                      <p:to>
                                        <p:strVal val="visible"/>
                                      </p:to>
                                    </p:set>
                                    <p:animEffect transition="in" filter="dissolve">
                                      <p:cBhvr>
                                        <p:cTn id="328" dur="500"/>
                                        <p:tgtEl>
                                          <p:spTgt spid="478288"/>
                                        </p:tgtEl>
                                      </p:cBhvr>
                                    </p:animEffect>
                                  </p:childTnLst>
                                </p:cTn>
                              </p:par>
                              <p:par>
                                <p:cTn id="329" presetID="9" presetClass="entr" presetSubtype="0" fill="hold" grpId="0" nodeType="withEffect">
                                  <p:stCondLst>
                                    <p:cond delay="0"/>
                                  </p:stCondLst>
                                  <p:childTnLst>
                                    <p:set>
                                      <p:cBhvr>
                                        <p:cTn id="330" dur="1" fill="hold">
                                          <p:stCondLst>
                                            <p:cond delay="0"/>
                                          </p:stCondLst>
                                        </p:cTn>
                                        <p:tgtEl>
                                          <p:spTgt spid="478289"/>
                                        </p:tgtEl>
                                        <p:attrNameLst>
                                          <p:attrName>style.visibility</p:attrName>
                                        </p:attrNameLst>
                                      </p:cBhvr>
                                      <p:to>
                                        <p:strVal val="visible"/>
                                      </p:to>
                                    </p:set>
                                    <p:animEffect transition="in" filter="dissolve">
                                      <p:cBhvr>
                                        <p:cTn id="331" dur="500"/>
                                        <p:tgtEl>
                                          <p:spTgt spid="478289"/>
                                        </p:tgtEl>
                                      </p:cBhvr>
                                    </p:animEffect>
                                  </p:childTnLst>
                                </p:cTn>
                              </p:par>
                              <p:par>
                                <p:cTn id="332" presetID="9" presetClass="entr" presetSubtype="0" fill="hold" grpId="0" nodeType="withEffect">
                                  <p:stCondLst>
                                    <p:cond delay="0"/>
                                  </p:stCondLst>
                                  <p:childTnLst>
                                    <p:set>
                                      <p:cBhvr>
                                        <p:cTn id="333" dur="1" fill="hold">
                                          <p:stCondLst>
                                            <p:cond delay="0"/>
                                          </p:stCondLst>
                                        </p:cTn>
                                        <p:tgtEl>
                                          <p:spTgt spid="478290"/>
                                        </p:tgtEl>
                                        <p:attrNameLst>
                                          <p:attrName>style.visibility</p:attrName>
                                        </p:attrNameLst>
                                      </p:cBhvr>
                                      <p:to>
                                        <p:strVal val="visible"/>
                                      </p:to>
                                    </p:set>
                                    <p:animEffect transition="in" filter="dissolve">
                                      <p:cBhvr>
                                        <p:cTn id="334" dur="500"/>
                                        <p:tgtEl>
                                          <p:spTgt spid="478290"/>
                                        </p:tgtEl>
                                      </p:cBhvr>
                                    </p:animEffect>
                                  </p:childTnLst>
                                </p:cTn>
                              </p:par>
                              <p:par>
                                <p:cTn id="335" presetID="9" presetClass="entr" presetSubtype="0" fill="hold" nodeType="withEffect">
                                  <p:stCondLst>
                                    <p:cond delay="0"/>
                                  </p:stCondLst>
                                  <p:childTnLst>
                                    <p:set>
                                      <p:cBhvr>
                                        <p:cTn id="336" dur="1" fill="hold">
                                          <p:stCondLst>
                                            <p:cond delay="0"/>
                                          </p:stCondLst>
                                        </p:cTn>
                                        <p:tgtEl>
                                          <p:spTgt spid="478291"/>
                                        </p:tgtEl>
                                        <p:attrNameLst>
                                          <p:attrName>style.visibility</p:attrName>
                                        </p:attrNameLst>
                                      </p:cBhvr>
                                      <p:to>
                                        <p:strVal val="visible"/>
                                      </p:to>
                                    </p:set>
                                    <p:animEffect transition="in" filter="dissolve">
                                      <p:cBhvr>
                                        <p:cTn id="337" dur="500"/>
                                        <p:tgtEl>
                                          <p:spTgt spid="478291"/>
                                        </p:tgtEl>
                                      </p:cBhvr>
                                    </p:animEffect>
                                  </p:childTnLst>
                                </p:cTn>
                              </p:par>
                              <p:par>
                                <p:cTn id="338" presetID="9" presetClass="entr" presetSubtype="0" fill="hold" nodeType="withEffect">
                                  <p:stCondLst>
                                    <p:cond delay="0"/>
                                  </p:stCondLst>
                                  <p:childTnLst>
                                    <p:set>
                                      <p:cBhvr>
                                        <p:cTn id="339" dur="1" fill="hold">
                                          <p:stCondLst>
                                            <p:cond delay="0"/>
                                          </p:stCondLst>
                                        </p:cTn>
                                        <p:tgtEl>
                                          <p:spTgt spid="478292"/>
                                        </p:tgtEl>
                                        <p:attrNameLst>
                                          <p:attrName>style.visibility</p:attrName>
                                        </p:attrNameLst>
                                      </p:cBhvr>
                                      <p:to>
                                        <p:strVal val="visible"/>
                                      </p:to>
                                    </p:set>
                                    <p:animEffect transition="in" filter="dissolve">
                                      <p:cBhvr>
                                        <p:cTn id="340" dur="500"/>
                                        <p:tgtEl>
                                          <p:spTgt spid="478292"/>
                                        </p:tgtEl>
                                      </p:cBhvr>
                                    </p:animEffect>
                                  </p:childTnLst>
                                </p:cTn>
                              </p:par>
                              <p:par>
                                <p:cTn id="341" presetID="9" presetClass="entr" presetSubtype="0" fill="hold" nodeType="withEffect">
                                  <p:stCondLst>
                                    <p:cond delay="0"/>
                                  </p:stCondLst>
                                  <p:childTnLst>
                                    <p:set>
                                      <p:cBhvr>
                                        <p:cTn id="342" dur="1" fill="hold">
                                          <p:stCondLst>
                                            <p:cond delay="0"/>
                                          </p:stCondLst>
                                        </p:cTn>
                                        <p:tgtEl>
                                          <p:spTgt spid="478293"/>
                                        </p:tgtEl>
                                        <p:attrNameLst>
                                          <p:attrName>style.visibility</p:attrName>
                                        </p:attrNameLst>
                                      </p:cBhvr>
                                      <p:to>
                                        <p:strVal val="visible"/>
                                      </p:to>
                                    </p:set>
                                    <p:animEffect transition="in" filter="dissolve">
                                      <p:cBhvr>
                                        <p:cTn id="343" dur="500"/>
                                        <p:tgtEl>
                                          <p:spTgt spid="478293"/>
                                        </p:tgtEl>
                                      </p:cBhvr>
                                    </p:animEffect>
                                  </p:childTnLst>
                                </p:cTn>
                              </p:par>
                              <p:par>
                                <p:cTn id="344" presetID="9" presetClass="entr" presetSubtype="0" fill="hold" grpId="0" nodeType="withEffect">
                                  <p:stCondLst>
                                    <p:cond delay="0"/>
                                  </p:stCondLst>
                                  <p:childTnLst>
                                    <p:set>
                                      <p:cBhvr>
                                        <p:cTn id="345" dur="1" fill="hold">
                                          <p:stCondLst>
                                            <p:cond delay="0"/>
                                          </p:stCondLst>
                                        </p:cTn>
                                        <p:tgtEl>
                                          <p:spTgt spid="478294"/>
                                        </p:tgtEl>
                                        <p:attrNameLst>
                                          <p:attrName>style.visibility</p:attrName>
                                        </p:attrNameLst>
                                      </p:cBhvr>
                                      <p:to>
                                        <p:strVal val="visible"/>
                                      </p:to>
                                    </p:set>
                                    <p:animEffect transition="in" filter="dissolve">
                                      <p:cBhvr>
                                        <p:cTn id="346" dur="500"/>
                                        <p:tgtEl>
                                          <p:spTgt spid="478294"/>
                                        </p:tgtEl>
                                      </p:cBhvr>
                                    </p:animEffect>
                                  </p:childTnLst>
                                </p:cTn>
                              </p:par>
                              <p:par>
                                <p:cTn id="347" presetID="9" presetClass="entr" presetSubtype="0" fill="hold" grpId="0" nodeType="withEffect">
                                  <p:stCondLst>
                                    <p:cond delay="0"/>
                                  </p:stCondLst>
                                  <p:childTnLst>
                                    <p:set>
                                      <p:cBhvr>
                                        <p:cTn id="348" dur="1" fill="hold">
                                          <p:stCondLst>
                                            <p:cond delay="0"/>
                                          </p:stCondLst>
                                        </p:cTn>
                                        <p:tgtEl>
                                          <p:spTgt spid="478295"/>
                                        </p:tgtEl>
                                        <p:attrNameLst>
                                          <p:attrName>style.visibility</p:attrName>
                                        </p:attrNameLst>
                                      </p:cBhvr>
                                      <p:to>
                                        <p:strVal val="visible"/>
                                      </p:to>
                                    </p:set>
                                    <p:animEffect transition="in" filter="dissolve">
                                      <p:cBhvr>
                                        <p:cTn id="349" dur="500"/>
                                        <p:tgtEl>
                                          <p:spTgt spid="478295"/>
                                        </p:tgtEl>
                                      </p:cBhvr>
                                    </p:animEffect>
                                  </p:childTnLst>
                                </p:cTn>
                              </p:par>
                              <p:par>
                                <p:cTn id="350" presetID="9" presetClass="entr" presetSubtype="0" fill="hold" grpId="0" nodeType="withEffect">
                                  <p:stCondLst>
                                    <p:cond delay="0"/>
                                  </p:stCondLst>
                                  <p:childTnLst>
                                    <p:set>
                                      <p:cBhvr>
                                        <p:cTn id="351" dur="1" fill="hold">
                                          <p:stCondLst>
                                            <p:cond delay="0"/>
                                          </p:stCondLst>
                                        </p:cTn>
                                        <p:tgtEl>
                                          <p:spTgt spid="478296"/>
                                        </p:tgtEl>
                                        <p:attrNameLst>
                                          <p:attrName>style.visibility</p:attrName>
                                        </p:attrNameLst>
                                      </p:cBhvr>
                                      <p:to>
                                        <p:strVal val="visible"/>
                                      </p:to>
                                    </p:set>
                                    <p:animEffect transition="in" filter="dissolve">
                                      <p:cBhvr>
                                        <p:cTn id="352" dur="500"/>
                                        <p:tgtEl>
                                          <p:spTgt spid="478296"/>
                                        </p:tgtEl>
                                      </p:cBhvr>
                                    </p:animEffect>
                                  </p:childTnLst>
                                </p:cTn>
                              </p:par>
                              <p:par>
                                <p:cTn id="353" presetID="9" presetClass="entr" presetSubtype="0" fill="hold" grpId="0" nodeType="withEffect">
                                  <p:stCondLst>
                                    <p:cond delay="0"/>
                                  </p:stCondLst>
                                  <p:childTnLst>
                                    <p:set>
                                      <p:cBhvr>
                                        <p:cTn id="354" dur="1" fill="hold">
                                          <p:stCondLst>
                                            <p:cond delay="0"/>
                                          </p:stCondLst>
                                        </p:cTn>
                                        <p:tgtEl>
                                          <p:spTgt spid="478297"/>
                                        </p:tgtEl>
                                        <p:attrNameLst>
                                          <p:attrName>style.visibility</p:attrName>
                                        </p:attrNameLst>
                                      </p:cBhvr>
                                      <p:to>
                                        <p:strVal val="visible"/>
                                      </p:to>
                                    </p:set>
                                    <p:animEffect transition="in" filter="dissolve">
                                      <p:cBhvr>
                                        <p:cTn id="355" dur="500"/>
                                        <p:tgtEl>
                                          <p:spTgt spid="478297"/>
                                        </p:tgtEl>
                                      </p:cBhvr>
                                    </p:animEffect>
                                  </p:childTnLst>
                                </p:cTn>
                              </p:par>
                              <p:par>
                                <p:cTn id="356" presetID="9" presetClass="entr" presetSubtype="0" fill="hold" nodeType="withEffect">
                                  <p:stCondLst>
                                    <p:cond delay="0"/>
                                  </p:stCondLst>
                                  <p:childTnLst>
                                    <p:set>
                                      <p:cBhvr>
                                        <p:cTn id="357" dur="1" fill="hold">
                                          <p:stCondLst>
                                            <p:cond delay="0"/>
                                          </p:stCondLst>
                                        </p:cTn>
                                        <p:tgtEl>
                                          <p:spTgt spid="478298"/>
                                        </p:tgtEl>
                                        <p:attrNameLst>
                                          <p:attrName>style.visibility</p:attrName>
                                        </p:attrNameLst>
                                      </p:cBhvr>
                                      <p:to>
                                        <p:strVal val="visible"/>
                                      </p:to>
                                    </p:set>
                                    <p:animEffect transition="in" filter="dissolve">
                                      <p:cBhvr>
                                        <p:cTn id="358" dur="500"/>
                                        <p:tgtEl>
                                          <p:spTgt spid="478298"/>
                                        </p:tgtEl>
                                      </p:cBhvr>
                                    </p:animEffect>
                                  </p:childTnLst>
                                </p:cTn>
                              </p:par>
                              <p:par>
                                <p:cTn id="359" presetID="9" presetClass="entr" presetSubtype="0" fill="hold" nodeType="withEffect">
                                  <p:stCondLst>
                                    <p:cond delay="0"/>
                                  </p:stCondLst>
                                  <p:childTnLst>
                                    <p:set>
                                      <p:cBhvr>
                                        <p:cTn id="360" dur="1" fill="hold">
                                          <p:stCondLst>
                                            <p:cond delay="0"/>
                                          </p:stCondLst>
                                        </p:cTn>
                                        <p:tgtEl>
                                          <p:spTgt spid="478299"/>
                                        </p:tgtEl>
                                        <p:attrNameLst>
                                          <p:attrName>style.visibility</p:attrName>
                                        </p:attrNameLst>
                                      </p:cBhvr>
                                      <p:to>
                                        <p:strVal val="visible"/>
                                      </p:to>
                                    </p:set>
                                    <p:animEffect transition="in" filter="dissolve">
                                      <p:cBhvr>
                                        <p:cTn id="361" dur="500"/>
                                        <p:tgtEl>
                                          <p:spTgt spid="478299"/>
                                        </p:tgtEl>
                                      </p:cBhvr>
                                    </p:animEffect>
                                  </p:childTnLst>
                                </p:cTn>
                              </p:par>
                              <p:par>
                                <p:cTn id="362" presetID="9" presetClass="entr" presetSubtype="0" fill="hold" grpId="0" nodeType="withEffect">
                                  <p:stCondLst>
                                    <p:cond delay="0"/>
                                  </p:stCondLst>
                                  <p:childTnLst>
                                    <p:set>
                                      <p:cBhvr>
                                        <p:cTn id="363" dur="1" fill="hold">
                                          <p:stCondLst>
                                            <p:cond delay="0"/>
                                          </p:stCondLst>
                                        </p:cTn>
                                        <p:tgtEl>
                                          <p:spTgt spid="478300"/>
                                        </p:tgtEl>
                                        <p:attrNameLst>
                                          <p:attrName>style.visibility</p:attrName>
                                        </p:attrNameLst>
                                      </p:cBhvr>
                                      <p:to>
                                        <p:strVal val="visible"/>
                                      </p:to>
                                    </p:set>
                                    <p:animEffect transition="in" filter="dissolve">
                                      <p:cBhvr>
                                        <p:cTn id="364" dur="500"/>
                                        <p:tgtEl>
                                          <p:spTgt spid="478300"/>
                                        </p:tgtEl>
                                      </p:cBhvr>
                                    </p:animEffect>
                                  </p:childTnLst>
                                </p:cTn>
                              </p:par>
                              <p:par>
                                <p:cTn id="365" presetID="9" presetClass="entr" presetSubtype="0" fill="hold" grpId="0" nodeType="withEffect">
                                  <p:stCondLst>
                                    <p:cond delay="0"/>
                                  </p:stCondLst>
                                  <p:childTnLst>
                                    <p:set>
                                      <p:cBhvr>
                                        <p:cTn id="366" dur="1" fill="hold">
                                          <p:stCondLst>
                                            <p:cond delay="0"/>
                                          </p:stCondLst>
                                        </p:cTn>
                                        <p:tgtEl>
                                          <p:spTgt spid="478301"/>
                                        </p:tgtEl>
                                        <p:attrNameLst>
                                          <p:attrName>style.visibility</p:attrName>
                                        </p:attrNameLst>
                                      </p:cBhvr>
                                      <p:to>
                                        <p:strVal val="visible"/>
                                      </p:to>
                                    </p:set>
                                    <p:animEffect transition="in" filter="dissolve">
                                      <p:cBhvr>
                                        <p:cTn id="367" dur="500"/>
                                        <p:tgtEl>
                                          <p:spTgt spid="478301"/>
                                        </p:tgtEl>
                                      </p:cBhvr>
                                    </p:animEffect>
                                  </p:childTnLst>
                                </p:cTn>
                              </p:par>
                              <p:par>
                                <p:cTn id="368" presetID="9" presetClass="entr" presetSubtype="0" fill="hold" grpId="0" nodeType="withEffect">
                                  <p:stCondLst>
                                    <p:cond delay="0"/>
                                  </p:stCondLst>
                                  <p:childTnLst>
                                    <p:set>
                                      <p:cBhvr>
                                        <p:cTn id="369" dur="1" fill="hold">
                                          <p:stCondLst>
                                            <p:cond delay="0"/>
                                          </p:stCondLst>
                                        </p:cTn>
                                        <p:tgtEl>
                                          <p:spTgt spid="478302"/>
                                        </p:tgtEl>
                                        <p:attrNameLst>
                                          <p:attrName>style.visibility</p:attrName>
                                        </p:attrNameLst>
                                      </p:cBhvr>
                                      <p:to>
                                        <p:strVal val="visible"/>
                                      </p:to>
                                    </p:set>
                                    <p:animEffect transition="in" filter="dissolve">
                                      <p:cBhvr>
                                        <p:cTn id="370" dur="500"/>
                                        <p:tgtEl>
                                          <p:spTgt spid="478302"/>
                                        </p:tgtEl>
                                      </p:cBhvr>
                                    </p:animEffect>
                                  </p:childTnLst>
                                </p:cTn>
                              </p:par>
                              <p:par>
                                <p:cTn id="371" presetID="9" presetClass="entr" presetSubtype="0" fill="hold" nodeType="withEffect">
                                  <p:stCondLst>
                                    <p:cond delay="0"/>
                                  </p:stCondLst>
                                  <p:childTnLst>
                                    <p:set>
                                      <p:cBhvr>
                                        <p:cTn id="372" dur="1" fill="hold">
                                          <p:stCondLst>
                                            <p:cond delay="0"/>
                                          </p:stCondLst>
                                        </p:cTn>
                                        <p:tgtEl>
                                          <p:spTgt spid="478303"/>
                                        </p:tgtEl>
                                        <p:attrNameLst>
                                          <p:attrName>style.visibility</p:attrName>
                                        </p:attrNameLst>
                                      </p:cBhvr>
                                      <p:to>
                                        <p:strVal val="visible"/>
                                      </p:to>
                                    </p:set>
                                    <p:animEffect transition="in" filter="dissolve">
                                      <p:cBhvr>
                                        <p:cTn id="373" dur="500"/>
                                        <p:tgtEl>
                                          <p:spTgt spid="478303"/>
                                        </p:tgtEl>
                                      </p:cBhvr>
                                    </p:animEffect>
                                  </p:childTnLst>
                                </p:cTn>
                              </p:par>
                              <p:par>
                                <p:cTn id="374" presetID="9" presetClass="entr" presetSubtype="0" fill="hold" nodeType="withEffect">
                                  <p:stCondLst>
                                    <p:cond delay="0"/>
                                  </p:stCondLst>
                                  <p:childTnLst>
                                    <p:set>
                                      <p:cBhvr>
                                        <p:cTn id="375" dur="1" fill="hold">
                                          <p:stCondLst>
                                            <p:cond delay="0"/>
                                          </p:stCondLst>
                                        </p:cTn>
                                        <p:tgtEl>
                                          <p:spTgt spid="478304"/>
                                        </p:tgtEl>
                                        <p:attrNameLst>
                                          <p:attrName>style.visibility</p:attrName>
                                        </p:attrNameLst>
                                      </p:cBhvr>
                                      <p:to>
                                        <p:strVal val="visible"/>
                                      </p:to>
                                    </p:set>
                                    <p:animEffect transition="in" filter="dissolve">
                                      <p:cBhvr>
                                        <p:cTn id="376" dur="500"/>
                                        <p:tgtEl>
                                          <p:spTgt spid="478304"/>
                                        </p:tgtEl>
                                      </p:cBhvr>
                                    </p:animEffect>
                                  </p:childTnLst>
                                </p:cTn>
                              </p:par>
                              <p:par>
                                <p:cTn id="377" presetID="9" presetClass="entr" presetSubtype="0" fill="hold" nodeType="withEffect">
                                  <p:stCondLst>
                                    <p:cond delay="0"/>
                                  </p:stCondLst>
                                  <p:childTnLst>
                                    <p:set>
                                      <p:cBhvr>
                                        <p:cTn id="378" dur="1" fill="hold">
                                          <p:stCondLst>
                                            <p:cond delay="0"/>
                                          </p:stCondLst>
                                        </p:cTn>
                                        <p:tgtEl>
                                          <p:spTgt spid="478305"/>
                                        </p:tgtEl>
                                        <p:attrNameLst>
                                          <p:attrName>style.visibility</p:attrName>
                                        </p:attrNameLst>
                                      </p:cBhvr>
                                      <p:to>
                                        <p:strVal val="visible"/>
                                      </p:to>
                                    </p:set>
                                    <p:animEffect transition="in" filter="dissolve">
                                      <p:cBhvr>
                                        <p:cTn id="379" dur="500"/>
                                        <p:tgtEl>
                                          <p:spTgt spid="478305"/>
                                        </p:tgtEl>
                                      </p:cBhvr>
                                    </p:animEffect>
                                  </p:childTnLst>
                                </p:cTn>
                              </p:par>
                              <p:par>
                                <p:cTn id="380" presetID="9" presetClass="entr" presetSubtype="0" fill="hold" nodeType="withEffect">
                                  <p:stCondLst>
                                    <p:cond delay="0"/>
                                  </p:stCondLst>
                                  <p:childTnLst>
                                    <p:set>
                                      <p:cBhvr>
                                        <p:cTn id="381" dur="1" fill="hold">
                                          <p:stCondLst>
                                            <p:cond delay="0"/>
                                          </p:stCondLst>
                                        </p:cTn>
                                        <p:tgtEl>
                                          <p:spTgt spid="478306"/>
                                        </p:tgtEl>
                                        <p:attrNameLst>
                                          <p:attrName>style.visibility</p:attrName>
                                        </p:attrNameLst>
                                      </p:cBhvr>
                                      <p:to>
                                        <p:strVal val="visible"/>
                                      </p:to>
                                    </p:set>
                                    <p:animEffect transition="in" filter="dissolve">
                                      <p:cBhvr>
                                        <p:cTn id="382" dur="500"/>
                                        <p:tgtEl>
                                          <p:spTgt spid="478306"/>
                                        </p:tgtEl>
                                      </p:cBhvr>
                                    </p:animEffect>
                                  </p:childTnLst>
                                </p:cTn>
                              </p:par>
                              <p:par>
                                <p:cTn id="383" presetID="9" presetClass="entr" presetSubtype="0" fill="hold" grpId="0" nodeType="withEffect">
                                  <p:stCondLst>
                                    <p:cond delay="0"/>
                                  </p:stCondLst>
                                  <p:childTnLst>
                                    <p:set>
                                      <p:cBhvr>
                                        <p:cTn id="384" dur="1" fill="hold">
                                          <p:stCondLst>
                                            <p:cond delay="0"/>
                                          </p:stCondLst>
                                        </p:cTn>
                                        <p:tgtEl>
                                          <p:spTgt spid="478307"/>
                                        </p:tgtEl>
                                        <p:attrNameLst>
                                          <p:attrName>style.visibility</p:attrName>
                                        </p:attrNameLst>
                                      </p:cBhvr>
                                      <p:to>
                                        <p:strVal val="visible"/>
                                      </p:to>
                                    </p:set>
                                    <p:animEffect transition="in" filter="dissolve">
                                      <p:cBhvr>
                                        <p:cTn id="385" dur="500"/>
                                        <p:tgtEl>
                                          <p:spTgt spid="478307"/>
                                        </p:tgtEl>
                                      </p:cBhvr>
                                    </p:animEffect>
                                  </p:childTnLst>
                                </p:cTn>
                              </p:par>
                              <p:par>
                                <p:cTn id="386" presetID="9" presetClass="entr" presetSubtype="0" fill="hold" grpId="0" nodeType="withEffect">
                                  <p:stCondLst>
                                    <p:cond delay="0"/>
                                  </p:stCondLst>
                                  <p:childTnLst>
                                    <p:set>
                                      <p:cBhvr>
                                        <p:cTn id="387" dur="1" fill="hold">
                                          <p:stCondLst>
                                            <p:cond delay="0"/>
                                          </p:stCondLst>
                                        </p:cTn>
                                        <p:tgtEl>
                                          <p:spTgt spid="478308"/>
                                        </p:tgtEl>
                                        <p:attrNameLst>
                                          <p:attrName>style.visibility</p:attrName>
                                        </p:attrNameLst>
                                      </p:cBhvr>
                                      <p:to>
                                        <p:strVal val="visible"/>
                                      </p:to>
                                    </p:set>
                                    <p:animEffect transition="in" filter="dissolve">
                                      <p:cBhvr>
                                        <p:cTn id="388" dur="500"/>
                                        <p:tgtEl>
                                          <p:spTgt spid="478308"/>
                                        </p:tgtEl>
                                      </p:cBhvr>
                                    </p:animEffect>
                                  </p:childTnLst>
                                </p:cTn>
                              </p:par>
                              <p:par>
                                <p:cTn id="389" presetID="9" presetClass="entr" presetSubtype="0" fill="hold" nodeType="withEffect">
                                  <p:stCondLst>
                                    <p:cond delay="0"/>
                                  </p:stCondLst>
                                  <p:childTnLst>
                                    <p:set>
                                      <p:cBhvr>
                                        <p:cTn id="390" dur="1" fill="hold">
                                          <p:stCondLst>
                                            <p:cond delay="0"/>
                                          </p:stCondLst>
                                        </p:cTn>
                                        <p:tgtEl>
                                          <p:spTgt spid="478309"/>
                                        </p:tgtEl>
                                        <p:attrNameLst>
                                          <p:attrName>style.visibility</p:attrName>
                                        </p:attrNameLst>
                                      </p:cBhvr>
                                      <p:to>
                                        <p:strVal val="visible"/>
                                      </p:to>
                                    </p:set>
                                    <p:animEffect transition="in" filter="dissolve">
                                      <p:cBhvr>
                                        <p:cTn id="391" dur="500"/>
                                        <p:tgtEl>
                                          <p:spTgt spid="478309"/>
                                        </p:tgtEl>
                                      </p:cBhvr>
                                    </p:animEffect>
                                  </p:childTnLst>
                                </p:cTn>
                              </p:par>
                              <p:par>
                                <p:cTn id="392" presetID="9" presetClass="entr" presetSubtype="0" fill="hold" nodeType="withEffect">
                                  <p:stCondLst>
                                    <p:cond delay="0"/>
                                  </p:stCondLst>
                                  <p:childTnLst>
                                    <p:set>
                                      <p:cBhvr>
                                        <p:cTn id="393" dur="1" fill="hold">
                                          <p:stCondLst>
                                            <p:cond delay="0"/>
                                          </p:stCondLst>
                                        </p:cTn>
                                        <p:tgtEl>
                                          <p:spTgt spid="478310"/>
                                        </p:tgtEl>
                                        <p:attrNameLst>
                                          <p:attrName>style.visibility</p:attrName>
                                        </p:attrNameLst>
                                      </p:cBhvr>
                                      <p:to>
                                        <p:strVal val="visible"/>
                                      </p:to>
                                    </p:set>
                                    <p:animEffect transition="in" filter="dissolve">
                                      <p:cBhvr>
                                        <p:cTn id="394" dur="500"/>
                                        <p:tgtEl>
                                          <p:spTgt spid="478310"/>
                                        </p:tgtEl>
                                      </p:cBhvr>
                                    </p:animEffect>
                                  </p:childTnLst>
                                </p:cTn>
                              </p:par>
                              <p:par>
                                <p:cTn id="395" presetID="9" presetClass="entr" presetSubtype="0" fill="hold" nodeType="withEffect">
                                  <p:stCondLst>
                                    <p:cond delay="0"/>
                                  </p:stCondLst>
                                  <p:childTnLst>
                                    <p:set>
                                      <p:cBhvr>
                                        <p:cTn id="396" dur="1" fill="hold">
                                          <p:stCondLst>
                                            <p:cond delay="0"/>
                                          </p:stCondLst>
                                        </p:cTn>
                                        <p:tgtEl>
                                          <p:spTgt spid="478311"/>
                                        </p:tgtEl>
                                        <p:attrNameLst>
                                          <p:attrName>style.visibility</p:attrName>
                                        </p:attrNameLst>
                                      </p:cBhvr>
                                      <p:to>
                                        <p:strVal val="visible"/>
                                      </p:to>
                                    </p:set>
                                    <p:animEffect transition="in" filter="dissolve">
                                      <p:cBhvr>
                                        <p:cTn id="397" dur="500"/>
                                        <p:tgtEl>
                                          <p:spTgt spid="478311"/>
                                        </p:tgtEl>
                                      </p:cBhvr>
                                    </p:animEffect>
                                  </p:childTnLst>
                                </p:cTn>
                              </p:par>
                              <p:par>
                                <p:cTn id="398" presetID="9" presetClass="entr" presetSubtype="0" fill="hold" grpId="0" nodeType="withEffect">
                                  <p:stCondLst>
                                    <p:cond delay="0"/>
                                  </p:stCondLst>
                                  <p:childTnLst>
                                    <p:set>
                                      <p:cBhvr>
                                        <p:cTn id="399" dur="1" fill="hold">
                                          <p:stCondLst>
                                            <p:cond delay="0"/>
                                          </p:stCondLst>
                                        </p:cTn>
                                        <p:tgtEl>
                                          <p:spTgt spid="478312"/>
                                        </p:tgtEl>
                                        <p:attrNameLst>
                                          <p:attrName>style.visibility</p:attrName>
                                        </p:attrNameLst>
                                      </p:cBhvr>
                                      <p:to>
                                        <p:strVal val="visible"/>
                                      </p:to>
                                    </p:set>
                                    <p:animEffect transition="in" filter="dissolve">
                                      <p:cBhvr>
                                        <p:cTn id="400" dur="500"/>
                                        <p:tgtEl>
                                          <p:spTgt spid="478312"/>
                                        </p:tgtEl>
                                      </p:cBhvr>
                                    </p:animEffect>
                                  </p:childTnLst>
                                </p:cTn>
                              </p:par>
                              <p:par>
                                <p:cTn id="401" presetID="9" presetClass="entr" presetSubtype="0" fill="hold" nodeType="withEffect">
                                  <p:stCondLst>
                                    <p:cond delay="0"/>
                                  </p:stCondLst>
                                  <p:childTnLst>
                                    <p:set>
                                      <p:cBhvr>
                                        <p:cTn id="402" dur="1" fill="hold">
                                          <p:stCondLst>
                                            <p:cond delay="0"/>
                                          </p:stCondLst>
                                        </p:cTn>
                                        <p:tgtEl>
                                          <p:spTgt spid="478313"/>
                                        </p:tgtEl>
                                        <p:attrNameLst>
                                          <p:attrName>style.visibility</p:attrName>
                                        </p:attrNameLst>
                                      </p:cBhvr>
                                      <p:to>
                                        <p:strVal val="visible"/>
                                      </p:to>
                                    </p:set>
                                    <p:animEffect transition="in" filter="dissolve">
                                      <p:cBhvr>
                                        <p:cTn id="403" dur="500"/>
                                        <p:tgtEl>
                                          <p:spTgt spid="478313"/>
                                        </p:tgtEl>
                                      </p:cBhvr>
                                    </p:animEffect>
                                  </p:childTnLst>
                                </p:cTn>
                              </p:par>
                              <p:par>
                                <p:cTn id="404" presetID="9" presetClass="entr" presetSubtype="0" fill="hold" grpId="0" nodeType="withEffect">
                                  <p:stCondLst>
                                    <p:cond delay="0"/>
                                  </p:stCondLst>
                                  <p:childTnLst>
                                    <p:set>
                                      <p:cBhvr>
                                        <p:cTn id="405" dur="1" fill="hold">
                                          <p:stCondLst>
                                            <p:cond delay="0"/>
                                          </p:stCondLst>
                                        </p:cTn>
                                        <p:tgtEl>
                                          <p:spTgt spid="478314"/>
                                        </p:tgtEl>
                                        <p:attrNameLst>
                                          <p:attrName>style.visibility</p:attrName>
                                        </p:attrNameLst>
                                      </p:cBhvr>
                                      <p:to>
                                        <p:strVal val="visible"/>
                                      </p:to>
                                    </p:set>
                                    <p:animEffect transition="in" filter="dissolve">
                                      <p:cBhvr>
                                        <p:cTn id="406" dur="500"/>
                                        <p:tgtEl>
                                          <p:spTgt spid="478314"/>
                                        </p:tgtEl>
                                      </p:cBhvr>
                                    </p:animEffect>
                                  </p:childTnLst>
                                </p:cTn>
                              </p:par>
                              <p:par>
                                <p:cTn id="407" presetID="9" presetClass="entr" presetSubtype="0" fill="hold" grpId="0" nodeType="withEffect">
                                  <p:stCondLst>
                                    <p:cond delay="0"/>
                                  </p:stCondLst>
                                  <p:childTnLst>
                                    <p:set>
                                      <p:cBhvr>
                                        <p:cTn id="408" dur="1" fill="hold">
                                          <p:stCondLst>
                                            <p:cond delay="0"/>
                                          </p:stCondLst>
                                        </p:cTn>
                                        <p:tgtEl>
                                          <p:spTgt spid="478315"/>
                                        </p:tgtEl>
                                        <p:attrNameLst>
                                          <p:attrName>style.visibility</p:attrName>
                                        </p:attrNameLst>
                                      </p:cBhvr>
                                      <p:to>
                                        <p:strVal val="visible"/>
                                      </p:to>
                                    </p:set>
                                    <p:animEffect transition="in" filter="dissolve">
                                      <p:cBhvr>
                                        <p:cTn id="409" dur="500"/>
                                        <p:tgtEl>
                                          <p:spTgt spid="478315"/>
                                        </p:tgtEl>
                                      </p:cBhvr>
                                    </p:animEffect>
                                  </p:childTnLst>
                                </p:cTn>
                              </p:par>
                              <p:par>
                                <p:cTn id="410" presetID="9" presetClass="entr" presetSubtype="0" fill="hold" grpId="0" nodeType="withEffect">
                                  <p:stCondLst>
                                    <p:cond delay="0"/>
                                  </p:stCondLst>
                                  <p:childTnLst>
                                    <p:set>
                                      <p:cBhvr>
                                        <p:cTn id="411" dur="1" fill="hold">
                                          <p:stCondLst>
                                            <p:cond delay="0"/>
                                          </p:stCondLst>
                                        </p:cTn>
                                        <p:tgtEl>
                                          <p:spTgt spid="478316"/>
                                        </p:tgtEl>
                                        <p:attrNameLst>
                                          <p:attrName>style.visibility</p:attrName>
                                        </p:attrNameLst>
                                      </p:cBhvr>
                                      <p:to>
                                        <p:strVal val="visible"/>
                                      </p:to>
                                    </p:set>
                                    <p:animEffect transition="in" filter="dissolve">
                                      <p:cBhvr>
                                        <p:cTn id="412" dur="500"/>
                                        <p:tgtEl>
                                          <p:spTgt spid="478316"/>
                                        </p:tgtEl>
                                      </p:cBhvr>
                                    </p:animEffect>
                                  </p:childTnLst>
                                </p:cTn>
                              </p:par>
                              <p:par>
                                <p:cTn id="413" presetID="9" presetClass="entr" presetSubtype="0" fill="hold" nodeType="withEffect">
                                  <p:stCondLst>
                                    <p:cond delay="0"/>
                                  </p:stCondLst>
                                  <p:childTnLst>
                                    <p:set>
                                      <p:cBhvr>
                                        <p:cTn id="414" dur="1" fill="hold">
                                          <p:stCondLst>
                                            <p:cond delay="0"/>
                                          </p:stCondLst>
                                        </p:cTn>
                                        <p:tgtEl>
                                          <p:spTgt spid="478317"/>
                                        </p:tgtEl>
                                        <p:attrNameLst>
                                          <p:attrName>style.visibility</p:attrName>
                                        </p:attrNameLst>
                                      </p:cBhvr>
                                      <p:to>
                                        <p:strVal val="visible"/>
                                      </p:to>
                                    </p:set>
                                    <p:animEffect transition="in" filter="dissolve">
                                      <p:cBhvr>
                                        <p:cTn id="415" dur="500"/>
                                        <p:tgtEl>
                                          <p:spTgt spid="478317"/>
                                        </p:tgtEl>
                                      </p:cBhvr>
                                    </p:animEffect>
                                  </p:childTnLst>
                                </p:cTn>
                              </p:par>
                              <p:par>
                                <p:cTn id="416" presetID="9" presetClass="entr" presetSubtype="0" fill="hold" nodeType="withEffect">
                                  <p:stCondLst>
                                    <p:cond delay="0"/>
                                  </p:stCondLst>
                                  <p:childTnLst>
                                    <p:set>
                                      <p:cBhvr>
                                        <p:cTn id="417" dur="1" fill="hold">
                                          <p:stCondLst>
                                            <p:cond delay="0"/>
                                          </p:stCondLst>
                                        </p:cTn>
                                        <p:tgtEl>
                                          <p:spTgt spid="478318"/>
                                        </p:tgtEl>
                                        <p:attrNameLst>
                                          <p:attrName>style.visibility</p:attrName>
                                        </p:attrNameLst>
                                      </p:cBhvr>
                                      <p:to>
                                        <p:strVal val="visible"/>
                                      </p:to>
                                    </p:set>
                                    <p:animEffect transition="in" filter="dissolve">
                                      <p:cBhvr>
                                        <p:cTn id="418" dur="500"/>
                                        <p:tgtEl>
                                          <p:spTgt spid="478318"/>
                                        </p:tgtEl>
                                      </p:cBhvr>
                                    </p:animEffect>
                                  </p:childTnLst>
                                </p:cTn>
                              </p:par>
                              <p:par>
                                <p:cTn id="419" presetID="9" presetClass="entr" presetSubtype="0" fill="hold" nodeType="withEffect">
                                  <p:stCondLst>
                                    <p:cond delay="0"/>
                                  </p:stCondLst>
                                  <p:childTnLst>
                                    <p:set>
                                      <p:cBhvr>
                                        <p:cTn id="420" dur="1" fill="hold">
                                          <p:stCondLst>
                                            <p:cond delay="0"/>
                                          </p:stCondLst>
                                        </p:cTn>
                                        <p:tgtEl>
                                          <p:spTgt spid="478319"/>
                                        </p:tgtEl>
                                        <p:attrNameLst>
                                          <p:attrName>style.visibility</p:attrName>
                                        </p:attrNameLst>
                                      </p:cBhvr>
                                      <p:to>
                                        <p:strVal val="visible"/>
                                      </p:to>
                                    </p:set>
                                    <p:animEffect transition="in" filter="dissolve">
                                      <p:cBhvr>
                                        <p:cTn id="421" dur="500"/>
                                        <p:tgtEl>
                                          <p:spTgt spid="478319"/>
                                        </p:tgtEl>
                                      </p:cBhvr>
                                    </p:animEffect>
                                  </p:childTnLst>
                                </p:cTn>
                              </p:par>
                              <p:par>
                                <p:cTn id="422" presetID="9" presetClass="entr" presetSubtype="0" fill="hold" grpId="0" nodeType="withEffect">
                                  <p:stCondLst>
                                    <p:cond delay="0"/>
                                  </p:stCondLst>
                                  <p:childTnLst>
                                    <p:set>
                                      <p:cBhvr>
                                        <p:cTn id="423" dur="1" fill="hold">
                                          <p:stCondLst>
                                            <p:cond delay="0"/>
                                          </p:stCondLst>
                                        </p:cTn>
                                        <p:tgtEl>
                                          <p:spTgt spid="478320"/>
                                        </p:tgtEl>
                                        <p:attrNameLst>
                                          <p:attrName>style.visibility</p:attrName>
                                        </p:attrNameLst>
                                      </p:cBhvr>
                                      <p:to>
                                        <p:strVal val="visible"/>
                                      </p:to>
                                    </p:set>
                                    <p:animEffect transition="in" filter="dissolve">
                                      <p:cBhvr>
                                        <p:cTn id="424" dur="500"/>
                                        <p:tgtEl>
                                          <p:spTgt spid="478320"/>
                                        </p:tgtEl>
                                      </p:cBhvr>
                                    </p:animEffect>
                                  </p:childTnLst>
                                </p:cTn>
                              </p:par>
                              <p:par>
                                <p:cTn id="425" presetID="9" presetClass="entr" presetSubtype="0" fill="hold" grpId="0" nodeType="withEffect">
                                  <p:stCondLst>
                                    <p:cond delay="0"/>
                                  </p:stCondLst>
                                  <p:childTnLst>
                                    <p:set>
                                      <p:cBhvr>
                                        <p:cTn id="426" dur="1" fill="hold">
                                          <p:stCondLst>
                                            <p:cond delay="0"/>
                                          </p:stCondLst>
                                        </p:cTn>
                                        <p:tgtEl>
                                          <p:spTgt spid="478321"/>
                                        </p:tgtEl>
                                        <p:attrNameLst>
                                          <p:attrName>style.visibility</p:attrName>
                                        </p:attrNameLst>
                                      </p:cBhvr>
                                      <p:to>
                                        <p:strVal val="visible"/>
                                      </p:to>
                                    </p:set>
                                    <p:animEffect transition="in" filter="dissolve">
                                      <p:cBhvr>
                                        <p:cTn id="427" dur="500"/>
                                        <p:tgtEl>
                                          <p:spTgt spid="478321"/>
                                        </p:tgtEl>
                                      </p:cBhvr>
                                    </p:animEffect>
                                  </p:childTnLst>
                                </p:cTn>
                              </p:par>
                              <p:par>
                                <p:cTn id="428" presetID="9" presetClass="entr" presetSubtype="0" fill="hold" grpId="0" nodeType="withEffect">
                                  <p:stCondLst>
                                    <p:cond delay="0"/>
                                  </p:stCondLst>
                                  <p:childTnLst>
                                    <p:set>
                                      <p:cBhvr>
                                        <p:cTn id="429" dur="1" fill="hold">
                                          <p:stCondLst>
                                            <p:cond delay="0"/>
                                          </p:stCondLst>
                                        </p:cTn>
                                        <p:tgtEl>
                                          <p:spTgt spid="478322"/>
                                        </p:tgtEl>
                                        <p:attrNameLst>
                                          <p:attrName>style.visibility</p:attrName>
                                        </p:attrNameLst>
                                      </p:cBhvr>
                                      <p:to>
                                        <p:strVal val="visible"/>
                                      </p:to>
                                    </p:set>
                                    <p:animEffect transition="in" filter="dissolve">
                                      <p:cBhvr>
                                        <p:cTn id="430" dur="500"/>
                                        <p:tgtEl>
                                          <p:spTgt spid="478322"/>
                                        </p:tgtEl>
                                      </p:cBhvr>
                                    </p:animEffect>
                                  </p:childTnLst>
                                </p:cTn>
                              </p:par>
                              <p:par>
                                <p:cTn id="431" presetID="9" presetClass="entr" presetSubtype="0" fill="hold" nodeType="withEffect">
                                  <p:stCondLst>
                                    <p:cond delay="0"/>
                                  </p:stCondLst>
                                  <p:childTnLst>
                                    <p:set>
                                      <p:cBhvr>
                                        <p:cTn id="432" dur="1" fill="hold">
                                          <p:stCondLst>
                                            <p:cond delay="0"/>
                                          </p:stCondLst>
                                        </p:cTn>
                                        <p:tgtEl>
                                          <p:spTgt spid="478323"/>
                                        </p:tgtEl>
                                        <p:attrNameLst>
                                          <p:attrName>style.visibility</p:attrName>
                                        </p:attrNameLst>
                                      </p:cBhvr>
                                      <p:to>
                                        <p:strVal val="visible"/>
                                      </p:to>
                                    </p:set>
                                    <p:animEffect transition="in" filter="dissolve">
                                      <p:cBhvr>
                                        <p:cTn id="433" dur="500"/>
                                        <p:tgtEl>
                                          <p:spTgt spid="478323"/>
                                        </p:tgtEl>
                                      </p:cBhvr>
                                    </p:animEffect>
                                  </p:childTnLst>
                                </p:cTn>
                              </p:par>
                              <p:par>
                                <p:cTn id="434" presetID="9" presetClass="entr" presetSubtype="0" fill="hold" nodeType="withEffect">
                                  <p:stCondLst>
                                    <p:cond delay="0"/>
                                  </p:stCondLst>
                                  <p:childTnLst>
                                    <p:set>
                                      <p:cBhvr>
                                        <p:cTn id="435" dur="1" fill="hold">
                                          <p:stCondLst>
                                            <p:cond delay="0"/>
                                          </p:stCondLst>
                                        </p:cTn>
                                        <p:tgtEl>
                                          <p:spTgt spid="478324"/>
                                        </p:tgtEl>
                                        <p:attrNameLst>
                                          <p:attrName>style.visibility</p:attrName>
                                        </p:attrNameLst>
                                      </p:cBhvr>
                                      <p:to>
                                        <p:strVal val="visible"/>
                                      </p:to>
                                    </p:set>
                                    <p:animEffect transition="in" filter="dissolve">
                                      <p:cBhvr>
                                        <p:cTn id="436" dur="500"/>
                                        <p:tgtEl>
                                          <p:spTgt spid="478324"/>
                                        </p:tgtEl>
                                      </p:cBhvr>
                                    </p:animEffect>
                                  </p:childTnLst>
                                </p:cTn>
                              </p:par>
                              <p:par>
                                <p:cTn id="437" presetID="9" presetClass="entr" presetSubtype="0" fill="hold" nodeType="withEffect">
                                  <p:stCondLst>
                                    <p:cond delay="0"/>
                                  </p:stCondLst>
                                  <p:childTnLst>
                                    <p:set>
                                      <p:cBhvr>
                                        <p:cTn id="438" dur="1" fill="hold">
                                          <p:stCondLst>
                                            <p:cond delay="0"/>
                                          </p:stCondLst>
                                        </p:cTn>
                                        <p:tgtEl>
                                          <p:spTgt spid="478325"/>
                                        </p:tgtEl>
                                        <p:attrNameLst>
                                          <p:attrName>style.visibility</p:attrName>
                                        </p:attrNameLst>
                                      </p:cBhvr>
                                      <p:to>
                                        <p:strVal val="visible"/>
                                      </p:to>
                                    </p:set>
                                    <p:animEffect transition="in" filter="dissolve">
                                      <p:cBhvr>
                                        <p:cTn id="439" dur="500"/>
                                        <p:tgtEl>
                                          <p:spTgt spid="478325"/>
                                        </p:tgtEl>
                                      </p:cBhvr>
                                    </p:animEffect>
                                  </p:childTnLst>
                                </p:cTn>
                              </p:par>
                              <p:par>
                                <p:cTn id="440" presetID="9" presetClass="entr" presetSubtype="0" fill="hold" grpId="0" nodeType="withEffect">
                                  <p:stCondLst>
                                    <p:cond delay="0"/>
                                  </p:stCondLst>
                                  <p:childTnLst>
                                    <p:set>
                                      <p:cBhvr>
                                        <p:cTn id="441" dur="1" fill="hold">
                                          <p:stCondLst>
                                            <p:cond delay="0"/>
                                          </p:stCondLst>
                                        </p:cTn>
                                        <p:tgtEl>
                                          <p:spTgt spid="478326"/>
                                        </p:tgtEl>
                                        <p:attrNameLst>
                                          <p:attrName>style.visibility</p:attrName>
                                        </p:attrNameLst>
                                      </p:cBhvr>
                                      <p:to>
                                        <p:strVal val="visible"/>
                                      </p:to>
                                    </p:set>
                                    <p:animEffect transition="in" filter="dissolve">
                                      <p:cBhvr>
                                        <p:cTn id="442" dur="500"/>
                                        <p:tgtEl>
                                          <p:spTgt spid="478326"/>
                                        </p:tgtEl>
                                      </p:cBhvr>
                                    </p:animEffect>
                                  </p:childTnLst>
                                </p:cTn>
                              </p:par>
                              <p:par>
                                <p:cTn id="443" presetID="9" presetClass="entr" presetSubtype="0" fill="hold" nodeType="withEffect">
                                  <p:stCondLst>
                                    <p:cond delay="0"/>
                                  </p:stCondLst>
                                  <p:childTnLst>
                                    <p:set>
                                      <p:cBhvr>
                                        <p:cTn id="444" dur="1" fill="hold">
                                          <p:stCondLst>
                                            <p:cond delay="0"/>
                                          </p:stCondLst>
                                        </p:cTn>
                                        <p:tgtEl>
                                          <p:spTgt spid="478327"/>
                                        </p:tgtEl>
                                        <p:attrNameLst>
                                          <p:attrName>style.visibility</p:attrName>
                                        </p:attrNameLst>
                                      </p:cBhvr>
                                      <p:to>
                                        <p:strVal val="visible"/>
                                      </p:to>
                                    </p:set>
                                    <p:animEffect transition="in" filter="dissolve">
                                      <p:cBhvr>
                                        <p:cTn id="445" dur="500"/>
                                        <p:tgtEl>
                                          <p:spTgt spid="478327"/>
                                        </p:tgtEl>
                                      </p:cBhvr>
                                    </p:animEffect>
                                  </p:childTnLst>
                                </p:cTn>
                              </p:par>
                              <p:par>
                                <p:cTn id="446" presetID="9" presetClass="entr" presetSubtype="0" fill="hold" grpId="0" nodeType="withEffect">
                                  <p:stCondLst>
                                    <p:cond delay="0"/>
                                  </p:stCondLst>
                                  <p:childTnLst>
                                    <p:set>
                                      <p:cBhvr>
                                        <p:cTn id="447" dur="1" fill="hold">
                                          <p:stCondLst>
                                            <p:cond delay="0"/>
                                          </p:stCondLst>
                                        </p:cTn>
                                        <p:tgtEl>
                                          <p:spTgt spid="478328"/>
                                        </p:tgtEl>
                                        <p:attrNameLst>
                                          <p:attrName>style.visibility</p:attrName>
                                        </p:attrNameLst>
                                      </p:cBhvr>
                                      <p:to>
                                        <p:strVal val="visible"/>
                                      </p:to>
                                    </p:set>
                                    <p:animEffect transition="in" filter="dissolve">
                                      <p:cBhvr>
                                        <p:cTn id="448" dur="500"/>
                                        <p:tgtEl>
                                          <p:spTgt spid="478328"/>
                                        </p:tgtEl>
                                      </p:cBhvr>
                                    </p:animEffect>
                                  </p:childTnLst>
                                </p:cTn>
                              </p:par>
                              <p:par>
                                <p:cTn id="449" presetID="9" presetClass="entr" presetSubtype="0" fill="hold" nodeType="withEffect">
                                  <p:stCondLst>
                                    <p:cond delay="0"/>
                                  </p:stCondLst>
                                  <p:childTnLst>
                                    <p:set>
                                      <p:cBhvr>
                                        <p:cTn id="450" dur="1" fill="hold">
                                          <p:stCondLst>
                                            <p:cond delay="0"/>
                                          </p:stCondLst>
                                        </p:cTn>
                                        <p:tgtEl>
                                          <p:spTgt spid="478329"/>
                                        </p:tgtEl>
                                        <p:attrNameLst>
                                          <p:attrName>style.visibility</p:attrName>
                                        </p:attrNameLst>
                                      </p:cBhvr>
                                      <p:to>
                                        <p:strVal val="visible"/>
                                      </p:to>
                                    </p:set>
                                    <p:animEffect transition="in" filter="dissolve">
                                      <p:cBhvr>
                                        <p:cTn id="451" dur="500"/>
                                        <p:tgtEl>
                                          <p:spTgt spid="478329"/>
                                        </p:tgtEl>
                                      </p:cBhvr>
                                    </p:animEffect>
                                  </p:childTnLst>
                                </p:cTn>
                              </p:par>
                              <p:par>
                                <p:cTn id="452" presetID="9" presetClass="entr" presetSubtype="0" fill="hold" nodeType="withEffect">
                                  <p:stCondLst>
                                    <p:cond delay="0"/>
                                  </p:stCondLst>
                                  <p:childTnLst>
                                    <p:set>
                                      <p:cBhvr>
                                        <p:cTn id="453" dur="1" fill="hold">
                                          <p:stCondLst>
                                            <p:cond delay="0"/>
                                          </p:stCondLst>
                                        </p:cTn>
                                        <p:tgtEl>
                                          <p:spTgt spid="478330"/>
                                        </p:tgtEl>
                                        <p:attrNameLst>
                                          <p:attrName>style.visibility</p:attrName>
                                        </p:attrNameLst>
                                      </p:cBhvr>
                                      <p:to>
                                        <p:strVal val="visible"/>
                                      </p:to>
                                    </p:set>
                                    <p:animEffect transition="in" filter="dissolve">
                                      <p:cBhvr>
                                        <p:cTn id="454" dur="500"/>
                                        <p:tgtEl>
                                          <p:spTgt spid="478330"/>
                                        </p:tgtEl>
                                      </p:cBhvr>
                                    </p:animEffect>
                                  </p:childTnLst>
                                </p:cTn>
                              </p:par>
                              <p:par>
                                <p:cTn id="455" presetID="9" presetClass="entr" presetSubtype="0" fill="hold" nodeType="withEffect">
                                  <p:stCondLst>
                                    <p:cond delay="0"/>
                                  </p:stCondLst>
                                  <p:childTnLst>
                                    <p:set>
                                      <p:cBhvr>
                                        <p:cTn id="456" dur="1" fill="hold">
                                          <p:stCondLst>
                                            <p:cond delay="0"/>
                                          </p:stCondLst>
                                        </p:cTn>
                                        <p:tgtEl>
                                          <p:spTgt spid="478331"/>
                                        </p:tgtEl>
                                        <p:attrNameLst>
                                          <p:attrName>style.visibility</p:attrName>
                                        </p:attrNameLst>
                                      </p:cBhvr>
                                      <p:to>
                                        <p:strVal val="visible"/>
                                      </p:to>
                                    </p:set>
                                    <p:animEffect transition="in" filter="dissolve">
                                      <p:cBhvr>
                                        <p:cTn id="457" dur="500"/>
                                        <p:tgtEl>
                                          <p:spTgt spid="478331"/>
                                        </p:tgtEl>
                                      </p:cBhvr>
                                    </p:animEffect>
                                  </p:childTnLst>
                                </p:cTn>
                              </p:par>
                              <p:par>
                                <p:cTn id="458" presetID="9" presetClass="entr" presetSubtype="0" fill="hold" nodeType="withEffect">
                                  <p:stCondLst>
                                    <p:cond delay="0"/>
                                  </p:stCondLst>
                                  <p:childTnLst>
                                    <p:set>
                                      <p:cBhvr>
                                        <p:cTn id="459" dur="1" fill="hold">
                                          <p:stCondLst>
                                            <p:cond delay="0"/>
                                          </p:stCondLst>
                                        </p:cTn>
                                        <p:tgtEl>
                                          <p:spTgt spid="478332"/>
                                        </p:tgtEl>
                                        <p:attrNameLst>
                                          <p:attrName>style.visibility</p:attrName>
                                        </p:attrNameLst>
                                      </p:cBhvr>
                                      <p:to>
                                        <p:strVal val="visible"/>
                                      </p:to>
                                    </p:set>
                                    <p:animEffect transition="in" filter="dissolve">
                                      <p:cBhvr>
                                        <p:cTn id="460" dur="500"/>
                                        <p:tgtEl>
                                          <p:spTgt spid="478332"/>
                                        </p:tgtEl>
                                      </p:cBhvr>
                                    </p:animEffect>
                                  </p:childTnLst>
                                </p:cTn>
                              </p:par>
                              <p:par>
                                <p:cTn id="461" presetID="9" presetClass="entr" presetSubtype="0" fill="hold" nodeType="withEffect">
                                  <p:stCondLst>
                                    <p:cond delay="0"/>
                                  </p:stCondLst>
                                  <p:childTnLst>
                                    <p:set>
                                      <p:cBhvr>
                                        <p:cTn id="462" dur="1" fill="hold">
                                          <p:stCondLst>
                                            <p:cond delay="0"/>
                                          </p:stCondLst>
                                        </p:cTn>
                                        <p:tgtEl>
                                          <p:spTgt spid="478333"/>
                                        </p:tgtEl>
                                        <p:attrNameLst>
                                          <p:attrName>style.visibility</p:attrName>
                                        </p:attrNameLst>
                                      </p:cBhvr>
                                      <p:to>
                                        <p:strVal val="visible"/>
                                      </p:to>
                                    </p:set>
                                    <p:animEffect transition="in" filter="dissolve">
                                      <p:cBhvr>
                                        <p:cTn id="463" dur="500"/>
                                        <p:tgtEl>
                                          <p:spTgt spid="478333"/>
                                        </p:tgtEl>
                                      </p:cBhvr>
                                    </p:animEffect>
                                  </p:childTnLst>
                                </p:cTn>
                              </p:par>
                              <p:par>
                                <p:cTn id="464" presetID="9" presetClass="entr" presetSubtype="0" fill="hold" nodeType="withEffect">
                                  <p:stCondLst>
                                    <p:cond delay="0"/>
                                  </p:stCondLst>
                                  <p:childTnLst>
                                    <p:set>
                                      <p:cBhvr>
                                        <p:cTn id="465" dur="1" fill="hold">
                                          <p:stCondLst>
                                            <p:cond delay="0"/>
                                          </p:stCondLst>
                                        </p:cTn>
                                        <p:tgtEl>
                                          <p:spTgt spid="478334"/>
                                        </p:tgtEl>
                                        <p:attrNameLst>
                                          <p:attrName>style.visibility</p:attrName>
                                        </p:attrNameLst>
                                      </p:cBhvr>
                                      <p:to>
                                        <p:strVal val="visible"/>
                                      </p:to>
                                    </p:set>
                                    <p:animEffect transition="in" filter="dissolve">
                                      <p:cBhvr>
                                        <p:cTn id="466" dur="500"/>
                                        <p:tgtEl>
                                          <p:spTgt spid="478334"/>
                                        </p:tgtEl>
                                      </p:cBhvr>
                                    </p:animEffect>
                                  </p:childTnLst>
                                </p:cTn>
                              </p:par>
                              <p:par>
                                <p:cTn id="467" presetID="9" presetClass="entr" presetSubtype="0" fill="hold" nodeType="withEffect">
                                  <p:stCondLst>
                                    <p:cond delay="0"/>
                                  </p:stCondLst>
                                  <p:childTnLst>
                                    <p:set>
                                      <p:cBhvr>
                                        <p:cTn id="468" dur="1" fill="hold">
                                          <p:stCondLst>
                                            <p:cond delay="0"/>
                                          </p:stCondLst>
                                        </p:cTn>
                                        <p:tgtEl>
                                          <p:spTgt spid="478335"/>
                                        </p:tgtEl>
                                        <p:attrNameLst>
                                          <p:attrName>style.visibility</p:attrName>
                                        </p:attrNameLst>
                                      </p:cBhvr>
                                      <p:to>
                                        <p:strVal val="visible"/>
                                      </p:to>
                                    </p:set>
                                    <p:animEffect transition="in" filter="dissolve">
                                      <p:cBhvr>
                                        <p:cTn id="469" dur="500"/>
                                        <p:tgtEl>
                                          <p:spTgt spid="478335"/>
                                        </p:tgtEl>
                                      </p:cBhvr>
                                    </p:animEffect>
                                  </p:childTnLst>
                                </p:cTn>
                              </p:par>
                              <p:par>
                                <p:cTn id="470" presetID="9" presetClass="entr" presetSubtype="0" fill="hold" nodeType="withEffect">
                                  <p:stCondLst>
                                    <p:cond delay="0"/>
                                  </p:stCondLst>
                                  <p:childTnLst>
                                    <p:set>
                                      <p:cBhvr>
                                        <p:cTn id="471" dur="1" fill="hold">
                                          <p:stCondLst>
                                            <p:cond delay="0"/>
                                          </p:stCondLst>
                                        </p:cTn>
                                        <p:tgtEl>
                                          <p:spTgt spid="478336"/>
                                        </p:tgtEl>
                                        <p:attrNameLst>
                                          <p:attrName>style.visibility</p:attrName>
                                        </p:attrNameLst>
                                      </p:cBhvr>
                                      <p:to>
                                        <p:strVal val="visible"/>
                                      </p:to>
                                    </p:set>
                                    <p:animEffect transition="in" filter="dissolve">
                                      <p:cBhvr>
                                        <p:cTn id="472" dur="500"/>
                                        <p:tgtEl>
                                          <p:spTgt spid="478336"/>
                                        </p:tgtEl>
                                      </p:cBhvr>
                                    </p:animEffect>
                                  </p:childTnLst>
                                </p:cTn>
                              </p:par>
                              <p:par>
                                <p:cTn id="473" presetID="9" presetClass="entr" presetSubtype="0" fill="hold" nodeType="withEffect">
                                  <p:stCondLst>
                                    <p:cond delay="0"/>
                                  </p:stCondLst>
                                  <p:childTnLst>
                                    <p:set>
                                      <p:cBhvr>
                                        <p:cTn id="474" dur="1" fill="hold">
                                          <p:stCondLst>
                                            <p:cond delay="0"/>
                                          </p:stCondLst>
                                        </p:cTn>
                                        <p:tgtEl>
                                          <p:spTgt spid="478337"/>
                                        </p:tgtEl>
                                        <p:attrNameLst>
                                          <p:attrName>style.visibility</p:attrName>
                                        </p:attrNameLst>
                                      </p:cBhvr>
                                      <p:to>
                                        <p:strVal val="visible"/>
                                      </p:to>
                                    </p:set>
                                    <p:animEffect transition="in" filter="dissolve">
                                      <p:cBhvr>
                                        <p:cTn id="475" dur="500"/>
                                        <p:tgtEl>
                                          <p:spTgt spid="478337"/>
                                        </p:tgtEl>
                                      </p:cBhvr>
                                    </p:animEffect>
                                  </p:childTnLst>
                                </p:cTn>
                              </p:par>
                              <p:par>
                                <p:cTn id="476" presetID="9" presetClass="entr" presetSubtype="0" fill="hold" nodeType="withEffect">
                                  <p:stCondLst>
                                    <p:cond delay="0"/>
                                  </p:stCondLst>
                                  <p:childTnLst>
                                    <p:set>
                                      <p:cBhvr>
                                        <p:cTn id="477" dur="1" fill="hold">
                                          <p:stCondLst>
                                            <p:cond delay="0"/>
                                          </p:stCondLst>
                                        </p:cTn>
                                        <p:tgtEl>
                                          <p:spTgt spid="478338"/>
                                        </p:tgtEl>
                                        <p:attrNameLst>
                                          <p:attrName>style.visibility</p:attrName>
                                        </p:attrNameLst>
                                      </p:cBhvr>
                                      <p:to>
                                        <p:strVal val="visible"/>
                                      </p:to>
                                    </p:set>
                                    <p:animEffect transition="in" filter="dissolve">
                                      <p:cBhvr>
                                        <p:cTn id="478" dur="500"/>
                                        <p:tgtEl>
                                          <p:spTgt spid="478338"/>
                                        </p:tgtEl>
                                      </p:cBhvr>
                                    </p:animEffect>
                                  </p:childTnLst>
                                </p:cTn>
                              </p:par>
                              <p:par>
                                <p:cTn id="479" presetID="9" presetClass="entr" presetSubtype="0" fill="hold" nodeType="withEffect">
                                  <p:stCondLst>
                                    <p:cond delay="0"/>
                                  </p:stCondLst>
                                  <p:childTnLst>
                                    <p:set>
                                      <p:cBhvr>
                                        <p:cTn id="480" dur="1" fill="hold">
                                          <p:stCondLst>
                                            <p:cond delay="0"/>
                                          </p:stCondLst>
                                        </p:cTn>
                                        <p:tgtEl>
                                          <p:spTgt spid="478339"/>
                                        </p:tgtEl>
                                        <p:attrNameLst>
                                          <p:attrName>style.visibility</p:attrName>
                                        </p:attrNameLst>
                                      </p:cBhvr>
                                      <p:to>
                                        <p:strVal val="visible"/>
                                      </p:to>
                                    </p:set>
                                    <p:animEffect transition="in" filter="dissolve">
                                      <p:cBhvr>
                                        <p:cTn id="481" dur="500"/>
                                        <p:tgtEl>
                                          <p:spTgt spid="478339"/>
                                        </p:tgtEl>
                                      </p:cBhvr>
                                    </p:animEffect>
                                  </p:childTnLst>
                                </p:cTn>
                              </p:par>
                              <p:par>
                                <p:cTn id="482" presetID="9" presetClass="entr" presetSubtype="0" fill="hold" nodeType="withEffect">
                                  <p:stCondLst>
                                    <p:cond delay="0"/>
                                  </p:stCondLst>
                                  <p:childTnLst>
                                    <p:set>
                                      <p:cBhvr>
                                        <p:cTn id="483" dur="1" fill="hold">
                                          <p:stCondLst>
                                            <p:cond delay="0"/>
                                          </p:stCondLst>
                                        </p:cTn>
                                        <p:tgtEl>
                                          <p:spTgt spid="478340"/>
                                        </p:tgtEl>
                                        <p:attrNameLst>
                                          <p:attrName>style.visibility</p:attrName>
                                        </p:attrNameLst>
                                      </p:cBhvr>
                                      <p:to>
                                        <p:strVal val="visible"/>
                                      </p:to>
                                    </p:set>
                                    <p:animEffect transition="in" filter="dissolve">
                                      <p:cBhvr>
                                        <p:cTn id="484" dur="500"/>
                                        <p:tgtEl>
                                          <p:spTgt spid="478340"/>
                                        </p:tgtEl>
                                      </p:cBhvr>
                                    </p:animEffect>
                                  </p:childTnLst>
                                </p:cTn>
                              </p:par>
                              <p:par>
                                <p:cTn id="485" presetID="9" presetClass="entr" presetSubtype="0" fill="hold" nodeType="withEffect">
                                  <p:stCondLst>
                                    <p:cond delay="0"/>
                                  </p:stCondLst>
                                  <p:childTnLst>
                                    <p:set>
                                      <p:cBhvr>
                                        <p:cTn id="486" dur="1" fill="hold">
                                          <p:stCondLst>
                                            <p:cond delay="0"/>
                                          </p:stCondLst>
                                        </p:cTn>
                                        <p:tgtEl>
                                          <p:spTgt spid="478341"/>
                                        </p:tgtEl>
                                        <p:attrNameLst>
                                          <p:attrName>style.visibility</p:attrName>
                                        </p:attrNameLst>
                                      </p:cBhvr>
                                      <p:to>
                                        <p:strVal val="visible"/>
                                      </p:to>
                                    </p:set>
                                    <p:animEffect transition="in" filter="dissolve">
                                      <p:cBhvr>
                                        <p:cTn id="487" dur="500"/>
                                        <p:tgtEl>
                                          <p:spTgt spid="478341"/>
                                        </p:tgtEl>
                                      </p:cBhvr>
                                    </p:animEffect>
                                  </p:childTnLst>
                                </p:cTn>
                              </p:par>
                              <p:par>
                                <p:cTn id="488" presetID="9" presetClass="entr" presetSubtype="0" fill="hold" nodeType="withEffect">
                                  <p:stCondLst>
                                    <p:cond delay="0"/>
                                  </p:stCondLst>
                                  <p:childTnLst>
                                    <p:set>
                                      <p:cBhvr>
                                        <p:cTn id="489" dur="1" fill="hold">
                                          <p:stCondLst>
                                            <p:cond delay="0"/>
                                          </p:stCondLst>
                                        </p:cTn>
                                        <p:tgtEl>
                                          <p:spTgt spid="478342"/>
                                        </p:tgtEl>
                                        <p:attrNameLst>
                                          <p:attrName>style.visibility</p:attrName>
                                        </p:attrNameLst>
                                      </p:cBhvr>
                                      <p:to>
                                        <p:strVal val="visible"/>
                                      </p:to>
                                    </p:set>
                                    <p:animEffect transition="in" filter="dissolve">
                                      <p:cBhvr>
                                        <p:cTn id="490" dur="500"/>
                                        <p:tgtEl>
                                          <p:spTgt spid="478342"/>
                                        </p:tgtEl>
                                      </p:cBhvr>
                                    </p:animEffect>
                                  </p:childTnLst>
                                </p:cTn>
                              </p:par>
                              <p:par>
                                <p:cTn id="491" presetID="9" presetClass="entr" presetSubtype="0" fill="hold" nodeType="withEffect">
                                  <p:stCondLst>
                                    <p:cond delay="0"/>
                                  </p:stCondLst>
                                  <p:childTnLst>
                                    <p:set>
                                      <p:cBhvr>
                                        <p:cTn id="492" dur="1" fill="hold">
                                          <p:stCondLst>
                                            <p:cond delay="0"/>
                                          </p:stCondLst>
                                        </p:cTn>
                                        <p:tgtEl>
                                          <p:spTgt spid="478343"/>
                                        </p:tgtEl>
                                        <p:attrNameLst>
                                          <p:attrName>style.visibility</p:attrName>
                                        </p:attrNameLst>
                                      </p:cBhvr>
                                      <p:to>
                                        <p:strVal val="visible"/>
                                      </p:to>
                                    </p:set>
                                    <p:animEffect transition="in" filter="dissolve">
                                      <p:cBhvr>
                                        <p:cTn id="493" dur="500"/>
                                        <p:tgtEl>
                                          <p:spTgt spid="478343"/>
                                        </p:tgtEl>
                                      </p:cBhvr>
                                    </p:animEffect>
                                  </p:childTnLst>
                                </p:cTn>
                              </p:par>
                              <p:par>
                                <p:cTn id="494" presetID="9" presetClass="entr" presetSubtype="0" fill="hold" nodeType="withEffect">
                                  <p:stCondLst>
                                    <p:cond delay="0"/>
                                  </p:stCondLst>
                                  <p:childTnLst>
                                    <p:set>
                                      <p:cBhvr>
                                        <p:cTn id="495" dur="1" fill="hold">
                                          <p:stCondLst>
                                            <p:cond delay="0"/>
                                          </p:stCondLst>
                                        </p:cTn>
                                        <p:tgtEl>
                                          <p:spTgt spid="478344"/>
                                        </p:tgtEl>
                                        <p:attrNameLst>
                                          <p:attrName>style.visibility</p:attrName>
                                        </p:attrNameLst>
                                      </p:cBhvr>
                                      <p:to>
                                        <p:strVal val="visible"/>
                                      </p:to>
                                    </p:set>
                                    <p:animEffect transition="in" filter="dissolve">
                                      <p:cBhvr>
                                        <p:cTn id="496" dur="500"/>
                                        <p:tgtEl>
                                          <p:spTgt spid="478344"/>
                                        </p:tgtEl>
                                      </p:cBhvr>
                                    </p:animEffect>
                                  </p:childTnLst>
                                </p:cTn>
                              </p:par>
                              <p:par>
                                <p:cTn id="497" presetID="9" presetClass="entr" presetSubtype="0" fill="hold" nodeType="withEffect">
                                  <p:stCondLst>
                                    <p:cond delay="0"/>
                                  </p:stCondLst>
                                  <p:childTnLst>
                                    <p:set>
                                      <p:cBhvr>
                                        <p:cTn id="498" dur="1" fill="hold">
                                          <p:stCondLst>
                                            <p:cond delay="0"/>
                                          </p:stCondLst>
                                        </p:cTn>
                                        <p:tgtEl>
                                          <p:spTgt spid="478345"/>
                                        </p:tgtEl>
                                        <p:attrNameLst>
                                          <p:attrName>style.visibility</p:attrName>
                                        </p:attrNameLst>
                                      </p:cBhvr>
                                      <p:to>
                                        <p:strVal val="visible"/>
                                      </p:to>
                                    </p:set>
                                    <p:animEffect transition="in" filter="dissolve">
                                      <p:cBhvr>
                                        <p:cTn id="499" dur="500"/>
                                        <p:tgtEl>
                                          <p:spTgt spid="478345"/>
                                        </p:tgtEl>
                                      </p:cBhvr>
                                    </p:animEffect>
                                  </p:childTnLst>
                                </p:cTn>
                              </p:par>
                              <p:par>
                                <p:cTn id="500" presetID="9" presetClass="entr" presetSubtype="0" fill="hold" nodeType="withEffect">
                                  <p:stCondLst>
                                    <p:cond delay="0"/>
                                  </p:stCondLst>
                                  <p:childTnLst>
                                    <p:set>
                                      <p:cBhvr>
                                        <p:cTn id="501" dur="1" fill="hold">
                                          <p:stCondLst>
                                            <p:cond delay="0"/>
                                          </p:stCondLst>
                                        </p:cTn>
                                        <p:tgtEl>
                                          <p:spTgt spid="478346"/>
                                        </p:tgtEl>
                                        <p:attrNameLst>
                                          <p:attrName>style.visibility</p:attrName>
                                        </p:attrNameLst>
                                      </p:cBhvr>
                                      <p:to>
                                        <p:strVal val="visible"/>
                                      </p:to>
                                    </p:set>
                                    <p:animEffect transition="in" filter="dissolve">
                                      <p:cBhvr>
                                        <p:cTn id="502" dur="500"/>
                                        <p:tgtEl>
                                          <p:spTgt spid="478346"/>
                                        </p:tgtEl>
                                      </p:cBhvr>
                                    </p:animEffect>
                                  </p:childTnLst>
                                </p:cTn>
                              </p:par>
                              <p:par>
                                <p:cTn id="503" presetID="9" presetClass="entr" presetSubtype="0" fill="hold" nodeType="withEffect">
                                  <p:stCondLst>
                                    <p:cond delay="0"/>
                                  </p:stCondLst>
                                  <p:childTnLst>
                                    <p:set>
                                      <p:cBhvr>
                                        <p:cTn id="504" dur="1" fill="hold">
                                          <p:stCondLst>
                                            <p:cond delay="0"/>
                                          </p:stCondLst>
                                        </p:cTn>
                                        <p:tgtEl>
                                          <p:spTgt spid="478347"/>
                                        </p:tgtEl>
                                        <p:attrNameLst>
                                          <p:attrName>style.visibility</p:attrName>
                                        </p:attrNameLst>
                                      </p:cBhvr>
                                      <p:to>
                                        <p:strVal val="visible"/>
                                      </p:to>
                                    </p:set>
                                    <p:animEffect transition="in" filter="dissolve">
                                      <p:cBhvr>
                                        <p:cTn id="505" dur="500"/>
                                        <p:tgtEl>
                                          <p:spTgt spid="478347"/>
                                        </p:tgtEl>
                                      </p:cBhvr>
                                    </p:animEffect>
                                  </p:childTnLst>
                                </p:cTn>
                              </p:par>
                              <p:par>
                                <p:cTn id="506" presetID="9" presetClass="entr" presetSubtype="0" fill="hold" nodeType="withEffect">
                                  <p:stCondLst>
                                    <p:cond delay="0"/>
                                  </p:stCondLst>
                                  <p:childTnLst>
                                    <p:set>
                                      <p:cBhvr>
                                        <p:cTn id="507" dur="1" fill="hold">
                                          <p:stCondLst>
                                            <p:cond delay="0"/>
                                          </p:stCondLst>
                                        </p:cTn>
                                        <p:tgtEl>
                                          <p:spTgt spid="478348"/>
                                        </p:tgtEl>
                                        <p:attrNameLst>
                                          <p:attrName>style.visibility</p:attrName>
                                        </p:attrNameLst>
                                      </p:cBhvr>
                                      <p:to>
                                        <p:strVal val="visible"/>
                                      </p:to>
                                    </p:set>
                                    <p:animEffect transition="in" filter="dissolve">
                                      <p:cBhvr>
                                        <p:cTn id="508" dur="500"/>
                                        <p:tgtEl>
                                          <p:spTgt spid="478348"/>
                                        </p:tgtEl>
                                      </p:cBhvr>
                                    </p:animEffect>
                                  </p:childTnLst>
                                </p:cTn>
                              </p:par>
                              <p:par>
                                <p:cTn id="509" presetID="9" presetClass="entr" presetSubtype="0" fill="hold" nodeType="withEffect">
                                  <p:stCondLst>
                                    <p:cond delay="0"/>
                                  </p:stCondLst>
                                  <p:childTnLst>
                                    <p:set>
                                      <p:cBhvr>
                                        <p:cTn id="510" dur="1" fill="hold">
                                          <p:stCondLst>
                                            <p:cond delay="0"/>
                                          </p:stCondLst>
                                        </p:cTn>
                                        <p:tgtEl>
                                          <p:spTgt spid="478349"/>
                                        </p:tgtEl>
                                        <p:attrNameLst>
                                          <p:attrName>style.visibility</p:attrName>
                                        </p:attrNameLst>
                                      </p:cBhvr>
                                      <p:to>
                                        <p:strVal val="visible"/>
                                      </p:to>
                                    </p:set>
                                    <p:animEffect transition="in" filter="dissolve">
                                      <p:cBhvr>
                                        <p:cTn id="511" dur="500"/>
                                        <p:tgtEl>
                                          <p:spTgt spid="478349"/>
                                        </p:tgtEl>
                                      </p:cBhvr>
                                    </p:animEffect>
                                  </p:childTnLst>
                                </p:cTn>
                              </p:par>
                              <p:par>
                                <p:cTn id="512" presetID="9" presetClass="entr" presetSubtype="0" fill="hold" nodeType="withEffect">
                                  <p:stCondLst>
                                    <p:cond delay="0"/>
                                  </p:stCondLst>
                                  <p:childTnLst>
                                    <p:set>
                                      <p:cBhvr>
                                        <p:cTn id="513" dur="1" fill="hold">
                                          <p:stCondLst>
                                            <p:cond delay="0"/>
                                          </p:stCondLst>
                                        </p:cTn>
                                        <p:tgtEl>
                                          <p:spTgt spid="478350"/>
                                        </p:tgtEl>
                                        <p:attrNameLst>
                                          <p:attrName>style.visibility</p:attrName>
                                        </p:attrNameLst>
                                      </p:cBhvr>
                                      <p:to>
                                        <p:strVal val="visible"/>
                                      </p:to>
                                    </p:set>
                                    <p:animEffect transition="in" filter="dissolve">
                                      <p:cBhvr>
                                        <p:cTn id="514" dur="500"/>
                                        <p:tgtEl>
                                          <p:spTgt spid="478350"/>
                                        </p:tgtEl>
                                      </p:cBhvr>
                                    </p:animEffect>
                                  </p:childTnLst>
                                </p:cTn>
                              </p:par>
                              <p:par>
                                <p:cTn id="515" presetID="9" presetClass="entr" presetSubtype="0" fill="hold" nodeType="withEffect">
                                  <p:stCondLst>
                                    <p:cond delay="0"/>
                                  </p:stCondLst>
                                  <p:childTnLst>
                                    <p:set>
                                      <p:cBhvr>
                                        <p:cTn id="516" dur="1" fill="hold">
                                          <p:stCondLst>
                                            <p:cond delay="0"/>
                                          </p:stCondLst>
                                        </p:cTn>
                                        <p:tgtEl>
                                          <p:spTgt spid="478351"/>
                                        </p:tgtEl>
                                        <p:attrNameLst>
                                          <p:attrName>style.visibility</p:attrName>
                                        </p:attrNameLst>
                                      </p:cBhvr>
                                      <p:to>
                                        <p:strVal val="visible"/>
                                      </p:to>
                                    </p:set>
                                    <p:animEffect transition="in" filter="dissolve">
                                      <p:cBhvr>
                                        <p:cTn id="517" dur="500"/>
                                        <p:tgtEl>
                                          <p:spTgt spid="478351"/>
                                        </p:tgtEl>
                                      </p:cBhvr>
                                    </p:animEffect>
                                  </p:childTnLst>
                                </p:cTn>
                              </p:par>
                              <p:par>
                                <p:cTn id="518" presetID="9" presetClass="entr" presetSubtype="0" fill="hold" grpId="0" nodeType="withEffect">
                                  <p:stCondLst>
                                    <p:cond delay="0"/>
                                  </p:stCondLst>
                                  <p:childTnLst>
                                    <p:set>
                                      <p:cBhvr>
                                        <p:cTn id="519" dur="1" fill="hold">
                                          <p:stCondLst>
                                            <p:cond delay="0"/>
                                          </p:stCondLst>
                                        </p:cTn>
                                        <p:tgtEl>
                                          <p:spTgt spid="478436"/>
                                        </p:tgtEl>
                                        <p:attrNameLst>
                                          <p:attrName>style.visibility</p:attrName>
                                        </p:attrNameLst>
                                      </p:cBhvr>
                                      <p:to>
                                        <p:strVal val="visible"/>
                                      </p:to>
                                    </p:set>
                                    <p:animEffect transition="in" filter="dissolve">
                                      <p:cBhvr>
                                        <p:cTn id="520" dur="500"/>
                                        <p:tgtEl>
                                          <p:spTgt spid="478436"/>
                                        </p:tgtEl>
                                      </p:cBhvr>
                                    </p:animEffect>
                                  </p:childTnLst>
                                </p:cTn>
                              </p:par>
                              <p:par>
                                <p:cTn id="521" presetID="9" presetClass="entr" presetSubtype="0" fill="hold" grpId="0" nodeType="withEffect">
                                  <p:stCondLst>
                                    <p:cond delay="0"/>
                                  </p:stCondLst>
                                  <p:childTnLst>
                                    <p:set>
                                      <p:cBhvr>
                                        <p:cTn id="522" dur="1" fill="hold">
                                          <p:stCondLst>
                                            <p:cond delay="0"/>
                                          </p:stCondLst>
                                        </p:cTn>
                                        <p:tgtEl>
                                          <p:spTgt spid="478437"/>
                                        </p:tgtEl>
                                        <p:attrNameLst>
                                          <p:attrName>style.visibility</p:attrName>
                                        </p:attrNameLst>
                                      </p:cBhvr>
                                      <p:to>
                                        <p:strVal val="visible"/>
                                      </p:to>
                                    </p:set>
                                    <p:animEffect transition="in" filter="dissolve">
                                      <p:cBhvr>
                                        <p:cTn id="523" dur="500"/>
                                        <p:tgtEl>
                                          <p:spTgt spid="478437"/>
                                        </p:tgtEl>
                                      </p:cBhvr>
                                    </p:animEffect>
                                  </p:childTnLst>
                                </p:cTn>
                              </p:par>
                              <p:par>
                                <p:cTn id="524" presetID="9" presetClass="entr" presetSubtype="0" fill="hold" grpId="0" nodeType="withEffect">
                                  <p:stCondLst>
                                    <p:cond delay="0"/>
                                  </p:stCondLst>
                                  <p:childTnLst>
                                    <p:set>
                                      <p:cBhvr>
                                        <p:cTn id="525" dur="1" fill="hold">
                                          <p:stCondLst>
                                            <p:cond delay="0"/>
                                          </p:stCondLst>
                                        </p:cTn>
                                        <p:tgtEl>
                                          <p:spTgt spid="478438"/>
                                        </p:tgtEl>
                                        <p:attrNameLst>
                                          <p:attrName>style.visibility</p:attrName>
                                        </p:attrNameLst>
                                      </p:cBhvr>
                                      <p:to>
                                        <p:strVal val="visible"/>
                                      </p:to>
                                    </p:set>
                                    <p:animEffect transition="in" filter="dissolve">
                                      <p:cBhvr>
                                        <p:cTn id="526" dur="500"/>
                                        <p:tgtEl>
                                          <p:spTgt spid="478438"/>
                                        </p:tgtEl>
                                      </p:cBhvr>
                                    </p:animEffect>
                                  </p:childTnLst>
                                </p:cTn>
                              </p:par>
                              <p:par>
                                <p:cTn id="527" presetID="9" presetClass="entr" presetSubtype="0" fill="hold" nodeType="withEffect">
                                  <p:stCondLst>
                                    <p:cond delay="0"/>
                                  </p:stCondLst>
                                  <p:childTnLst>
                                    <p:set>
                                      <p:cBhvr>
                                        <p:cTn id="528" dur="1" fill="hold">
                                          <p:stCondLst>
                                            <p:cond delay="0"/>
                                          </p:stCondLst>
                                        </p:cTn>
                                        <p:tgtEl>
                                          <p:spTgt spid="478443"/>
                                        </p:tgtEl>
                                        <p:attrNameLst>
                                          <p:attrName>style.visibility</p:attrName>
                                        </p:attrNameLst>
                                      </p:cBhvr>
                                      <p:to>
                                        <p:strVal val="visible"/>
                                      </p:to>
                                    </p:set>
                                    <p:animEffect transition="in" filter="dissolve">
                                      <p:cBhvr>
                                        <p:cTn id="529" dur="500"/>
                                        <p:tgtEl>
                                          <p:spTgt spid="478443"/>
                                        </p:tgtEl>
                                      </p:cBhvr>
                                    </p:animEffect>
                                  </p:childTnLst>
                                </p:cTn>
                              </p:par>
                              <p:par>
                                <p:cTn id="530" presetID="9" presetClass="entr" presetSubtype="0" fill="hold" nodeType="withEffect">
                                  <p:stCondLst>
                                    <p:cond delay="0"/>
                                  </p:stCondLst>
                                  <p:childTnLst>
                                    <p:set>
                                      <p:cBhvr>
                                        <p:cTn id="531" dur="1" fill="hold">
                                          <p:stCondLst>
                                            <p:cond delay="0"/>
                                          </p:stCondLst>
                                        </p:cTn>
                                        <p:tgtEl>
                                          <p:spTgt spid="478444"/>
                                        </p:tgtEl>
                                        <p:attrNameLst>
                                          <p:attrName>style.visibility</p:attrName>
                                        </p:attrNameLst>
                                      </p:cBhvr>
                                      <p:to>
                                        <p:strVal val="visible"/>
                                      </p:to>
                                    </p:set>
                                    <p:animEffect transition="in" filter="dissolve">
                                      <p:cBhvr>
                                        <p:cTn id="532" dur="500"/>
                                        <p:tgtEl>
                                          <p:spTgt spid="478444"/>
                                        </p:tgtEl>
                                      </p:cBhvr>
                                    </p:animEffect>
                                  </p:childTnLst>
                                </p:cTn>
                              </p:par>
                              <p:par>
                                <p:cTn id="533" presetID="9" presetClass="entr" presetSubtype="0" fill="hold" grpId="0" nodeType="withEffect">
                                  <p:stCondLst>
                                    <p:cond delay="0"/>
                                  </p:stCondLst>
                                  <p:childTnLst>
                                    <p:set>
                                      <p:cBhvr>
                                        <p:cTn id="534" dur="1" fill="hold">
                                          <p:stCondLst>
                                            <p:cond delay="0"/>
                                          </p:stCondLst>
                                        </p:cTn>
                                        <p:tgtEl>
                                          <p:spTgt spid="478446"/>
                                        </p:tgtEl>
                                        <p:attrNameLst>
                                          <p:attrName>style.visibility</p:attrName>
                                        </p:attrNameLst>
                                      </p:cBhvr>
                                      <p:to>
                                        <p:strVal val="visible"/>
                                      </p:to>
                                    </p:set>
                                    <p:animEffect transition="in" filter="dissolve">
                                      <p:cBhvr>
                                        <p:cTn id="535" dur="500"/>
                                        <p:tgtEl>
                                          <p:spTgt spid="4784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animBg="1"/>
      <p:bldP spid="478213" grpId="0"/>
      <p:bldP spid="478274" grpId="0" animBg="1"/>
      <p:bldP spid="478275" grpId="0" animBg="1"/>
      <p:bldP spid="478276" grpId="0" animBg="1"/>
      <p:bldP spid="478280" grpId="0" animBg="1"/>
      <p:bldP spid="478281" grpId="0"/>
      <p:bldP spid="478282" grpId="0" animBg="1"/>
      <p:bldP spid="478286" grpId="0" animBg="1"/>
      <p:bldP spid="478288" grpId="0"/>
      <p:bldP spid="478289" grpId="0" animBg="1"/>
      <p:bldP spid="478290" grpId="0" animBg="1"/>
      <p:bldP spid="478294" grpId="0" animBg="1"/>
      <p:bldP spid="478295" grpId="0"/>
      <p:bldP spid="478296" grpId="0" animBg="1"/>
      <p:bldP spid="478297" grpId="0" animBg="1"/>
      <p:bldP spid="478300" grpId="0" animBg="1"/>
      <p:bldP spid="478301" grpId="0"/>
      <p:bldP spid="478302" grpId="0" animBg="1"/>
      <p:bldP spid="478307" grpId="0"/>
      <p:bldP spid="478308" grpId="0" animBg="1"/>
      <p:bldP spid="478312" grpId="0" animBg="1"/>
      <p:bldP spid="478314" grpId="0"/>
      <p:bldP spid="478315" grpId="0" animBg="1"/>
      <p:bldP spid="478316" grpId="0" animBg="1"/>
      <p:bldP spid="478320" grpId="0" animBg="1"/>
      <p:bldP spid="478321" grpId="0"/>
      <p:bldP spid="478322" grpId="0" animBg="1"/>
      <p:bldP spid="478326" grpId="0" animBg="1"/>
      <p:bldP spid="478328" grpId="0"/>
      <p:bldP spid="478352" grpId="0" animBg="1"/>
      <p:bldP spid="478353" grpId="0" animBg="1"/>
      <p:bldP spid="478354" grpId="0" animBg="1"/>
      <p:bldP spid="478355" grpId="0" animBg="1"/>
      <p:bldP spid="478359" grpId="0" animBg="1"/>
      <p:bldP spid="478360" grpId="0"/>
      <p:bldP spid="478361" grpId="0" animBg="1"/>
      <p:bldP spid="478365" grpId="0" animBg="1"/>
      <p:bldP spid="478367" grpId="0"/>
      <p:bldP spid="478368" grpId="0" animBg="1"/>
      <p:bldP spid="478369" grpId="0" animBg="1"/>
      <p:bldP spid="478373" grpId="0" animBg="1"/>
      <p:bldP spid="478374" grpId="0"/>
      <p:bldP spid="478375" grpId="0" animBg="1"/>
      <p:bldP spid="478376" grpId="0" animBg="1"/>
      <p:bldP spid="478379" grpId="0" animBg="1"/>
      <p:bldP spid="478380" grpId="0"/>
      <p:bldP spid="478381" grpId="0" animBg="1"/>
      <p:bldP spid="478386" grpId="0"/>
      <p:bldP spid="478387" grpId="0" animBg="1"/>
      <p:bldP spid="478391" grpId="0" animBg="1"/>
      <p:bldP spid="478393" grpId="0"/>
      <p:bldP spid="478394" grpId="0" animBg="1"/>
      <p:bldP spid="478395" grpId="0" animBg="1"/>
      <p:bldP spid="478399" grpId="0" animBg="1"/>
      <p:bldP spid="478400" grpId="0"/>
      <p:bldP spid="478401" grpId="0" animBg="1"/>
      <p:bldP spid="478405" grpId="0" animBg="1"/>
      <p:bldP spid="478407" grpId="0"/>
      <p:bldP spid="478432" grpId="0"/>
      <p:bldP spid="478433" grpId="0" animBg="1"/>
      <p:bldP spid="478434" grpId="0"/>
      <p:bldP spid="478435" grpId="0"/>
      <p:bldP spid="478436" grpId="0"/>
      <p:bldP spid="478437" grpId="0"/>
      <p:bldP spid="478438" grpId="0"/>
      <p:bldP spid="478445" grpId="0" animBg="1"/>
      <p:bldP spid="47844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FF401FE-8DAF-4FA5-AF57-3A196868004F}" type="slidenum">
              <a:rPr lang="en-US" altLang="de-DE" sz="1000">
                <a:solidFill>
                  <a:srgbClr val="C0C0C0"/>
                </a:solidFill>
              </a:rPr>
              <a:pPr/>
              <a:t>5</a:t>
            </a:fld>
            <a:endParaRPr lang="en-US" altLang="de-DE" sz="1000">
              <a:solidFill>
                <a:srgbClr val="C0C0C0"/>
              </a:solidFill>
            </a:endParaRPr>
          </a:p>
        </p:txBody>
      </p:sp>
      <p:sp>
        <p:nvSpPr>
          <p:cNvPr id="479304" name="Rectangle 72"/>
          <p:cNvSpPr>
            <a:spLocks noChangeArrowheads="1"/>
          </p:cNvSpPr>
          <p:nvPr/>
        </p:nvSpPr>
        <p:spPr bwMode="auto">
          <a:xfrm>
            <a:off x="6413500" y="1504950"/>
            <a:ext cx="714375" cy="411163"/>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34" name="Line 2"/>
          <p:cNvSpPr>
            <a:spLocks noChangeShapeType="1"/>
          </p:cNvSpPr>
          <p:nvPr/>
        </p:nvSpPr>
        <p:spPr bwMode="auto">
          <a:xfrm flipV="1">
            <a:off x="1851025" y="3376613"/>
            <a:ext cx="0" cy="59848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79235" name="Rectangle 3"/>
          <p:cNvSpPr>
            <a:spLocks noChangeArrowheads="1"/>
          </p:cNvSpPr>
          <p:nvPr/>
        </p:nvSpPr>
        <p:spPr bwMode="auto">
          <a:xfrm>
            <a:off x="1522413" y="3932238"/>
            <a:ext cx="993775" cy="41116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36" name="Rectangle 4"/>
          <p:cNvSpPr>
            <a:spLocks noChangeArrowheads="1"/>
          </p:cNvSpPr>
          <p:nvPr/>
        </p:nvSpPr>
        <p:spPr bwMode="auto">
          <a:xfrm>
            <a:off x="1522413" y="1503363"/>
            <a:ext cx="1838325" cy="412750"/>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37" name="Rectangle 5"/>
          <p:cNvSpPr>
            <a:spLocks noChangeArrowheads="1"/>
          </p:cNvSpPr>
          <p:nvPr/>
        </p:nvSpPr>
        <p:spPr bwMode="auto">
          <a:xfrm>
            <a:off x="5148263" y="5380038"/>
            <a:ext cx="922337" cy="412750"/>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38" name="Rectangle 6"/>
          <p:cNvSpPr>
            <a:spLocks noChangeArrowheads="1"/>
          </p:cNvSpPr>
          <p:nvPr/>
        </p:nvSpPr>
        <p:spPr bwMode="auto">
          <a:xfrm>
            <a:off x="5240338" y="1503363"/>
            <a:ext cx="755650" cy="412750"/>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153" name="Rectangle 7"/>
          <p:cNvSpPr>
            <a:spLocks noGrp="1" noChangeArrowheads="1"/>
          </p:cNvSpPr>
          <p:nvPr>
            <p:ph type="title"/>
          </p:nvPr>
        </p:nvSpPr>
        <p:spPr/>
        <p:txBody>
          <a:bodyPr/>
          <a:lstStyle/>
          <a:p>
            <a:r>
              <a:rPr lang="de-DE" altLang="de-DE"/>
              <a:t>2.2	Terminology</a:t>
            </a:r>
          </a:p>
        </p:txBody>
      </p:sp>
      <p:sp>
        <p:nvSpPr>
          <p:cNvPr id="479240" name="AutoShape 8"/>
          <p:cNvSpPr>
            <a:spLocks noChangeAspect="1" noChangeArrowheads="1"/>
          </p:cNvSpPr>
          <p:nvPr/>
        </p:nvSpPr>
        <p:spPr bwMode="auto">
          <a:xfrm>
            <a:off x="854075" y="2647950"/>
            <a:ext cx="342900" cy="342900"/>
          </a:xfrm>
          <a:prstGeom prst="flowChartDelay">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41" name="AutoShape 9"/>
          <p:cNvSpPr>
            <a:spLocks noChangeAspect="1" noChangeArrowheads="1"/>
          </p:cNvSpPr>
          <p:nvPr/>
        </p:nvSpPr>
        <p:spPr bwMode="auto">
          <a:xfrm>
            <a:off x="854075" y="3333750"/>
            <a:ext cx="342900" cy="342900"/>
          </a:xfrm>
          <a:prstGeom prst="flowChartDelay">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42" name="AutoShape 10"/>
          <p:cNvSpPr>
            <a:spLocks noChangeAspect="1" noChangeArrowheads="1"/>
          </p:cNvSpPr>
          <p:nvPr/>
        </p:nvSpPr>
        <p:spPr bwMode="auto">
          <a:xfrm>
            <a:off x="1714500" y="2990850"/>
            <a:ext cx="331788" cy="342900"/>
          </a:xfrm>
          <a:prstGeom prst="flowChartDelay">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43" name="AutoShape 11"/>
          <p:cNvSpPr>
            <a:spLocks noChangeAspect="1" noChangeArrowheads="1"/>
          </p:cNvSpPr>
          <p:nvPr/>
        </p:nvSpPr>
        <p:spPr bwMode="auto">
          <a:xfrm flipV="1">
            <a:off x="2170113" y="2351088"/>
            <a:ext cx="342900" cy="342900"/>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44" name="AutoShape 12"/>
          <p:cNvSpPr>
            <a:spLocks noChangeAspect="1" noChangeArrowheads="1"/>
          </p:cNvSpPr>
          <p:nvPr/>
        </p:nvSpPr>
        <p:spPr bwMode="auto">
          <a:xfrm rot="5400000">
            <a:off x="3017838" y="2879725"/>
            <a:ext cx="342900" cy="342900"/>
          </a:xfrm>
          <a:prstGeom prst="triangle">
            <a:avLst>
              <a:gd name="adj" fmla="val 50000"/>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45" name="Line 13"/>
          <p:cNvSpPr>
            <a:spLocks noChangeAspect="1" noChangeShapeType="1"/>
          </p:cNvSpPr>
          <p:nvPr/>
        </p:nvSpPr>
        <p:spPr bwMode="auto">
          <a:xfrm flipV="1">
            <a:off x="668338" y="2717800"/>
            <a:ext cx="211137"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46" name="Line 14"/>
          <p:cNvSpPr>
            <a:spLocks noChangeAspect="1" noChangeShapeType="1"/>
          </p:cNvSpPr>
          <p:nvPr/>
        </p:nvSpPr>
        <p:spPr bwMode="auto">
          <a:xfrm>
            <a:off x="668338" y="2921000"/>
            <a:ext cx="1857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47" name="Line 15"/>
          <p:cNvSpPr>
            <a:spLocks noChangeAspect="1" noChangeShapeType="1"/>
          </p:cNvSpPr>
          <p:nvPr/>
        </p:nvSpPr>
        <p:spPr bwMode="auto">
          <a:xfrm>
            <a:off x="668338" y="3402013"/>
            <a:ext cx="1857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48" name="Oval 16"/>
          <p:cNvSpPr>
            <a:spLocks noChangeAspect="1" noChangeArrowheads="1"/>
          </p:cNvSpPr>
          <p:nvPr/>
        </p:nvSpPr>
        <p:spPr bwMode="auto">
          <a:xfrm>
            <a:off x="1196975" y="2782888"/>
            <a:ext cx="68263" cy="6826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49" name="Oval 17"/>
          <p:cNvSpPr>
            <a:spLocks noChangeAspect="1" noChangeArrowheads="1"/>
          </p:cNvSpPr>
          <p:nvPr/>
        </p:nvSpPr>
        <p:spPr bwMode="auto">
          <a:xfrm>
            <a:off x="1196975" y="3470275"/>
            <a:ext cx="68263" cy="68263"/>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50" name="Line 18"/>
          <p:cNvSpPr>
            <a:spLocks noChangeAspect="1" noChangeShapeType="1"/>
          </p:cNvSpPr>
          <p:nvPr/>
        </p:nvSpPr>
        <p:spPr bwMode="auto">
          <a:xfrm>
            <a:off x="1265238" y="2824163"/>
            <a:ext cx="2301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1" name="Line 19"/>
          <p:cNvSpPr>
            <a:spLocks noChangeAspect="1" noChangeShapeType="1"/>
          </p:cNvSpPr>
          <p:nvPr/>
        </p:nvSpPr>
        <p:spPr bwMode="auto">
          <a:xfrm>
            <a:off x="1265238" y="3497263"/>
            <a:ext cx="2301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2" name="AutoShape 20"/>
          <p:cNvSpPr>
            <a:spLocks noChangeAspect="1" noChangeArrowheads="1"/>
          </p:cNvSpPr>
          <p:nvPr/>
        </p:nvSpPr>
        <p:spPr bwMode="auto">
          <a:xfrm rot="10800000">
            <a:off x="2516188" y="2876550"/>
            <a:ext cx="374650" cy="342900"/>
          </a:xfrm>
          <a:prstGeom prst="moon">
            <a:avLst>
              <a:gd name="adj" fmla="val 75588"/>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53" name="Line 21"/>
          <p:cNvSpPr>
            <a:spLocks noChangeAspect="1" noChangeShapeType="1"/>
          </p:cNvSpPr>
          <p:nvPr/>
        </p:nvSpPr>
        <p:spPr bwMode="auto">
          <a:xfrm flipH="1">
            <a:off x="1495425" y="3059113"/>
            <a:ext cx="2270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4" name="Line 22"/>
          <p:cNvSpPr>
            <a:spLocks noChangeAspect="1" noChangeShapeType="1"/>
          </p:cNvSpPr>
          <p:nvPr/>
        </p:nvSpPr>
        <p:spPr bwMode="auto">
          <a:xfrm flipH="1">
            <a:off x="1495425" y="3263900"/>
            <a:ext cx="2270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5" name="Line 23"/>
          <p:cNvSpPr>
            <a:spLocks noChangeAspect="1" noChangeShapeType="1"/>
          </p:cNvSpPr>
          <p:nvPr/>
        </p:nvSpPr>
        <p:spPr bwMode="auto">
          <a:xfrm flipV="1">
            <a:off x="1495425" y="3263900"/>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6" name="Line 24"/>
          <p:cNvSpPr>
            <a:spLocks noChangeAspect="1" noChangeShapeType="1"/>
          </p:cNvSpPr>
          <p:nvPr/>
        </p:nvSpPr>
        <p:spPr bwMode="auto">
          <a:xfrm>
            <a:off x="1495425" y="2828925"/>
            <a:ext cx="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7" name="Line 25"/>
          <p:cNvSpPr>
            <a:spLocks noChangeAspect="1" noChangeShapeType="1"/>
          </p:cNvSpPr>
          <p:nvPr/>
        </p:nvSpPr>
        <p:spPr bwMode="auto">
          <a:xfrm>
            <a:off x="2108200" y="3155950"/>
            <a:ext cx="4556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8" name="Line 26"/>
          <p:cNvSpPr>
            <a:spLocks noChangeAspect="1" noChangeShapeType="1"/>
          </p:cNvSpPr>
          <p:nvPr/>
        </p:nvSpPr>
        <p:spPr bwMode="auto">
          <a:xfrm>
            <a:off x="2894013" y="3038475"/>
            <a:ext cx="1238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59" name="Oval 27"/>
          <p:cNvSpPr>
            <a:spLocks noChangeAspect="1" noChangeArrowheads="1"/>
          </p:cNvSpPr>
          <p:nvPr/>
        </p:nvSpPr>
        <p:spPr bwMode="auto">
          <a:xfrm>
            <a:off x="3360738" y="3017838"/>
            <a:ext cx="68262" cy="6826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60" name="Line 28"/>
          <p:cNvSpPr>
            <a:spLocks noChangeAspect="1" noChangeShapeType="1"/>
          </p:cNvSpPr>
          <p:nvPr/>
        </p:nvSpPr>
        <p:spPr bwMode="auto">
          <a:xfrm>
            <a:off x="3429000" y="3048000"/>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61" name="Line 29"/>
          <p:cNvSpPr>
            <a:spLocks noChangeAspect="1" noChangeShapeType="1"/>
          </p:cNvSpPr>
          <p:nvPr/>
        </p:nvSpPr>
        <p:spPr bwMode="auto">
          <a:xfrm flipH="1" flipV="1">
            <a:off x="2346325" y="2960688"/>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62" name="Line 30"/>
          <p:cNvSpPr>
            <a:spLocks noChangeAspect="1" noChangeShapeType="1"/>
          </p:cNvSpPr>
          <p:nvPr/>
        </p:nvSpPr>
        <p:spPr bwMode="auto">
          <a:xfrm flipV="1">
            <a:off x="2343150" y="2133600"/>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63" name="Oval 31"/>
          <p:cNvSpPr>
            <a:spLocks noChangeAspect="1" noChangeArrowheads="1"/>
          </p:cNvSpPr>
          <p:nvPr/>
        </p:nvSpPr>
        <p:spPr bwMode="auto">
          <a:xfrm flipV="1">
            <a:off x="2306638" y="2693988"/>
            <a:ext cx="68262" cy="6985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64" name="Line 32"/>
          <p:cNvSpPr>
            <a:spLocks noChangeAspect="1" noChangeShapeType="1"/>
          </p:cNvSpPr>
          <p:nvPr/>
        </p:nvSpPr>
        <p:spPr bwMode="auto">
          <a:xfrm flipH="1" flipV="1">
            <a:off x="2343150" y="2762250"/>
            <a:ext cx="1588" cy="190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65" name="Text Box 33"/>
          <p:cNvSpPr txBox="1">
            <a:spLocks noChangeAspect="1" noChangeArrowheads="1"/>
          </p:cNvSpPr>
          <p:nvPr/>
        </p:nvSpPr>
        <p:spPr bwMode="auto">
          <a:xfrm>
            <a:off x="2617788" y="2936875"/>
            <a:ext cx="252412"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170" tIns="11434" rIns="19057" bIns="1143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spcBef>
                <a:spcPct val="50000"/>
              </a:spcBef>
            </a:pPr>
            <a:r>
              <a:rPr lang="de-DE" altLang="de-DE" sz="1500"/>
              <a:t>5</a:t>
            </a:r>
          </a:p>
        </p:txBody>
      </p:sp>
      <p:sp>
        <p:nvSpPr>
          <p:cNvPr id="479266" name="Text Box 34"/>
          <p:cNvSpPr txBox="1">
            <a:spLocks noChangeAspect="1" noChangeArrowheads="1"/>
          </p:cNvSpPr>
          <p:nvPr/>
        </p:nvSpPr>
        <p:spPr bwMode="auto">
          <a:xfrm>
            <a:off x="3022600" y="2921000"/>
            <a:ext cx="252413"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170" tIns="11434" rIns="19057" bIns="1143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spcBef>
                <a:spcPct val="50000"/>
              </a:spcBef>
            </a:pPr>
            <a:r>
              <a:rPr lang="de-DE" altLang="de-DE" sz="1500"/>
              <a:t>6</a:t>
            </a:r>
          </a:p>
        </p:txBody>
      </p:sp>
      <p:sp>
        <p:nvSpPr>
          <p:cNvPr id="479267" name="Text Box 35"/>
          <p:cNvSpPr txBox="1">
            <a:spLocks noChangeAspect="1" noChangeArrowheads="1"/>
          </p:cNvSpPr>
          <p:nvPr/>
        </p:nvSpPr>
        <p:spPr bwMode="auto">
          <a:xfrm>
            <a:off x="2241550" y="2346325"/>
            <a:ext cx="228600"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170" tIns="11434" rIns="19057" bIns="1143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spcBef>
                <a:spcPct val="50000"/>
              </a:spcBef>
            </a:pPr>
            <a:r>
              <a:rPr lang="de-DE" altLang="de-DE" sz="1500"/>
              <a:t>4</a:t>
            </a:r>
          </a:p>
        </p:txBody>
      </p:sp>
      <p:sp>
        <p:nvSpPr>
          <p:cNvPr id="479268" name="Text Box 36"/>
          <p:cNvSpPr txBox="1">
            <a:spLocks noChangeAspect="1" noChangeArrowheads="1"/>
          </p:cNvSpPr>
          <p:nvPr/>
        </p:nvSpPr>
        <p:spPr bwMode="auto">
          <a:xfrm>
            <a:off x="887413" y="3395663"/>
            <a:ext cx="227012"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170" tIns="11434" rIns="19057" bIns="1143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spcBef>
                <a:spcPct val="50000"/>
              </a:spcBef>
            </a:pPr>
            <a:r>
              <a:rPr lang="de-DE" altLang="de-DE" sz="1500"/>
              <a:t>2</a:t>
            </a:r>
          </a:p>
        </p:txBody>
      </p:sp>
      <p:sp>
        <p:nvSpPr>
          <p:cNvPr id="479269" name="Text Box 37"/>
          <p:cNvSpPr txBox="1">
            <a:spLocks noChangeAspect="1" noChangeArrowheads="1"/>
          </p:cNvSpPr>
          <p:nvPr/>
        </p:nvSpPr>
        <p:spPr bwMode="auto">
          <a:xfrm>
            <a:off x="882650" y="2697163"/>
            <a:ext cx="228600"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170" tIns="11434" rIns="19057" bIns="1143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spcBef>
                <a:spcPct val="50000"/>
              </a:spcBef>
            </a:pPr>
            <a:r>
              <a:rPr lang="de-DE" altLang="de-DE" sz="1500"/>
              <a:t>1</a:t>
            </a:r>
          </a:p>
        </p:txBody>
      </p:sp>
      <p:sp>
        <p:nvSpPr>
          <p:cNvPr id="479270" name="Text Box 38"/>
          <p:cNvSpPr txBox="1">
            <a:spLocks noChangeAspect="1" noChangeArrowheads="1"/>
          </p:cNvSpPr>
          <p:nvPr/>
        </p:nvSpPr>
        <p:spPr bwMode="auto">
          <a:xfrm>
            <a:off x="1747838" y="3041650"/>
            <a:ext cx="228600"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57170" tIns="11434" rIns="19057" bIns="1143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spcBef>
                <a:spcPct val="50000"/>
              </a:spcBef>
            </a:pPr>
            <a:r>
              <a:rPr lang="de-DE" altLang="de-DE" sz="1500"/>
              <a:t>3</a:t>
            </a:r>
          </a:p>
        </p:txBody>
      </p:sp>
      <p:sp>
        <p:nvSpPr>
          <p:cNvPr id="479271" name="Oval 39"/>
          <p:cNvSpPr>
            <a:spLocks noChangeAspect="1" noChangeArrowheads="1"/>
          </p:cNvSpPr>
          <p:nvPr/>
        </p:nvSpPr>
        <p:spPr bwMode="auto">
          <a:xfrm>
            <a:off x="2052638" y="3122613"/>
            <a:ext cx="68262" cy="68262"/>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54000" tIns="10800" rIns="18000" bIns="10800"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72" name="AutoShape 40"/>
          <p:cNvSpPr>
            <a:spLocks noChangeAspect="1" noChangeArrowheads="1"/>
          </p:cNvSpPr>
          <p:nvPr/>
        </p:nvSpPr>
        <p:spPr bwMode="auto">
          <a:xfrm>
            <a:off x="5067300" y="2205038"/>
            <a:ext cx="1946275" cy="1260475"/>
          </a:xfrm>
          <a:prstGeom prst="roundRect">
            <a:avLst>
              <a:gd name="adj" fmla="val 16667"/>
            </a:avLst>
          </a:prstGeom>
          <a:noFill/>
          <a:ln w="19050">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73" name="Line 41"/>
          <p:cNvSpPr>
            <a:spLocks noChangeAspect="1" noChangeShapeType="1"/>
          </p:cNvSpPr>
          <p:nvPr/>
        </p:nvSpPr>
        <p:spPr bwMode="auto">
          <a:xfrm>
            <a:off x="4776788" y="2849563"/>
            <a:ext cx="612775" cy="192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9274" name="Line 42"/>
          <p:cNvSpPr>
            <a:spLocks noChangeAspect="1" noChangeShapeType="1"/>
          </p:cNvSpPr>
          <p:nvPr/>
        </p:nvSpPr>
        <p:spPr bwMode="auto">
          <a:xfrm>
            <a:off x="6567488" y="2589213"/>
            <a:ext cx="0" cy="344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9275" name="Line 43"/>
          <p:cNvSpPr>
            <a:spLocks noChangeAspect="1" noChangeShapeType="1"/>
          </p:cNvSpPr>
          <p:nvPr/>
        </p:nvSpPr>
        <p:spPr bwMode="auto">
          <a:xfrm>
            <a:off x="5510213" y="3067050"/>
            <a:ext cx="9159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9276" name="Line 44"/>
          <p:cNvSpPr>
            <a:spLocks noChangeAspect="1" noChangeShapeType="1"/>
          </p:cNvSpPr>
          <p:nvPr/>
        </p:nvSpPr>
        <p:spPr bwMode="auto">
          <a:xfrm>
            <a:off x="6654800" y="3067050"/>
            <a:ext cx="6873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9277" name="Oval 45"/>
          <p:cNvSpPr>
            <a:spLocks noChangeAspect="1" noChangeArrowheads="1"/>
          </p:cNvSpPr>
          <p:nvPr/>
        </p:nvSpPr>
        <p:spPr bwMode="auto">
          <a:xfrm>
            <a:off x="6384925" y="2319338"/>
            <a:ext cx="342900" cy="344487"/>
          </a:xfrm>
          <a:prstGeom prst="ellipse">
            <a:avLst/>
          </a:prstGeom>
          <a:solidFill>
            <a:srgbClr val="5F5F5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78" name="Oval 46"/>
          <p:cNvSpPr>
            <a:spLocks noChangeAspect="1" noChangeArrowheads="1"/>
          </p:cNvSpPr>
          <p:nvPr/>
        </p:nvSpPr>
        <p:spPr bwMode="auto">
          <a:xfrm>
            <a:off x="7313613" y="2917825"/>
            <a:ext cx="342900" cy="342900"/>
          </a:xfrm>
          <a:prstGeom prst="ellipse">
            <a:avLst/>
          </a:prstGeom>
          <a:solidFill>
            <a:srgbClr val="EAEAE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79" name="Oval 47"/>
          <p:cNvSpPr>
            <a:spLocks noChangeAspect="1" noChangeArrowheads="1"/>
          </p:cNvSpPr>
          <p:nvPr/>
        </p:nvSpPr>
        <p:spPr bwMode="auto">
          <a:xfrm>
            <a:off x="6400800" y="2903538"/>
            <a:ext cx="342900" cy="342900"/>
          </a:xfrm>
          <a:prstGeom prst="ellipse">
            <a:avLst/>
          </a:prstGeom>
          <a:solidFill>
            <a:srgbClr val="5F5F5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80" name="Oval 48"/>
          <p:cNvSpPr>
            <a:spLocks noChangeAspect="1" noChangeArrowheads="1"/>
          </p:cNvSpPr>
          <p:nvPr/>
        </p:nvSpPr>
        <p:spPr bwMode="auto">
          <a:xfrm>
            <a:off x="5359400" y="2903538"/>
            <a:ext cx="342900" cy="342900"/>
          </a:xfrm>
          <a:prstGeom prst="ellipse">
            <a:avLst/>
          </a:prstGeom>
          <a:solidFill>
            <a:srgbClr val="5F5F5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81" name="Line 49"/>
          <p:cNvSpPr>
            <a:spLocks noChangeAspect="1" noChangeShapeType="1"/>
          </p:cNvSpPr>
          <p:nvPr/>
        </p:nvSpPr>
        <p:spPr bwMode="auto">
          <a:xfrm flipV="1">
            <a:off x="4768850" y="3155950"/>
            <a:ext cx="620713" cy="3143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9282" name="Oval 50"/>
          <p:cNvSpPr>
            <a:spLocks noChangeAspect="1" noChangeArrowheads="1"/>
          </p:cNvSpPr>
          <p:nvPr/>
        </p:nvSpPr>
        <p:spPr bwMode="auto">
          <a:xfrm>
            <a:off x="4495800" y="3314700"/>
            <a:ext cx="342900" cy="342900"/>
          </a:xfrm>
          <a:prstGeom prst="ellipse">
            <a:avLst/>
          </a:prstGeom>
          <a:solidFill>
            <a:srgbClr val="EAEAE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83" name="Rectangle 51"/>
          <p:cNvSpPr>
            <a:spLocks noChangeAspect="1" noChangeArrowheads="1"/>
          </p:cNvSpPr>
          <p:nvPr/>
        </p:nvSpPr>
        <p:spPr bwMode="auto">
          <a:xfrm>
            <a:off x="5387975" y="2927350"/>
            <a:ext cx="276225"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479284" name="Rectangle 52"/>
          <p:cNvSpPr>
            <a:spLocks noChangeAspect="1" noChangeArrowheads="1"/>
          </p:cNvSpPr>
          <p:nvPr/>
        </p:nvSpPr>
        <p:spPr bwMode="auto">
          <a:xfrm>
            <a:off x="4525963" y="3340100"/>
            <a:ext cx="276225" cy="276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479285" name="Rectangle 53"/>
          <p:cNvSpPr>
            <a:spLocks noChangeAspect="1" noChangeArrowheads="1"/>
          </p:cNvSpPr>
          <p:nvPr/>
        </p:nvSpPr>
        <p:spPr bwMode="auto">
          <a:xfrm>
            <a:off x="6418263" y="2354263"/>
            <a:ext cx="273050" cy="2746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479286" name="Rectangle 54"/>
          <p:cNvSpPr>
            <a:spLocks noChangeAspect="1" noChangeArrowheads="1"/>
          </p:cNvSpPr>
          <p:nvPr/>
        </p:nvSpPr>
        <p:spPr bwMode="auto">
          <a:xfrm>
            <a:off x="6418263" y="2927350"/>
            <a:ext cx="273050"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479287" name="Rectangle 55"/>
          <p:cNvSpPr>
            <a:spLocks noChangeAspect="1" noChangeArrowheads="1"/>
          </p:cNvSpPr>
          <p:nvPr/>
        </p:nvSpPr>
        <p:spPr bwMode="auto">
          <a:xfrm>
            <a:off x="7334250" y="2927350"/>
            <a:ext cx="274638" cy="2746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479288" name="Oval 56"/>
          <p:cNvSpPr>
            <a:spLocks noChangeAspect="1" noChangeArrowheads="1"/>
          </p:cNvSpPr>
          <p:nvPr/>
        </p:nvSpPr>
        <p:spPr bwMode="auto">
          <a:xfrm>
            <a:off x="4510088" y="2659063"/>
            <a:ext cx="342900" cy="342900"/>
          </a:xfrm>
          <a:prstGeom prst="ellipse">
            <a:avLst/>
          </a:prstGeom>
          <a:solidFill>
            <a:srgbClr val="EAEAEA"/>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289" name="Rectangle 57"/>
          <p:cNvSpPr>
            <a:spLocks noChangeAspect="1" noChangeArrowheads="1"/>
          </p:cNvSpPr>
          <p:nvPr/>
        </p:nvSpPr>
        <p:spPr bwMode="auto">
          <a:xfrm>
            <a:off x="4540250" y="2697163"/>
            <a:ext cx="274638" cy="276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479290" name="Text Box 58"/>
          <p:cNvSpPr txBox="1">
            <a:spLocks noChangeArrowheads="1"/>
          </p:cNvSpPr>
          <p:nvPr/>
        </p:nvSpPr>
        <p:spPr bwMode="auto">
          <a:xfrm>
            <a:off x="4932363" y="4343400"/>
            <a:ext cx="2659062"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a:t>Graph </a:t>
            </a:r>
            <a:r>
              <a:rPr lang="de-DE" altLang="de-DE" i="1"/>
              <a:t>G</a:t>
            </a:r>
            <a:r>
              <a:rPr lang="de-DE" altLang="de-DE" baseline="-25000"/>
              <a:t>2</a:t>
            </a:r>
            <a:r>
              <a:rPr lang="de-DE" altLang="de-DE"/>
              <a:t>: Nodes 1, 2, 6.</a:t>
            </a:r>
            <a:endParaRPr lang="en-US" altLang="zh-CN">
              <a:ea typeface="宋体" panose="02010600030101010101" pitchFamily="2" charset="-122"/>
            </a:endParaRPr>
          </a:p>
        </p:txBody>
      </p:sp>
      <p:sp>
        <p:nvSpPr>
          <p:cNvPr id="479291" name="Line 59"/>
          <p:cNvSpPr>
            <a:spLocks noChangeShapeType="1"/>
          </p:cNvSpPr>
          <p:nvPr/>
        </p:nvSpPr>
        <p:spPr bwMode="auto">
          <a:xfrm flipH="1" flipV="1">
            <a:off x="4852988" y="3657600"/>
            <a:ext cx="506412"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79292" name="Line 60"/>
          <p:cNvSpPr>
            <a:spLocks noChangeShapeType="1"/>
          </p:cNvSpPr>
          <p:nvPr/>
        </p:nvSpPr>
        <p:spPr bwMode="auto">
          <a:xfrm flipH="1" flipV="1">
            <a:off x="4838700" y="3067050"/>
            <a:ext cx="709613" cy="12763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79293" name="Line 61"/>
          <p:cNvSpPr>
            <a:spLocks noChangeShapeType="1"/>
          </p:cNvSpPr>
          <p:nvPr/>
        </p:nvSpPr>
        <p:spPr bwMode="auto">
          <a:xfrm flipV="1">
            <a:off x="5702300" y="3340100"/>
            <a:ext cx="1611313" cy="10033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79294" name="Text Box 62"/>
          <p:cNvSpPr txBox="1">
            <a:spLocks noChangeArrowheads="1"/>
          </p:cNvSpPr>
          <p:nvPr/>
        </p:nvSpPr>
        <p:spPr bwMode="auto">
          <a:xfrm>
            <a:off x="5116513" y="1522413"/>
            <a:ext cx="2840037" cy="411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a:t>Graph  </a:t>
            </a:r>
            <a:r>
              <a:rPr lang="de-DE" altLang="de-DE" i="1"/>
              <a:t>G</a:t>
            </a:r>
            <a:r>
              <a:rPr lang="de-DE" altLang="de-DE" baseline="-25000"/>
              <a:t>1</a:t>
            </a:r>
            <a:r>
              <a:rPr lang="de-DE" altLang="de-DE"/>
              <a:t>:  Nodes  3, 4, 5.</a:t>
            </a:r>
            <a:endParaRPr lang="en-US" altLang="zh-CN">
              <a:ea typeface="宋体" panose="02010600030101010101" pitchFamily="2" charset="-122"/>
            </a:endParaRPr>
          </a:p>
        </p:txBody>
      </p:sp>
      <p:sp>
        <p:nvSpPr>
          <p:cNvPr id="479295" name="Line 63"/>
          <p:cNvSpPr>
            <a:spLocks noChangeAspect="1" noChangeShapeType="1"/>
          </p:cNvSpPr>
          <p:nvPr/>
        </p:nvSpPr>
        <p:spPr bwMode="auto">
          <a:xfrm>
            <a:off x="668338" y="3581400"/>
            <a:ext cx="17621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54000" tIns="10800" rIns="18000" bIns="10800"/>
          <a:lstStyle/>
          <a:p>
            <a:endParaRPr lang="de-DE"/>
          </a:p>
        </p:txBody>
      </p:sp>
      <p:sp>
        <p:nvSpPr>
          <p:cNvPr id="479296" name="Line 64"/>
          <p:cNvSpPr>
            <a:spLocks noChangeShapeType="1"/>
          </p:cNvSpPr>
          <p:nvPr/>
        </p:nvSpPr>
        <p:spPr bwMode="auto">
          <a:xfrm flipH="1">
            <a:off x="5694363" y="1949450"/>
            <a:ext cx="0" cy="1952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479297" name="Text Box 65"/>
          <p:cNvSpPr txBox="1">
            <a:spLocks noChangeArrowheads="1"/>
          </p:cNvSpPr>
          <p:nvPr/>
        </p:nvSpPr>
        <p:spPr bwMode="auto">
          <a:xfrm>
            <a:off x="4922838" y="4979988"/>
            <a:ext cx="2963862" cy="785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ts val="2650"/>
              </a:lnSpc>
            </a:pPr>
            <a:r>
              <a:rPr lang="de-DE" altLang="de-DE"/>
              <a:t>Collection of cut edges </a:t>
            </a:r>
            <a:br>
              <a:rPr lang="de-DE" altLang="de-DE"/>
            </a:br>
            <a:r>
              <a:rPr lang="de-DE" altLang="de-DE"/>
              <a:t>  Cut set:   (1,3), (2,3), (5,6),</a:t>
            </a:r>
          </a:p>
        </p:txBody>
      </p:sp>
      <p:sp>
        <p:nvSpPr>
          <p:cNvPr id="479299" name="AutoShape 67"/>
          <p:cNvSpPr>
            <a:spLocks noChangeAspect="1" noChangeArrowheads="1"/>
          </p:cNvSpPr>
          <p:nvPr/>
        </p:nvSpPr>
        <p:spPr bwMode="auto">
          <a:xfrm>
            <a:off x="1568450" y="2009775"/>
            <a:ext cx="1371600" cy="1666875"/>
          </a:xfrm>
          <a:prstGeom prst="roundRect">
            <a:avLst>
              <a:gd name="adj" fmla="val 16667"/>
            </a:avLst>
          </a:prstGeom>
          <a:noFill/>
          <a:ln w="19050">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9300" name="Text Box 68"/>
          <p:cNvSpPr txBox="1">
            <a:spLocks noChangeArrowheads="1"/>
          </p:cNvSpPr>
          <p:nvPr/>
        </p:nvSpPr>
        <p:spPr bwMode="auto">
          <a:xfrm>
            <a:off x="1522413" y="1522413"/>
            <a:ext cx="1798637" cy="41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a:t>Block (Partition)</a:t>
            </a:r>
            <a:endParaRPr lang="en-US" altLang="zh-CN">
              <a:ea typeface="宋体" panose="02010600030101010101" pitchFamily="2" charset="-122"/>
            </a:endParaRPr>
          </a:p>
        </p:txBody>
      </p:sp>
      <p:sp>
        <p:nvSpPr>
          <p:cNvPr id="479301" name="Text Box 69"/>
          <p:cNvSpPr txBox="1">
            <a:spLocks noChangeArrowheads="1"/>
          </p:cNvSpPr>
          <p:nvPr/>
        </p:nvSpPr>
        <p:spPr bwMode="auto">
          <a:xfrm>
            <a:off x="1522413" y="3932238"/>
            <a:ext cx="760412"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a:t>Cells</a:t>
            </a:r>
            <a:endParaRPr lang="en-US" altLang="zh-CN">
              <a:ea typeface="宋体" panose="02010600030101010101" pitchFamily="2" charset="-122"/>
            </a:endParaRPr>
          </a:p>
        </p:txBody>
      </p:sp>
      <p:sp>
        <p:nvSpPr>
          <p:cNvPr id="479302" name="Line 70"/>
          <p:cNvSpPr>
            <a:spLocks noChangeShapeType="1"/>
          </p:cNvSpPr>
          <p:nvPr/>
        </p:nvSpPr>
        <p:spPr bwMode="auto">
          <a:xfrm flipV="1">
            <a:off x="2386013" y="3314700"/>
            <a:ext cx="231775" cy="61753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79303" name="Line 71"/>
          <p:cNvSpPr>
            <a:spLocks noChangeShapeType="1"/>
          </p:cNvSpPr>
          <p:nvPr/>
        </p:nvSpPr>
        <p:spPr bwMode="auto">
          <a:xfrm flipH="1" flipV="1">
            <a:off x="1265238" y="3676650"/>
            <a:ext cx="303212" cy="2555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79305" name="AutoShape 73"/>
          <p:cNvSpPr>
            <a:spLocks noChangeArrowheads="1"/>
          </p:cNvSpPr>
          <p:nvPr/>
        </p:nvSpPr>
        <p:spPr bwMode="auto">
          <a:xfrm>
            <a:off x="3851275" y="2774950"/>
            <a:ext cx="390525" cy="563563"/>
          </a:xfrm>
          <a:prstGeom prst="leftRightArrow">
            <a:avLst>
              <a:gd name="adj1" fmla="val 50000"/>
              <a:gd name="adj2" fmla="val 20000"/>
            </a:avLst>
          </a:prstGeom>
          <a:gradFill rotWithShape="1">
            <a:gsLst>
              <a:gs pos="0">
                <a:schemeClr val="tx1"/>
              </a:gs>
              <a:gs pos="50000">
                <a:srgbClr val="DDDDDD"/>
              </a:gs>
              <a:gs pos="100000">
                <a:schemeClr val="tx1"/>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p>
            <a:pPr>
              <a:defRPr/>
            </a:pPr>
            <a:endParaRPr lang="en-US">
              <a:latin typeface="Arial"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9240"/>
                                        </p:tgtEl>
                                        <p:attrNameLst>
                                          <p:attrName>style.visibility</p:attrName>
                                        </p:attrNameLst>
                                      </p:cBhvr>
                                      <p:to>
                                        <p:strVal val="visible"/>
                                      </p:to>
                                    </p:set>
                                    <p:animEffect transition="in" filter="dissolve">
                                      <p:cBhvr>
                                        <p:cTn id="7" dur="500"/>
                                        <p:tgtEl>
                                          <p:spTgt spid="47924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79241"/>
                                        </p:tgtEl>
                                        <p:attrNameLst>
                                          <p:attrName>style.visibility</p:attrName>
                                        </p:attrNameLst>
                                      </p:cBhvr>
                                      <p:to>
                                        <p:strVal val="visible"/>
                                      </p:to>
                                    </p:set>
                                    <p:animEffect transition="in" filter="dissolve">
                                      <p:cBhvr>
                                        <p:cTn id="10" dur="500"/>
                                        <p:tgtEl>
                                          <p:spTgt spid="479241"/>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79242"/>
                                        </p:tgtEl>
                                        <p:attrNameLst>
                                          <p:attrName>style.visibility</p:attrName>
                                        </p:attrNameLst>
                                      </p:cBhvr>
                                      <p:to>
                                        <p:strVal val="visible"/>
                                      </p:to>
                                    </p:set>
                                    <p:animEffect transition="in" filter="dissolve">
                                      <p:cBhvr>
                                        <p:cTn id="13" dur="500"/>
                                        <p:tgtEl>
                                          <p:spTgt spid="479242"/>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479243"/>
                                        </p:tgtEl>
                                        <p:attrNameLst>
                                          <p:attrName>style.visibility</p:attrName>
                                        </p:attrNameLst>
                                      </p:cBhvr>
                                      <p:to>
                                        <p:strVal val="visible"/>
                                      </p:to>
                                    </p:set>
                                    <p:animEffect transition="in" filter="dissolve">
                                      <p:cBhvr>
                                        <p:cTn id="16" dur="500"/>
                                        <p:tgtEl>
                                          <p:spTgt spid="479243"/>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479244"/>
                                        </p:tgtEl>
                                        <p:attrNameLst>
                                          <p:attrName>style.visibility</p:attrName>
                                        </p:attrNameLst>
                                      </p:cBhvr>
                                      <p:to>
                                        <p:strVal val="visible"/>
                                      </p:to>
                                    </p:set>
                                    <p:animEffect transition="in" filter="dissolve">
                                      <p:cBhvr>
                                        <p:cTn id="19" dur="500"/>
                                        <p:tgtEl>
                                          <p:spTgt spid="479244"/>
                                        </p:tgtEl>
                                      </p:cBhvr>
                                    </p:animEffect>
                                  </p:childTnLst>
                                </p:cTn>
                              </p:par>
                              <p:par>
                                <p:cTn id="20" presetID="9" presetClass="entr" presetSubtype="0" fill="hold" nodeType="withEffect">
                                  <p:stCondLst>
                                    <p:cond delay="0"/>
                                  </p:stCondLst>
                                  <p:childTnLst>
                                    <p:set>
                                      <p:cBhvr>
                                        <p:cTn id="21" dur="1" fill="hold">
                                          <p:stCondLst>
                                            <p:cond delay="0"/>
                                          </p:stCondLst>
                                        </p:cTn>
                                        <p:tgtEl>
                                          <p:spTgt spid="479245"/>
                                        </p:tgtEl>
                                        <p:attrNameLst>
                                          <p:attrName>style.visibility</p:attrName>
                                        </p:attrNameLst>
                                      </p:cBhvr>
                                      <p:to>
                                        <p:strVal val="visible"/>
                                      </p:to>
                                    </p:set>
                                    <p:animEffect transition="in" filter="dissolve">
                                      <p:cBhvr>
                                        <p:cTn id="22" dur="500"/>
                                        <p:tgtEl>
                                          <p:spTgt spid="479245"/>
                                        </p:tgtEl>
                                      </p:cBhvr>
                                    </p:animEffect>
                                  </p:childTnLst>
                                </p:cTn>
                              </p:par>
                              <p:par>
                                <p:cTn id="23" presetID="9" presetClass="entr" presetSubtype="0" fill="hold" nodeType="withEffect">
                                  <p:stCondLst>
                                    <p:cond delay="0"/>
                                  </p:stCondLst>
                                  <p:childTnLst>
                                    <p:set>
                                      <p:cBhvr>
                                        <p:cTn id="24" dur="1" fill="hold">
                                          <p:stCondLst>
                                            <p:cond delay="0"/>
                                          </p:stCondLst>
                                        </p:cTn>
                                        <p:tgtEl>
                                          <p:spTgt spid="479246"/>
                                        </p:tgtEl>
                                        <p:attrNameLst>
                                          <p:attrName>style.visibility</p:attrName>
                                        </p:attrNameLst>
                                      </p:cBhvr>
                                      <p:to>
                                        <p:strVal val="visible"/>
                                      </p:to>
                                    </p:set>
                                    <p:animEffect transition="in" filter="dissolve">
                                      <p:cBhvr>
                                        <p:cTn id="25" dur="500"/>
                                        <p:tgtEl>
                                          <p:spTgt spid="479246"/>
                                        </p:tgtEl>
                                      </p:cBhvr>
                                    </p:animEffect>
                                  </p:childTnLst>
                                </p:cTn>
                              </p:par>
                              <p:par>
                                <p:cTn id="26" presetID="9" presetClass="entr" presetSubtype="0" fill="hold" nodeType="withEffect">
                                  <p:stCondLst>
                                    <p:cond delay="0"/>
                                  </p:stCondLst>
                                  <p:childTnLst>
                                    <p:set>
                                      <p:cBhvr>
                                        <p:cTn id="27" dur="1" fill="hold">
                                          <p:stCondLst>
                                            <p:cond delay="0"/>
                                          </p:stCondLst>
                                        </p:cTn>
                                        <p:tgtEl>
                                          <p:spTgt spid="479247"/>
                                        </p:tgtEl>
                                        <p:attrNameLst>
                                          <p:attrName>style.visibility</p:attrName>
                                        </p:attrNameLst>
                                      </p:cBhvr>
                                      <p:to>
                                        <p:strVal val="visible"/>
                                      </p:to>
                                    </p:set>
                                    <p:animEffect transition="in" filter="dissolve">
                                      <p:cBhvr>
                                        <p:cTn id="28" dur="500"/>
                                        <p:tgtEl>
                                          <p:spTgt spid="479247"/>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79248"/>
                                        </p:tgtEl>
                                        <p:attrNameLst>
                                          <p:attrName>style.visibility</p:attrName>
                                        </p:attrNameLst>
                                      </p:cBhvr>
                                      <p:to>
                                        <p:strVal val="visible"/>
                                      </p:to>
                                    </p:set>
                                    <p:animEffect transition="in" filter="dissolve">
                                      <p:cBhvr>
                                        <p:cTn id="31" dur="500"/>
                                        <p:tgtEl>
                                          <p:spTgt spid="479248"/>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79249"/>
                                        </p:tgtEl>
                                        <p:attrNameLst>
                                          <p:attrName>style.visibility</p:attrName>
                                        </p:attrNameLst>
                                      </p:cBhvr>
                                      <p:to>
                                        <p:strVal val="visible"/>
                                      </p:to>
                                    </p:set>
                                    <p:animEffect transition="in" filter="dissolve">
                                      <p:cBhvr>
                                        <p:cTn id="34" dur="500"/>
                                        <p:tgtEl>
                                          <p:spTgt spid="479249"/>
                                        </p:tgtEl>
                                      </p:cBhvr>
                                    </p:animEffect>
                                  </p:childTnLst>
                                </p:cTn>
                              </p:par>
                              <p:par>
                                <p:cTn id="35" presetID="9" presetClass="entr" presetSubtype="0" fill="hold" nodeType="withEffect">
                                  <p:stCondLst>
                                    <p:cond delay="0"/>
                                  </p:stCondLst>
                                  <p:childTnLst>
                                    <p:set>
                                      <p:cBhvr>
                                        <p:cTn id="36" dur="1" fill="hold">
                                          <p:stCondLst>
                                            <p:cond delay="0"/>
                                          </p:stCondLst>
                                        </p:cTn>
                                        <p:tgtEl>
                                          <p:spTgt spid="479250"/>
                                        </p:tgtEl>
                                        <p:attrNameLst>
                                          <p:attrName>style.visibility</p:attrName>
                                        </p:attrNameLst>
                                      </p:cBhvr>
                                      <p:to>
                                        <p:strVal val="visible"/>
                                      </p:to>
                                    </p:set>
                                    <p:animEffect transition="in" filter="dissolve">
                                      <p:cBhvr>
                                        <p:cTn id="37" dur="500"/>
                                        <p:tgtEl>
                                          <p:spTgt spid="479250"/>
                                        </p:tgtEl>
                                      </p:cBhvr>
                                    </p:animEffect>
                                  </p:childTnLst>
                                </p:cTn>
                              </p:par>
                              <p:par>
                                <p:cTn id="38" presetID="9" presetClass="entr" presetSubtype="0" fill="hold" nodeType="withEffect">
                                  <p:stCondLst>
                                    <p:cond delay="0"/>
                                  </p:stCondLst>
                                  <p:childTnLst>
                                    <p:set>
                                      <p:cBhvr>
                                        <p:cTn id="39" dur="1" fill="hold">
                                          <p:stCondLst>
                                            <p:cond delay="0"/>
                                          </p:stCondLst>
                                        </p:cTn>
                                        <p:tgtEl>
                                          <p:spTgt spid="479251"/>
                                        </p:tgtEl>
                                        <p:attrNameLst>
                                          <p:attrName>style.visibility</p:attrName>
                                        </p:attrNameLst>
                                      </p:cBhvr>
                                      <p:to>
                                        <p:strVal val="visible"/>
                                      </p:to>
                                    </p:set>
                                    <p:animEffect transition="in" filter="dissolve">
                                      <p:cBhvr>
                                        <p:cTn id="40" dur="500"/>
                                        <p:tgtEl>
                                          <p:spTgt spid="479251"/>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479252"/>
                                        </p:tgtEl>
                                        <p:attrNameLst>
                                          <p:attrName>style.visibility</p:attrName>
                                        </p:attrNameLst>
                                      </p:cBhvr>
                                      <p:to>
                                        <p:strVal val="visible"/>
                                      </p:to>
                                    </p:set>
                                    <p:animEffect transition="in" filter="dissolve">
                                      <p:cBhvr>
                                        <p:cTn id="43" dur="500"/>
                                        <p:tgtEl>
                                          <p:spTgt spid="479252"/>
                                        </p:tgtEl>
                                      </p:cBhvr>
                                    </p:animEffect>
                                  </p:childTnLst>
                                </p:cTn>
                              </p:par>
                              <p:par>
                                <p:cTn id="44" presetID="9" presetClass="entr" presetSubtype="0" fill="hold" nodeType="withEffect">
                                  <p:stCondLst>
                                    <p:cond delay="0"/>
                                  </p:stCondLst>
                                  <p:childTnLst>
                                    <p:set>
                                      <p:cBhvr>
                                        <p:cTn id="45" dur="1" fill="hold">
                                          <p:stCondLst>
                                            <p:cond delay="0"/>
                                          </p:stCondLst>
                                        </p:cTn>
                                        <p:tgtEl>
                                          <p:spTgt spid="479253"/>
                                        </p:tgtEl>
                                        <p:attrNameLst>
                                          <p:attrName>style.visibility</p:attrName>
                                        </p:attrNameLst>
                                      </p:cBhvr>
                                      <p:to>
                                        <p:strVal val="visible"/>
                                      </p:to>
                                    </p:set>
                                    <p:animEffect transition="in" filter="dissolve">
                                      <p:cBhvr>
                                        <p:cTn id="46" dur="500"/>
                                        <p:tgtEl>
                                          <p:spTgt spid="479253"/>
                                        </p:tgtEl>
                                      </p:cBhvr>
                                    </p:animEffect>
                                  </p:childTnLst>
                                </p:cTn>
                              </p:par>
                              <p:par>
                                <p:cTn id="47" presetID="9" presetClass="entr" presetSubtype="0" fill="hold" nodeType="withEffect">
                                  <p:stCondLst>
                                    <p:cond delay="0"/>
                                  </p:stCondLst>
                                  <p:childTnLst>
                                    <p:set>
                                      <p:cBhvr>
                                        <p:cTn id="48" dur="1" fill="hold">
                                          <p:stCondLst>
                                            <p:cond delay="0"/>
                                          </p:stCondLst>
                                        </p:cTn>
                                        <p:tgtEl>
                                          <p:spTgt spid="479254"/>
                                        </p:tgtEl>
                                        <p:attrNameLst>
                                          <p:attrName>style.visibility</p:attrName>
                                        </p:attrNameLst>
                                      </p:cBhvr>
                                      <p:to>
                                        <p:strVal val="visible"/>
                                      </p:to>
                                    </p:set>
                                    <p:animEffect transition="in" filter="dissolve">
                                      <p:cBhvr>
                                        <p:cTn id="49" dur="500"/>
                                        <p:tgtEl>
                                          <p:spTgt spid="479254"/>
                                        </p:tgtEl>
                                      </p:cBhvr>
                                    </p:animEffect>
                                  </p:childTnLst>
                                </p:cTn>
                              </p:par>
                              <p:par>
                                <p:cTn id="50" presetID="9" presetClass="entr" presetSubtype="0" fill="hold" nodeType="withEffect">
                                  <p:stCondLst>
                                    <p:cond delay="0"/>
                                  </p:stCondLst>
                                  <p:childTnLst>
                                    <p:set>
                                      <p:cBhvr>
                                        <p:cTn id="51" dur="1" fill="hold">
                                          <p:stCondLst>
                                            <p:cond delay="0"/>
                                          </p:stCondLst>
                                        </p:cTn>
                                        <p:tgtEl>
                                          <p:spTgt spid="479255"/>
                                        </p:tgtEl>
                                        <p:attrNameLst>
                                          <p:attrName>style.visibility</p:attrName>
                                        </p:attrNameLst>
                                      </p:cBhvr>
                                      <p:to>
                                        <p:strVal val="visible"/>
                                      </p:to>
                                    </p:set>
                                    <p:animEffect transition="in" filter="dissolve">
                                      <p:cBhvr>
                                        <p:cTn id="52" dur="500"/>
                                        <p:tgtEl>
                                          <p:spTgt spid="479255"/>
                                        </p:tgtEl>
                                      </p:cBhvr>
                                    </p:animEffect>
                                  </p:childTnLst>
                                </p:cTn>
                              </p:par>
                              <p:par>
                                <p:cTn id="53" presetID="9" presetClass="entr" presetSubtype="0" fill="hold" nodeType="withEffect">
                                  <p:stCondLst>
                                    <p:cond delay="0"/>
                                  </p:stCondLst>
                                  <p:childTnLst>
                                    <p:set>
                                      <p:cBhvr>
                                        <p:cTn id="54" dur="1" fill="hold">
                                          <p:stCondLst>
                                            <p:cond delay="0"/>
                                          </p:stCondLst>
                                        </p:cTn>
                                        <p:tgtEl>
                                          <p:spTgt spid="479256"/>
                                        </p:tgtEl>
                                        <p:attrNameLst>
                                          <p:attrName>style.visibility</p:attrName>
                                        </p:attrNameLst>
                                      </p:cBhvr>
                                      <p:to>
                                        <p:strVal val="visible"/>
                                      </p:to>
                                    </p:set>
                                    <p:animEffect transition="in" filter="dissolve">
                                      <p:cBhvr>
                                        <p:cTn id="55" dur="500"/>
                                        <p:tgtEl>
                                          <p:spTgt spid="479256"/>
                                        </p:tgtEl>
                                      </p:cBhvr>
                                    </p:animEffect>
                                  </p:childTnLst>
                                </p:cTn>
                              </p:par>
                              <p:par>
                                <p:cTn id="56" presetID="9" presetClass="entr" presetSubtype="0" fill="hold" nodeType="withEffect">
                                  <p:stCondLst>
                                    <p:cond delay="0"/>
                                  </p:stCondLst>
                                  <p:childTnLst>
                                    <p:set>
                                      <p:cBhvr>
                                        <p:cTn id="57" dur="1" fill="hold">
                                          <p:stCondLst>
                                            <p:cond delay="0"/>
                                          </p:stCondLst>
                                        </p:cTn>
                                        <p:tgtEl>
                                          <p:spTgt spid="479257"/>
                                        </p:tgtEl>
                                        <p:attrNameLst>
                                          <p:attrName>style.visibility</p:attrName>
                                        </p:attrNameLst>
                                      </p:cBhvr>
                                      <p:to>
                                        <p:strVal val="visible"/>
                                      </p:to>
                                    </p:set>
                                    <p:animEffect transition="in" filter="dissolve">
                                      <p:cBhvr>
                                        <p:cTn id="58" dur="500"/>
                                        <p:tgtEl>
                                          <p:spTgt spid="479257"/>
                                        </p:tgtEl>
                                      </p:cBhvr>
                                    </p:animEffect>
                                  </p:childTnLst>
                                </p:cTn>
                              </p:par>
                              <p:par>
                                <p:cTn id="59" presetID="9" presetClass="entr" presetSubtype="0" fill="hold" nodeType="withEffect">
                                  <p:stCondLst>
                                    <p:cond delay="0"/>
                                  </p:stCondLst>
                                  <p:childTnLst>
                                    <p:set>
                                      <p:cBhvr>
                                        <p:cTn id="60" dur="1" fill="hold">
                                          <p:stCondLst>
                                            <p:cond delay="0"/>
                                          </p:stCondLst>
                                        </p:cTn>
                                        <p:tgtEl>
                                          <p:spTgt spid="479258"/>
                                        </p:tgtEl>
                                        <p:attrNameLst>
                                          <p:attrName>style.visibility</p:attrName>
                                        </p:attrNameLst>
                                      </p:cBhvr>
                                      <p:to>
                                        <p:strVal val="visible"/>
                                      </p:to>
                                    </p:set>
                                    <p:animEffect transition="in" filter="dissolve">
                                      <p:cBhvr>
                                        <p:cTn id="61" dur="500"/>
                                        <p:tgtEl>
                                          <p:spTgt spid="479258"/>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479259"/>
                                        </p:tgtEl>
                                        <p:attrNameLst>
                                          <p:attrName>style.visibility</p:attrName>
                                        </p:attrNameLst>
                                      </p:cBhvr>
                                      <p:to>
                                        <p:strVal val="visible"/>
                                      </p:to>
                                    </p:set>
                                    <p:animEffect transition="in" filter="dissolve">
                                      <p:cBhvr>
                                        <p:cTn id="64" dur="500"/>
                                        <p:tgtEl>
                                          <p:spTgt spid="479259"/>
                                        </p:tgtEl>
                                      </p:cBhvr>
                                    </p:animEffect>
                                  </p:childTnLst>
                                </p:cTn>
                              </p:par>
                              <p:par>
                                <p:cTn id="65" presetID="9" presetClass="entr" presetSubtype="0" fill="hold" nodeType="withEffect">
                                  <p:stCondLst>
                                    <p:cond delay="0"/>
                                  </p:stCondLst>
                                  <p:childTnLst>
                                    <p:set>
                                      <p:cBhvr>
                                        <p:cTn id="66" dur="1" fill="hold">
                                          <p:stCondLst>
                                            <p:cond delay="0"/>
                                          </p:stCondLst>
                                        </p:cTn>
                                        <p:tgtEl>
                                          <p:spTgt spid="479260"/>
                                        </p:tgtEl>
                                        <p:attrNameLst>
                                          <p:attrName>style.visibility</p:attrName>
                                        </p:attrNameLst>
                                      </p:cBhvr>
                                      <p:to>
                                        <p:strVal val="visible"/>
                                      </p:to>
                                    </p:set>
                                    <p:animEffect transition="in" filter="dissolve">
                                      <p:cBhvr>
                                        <p:cTn id="67" dur="500"/>
                                        <p:tgtEl>
                                          <p:spTgt spid="479260"/>
                                        </p:tgtEl>
                                      </p:cBhvr>
                                    </p:animEffect>
                                  </p:childTnLst>
                                </p:cTn>
                              </p:par>
                              <p:par>
                                <p:cTn id="68" presetID="9" presetClass="entr" presetSubtype="0" fill="hold" nodeType="withEffect">
                                  <p:stCondLst>
                                    <p:cond delay="0"/>
                                  </p:stCondLst>
                                  <p:childTnLst>
                                    <p:set>
                                      <p:cBhvr>
                                        <p:cTn id="69" dur="1" fill="hold">
                                          <p:stCondLst>
                                            <p:cond delay="0"/>
                                          </p:stCondLst>
                                        </p:cTn>
                                        <p:tgtEl>
                                          <p:spTgt spid="479261"/>
                                        </p:tgtEl>
                                        <p:attrNameLst>
                                          <p:attrName>style.visibility</p:attrName>
                                        </p:attrNameLst>
                                      </p:cBhvr>
                                      <p:to>
                                        <p:strVal val="visible"/>
                                      </p:to>
                                    </p:set>
                                    <p:animEffect transition="in" filter="dissolve">
                                      <p:cBhvr>
                                        <p:cTn id="70" dur="500"/>
                                        <p:tgtEl>
                                          <p:spTgt spid="479261"/>
                                        </p:tgtEl>
                                      </p:cBhvr>
                                    </p:animEffect>
                                  </p:childTnLst>
                                </p:cTn>
                              </p:par>
                              <p:par>
                                <p:cTn id="71" presetID="9" presetClass="entr" presetSubtype="0" fill="hold" nodeType="withEffect">
                                  <p:stCondLst>
                                    <p:cond delay="0"/>
                                  </p:stCondLst>
                                  <p:childTnLst>
                                    <p:set>
                                      <p:cBhvr>
                                        <p:cTn id="72" dur="1" fill="hold">
                                          <p:stCondLst>
                                            <p:cond delay="0"/>
                                          </p:stCondLst>
                                        </p:cTn>
                                        <p:tgtEl>
                                          <p:spTgt spid="479262"/>
                                        </p:tgtEl>
                                        <p:attrNameLst>
                                          <p:attrName>style.visibility</p:attrName>
                                        </p:attrNameLst>
                                      </p:cBhvr>
                                      <p:to>
                                        <p:strVal val="visible"/>
                                      </p:to>
                                    </p:set>
                                    <p:animEffect transition="in" filter="dissolve">
                                      <p:cBhvr>
                                        <p:cTn id="73" dur="500"/>
                                        <p:tgtEl>
                                          <p:spTgt spid="479262"/>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479263"/>
                                        </p:tgtEl>
                                        <p:attrNameLst>
                                          <p:attrName>style.visibility</p:attrName>
                                        </p:attrNameLst>
                                      </p:cBhvr>
                                      <p:to>
                                        <p:strVal val="visible"/>
                                      </p:to>
                                    </p:set>
                                    <p:animEffect transition="in" filter="dissolve">
                                      <p:cBhvr>
                                        <p:cTn id="76" dur="500"/>
                                        <p:tgtEl>
                                          <p:spTgt spid="479263"/>
                                        </p:tgtEl>
                                      </p:cBhvr>
                                    </p:animEffect>
                                  </p:childTnLst>
                                </p:cTn>
                              </p:par>
                              <p:par>
                                <p:cTn id="77" presetID="9" presetClass="entr" presetSubtype="0" fill="hold" nodeType="withEffect">
                                  <p:stCondLst>
                                    <p:cond delay="0"/>
                                  </p:stCondLst>
                                  <p:childTnLst>
                                    <p:set>
                                      <p:cBhvr>
                                        <p:cTn id="78" dur="1" fill="hold">
                                          <p:stCondLst>
                                            <p:cond delay="0"/>
                                          </p:stCondLst>
                                        </p:cTn>
                                        <p:tgtEl>
                                          <p:spTgt spid="479264"/>
                                        </p:tgtEl>
                                        <p:attrNameLst>
                                          <p:attrName>style.visibility</p:attrName>
                                        </p:attrNameLst>
                                      </p:cBhvr>
                                      <p:to>
                                        <p:strVal val="visible"/>
                                      </p:to>
                                    </p:set>
                                    <p:animEffect transition="in" filter="dissolve">
                                      <p:cBhvr>
                                        <p:cTn id="79" dur="500"/>
                                        <p:tgtEl>
                                          <p:spTgt spid="479264"/>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479265"/>
                                        </p:tgtEl>
                                        <p:attrNameLst>
                                          <p:attrName>style.visibility</p:attrName>
                                        </p:attrNameLst>
                                      </p:cBhvr>
                                      <p:to>
                                        <p:strVal val="visible"/>
                                      </p:to>
                                    </p:set>
                                    <p:animEffect transition="in" filter="dissolve">
                                      <p:cBhvr>
                                        <p:cTn id="82" dur="500"/>
                                        <p:tgtEl>
                                          <p:spTgt spid="479265"/>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479266"/>
                                        </p:tgtEl>
                                        <p:attrNameLst>
                                          <p:attrName>style.visibility</p:attrName>
                                        </p:attrNameLst>
                                      </p:cBhvr>
                                      <p:to>
                                        <p:strVal val="visible"/>
                                      </p:to>
                                    </p:set>
                                    <p:animEffect transition="in" filter="dissolve">
                                      <p:cBhvr>
                                        <p:cTn id="85" dur="500"/>
                                        <p:tgtEl>
                                          <p:spTgt spid="479266"/>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479267"/>
                                        </p:tgtEl>
                                        <p:attrNameLst>
                                          <p:attrName>style.visibility</p:attrName>
                                        </p:attrNameLst>
                                      </p:cBhvr>
                                      <p:to>
                                        <p:strVal val="visible"/>
                                      </p:to>
                                    </p:set>
                                    <p:animEffect transition="in" filter="dissolve">
                                      <p:cBhvr>
                                        <p:cTn id="88" dur="500"/>
                                        <p:tgtEl>
                                          <p:spTgt spid="479267"/>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479268"/>
                                        </p:tgtEl>
                                        <p:attrNameLst>
                                          <p:attrName>style.visibility</p:attrName>
                                        </p:attrNameLst>
                                      </p:cBhvr>
                                      <p:to>
                                        <p:strVal val="visible"/>
                                      </p:to>
                                    </p:set>
                                    <p:animEffect transition="in" filter="dissolve">
                                      <p:cBhvr>
                                        <p:cTn id="91" dur="500"/>
                                        <p:tgtEl>
                                          <p:spTgt spid="479268"/>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479269"/>
                                        </p:tgtEl>
                                        <p:attrNameLst>
                                          <p:attrName>style.visibility</p:attrName>
                                        </p:attrNameLst>
                                      </p:cBhvr>
                                      <p:to>
                                        <p:strVal val="visible"/>
                                      </p:to>
                                    </p:set>
                                    <p:animEffect transition="in" filter="dissolve">
                                      <p:cBhvr>
                                        <p:cTn id="94" dur="500"/>
                                        <p:tgtEl>
                                          <p:spTgt spid="479269"/>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479270"/>
                                        </p:tgtEl>
                                        <p:attrNameLst>
                                          <p:attrName>style.visibility</p:attrName>
                                        </p:attrNameLst>
                                      </p:cBhvr>
                                      <p:to>
                                        <p:strVal val="visible"/>
                                      </p:to>
                                    </p:set>
                                    <p:animEffect transition="in" filter="dissolve">
                                      <p:cBhvr>
                                        <p:cTn id="97" dur="500"/>
                                        <p:tgtEl>
                                          <p:spTgt spid="479270"/>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479271"/>
                                        </p:tgtEl>
                                        <p:attrNameLst>
                                          <p:attrName>style.visibility</p:attrName>
                                        </p:attrNameLst>
                                      </p:cBhvr>
                                      <p:to>
                                        <p:strVal val="visible"/>
                                      </p:to>
                                    </p:set>
                                    <p:animEffect transition="in" filter="dissolve">
                                      <p:cBhvr>
                                        <p:cTn id="100" dur="500"/>
                                        <p:tgtEl>
                                          <p:spTgt spid="479271"/>
                                        </p:tgtEl>
                                      </p:cBhvr>
                                    </p:animEffect>
                                  </p:childTnLst>
                                </p:cTn>
                              </p:par>
                              <p:par>
                                <p:cTn id="101" presetID="9" presetClass="entr" presetSubtype="0" fill="hold" nodeType="withEffect">
                                  <p:stCondLst>
                                    <p:cond delay="0"/>
                                  </p:stCondLst>
                                  <p:childTnLst>
                                    <p:set>
                                      <p:cBhvr>
                                        <p:cTn id="102" dur="1" fill="hold">
                                          <p:stCondLst>
                                            <p:cond delay="0"/>
                                          </p:stCondLst>
                                        </p:cTn>
                                        <p:tgtEl>
                                          <p:spTgt spid="479295"/>
                                        </p:tgtEl>
                                        <p:attrNameLst>
                                          <p:attrName>style.visibility</p:attrName>
                                        </p:attrNameLst>
                                      </p:cBhvr>
                                      <p:to>
                                        <p:strVal val="visible"/>
                                      </p:to>
                                    </p:set>
                                    <p:animEffect transition="in" filter="dissolve">
                                      <p:cBhvr>
                                        <p:cTn id="103" dur="500"/>
                                        <p:tgtEl>
                                          <p:spTgt spid="479295"/>
                                        </p:tgtEl>
                                      </p:cBhvr>
                                    </p:animEffect>
                                  </p:childTnLst>
                                </p:cTn>
                              </p:par>
                            </p:childTnLst>
                          </p:cTn>
                        </p:par>
                      </p:childTnLst>
                    </p:cTn>
                  </p:par>
                  <p:par>
                    <p:cTn id="104" fill="hold" nodeType="clickPar">
                      <p:stCondLst>
                        <p:cond delay="indefinite"/>
                      </p:stCondLst>
                      <p:childTnLst>
                        <p:par>
                          <p:cTn id="105" fill="hold" nodeType="withGroup">
                            <p:stCondLst>
                              <p:cond delay="0"/>
                            </p:stCondLst>
                            <p:childTnLst>
                              <p:par>
                                <p:cTn id="106" presetID="9" presetClass="entr" presetSubtype="0" fill="hold" grpId="0" nodeType="clickEffect">
                                  <p:stCondLst>
                                    <p:cond delay="0"/>
                                  </p:stCondLst>
                                  <p:childTnLst>
                                    <p:set>
                                      <p:cBhvr>
                                        <p:cTn id="107" dur="1" fill="hold">
                                          <p:stCondLst>
                                            <p:cond delay="0"/>
                                          </p:stCondLst>
                                        </p:cTn>
                                        <p:tgtEl>
                                          <p:spTgt spid="479299"/>
                                        </p:tgtEl>
                                        <p:attrNameLst>
                                          <p:attrName>style.visibility</p:attrName>
                                        </p:attrNameLst>
                                      </p:cBhvr>
                                      <p:to>
                                        <p:strVal val="visible"/>
                                      </p:to>
                                    </p:set>
                                    <p:animEffect transition="in" filter="dissolve">
                                      <p:cBhvr>
                                        <p:cTn id="108" dur="500"/>
                                        <p:tgtEl>
                                          <p:spTgt spid="479299"/>
                                        </p:tgtEl>
                                      </p:cBhvr>
                                    </p:animEffect>
                                  </p:childTnLst>
                                </p:cTn>
                              </p:par>
                              <p:par>
                                <p:cTn id="109" presetID="9" presetClass="entr" presetSubtype="0" fill="hold" grpId="0" nodeType="withEffect">
                                  <p:stCondLst>
                                    <p:cond delay="0"/>
                                  </p:stCondLst>
                                  <p:childTnLst>
                                    <p:set>
                                      <p:cBhvr>
                                        <p:cTn id="110" dur="1" fill="hold">
                                          <p:stCondLst>
                                            <p:cond delay="0"/>
                                          </p:stCondLst>
                                        </p:cTn>
                                        <p:tgtEl>
                                          <p:spTgt spid="479236"/>
                                        </p:tgtEl>
                                        <p:attrNameLst>
                                          <p:attrName>style.visibility</p:attrName>
                                        </p:attrNameLst>
                                      </p:cBhvr>
                                      <p:to>
                                        <p:strVal val="visible"/>
                                      </p:to>
                                    </p:set>
                                    <p:animEffect transition="in" filter="dissolve">
                                      <p:cBhvr>
                                        <p:cTn id="111" dur="500"/>
                                        <p:tgtEl>
                                          <p:spTgt spid="479236"/>
                                        </p:tgtEl>
                                      </p:cBhvr>
                                    </p:animEffect>
                                  </p:childTnLst>
                                </p:cTn>
                              </p:par>
                              <p:par>
                                <p:cTn id="112" presetID="9" presetClass="entr" presetSubtype="0" fill="hold" grpId="0" nodeType="withEffect">
                                  <p:stCondLst>
                                    <p:cond delay="0"/>
                                  </p:stCondLst>
                                  <p:childTnLst>
                                    <p:set>
                                      <p:cBhvr>
                                        <p:cTn id="113" dur="1" fill="hold">
                                          <p:stCondLst>
                                            <p:cond delay="0"/>
                                          </p:stCondLst>
                                        </p:cTn>
                                        <p:tgtEl>
                                          <p:spTgt spid="479300"/>
                                        </p:tgtEl>
                                        <p:attrNameLst>
                                          <p:attrName>style.visibility</p:attrName>
                                        </p:attrNameLst>
                                      </p:cBhvr>
                                      <p:to>
                                        <p:strVal val="visible"/>
                                      </p:to>
                                    </p:set>
                                    <p:animEffect transition="in" filter="dissolve">
                                      <p:cBhvr>
                                        <p:cTn id="114" dur="500"/>
                                        <p:tgtEl>
                                          <p:spTgt spid="479300"/>
                                        </p:tgtEl>
                                      </p:cBhvr>
                                    </p:animEffec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9" presetClass="entr" presetSubtype="0" fill="hold" grpId="0" nodeType="clickEffect">
                                  <p:stCondLst>
                                    <p:cond delay="0"/>
                                  </p:stCondLst>
                                  <p:childTnLst>
                                    <p:set>
                                      <p:cBhvr>
                                        <p:cTn id="118" dur="1" fill="hold">
                                          <p:stCondLst>
                                            <p:cond delay="0"/>
                                          </p:stCondLst>
                                        </p:cTn>
                                        <p:tgtEl>
                                          <p:spTgt spid="479235"/>
                                        </p:tgtEl>
                                        <p:attrNameLst>
                                          <p:attrName>style.visibility</p:attrName>
                                        </p:attrNameLst>
                                      </p:cBhvr>
                                      <p:to>
                                        <p:strVal val="visible"/>
                                      </p:to>
                                    </p:set>
                                    <p:animEffect transition="in" filter="dissolve">
                                      <p:cBhvr>
                                        <p:cTn id="119" dur="500"/>
                                        <p:tgtEl>
                                          <p:spTgt spid="479235"/>
                                        </p:tgtEl>
                                      </p:cBhvr>
                                    </p:animEffect>
                                  </p:childTnLst>
                                </p:cTn>
                              </p:par>
                              <p:par>
                                <p:cTn id="120" presetID="9" presetClass="entr" presetSubtype="0" fill="hold" nodeType="withEffect">
                                  <p:stCondLst>
                                    <p:cond delay="0"/>
                                  </p:stCondLst>
                                  <p:childTnLst>
                                    <p:set>
                                      <p:cBhvr>
                                        <p:cTn id="121" dur="1" fill="hold">
                                          <p:stCondLst>
                                            <p:cond delay="0"/>
                                          </p:stCondLst>
                                        </p:cTn>
                                        <p:tgtEl>
                                          <p:spTgt spid="479302"/>
                                        </p:tgtEl>
                                        <p:attrNameLst>
                                          <p:attrName>style.visibility</p:attrName>
                                        </p:attrNameLst>
                                      </p:cBhvr>
                                      <p:to>
                                        <p:strVal val="visible"/>
                                      </p:to>
                                    </p:set>
                                    <p:animEffect transition="in" filter="dissolve">
                                      <p:cBhvr>
                                        <p:cTn id="122" dur="500"/>
                                        <p:tgtEl>
                                          <p:spTgt spid="479302"/>
                                        </p:tgtEl>
                                      </p:cBhvr>
                                    </p:animEffect>
                                  </p:childTnLst>
                                </p:cTn>
                              </p:par>
                              <p:par>
                                <p:cTn id="123" presetID="9" presetClass="entr" presetSubtype="0" fill="hold" grpId="0" nodeType="withEffect">
                                  <p:stCondLst>
                                    <p:cond delay="0"/>
                                  </p:stCondLst>
                                  <p:childTnLst>
                                    <p:set>
                                      <p:cBhvr>
                                        <p:cTn id="124" dur="1" fill="hold">
                                          <p:stCondLst>
                                            <p:cond delay="0"/>
                                          </p:stCondLst>
                                        </p:cTn>
                                        <p:tgtEl>
                                          <p:spTgt spid="479301"/>
                                        </p:tgtEl>
                                        <p:attrNameLst>
                                          <p:attrName>style.visibility</p:attrName>
                                        </p:attrNameLst>
                                      </p:cBhvr>
                                      <p:to>
                                        <p:strVal val="visible"/>
                                      </p:to>
                                    </p:set>
                                    <p:animEffect transition="in" filter="dissolve">
                                      <p:cBhvr>
                                        <p:cTn id="125" dur="500"/>
                                        <p:tgtEl>
                                          <p:spTgt spid="479301"/>
                                        </p:tgtEl>
                                      </p:cBhvr>
                                    </p:animEffect>
                                  </p:childTnLst>
                                </p:cTn>
                              </p:par>
                              <p:par>
                                <p:cTn id="126" presetID="9" presetClass="entr" presetSubtype="0" fill="hold" nodeType="withEffect">
                                  <p:stCondLst>
                                    <p:cond delay="0"/>
                                  </p:stCondLst>
                                  <p:childTnLst>
                                    <p:set>
                                      <p:cBhvr>
                                        <p:cTn id="127" dur="1" fill="hold">
                                          <p:stCondLst>
                                            <p:cond delay="0"/>
                                          </p:stCondLst>
                                        </p:cTn>
                                        <p:tgtEl>
                                          <p:spTgt spid="479234"/>
                                        </p:tgtEl>
                                        <p:attrNameLst>
                                          <p:attrName>style.visibility</p:attrName>
                                        </p:attrNameLst>
                                      </p:cBhvr>
                                      <p:to>
                                        <p:strVal val="visible"/>
                                      </p:to>
                                    </p:set>
                                    <p:animEffect transition="in" filter="dissolve">
                                      <p:cBhvr>
                                        <p:cTn id="128" dur="500"/>
                                        <p:tgtEl>
                                          <p:spTgt spid="479234"/>
                                        </p:tgtEl>
                                      </p:cBhvr>
                                    </p:animEffect>
                                  </p:childTnLst>
                                </p:cTn>
                              </p:par>
                              <p:par>
                                <p:cTn id="129" presetID="9" presetClass="entr" presetSubtype="0" fill="hold" nodeType="withEffect">
                                  <p:stCondLst>
                                    <p:cond delay="0"/>
                                  </p:stCondLst>
                                  <p:childTnLst>
                                    <p:set>
                                      <p:cBhvr>
                                        <p:cTn id="130" dur="1" fill="hold">
                                          <p:stCondLst>
                                            <p:cond delay="0"/>
                                          </p:stCondLst>
                                        </p:cTn>
                                        <p:tgtEl>
                                          <p:spTgt spid="479303"/>
                                        </p:tgtEl>
                                        <p:attrNameLst>
                                          <p:attrName>style.visibility</p:attrName>
                                        </p:attrNameLst>
                                      </p:cBhvr>
                                      <p:to>
                                        <p:strVal val="visible"/>
                                      </p:to>
                                    </p:set>
                                    <p:animEffect transition="in" filter="dissolve">
                                      <p:cBhvr>
                                        <p:cTn id="131" dur="500"/>
                                        <p:tgtEl>
                                          <p:spTgt spid="479303"/>
                                        </p:tgtEl>
                                      </p:cBhvr>
                                    </p:animEffect>
                                  </p:childTnLst>
                                </p:cTn>
                              </p:par>
                            </p:childTnLst>
                          </p:cTn>
                        </p:par>
                      </p:childTnLst>
                    </p:cTn>
                  </p:par>
                  <p:par>
                    <p:cTn id="132" fill="hold" nodeType="clickPar">
                      <p:stCondLst>
                        <p:cond delay="indefinite"/>
                      </p:stCondLst>
                      <p:childTnLst>
                        <p:par>
                          <p:cTn id="133" fill="hold" nodeType="withGroup">
                            <p:stCondLst>
                              <p:cond delay="0"/>
                            </p:stCondLst>
                            <p:childTnLst>
                              <p:par>
                                <p:cTn id="134" presetID="9" presetClass="entr" presetSubtype="0" fill="hold" grpId="0" nodeType="clickEffect">
                                  <p:stCondLst>
                                    <p:cond delay="0"/>
                                  </p:stCondLst>
                                  <p:childTnLst>
                                    <p:set>
                                      <p:cBhvr>
                                        <p:cTn id="135" dur="1" fill="hold">
                                          <p:stCondLst>
                                            <p:cond delay="0"/>
                                          </p:stCondLst>
                                        </p:cTn>
                                        <p:tgtEl>
                                          <p:spTgt spid="479304"/>
                                        </p:tgtEl>
                                        <p:attrNameLst>
                                          <p:attrName>style.visibility</p:attrName>
                                        </p:attrNameLst>
                                      </p:cBhvr>
                                      <p:to>
                                        <p:strVal val="visible"/>
                                      </p:to>
                                    </p:set>
                                    <p:animEffect transition="in" filter="dissolve">
                                      <p:cBhvr>
                                        <p:cTn id="136" dur="500"/>
                                        <p:tgtEl>
                                          <p:spTgt spid="479304"/>
                                        </p:tgtEl>
                                      </p:cBhvr>
                                    </p:animEffect>
                                  </p:childTnLst>
                                </p:cTn>
                              </p:par>
                              <p:par>
                                <p:cTn id="137" presetID="9" presetClass="entr" presetSubtype="0" fill="hold" grpId="0" nodeType="withEffect">
                                  <p:stCondLst>
                                    <p:cond delay="0"/>
                                  </p:stCondLst>
                                  <p:childTnLst>
                                    <p:set>
                                      <p:cBhvr>
                                        <p:cTn id="138" dur="1" fill="hold">
                                          <p:stCondLst>
                                            <p:cond delay="0"/>
                                          </p:stCondLst>
                                        </p:cTn>
                                        <p:tgtEl>
                                          <p:spTgt spid="479238"/>
                                        </p:tgtEl>
                                        <p:attrNameLst>
                                          <p:attrName>style.visibility</p:attrName>
                                        </p:attrNameLst>
                                      </p:cBhvr>
                                      <p:to>
                                        <p:strVal val="visible"/>
                                      </p:to>
                                    </p:set>
                                    <p:animEffect transition="in" filter="dissolve">
                                      <p:cBhvr>
                                        <p:cTn id="139" dur="500"/>
                                        <p:tgtEl>
                                          <p:spTgt spid="479238"/>
                                        </p:tgtEl>
                                      </p:cBhvr>
                                    </p:animEffect>
                                  </p:childTnLst>
                                </p:cTn>
                              </p:par>
                              <p:par>
                                <p:cTn id="140" presetID="9" presetClass="entr" presetSubtype="0" fill="hold" grpId="0" nodeType="withEffect">
                                  <p:stCondLst>
                                    <p:cond delay="0"/>
                                  </p:stCondLst>
                                  <p:childTnLst>
                                    <p:set>
                                      <p:cBhvr>
                                        <p:cTn id="141" dur="1" fill="hold">
                                          <p:stCondLst>
                                            <p:cond delay="0"/>
                                          </p:stCondLst>
                                        </p:cTn>
                                        <p:tgtEl>
                                          <p:spTgt spid="479272"/>
                                        </p:tgtEl>
                                        <p:attrNameLst>
                                          <p:attrName>style.visibility</p:attrName>
                                        </p:attrNameLst>
                                      </p:cBhvr>
                                      <p:to>
                                        <p:strVal val="visible"/>
                                      </p:to>
                                    </p:set>
                                    <p:animEffect transition="in" filter="dissolve">
                                      <p:cBhvr>
                                        <p:cTn id="142" dur="500"/>
                                        <p:tgtEl>
                                          <p:spTgt spid="479272"/>
                                        </p:tgtEl>
                                      </p:cBhvr>
                                    </p:animEffect>
                                  </p:childTnLst>
                                </p:cTn>
                              </p:par>
                              <p:par>
                                <p:cTn id="143" presetID="9" presetClass="entr" presetSubtype="0" fill="hold" nodeType="withEffect">
                                  <p:stCondLst>
                                    <p:cond delay="0"/>
                                  </p:stCondLst>
                                  <p:childTnLst>
                                    <p:set>
                                      <p:cBhvr>
                                        <p:cTn id="144" dur="1" fill="hold">
                                          <p:stCondLst>
                                            <p:cond delay="0"/>
                                          </p:stCondLst>
                                        </p:cTn>
                                        <p:tgtEl>
                                          <p:spTgt spid="479273"/>
                                        </p:tgtEl>
                                        <p:attrNameLst>
                                          <p:attrName>style.visibility</p:attrName>
                                        </p:attrNameLst>
                                      </p:cBhvr>
                                      <p:to>
                                        <p:strVal val="visible"/>
                                      </p:to>
                                    </p:set>
                                    <p:animEffect transition="in" filter="dissolve">
                                      <p:cBhvr>
                                        <p:cTn id="145" dur="500"/>
                                        <p:tgtEl>
                                          <p:spTgt spid="479273"/>
                                        </p:tgtEl>
                                      </p:cBhvr>
                                    </p:animEffect>
                                  </p:childTnLst>
                                </p:cTn>
                              </p:par>
                              <p:par>
                                <p:cTn id="146" presetID="9" presetClass="entr" presetSubtype="0" fill="hold" nodeType="withEffect">
                                  <p:stCondLst>
                                    <p:cond delay="0"/>
                                  </p:stCondLst>
                                  <p:childTnLst>
                                    <p:set>
                                      <p:cBhvr>
                                        <p:cTn id="147" dur="1" fill="hold">
                                          <p:stCondLst>
                                            <p:cond delay="0"/>
                                          </p:stCondLst>
                                        </p:cTn>
                                        <p:tgtEl>
                                          <p:spTgt spid="479274"/>
                                        </p:tgtEl>
                                        <p:attrNameLst>
                                          <p:attrName>style.visibility</p:attrName>
                                        </p:attrNameLst>
                                      </p:cBhvr>
                                      <p:to>
                                        <p:strVal val="visible"/>
                                      </p:to>
                                    </p:set>
                                    <p:animEffect transition="in" filter="dissolve">
                                      <p:cBhvr>
                                        <p:cTn id="148" dur="500"/>
                                        <p:tgtEl>
                                          <p:spTgt spid="479274"/>
                                        </p:tgtEl>
                                      </p:cBhvr>
                                    </p:animEffect>
                                  </p:childTnLst>
                                </p:cTn>
                              </p:par>
                              <p:par>
                                <p:cTn id="149" presetID="9" presetClass="entr" presetSubtype="0" fill="hold" nodeType="withEffect">
                                  <p:stCondLst>
                                    <p:cond delay="0"/>
                                  </p:stCondLst>
                                  <p:childTnLst>
                                    <p:set>
                                      <p:cBhvr>
                                        <p:cTn id="150" dur="1" fill="hold">
                                          <p:stCondLst>
                                            <p:cond delay="0"/>
                                          </p:stCondLst>
                                        </p:cTn>
                                        <p:tgtEl>
                                          <p:spTgt spid="479275"/>
                                        </p:tgtEl>
                                        <p:attrNameLst>
                                          <p:attrName>style.visibility</p:attrName>
                                        </p:attrNameLst>
                                      </p:cBhvr>
                                      <p:to>
                                        <p:strVal val="visible"/>
                                      </p:to>
                                    </p:set>
                                    <p:animEffect transition="in" filter="dissolve">
                                      <p:cBhvr>
                                        <p:cTn id="151" dur="500"/>
                                        <p:tgtEl>
                                          <p:spTgt spid="479275"/>
                                        </p:tgtEl>
                                      </p:cBhvr>
                                    </p:animEffect>
                                  </p:childTnLst>
                                </p:cTn>
                              </p:par>
                              <p:par>
                                <p:cTn id="152" presetID="9" presetClass="entr" presetSubtype="0" fill="hold" nodeType="withEffect">
                                  <p:stCondLst>
                                    <p:cond delay="0"/>
                                  </p:stCondLst>
                                  <p:childTnLst>
                                    <p:set>
                                      <p:cBhvr>
                                        <p:cTn id="153" dur="1" fill="hold">
                                          <p:stCondLst>
                                            <p:cond delay="0"/>
                                          </p:stCondLst>
                                        </p:cTn>
                                        <p:tgtEl>
                                          <p:spTgt spid="479276"/>
                                        </p:tgtEl>
                                        <p:attrNameLst>
                                          <p:attrName>style.visibility</p:attrName>
                                        </p:attrNameLst>
                                      </p:cBhvr>
                                      <p:to>
                                        <p:strVal val="visible"/>
                                      </p:to>
                                    </p:set>
                                    <p:animEffect transition="in" filter="dissolve">
                                      <p:cBhvr>
                                        <p:cTn id="154" dur="500"/>
                                        <p:tgtEl>
                                          <p:spTgt spid="479276"/>
                                        </p:tgtEl>
                                      </p:cBhvr>
                                    </p:animEffect>
                                  </p:childTnLst>
                                </p:cTn>
                              </p:par>
                              <p:par>
                                <p:cTn id="155" presetID="9" presetClass="entr" presetSubtype="0" fill="hold" grpId="0" nodeType="withEffect">
                                  <p:stCondLst>
                                    <p:cond delay="0"/>
                                  </p:stCondLst>
                                  <p:childTnLst>
                                    <p:set>
                                      <p:cBhvr>
                                        <p:cTn id="156" dur="1" fill="hold">
                                          <p:stCondLst>
                                            <p:cond delay="0"/>
                                          </p:stCondLst>
                                        </p:cTn>
                                        <p:tgtEl>
                                          <p:spTgt spid="479277"/>
                                        </p:tgtEl>
                                        <p:attrNameLst>
                                          <p:attrName>style.visibility</p:attrName>
                                        </p:attrNameLst>
                                      </p:cBhvr>
                                      <p:to>
                                        <p:strVal val="visible"/>
                                      </p:to>
                                    </p:set>
                                    <p:animEffect transition="in" filter="dissolve">
                                      <p:cBhvr>
                                        <p:cTn id="157" dur="500"/>
                                        <p:tgtEl>
                                          <p:spTgt spid="479277"/>
                                        </p:tgtEl>
                                      </p:cBhvr>
                                    </p:animEffect>
                                  </p:childTnLst>
                                </p:cTn>
                              </p:par>
                              <p:par>
                                <p:cTn id="158" presetID="9" presetClass="entr" presetSubtype="0" fill="hold" grpId="0" nodeType="withEffect">
                                  <p:stCondLst>
                                    <p:cond delay="0"/>
                                  </p:stCondLst>
                                  <p:childTnLst>
                                    <p:set>
                                      <p:cBhvr>
                                        <p:cTn id="159" dur="1" fill="hold">
                                          <p:stCondLst>
                                            <p:cond delay="0"/>
                                          </p:stCondLst>
                                        </p:cTn>
                                        <p:tgtEl>
                                          <p:spTgt spid="479278"/>
                                        </p:tgtEl>
                                        <p:attrNameLst>
                                          <p:attrName>style.visibility</p:attrName>
                                        </p:attrNameLst>
                                      </p:cBhvr>
                                      <p:to>
                                        <p:strVal val="visible"/>
                                      </p:to>
                                    </p:set>
                                    <p:animEffect transition="in" filter="dissolve">
                                      <p:cBhvr>
                                        <p:cTn id="160" dur="500"/>
                                        <p:tgtEl>
                                          <p:spTgt spid="479278"/>
                                        </p:tgtEl>
                                      </p:cBhvr>
                                    </p:animEffect>
                                  </p:childTnLst>
                                </p:cTn>
                              </p:par>
                              <p:par>
                                <p:cTn id="161" presetID="9" presetClass="entr" presetSubtype="0" fill="hold" grpId="0" nodeType="withEffect">
                                  <p:stCondLst>
                                    <p:cond delay="0"/>
                                  </p:stCondLst>
                                  <p:childTnLst>
                                    <p:set>
                                      <p:cBhvr>
                                        <p:cTn id="162" dur="1" fill="hold">
                                          <p:stCondLst>
                                            <p:cond delay="0"/>
                                          </p:stCondLst>
                                        </p:cTn>
                                        <p:tgtEl>
                                          <p:spTgt spid="479279"/>
                                        </p:tgtEl>
                                        <p:attrNameLst>
                                          <p:attrName>style.visibility</p:attrName>
                                        </p:attrNameLst>
                                      </p:cBhvr>
                                      <p:to>
                                        <p:strVal val="visible"/>
                                      </p:to>
                                    </p:set>
                                    <p:animEffect transition="in" filter="dissolve">
                                      <p:cBhvr>
                                        <p:cTn id="163" dur="500"/>
                                        <p:tgtEl>
                                          <p:spTgt spid="479279"/>
                                        </p:tgtEl>
                                      </p:cBhvr>
                                    </p:animEffect>
                                  </p:childTnLst>
                                </p:cTn>
                              </p:par>
                              <p:par>
                                <p:cTn id="164" presetID="9" presetClass="entr" presetSubtype="0" fill="hold" grpId="0" nodeType="withEffect">
                                  <p:stCondLst>
                                    <p:cond delay="0"/>
                                  </p:stCondLst>
                                  <p:childTnLst>
                                    <p:set>
                                      <p:cBhvr>
                                        <p:cTn id="165" dur="1" fill="hold">
                                          <p:stCondLst>
                                            <p:cond delay="0"/>
                                          </p:stCondLst>
                                        </p:cTn>
                                        <p:tgtEl>
                                          <p:spTgt spid="479280"/>
                                        </p:tgtEl>
                                        <p:attrNameLst>
                                          <p:attrName>style.visibility</p:attrName>
                                        </p:attrNameLst>
                                      </p:cBhvr>
                                      <p:to>
                                        <p:strVal val="visible"/>
                                      </p:to>
                                    </p:set>
                                    <p:animEffect transition="in" filter="dissolve">
                                      <p:cBhvr>
                                        <p:cTn id="166" dur="500"/>
                                        <p:tgtEl>
                                          <p:spTgt spid="479280"/>
                                        </p:tgtEl>
                                      </p:cBhvr>
                                    </p:animEffect>
                                  </p:childTnLst>
                                </p:cTn>
                              </p:par>
                              <p:par>
                                <p:cTn id="167" presetID="9" presetClass="entr" presetSubtype="0" fill="hold" nodeType="withEffect">
                                  <p:stCondLst>
                                    <p:cond delay="0"/>
                                  </p:stCondLst>
                                  <p:childTnLst>
                                    <p:set>
                                      <p:cBhvr>
                                        <p:cTn id="168" dur="1" fill="hold">
                                          <p:stCondLst>
                                            <p:cond delay="0"/>
                                          </p:stCondLst>
                                        </p:cTn>
                                        <p:tgtEl>
                                          <p:spTgt spid="479281"/>
                                        </p:tgtEl>
                                        <p:attrNameLst>
                                          <p:attrName>style.visibility</p:attrName>
                                        </p:attrNameLst>
                                      </p:cBhvr>
                                      <p:to>
                                        <p:strVal val="visible"/>
                                      </p:to>
                                    </p:set>
                                    <p:animEffect transition="in" filter="dissolve">
                                      <p:cBhvr>
                                        <p:cTn id="169" dur="500"/>
                                        <p:tgtEl>
                                          <p:spTgt spid="479281"/>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479282"/>
                                        </p:tgtEl>
                                        <p:attrNameLst>
                                          <p:attrName>style.visibility</p:attrName>
                                        </p:attrNameLst>
                                      </p:cBhvr>
                                      <p:to>
                                        <p:strVal val="visible"/>
                                      </p:to>
                                    </p:set>
                                    <p:animEffect transition="in" filter="dissolve">
                                      <p:cBhvr>
                                        <p:cTn id="172" dur="500"/>
                                        <p:tgtEl>
                                          <p:spTgt spid="479282"/>
                                        </p:tgtEl>
                                      </p:cBhvr>
                                    </p:animEffect>
                                  </p:childTnLst>
                                </p:cTn>
                              </p:par>
                              <p:par>
                                <p:cTn id="173" presetID="9" presetClass="entr" presetSubtype="0" fill="hold" grpId="0" nodeType="withEffect">
                                  <p:stCondLst>
                                    <p:cond delay="0"/>
                                  </p:stCondLst>
                                  <p:childTnLst>
                                    <p:set>
                                      <p:cBhvr>
                                        <p:cTn id="174" dur="1" fill="hold">
                                          <p:stCondLst>
                                            <p:cond delay="0"/>
                                          </p:stCondLst>
                                        </p:cTn>
                                        <p:tgtEl>
                                          <p:spTgt spid="479283"/>
                                        </p:tgtEl>
                                        <p:attrNameLst>
                                          <p:attrName>style.visibility</p:attrName>
                                        </p:attrNameLst>
                                      </p:cBhvr>
                                      <p:to>
                                        <p:strVal val="visible"/>
                                      </p:to>
                                    </p:set>
                                    <p:animEffect transition="in" filter="dissolve">
                                      <p:cBhvr>
                                        <p:cTn id="175" dur="500"/>
                                        <p:tgtEl>
                                          <p:spTgt spid="479283"/>
                                        </p:tgtEl>
                                      </p:cBhvr>
                                    </p:animEffect>
                                  </p:childTnLst>
                                </p:cTn>
                              </p:par>
                              <p:par>
                                <p:cTn id="176" presetID="9" presetClass="entr" presetSubtype="0" fill="hold" grpId="0" nodeType="withEffect">
                                  <p:stCondLst>
                                    <p:cond delay="0"/>
                                  </p:stCondLst>
                                  <p:childTnLst>
                                    <p:set>
                                      <p:cBhvr>
                                        <p:cTn id="177" dur="1" fill="hold">
                                          <p:stCondLst>
                                            <p:cond delay="0"/>
                                          </p:stCondLst>
                                        </p:cTn>
                                        <p:tgtEl>
                                          <p:spTgt spid="479284"/>
                                        </p:tgtEl>
                                        <p:attrNameLst>
                                          <p:attrName>style.visibility</p:attrName>
                                        </p:attrNameLst>
                                      </p:cBhvr>
                                      <p:to>
                                        <p:strVal val="visible"/>
                                      </p:to>
                                    </p:set>
                                    <p:animEffect transition="in" filter="dissolve">
                                      <p:cBhvr>
                                        <p:cTn id="178" dur="500"/>
                                        <p:tgtEl>
                                          <p:spTgt spid="479284"/>
                                        </p:tgtEl>
                                      </p:cBhvr>
                                    </p:animEffect>
                                  </p:childTnLst>
                                </p:cTn>
                              </p:par>
                              <p:par>
                                <p:cTn id="179" presetID="9" presetClass="entr" presetSubtype="0" fill="hold" grpId="0" nodeType="withEffect">
                                  <p:stCondLst>
                                    <p:cond delay="0"/>
                                  </p:stCondLst>
                                  <p:childTnLst>
                                    <p:set>
                                      <p:cBhvr>
                                        <p:cTn id="180" dur="1" fill="hold">
                                          <p:stCondLst>
                                            <p:cond delay="0"/>
                                          </p:stCondLst>
                                        </p:cTn>
                                        <p:tgtEl>
                                          <p:spTgt spid="479285"/>
                                        </p:tgtEl>
                                        <p:attrNameLst>
                                          <p:attrName>style.visibility</p:attrName>
                                        </p:attrNameLst>
                                      </p:cBhvr>
                                      <p:to>
                                        <p:strVal val="visible"/>
                                      </p:to>
                                    </p:set>
                                    <p:animEffect transition="in" filter="dissolve">
                                      <p:cBhvr>
                                        <p:cTn id="181" dur="500"/>
                                        <p:tgtEl>
                                          <p:spTgt spid="479285"/>
                                        </p:tgtEl>
                                      </p:cBhvr>
                                    </p:animEffect>
                                  </p:childTnLst>
                                </p:cTn>
                              </p:par>
                              <p:par>
                                <p:cTn id="182" presetID="9" presetClass="entr" presetSubtype="0" fill="hold" grpId="0" nodeType="withEffect">
                                  <p:stCondLst>
                                    <p:cond delay="0"/>
                                  </p:stCondLst>
                                  <p:childTnLst>
                                    <p:set>
                                      <p:cBhvr>
                                        <p:cTn id="183" dur="1" fill="hold">
                                          <p:stCondLst>
                                            <p:cond delay="0"/>
                                          </p:stCondLst>
                                        </p:cTn>
                                        <p:tgtEl>
                                          <p:spTgt spid="479286"/>
                                        </p:tgtEl>
                                        <p:attrNameLst>
                                          <p:attrName>style.visibility</p:attrName>
                                        </p:attrNameLst>
                                      </p:cBhvr>
                                      <p:to>
                                        <p:strVal val="visible"/>
                                      </p:to>
                                    </p:set>
                                    <p:animEffect transition="in" filter="dissolve">
                                      <p:cBhvr>
                                        <p:cTn id="184" dur="500"/>
                                        <p:tgtEl>
                                          <p:spTgt spid="479286"/>
                                        </p:tgtEl>
                                      </p:cBhvr>
                                    </p:animEffect>
                                  </p:childTnLst>
                                </p:cTn>
                              </p:par>
                              <p:par>
                                <p:cTn id="185" presetID="9" presetClass="entr" presetSubtype="0" fill="hold" grpId="0" nodeType="withEffect">
                                  <p:stCondLst>
                                    <p:cond delay="0"/>
                                  </p:stCondLst>
                                  <p:childTnLst>
                                    <p:set>
                                      <p:cBhvr>
                                        <p:cTn id="186" dur="1" fill="hold">
                                          <p:stCondLst>
                                            <p:cond delay="0"/>
                                          </p:stCondLst>
                                        </p:cTn>
                                        <p:tgtEl>
                                          <p:spTgt spid="479287"/>
                                        </p:tgtEl>
                                        <p:attrNameLst>
                                          <p:attrName>style.visibility</p:attrName>
                                        </p:attrNameLst>
                                      </p:cBhvr>
                                      <p:to>
                                        <p:strVal val="visible"/>
                                      </p:to>
                                    </p:set>
                                    <p:animEffect transition="in" filter="dissolve">
                                      <p:cBhvr>
                                        <p:cTn id="187" dur="500"/>
                                        <p:tgtEl>
                                          <p:spTgt spid="479287"/>
                                        </p:tgtEl>
                                      </p:cBhvr>
                                    </p:animEffect>
                                  </p:childTnLst>
                                </p:cTn>
                              </p:par>
                              <p:par>
                                <p:cTn id="188" presetID="9" presetClass="entr" presetSubtype="0" fill="hold" grpId="0" nodeType="withEffect">
                                  <p:stCondLst>
                                    <p:cond delay="0"/>
                                  </p:stCondLst>
                                  <p:childTnLst>
                                    <p:set>
                                      <p:cBhvr>
                                        <p:cTn id="189" dur="1" fill="hold">
                                          <p:stCondLst>
                                            <p:cond delay="0"/>
                                          </p:stCondLst>
                                        </p:cTn>
                                        <p:tgtEl>
                                          <p:spTgt spid="479288"/>
                                        </p:tgtEl>
                                        <p:attrNameLst>
                                          <p:attrName>style.visibility</p:attrName>
                                        </p:attrNameLst>
                                      </p:cBhvr>
                                      <p:to>
                                        <p:strVal val="visible"/>
                                      </p:to>
                                    </p:set>
                                    <p:animEffect transition="in" filter="dissolve">
                                      <p:cBhvr>
                                        <p:cTn id="190" dur="500"/>
                                        <p:tgtEl>
                                          <p:spTgt spid="479288"/>
                                        </p:tgtEl>
                                      </p:cBhvr>
                                    </p:animEffect>
                                  </p:childTnLst>
                                </p:cTn>
                              </p:par>
                              <p:par>
                                <p:cTn id="191" presetID="9" presetClass="entr" presetSubtype="0" fill="hold" grpId="0" nodeType="withEffect">
                                  <p:stCondLst>
                                    <p:cond delay="0"/>
                                  </p:stCondLst>
                                  <p:childTnLst>
                                    <p:set>
                                      <p:cBhvr>
                                        <p:cTn id="192" dur="1" fill="hold">
                                          <p:stCondLst>
                                            <p:cond delay="0"/>
                                          </p:stCondLst>
                                        </p:cTn>
                                        <p:tgtEl>
                                          <p:spTgt spid="479289"/>
                                        </p:tgtEl>
                                        <p:attrNameLst>
                                          <p:attrName>style.visibility</p:attrName>
                                        </p:attrNameLst>
                                      </p:cBhvr>
                                      <p:to>
                                        <p:strVal val="visible"/>
                                      </p:to>
                                    </p:set>
                                    <p:animEffect transition="in" filter="dissolve">
                                      <p:cBhvr>
                                        <p:cTn id="193" dur="500"/>
                                        <p:tgtEl>
                                          <p:spTgt spid="479289"/>
                                        </p:tgtEl>
                                      </p:cBhvr>
                                    </p:animEffect>
                                  </p:childTnLst>
                                </p:cTn>
                              </p:par>
                              <p:par>
                                <p:cTn id="194" presetID="9" presetClass="entr" presetSubtype="0" fill="hold" grpId="0" nodeType="withEffect">
                                  <p:stCondLst>
                                    <p:cond delay="0"/>
                                  </p:stCondLst>
                                  <p:childTnLst>
                                    <p:set>
                                      <p:cBhvr>
                                        <p:cTn id="195" dur="1" fill="hold">
                                          <p:stCondLst>
                                            <p:cond delay="0"/>
                                          </p:stCondLst>
                                        </p:cTn>
                                        <p:tgtEl>
                                          <p:spTgt spid="479294"/>
                                        </p:tgtEl>
                                        <p:attrNameLst>
                                          <p:attrName>style.visibility</p:attrName>
                                        </p:attrNameLst>
                                      </p:cBhvr>
                                      <p:to>
                                        <p:strVal val="visible"/>
                                      </p:to>
                                    </p:set>
                                    <p:animEffect transition="in" filter="dissolve">
                                      <p:cBhvr>
                                        <p:cTn id="196" dur="500"/>
                                        <p:tgtEl>
                                          <p:spTgt spid="479294"/>
                                        </p:tgtEl>
                                      </p:cBhvr>
                                    </p:animEffect>
                                  </p:childTnLst>
                                </p:cTn>
                              </p:par>
                              <p:par>
                                <p:cTn id="197" presetID="9" presetClass="entr" presetSubtype="0" fill="hold" nodeType="withEffect">
                                  <p:stCondLst>
                                    <p:cond delay="0"/>
                                  </p:stCondLst>
                                  <p:childTnLst>
                                    <p:set>
                                      <p:cBhvr>
                                        <p:cTn id="198" dur="1" fill="hold">
                                          <p:stCondLst>
                                            <p:cond delay="0"/>
                                          </p:stCondLst>
                                        </p:cTn>
                                        <p:tgtEl>
                                          <p:spTgt spid="479296"/>
                                        </p:tgtEl>
                                        <p:attrNameLst>
                                          <p:attrName>style.visibility</p:attrName>
                                        </p:attrNameLst>
                                      </p:cBhvr>
                                      <p:to>
                                        <p:strVal val="visible"/>
                                      </p:to>
                                    </p:set>
                                    <p:animEffect transition="in" filter="dissolve">
                                      <p:cBhvr>
                                        <p:cTn id="199" dur="500"/>
                                        <p:tgtEl>
                                          <p:spTgt spid="479296"/>
                                        </p:tgtEl>
                                      </p:cBhvr>
                                    </p:animEffect>
                                  </p:childTnLst>
                                </p:cTn>
                              </p:par>
                              <p:par>
                                <p:cTn id="200" presetID="9" presetClass="entr" presetSubtype="0" fill="hold" grpId="0" nodeType="withEffect">
                                  <p:stCondLst>
                                    <p:cond delay="0"/>
                                  </p:stCondLst>
                                  <p:childTnLst>
                                    <p:set>
                                      <p:cBhvr>
                                        <p:cTn id="201" dur="1" fill="hold">
                                          <p:stCondLst>
                                            <p:cond delay="0"/>
                                          </p:stCondLst>
                                        </p:cTn>
                                        <p:tgtEl>
                                          <p:spTgt spid="479305"/>
                                        </p:tgtEl>
                                        <p:attrNameLst>
                                          <p:attrName>style.visibility</p:attrName>
                                        </p:attrNameLst>
                                      </p:cBhvr>
                                      <p:to>
                                        <p:strVal val="visible"/>
                                      </p:to>
                                    </p:set>
                                    <p:animEffect transition="in" filter="dissolve">
                                      <p:cBhvr>
                                        <p:cTn id="202" dur="500"/>
                                        <p:tgtEl>
                                          <p:spTgt spid="479305"/>
                                        </p:tgtEl>
                                      </p:cBhvr>
                                    </p:animEffect>
                                  </p:childTnLst>
                                </p:cTn>
                              </p:par>
                            </p:childTnLst>
                          </p:cTn>
                        </p:par>
                      </p:childTnLst>
                    </p:cTn>
                  </p:par>
                  <p:par>
                    <p:cTn id="203" fill="hold" nodeType="clickPar">
                      <p:stCondLst>
                        <p:cond delay="indefinite"/>
                      </p:stCondLst>
                      <p:childTnLst>
                        <p:par>
                          <p:cTn id="204" fill="hold" nodeType="withGroup">
                            <p:stCondLst>
                              <p:cond delay="0"/>
                            </p:stCondLst>
                            <p:childTnLst>
                              <p:par>
                                <p:cTn id="205" presetID="9" presetClass="entr" presetSubtype="0" fill="hold" grpId="0" nodeType="clickEffect">
                                  <p:stCondLst>
                                    <p:cond delay="0"/>
                                  </p:stCondLst>
                                  <p:childTnLst>
                                    <p:set>
                                      <p:cBhvr>
                                        <p:cTn id="206" dur="1" fill="hold">
                                          <p:stCondLst>
                                            <p:cond delay="0"/>
                                          </p:stCondLst>
                                        </p:cTn>
                                        <p:tgtEl>
                                          <p:spTgt spid="479290"/>
                                        </p:tgtEl>
                                        <p:attrNameLst>
                                          <p:attrName>style.visibility</p:attrName>
                                        </p:attrNameLst>
                                      </p:cBhvr>
                                      <p:to>
                                        <p:strVal val="visible"/>
                                      </p:to>
                                    </p:set>
                                    <p:animEffect transition="in" filter="dissolve">
                                      <p:cBhvr>
                                        <p:cTn id="207" dur="500"/>
                                        <p:tgtEl>
                                          <p:spTgt spid="479290"/>
                                        </p:tgtEl>
                                      </p:cBhvr>
                                    </p:animEffect>
                                  </p:childTnLst>
                                </p:cTn>
                              </p:par>
                              <p:par>
                                <p:cTn id="208" presetID="9" presetClass="entr" presetSubtype="0" fill="hold" nodeType="withEffect">
                                  <p:stCondLst>
                                    <p:cond delay="0"/>
                                  </p:stCondLst>
                                  <p:childTnLst>
                                    <p:set>
                                      <p:cBhvr>
                                        <p:cTn id="209" dur="1" fill="hold">
                                          <p:stCondLst>
                                            <p:cond delay="0"/>
                                          </p:stCondLst>
                                        </p:cTn>
                                        <p:tgtEl>
                                          <p:spTgt spid="479293"/>
                                        </p:tgtEl>
                                        <p:attrNameLst>
                                          <p:attrName>style.visibility</p:attrName>
                                        </p:attrNameLst>
                                      </p:cBhvr>
                                      <p:to>
                                        <p:strVal val="visible"/>
                                      </p:to>
                                    </p:set>
                                    <p:animEffect transition="in" filter="dissolve">
                                      <p:cBhvr>
                                        <p:cTn id="210" dur="500"/>
                                        <p:tgtEl>
                                          <p:spTgt spid="479293"/>
                                        </p:tgtEl>
                                      </p:cBhvr>
                                    </p:animEffect>
                                  </p:childTnLst>
                                </p:cTn>
                              </p:par>
                              <p:par>
                                <p:cTn id="211" presetID="9" presetClass="entr" presetSubtype="0" fill="hold" nodeType="withEffect">
                                  <p:stCondLst>
                                    <p:cond delay="0"/>
                                  </p:stCondLst>
                                  <p:childTnLst>
                                    <p:set>
                                      <p:cBhvr>
                                        <p:cTn id="212" dur="1" fill="hold">
                                          <p:stCondLst>
                                            <p:cond delay="0"/>
                                          </p:stCondLst>
                                        </p:cTn>
                                        <p:tgtEl>
                                          <p:spTgt spid="479292"/>
                                        </p:tgtEl>
                                        <p:attrNameLst>
                                          <p:attrName>style.visibility</p:attrName>
                                        </p:attrNameLst>
                                      </p:cBhvr>
                                      <p:to>
                                        <p:strVal val="visible"/>
                                      </p:to>
                                    </p:set>
                                    <p:animEffect transition="in" filter="dissolve">
                                      <p:cBhvr>
                                        <p:cTn id="213" dur="500"/>
                                        <p:tgtEl>
                                          <p:spTgt spid="479292"/>
                                        </p:tgtEl>
                                      </p:cBhvr>
                                    </p:animEffect>
                                  </p:childTnLst>
                                </p:cTn>
                              </p:par>
                              <p:par>
                                <p:cTn id="214" presetID="9" presetClass="entr" presetSubtype="0" fill="hold" nodeType="withEffect">
                                  <p:stCondLst>
                                    <p:cond delay="0"/>
                                  </p:stCondLst>
                                  <p:childTnLst>
                                    <p:set>
                                      <p:cBhvr>
                                        <p:cTn id="215" dur="1" fill="hold">
                                          <p:stCondLst>
                                            <p:cond delay="0"/>
                                          </p:stCondLst>
                                        </p:cTn>
                                        <p:tgtEl>
                                          <p:spTgt spid="479291"/>
                                        </p:tgtEl>
                                        <p:attrNameLst>
                                          <p:attrName>style.visibility</p:attrName>
                                        </p:attrNameLst>
                                      </p:cBhvr>
                                      <p:to>
                                        <p:strVal val="visible"/>
                                      </p:to>
                                    </p:set>
                                    <p:animEffect transition="in" filter="dissolve">
                                      <p:cBhvr>
                                        <p:cTn id="216" dur="500"/>
                                        <p:tgtEl>
                                          <p:spTgt spid="479291"/>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9" presetClass="entr" presetSubtype="0" fill="hold" grpId="0" nodeType="clickEffect">
                                  <p:stCondLst>
                                    <p:cond delay="0"/>
                                  </p:stCondLst>
                                  <p:childTnLst>
                                    <p:set>
                                      <p:cBhvr>
                                        <p:cTn id="220" dur="1" fill="hold">
                                          <p:stCondLst>
                                            <p:cond delay="0"/>
                                          </p:stCondLst>
                                        </p:cTn>
                                        <p:tgtEl>
                                          <p:spTgt spid="479237"/>
                                        </p:tgtEl>
                                        <p:attrNameLst>
                                          <p:attrName>style.visibility</p:attrName>
                                        </p:attrNameLst>
                                      </p:cBhvr>
                                      <p:to>
                                        <p:strVal val="visible"/>
                                      </p:to>
                                    </p:set>
                                    <p:animEffect transition="in" filter="dissolve">
                                      <p:cBhvr>
                                        <p:cTn id="221" dur="500"/>
                                        <p:tgtEl>
                                          <p:spTgt spid="479237"/>
                                        </p:tgtEl>
                                      </p:cBhvr>
                                    </p:animEffect>
                                  </p:childTnLst>
                                </p:cTn>
                              </p:par>
                              <p:par>
                                <p:cTn id="222" presetID="9" presetClass="entr" presetSubtype="0" fill="hold" grpId="0" nodeType="withEffect">
                                  <p:stCondLst>
                                    <p:cond delay="0"/>
                                  </p:stCondLst>
                                  <p:childTnLst>
                                    <p:set>
                                      <p:cBhvr>
                                        <p:cTn id="223" dur="1" fill="hold">
                                          <p:stCondLst>
                                            <p:cond delay="0"/>
                                          </p:stCondLst>
                                        </p:cTn>
                                        <p:tgtEl>
                                          <p:spTgt spid="479297"/>
                                        </p:tgtEl>
                                        <p:attrNameLst>
                                          <p:attrName>style.visibility</p:attrName>
                                        </p:attrNameLst>
                                      </p:cBhvr>
                                      <p:to>
                                        <p:strVal val="visible"/>
                                      </p:to>
                                    </p:set>
                                    <p:animEffect transition="in" filter="dissolve">
                                      <p:cBhvr>
                                        <p:cTn id="224" dur="500"/>
                                        <p:tgtEl>
                                          <p:spTgt spid="479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304" grpId="0" animBg="1"/>
      <p:bldP spid="479235" grpId="0" animBg="1"/>
      <p:bldP spid="479236" grpId="0" animBg="1"/>
      <p:bldP spid="479237" grpId="0" animBg="1"/>
      <p:bldP spid="479238" grpId="0" animBg="1"/>
      <p:bldP spid="479240" grpId="0" animBg="1"/>
      <p:bldP spid="479241" grpId="0" animBg="1"/>
      <p:bldP spid="479242" grpId="0" animBg="1"/>
      <p:bldP spid="479243" grpId="0" animBg="1"/>
      <p:bldP spid="479244" grpId="0" animBg="1"/>
      <p:bldP spid="479248" grpId="0" animBg="1"/>
      <p:bldP spid="479249" grpId="0" animBg="1"/>
      <p:bldP spid="479252" grpId="0" animBg="1"/>
      <p:bldP spid="479259" grpId="0" animBg="1"/>
      <p:bldP spid="479263" grpId="0" animBg="1"/>
      <p:bldP spid="479265" grpId="0"/>
      <p:bldP spid="479266" grpId="0"/>
      <p:bldP spid="479267" grpId="0"/>
      <p:bldP spid="479268" grpId="0"/>
      <p:bldP spid="479269" grpId="0"/>
      <p:bldP spid="479270" grpId="0"/>
      <p:bldP spid="479271" grpId="0" animBg="1"/>
      <p:bldP spid="479272" grpId="0" animBg="1"/>
      <p:bldP spid="479277" grpId="0" animBg="1"/>
      <p:bldP spid="479278" grpId="0" animBg="1"/>
      <p:bldP spid="479279" grpId="0" animBg="1"/>
      <p:bldP spid="479280" grpId="0" animBg="1"/>
      <p:bldP spid="479282" grpId="0" animBg="1"/>
      <p:bldP spid="479283" grpId="0"/>
      <p:bldP spid="479284" grpId="0"/>
      <p:bldP spid="479285" grpId="0"/>
      <p:bldP spid="479286" grpId="0"/>
      <p:bldP spid="479287" grpId="0"/>
      <p:bldP spid="479288" grpId="0" animBg="1"/>
      <p:bldP spid="479289" grpId="0"/>
      <p:bldP spid="479290" grpId="0"/>
      <p:bldP spid="479294" grpId="0"/>
      <p:bldP spid="479297" grpId="0"/>
      <p:bldP spid="479299" grpId="0" animBg="1"/>
      <p:bldP spid="479300" grpId="0"/>
      <p:bldP spid="479301" grpId="0"/>
      <p:bldP spid="47930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D82981C-23F9-4B18-82A7-ECBD6617B3DD}" type="slidenum">
              <a:rPr lang="en-US" altLang="de-DE" sz="1000">
                <a:solidFill>
                  <a:srgbClr val="C0C0C0"/>
                </a:solidFill>
              </a:rPr>
              <a:pPr/>
              <a:t>6</a:t>
            </a:fld>
            <a:endParaRPr lang="en-US" altLang="de-DE" sz="1000">
              <a:solidFill>
                <a:srgbClr val="C0C0C0"/>
              </a:solidFill>
            </a:endParaRPr>
          </a:p>
        </p:txBody>
      </p:sp>
      <p:sp>
        <p:nvSpPr>
          <p:cNvPr id="7171" name="Rectangle 8"/>
          <p:cNvSpPr>
            <a:spLocks noGrp="1" noChangeArrowheads="1"/>
          </p:cNvSpPr>
          <p:nvPr>
            <p:ph type="title"/>
          </p:nvPr>
        </p:nvSpPr>
        <p:spPr/>
        <p:txBody>
          <a:bodyPr/>
          <a:lstStyle/>
          <a:p>
            <a:r>
              <a:rPr lang="en-US" altLang="zh-CN">
                <a:ea typeface="宋体" panose="02010600030101010101" pitchFamily="2" charset="-122"/>
              </a:rPr>
              <a:t>2.3	Optimization Goals</a:t>
            </a:r>
          </a:p>
        </p:txBody>
      </p:sp>
      <p:sp>
        <p:nvSpPr>
          <p:cNvPr id="7172" name="Rectangle 76"/>
          <p:cNvSpPr>
            <a:spLocks noGrp="1" noChangeArrowheads="1"/>
          </p:cNvSpPr>
          <p:nvPr>
            <p:ph type="body" idx="1"/>
          </p:nvPr>
        </p:nvSpPr>
        <p:spPr>
          <a:noFill/>
        </p:spPr>
        <p:txBody>
          <a:bodyPr/>
          <a:lstStyle/>
          <a:p>
            <a:pPr marL="323850" indent="-323850" defTabSz="849313">
              <a:tabLst>
                <a:tab pos="284163" algn="l"/>
                <a:tab pos="512763" algn="l"/>
              </a:tabLst>
            </a:pPr>
            <a:r>
              <a:rPr lang="en-US" altLang="zh-CN">
                <a:ea typeface="宋体" panose="02010600030101010101" pitchFamily="2" charset="-122"/>
              </a:rPr>
              <a:t>Given a graph </a:t>
            </a:r>
            <a:r>
              <a:rPr lang="en-US" altLang="zh-CN" i="1">
                <a:ea typeface="宋体" panose="02010600030101010101" pitchFamily="2" charset="-122"/>
              </a:rPr>
              <a:t>G</a:t>
            </a:r>
            <a:r>
              <a:rPr lang="en-US" altLang="zh-CN">
                <a:ea typeface="宋体" panose="02010600030101010101" pitchFamily="2" charset="-122"/>
              </a:rPr>
              <a:t>(</a:t>
            </a:r>
            <a:r>
              <a:rPr lang="en-US" altLang="zh-CN" i="1">
                <a:ea typeface="宋体" panose="02010600030101010101" pitchFamily="2" charset="-122"/>
              </a:rPr>
              <a:t>V,E</a:t>
            </a:r>
            <a:r>
              <a:rPr lang="en-US" altLang="zh-CN">
                <a:ea typeface="宋体" panose="02010600030101010101" pitchFamily="2" charset="-122"/>
              </a:rPr>
              <a:t>) with |</a:t>
            </a:r>
            <a:r>
              <a:rPr lang="en-US" altLang="zh-CN" i="1">
                <a:ea typeface="宋体" panose="02010600030101010101" pitchFamily="2" charset="-122"/>
              </a:rPr>
              <a:t>V</a:t>
            </a:r>
            <a:r>
              <a:rPr lang="en-US" altLang="zh-CN">
                <a:ea typeface="宋体" panose="02010600030101010101" pitchFamily="2" charset="-122"/>
              </a:rPr>
              <a:t>| nodes and |</a:t>
            </a:r>
            <a:r>
              <a:rPr lang="en-US" altLang="zh-CN" i="1">
                <a:ea typeface="宋体" panose="02010600030101010101" pitchFamily="2" charset="-122"/>
              </a:rPr>
              <a:t>E</a:t>
            </a:r>
            <a:r>
              <a:rPr lang="en-US" altLang="zh-CN">
                <a:ea typeface="宋体" panose="02010600030101010101" pitchFamily="2" charset="-122"/>
              </a:rPr>
              <a:t>| edges where each node </a:t>
            </a:r>
            <a:r>
              <a:rPr lang="en-US" altLang="zh-CN" i="1">
                <a:ea typeface="宋体" panose="02010600030101010101" pitchFamily="2" charset="-122"/>
              </a:rPr>
              <a:t>v</a:t>
            </a:r>
            <a:r>
              <a:rPr lang="en-US" altLang="zh-CN">
                <a:ea typeface="宋体" panose="02010600030101010101" pitchFamily="2" charset="-122"/>
              </a:rPr>
              <a:t>  </a:t>
            </a:r>
            <a:r>
              <a:rPr lang="en-US" altLang="zh-CN" i="1">
                <a:ea typeface="宋体" panose="02010600030101010101" pitchFamily="2" charset="-122"/>
              </a:rPr>
              <a:t>V</a:t>
            </a:r>
            <a:r>
              <a:rPr lang="en-US" altLang="zh-CN">
                <a:ea typeface="宋体" panose="02010600030101010101" pitchFamily="2" charset="-122"/>
              </a:rPr>
              <a:t> and each edge </a:t>
            </a:r>
            <a:r>
              <a:rPr lang="en-US" altLang="zh-CN" i="1">
                <a:ea typeface="宋体" panose="02010600030101010101" pitchFamily="2" charset="-122"/>
              </a:rPr>
              <a:t>e</a:t>
            </a:r>
            <a:r>
              <a:rPr lang="en-US" altLang="zh-CN">
                <a:ea typeface="宋体" panose="02010600030101010101" pitchFamily="2" charset="-122"/>
              </a:rPr>
              <a:t>  </a:t>
            </a:r>
            <a:r>
              <a:rPr lang="en-US" altLang="zh-CN" i="1">
                <a:ea typeface="宋体" panose="02010600030101010101" pitchFamily="2" charset="-122"/>
              </a:rPr>
              <a:t>E</a:t>
            </a:r>
            <a:r>
              <a:rPr lang="en-US" altLang="zh-CN">
                <a:ea typeface="宋体" panose="02010600030101010101" pitchFamily="2" charset="-122"/>
              </a:rPr>
              <a:t>. </a:t>
            </a:r>
          </a:p>
          <a:p>
            <a:pPr marL="323850" indent="-323850" defTabSz="849313">
              <a:tabLst>
                <a:tab pos="284163" algn="l"/>
                <a:tab pos="512763" algn="l"/>
              </a:tabLst>
            </a:pPr>
            <a:endParaRPr lang="en-US" altLang="zh-CN">
              <a:ea typeface="宋体" panose="02010600030101010101" pitchFamily="2" charset="-122"/>
            </a:endParaRPr>
          </a:p>
          <a:p>
            <a:pPr marL="323850" indent="-323850" defTabSz="849313">
              <a:tabLst>
                <a:tab pos="284163" algn="l"/>
                <a:tab pos="512763" algn="l"/>
              </a:tabLst>
            </a:pPr>
            <a:r>
              <a:rPr lang="en-US" altLang="zh-CN">
                <a:ea typeface="宋体" panose="02010600030101010101" pitchFamily="2" charset="-122"/>
              </a:rPr>
              <a:t>Each node has area </a:t>
            </a:r>
            <a:r>
              <a:rPr lang="en-US" altLang="zh-CN" i="1">
                <a:ea typeface="宋体" panose="02010600030101010101" pitchFamily="2" charset="-122"/>
              </a:rPr>
              <a:t>s</a:t>
            </a:r>
            <a:r>
              <a:rPr lang="en-US" altLang="zh-CN">
                <a:ea typeface="宋体" panose="02010600030101010101" pitchFamily="2" charset="-122"/>
              </a:rPr>
              <a:t>(</a:t>
            </a:r>
            <a:r>
              <a:rPr lang="en-US" altLang="zh-CN" i="1">
                <a:ea typeface="宋体" panose="02010600030101010101" pitchFamily="2" charset="-122"/>
              </a:rPr>
              <a:t>v</a:t>
            </a:r>
            <a:r>
              <a:rPr lang="en-US" altLang="zh-CN">
                <a:ea typeface="宋体" panose="02010600030101010101" pitchFamily="2" charset="-122"/>
              </a:rPr>
              <a:t>) and each edge has cost or weight </a:t>
            </a:r>
            <a:r>
              <a:rPr lang="en-US" altLang="zh-CN" i="1">
                <a:ea typeface="宋体" panose="02010600030101010101" pitchFamily="2" charset="-122"/>
              </a:rPr>
              <a:t>w</a:t>
            </a:r>
            <a:r>
              <a:rPr lang="en-US" altLang="zh-CN">
                <a:ea typeface="宋体" panose="02010600030101010101" pitchFamily="2" charset="-122"/>
              </a:rPr>
              <a:t>(</a:t>
            </a:r>
            <a:r>
              <a:rPr lang="en-US" altLang="zh-CN" i="1">
                <a:ea typeface="宋体" panose="02010600030101010101" pitchFamily="2" charset="-122"/>
              </a:rPr>
              <a:t>e</a:t>
            </a:r>
            <a:r>
              <a:rPr lang="en-US" altLang="zh-CN">
                <a:ea typeface="宋体" panose="02010600030101010101" pitchFamily="2" charset="-122"/>
              </a:rPr>
              <a:t>). </a:t>
            </a:r>
          </a:p>
          <a:p>
            <a:pPr marL="323850" indent="-323850" defTabSz="849313">
              <a:tabLst>
                <a:tab pos="284163" algn="l"/>
                <a:tab pos="512763" algn="l"/>
              </a:tabLst>
            </a:pPr>
            <a:endParaRPr lang="en-US" altLang="zh-CN">
              <a:ea typeface="宋体" panose="02010600030101010101" pitchFamily="2" charset="-122"/>
            </a:endParaRPr>
          </a:p>
          <a:p>
            <a:pPr marL="323850" indent="-323850" defTabSz="849313">
              <a:tabLst>
                <a:tab pos="284163" algn="l"/>
                <a:tab pos="512763" algn="l"/>
              </a:tabLst>
            </a:pPr>
            <a:r>
              <a:rPr lang="en-US" altLang="zh-CN">
                <a:ea typeface="宋体" panose="02010600030101010101" pitchFamily="2" charset="-122"/>
              </a:rPr>
              <a:t>The objective is to divide the graph </a:t>
            </a:r>
            <a:r>
              <a:rPr lang="en-US" altLang="zh-CN" i="1">
                <a:ea typeface="宋体" panose="02010600030101010101" pitchFamily="2" charset="-122"/>
              </a:rPr>
              <a:t>G</a:t>
            </a:r>
            <a:r>
              <a:rPr lang="en-US" altLang="zh-CN">
                <a:ea typeface="宋体" panose="02010600030101010101" pitchFamily="2" charset="-122"/>
              </a:rPr>
              <a:t> into </a:t>
            </a:r>
            <a:r>
              <a:rPr lang="en-US" altLang="zh-CN" i="1">
                <a:ea typeface="宋体" panose="02010600030101010101" pitchFamily="2" charset="-122"/>
              </a:rPr>
              <a:t>k</a:t>
            </a:r>
            <a:r>
              <a:rPr lang="en-US" altLang="zh-CN">
                <a:ea typeface="宋体" panose="02010600030101010101" pitchFamily="2" charset="-122"/>
              </a:rPr>
              <a:t> disjoint subgraphs such that all optimization goals are achieved and all original edge relations are respected.</a:t>
            </a:r>
            <a:r>
              <a:rPr lang="de-DE" altLang="de-DE"/>
              <a:t> </a:t>
            </a:r>
            <a:endParaRPr lang="en-US" altLang="zh-CN">
              <a:ea typeface="宋体" panose="02010600030101010101" pitchFamily="2" charset="-122"/>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7B9C5652-C86E-4331-A6D9-638566E14A50}" type="slidenum">
              <a:rPr lang="en-US" altLang="de-DE" sz="1000">
                <a:solidFill>
                  <a:srgbClr val="C0C0C0"/>
                </a:solidFill>
              </a:rPr>
              <a:pPr/>
              <a:t>7</a:t>
            </a:fld>
            <a:endParaRPr lang="en-US" altLang="de-DE" sz="1000">
              <a:solidFill>
                <a:srgbClr val="C0C0C0"/>
              </a:solidFill>
            </a:endParaRPr>
          </a:p>
        </p:txBody>
      </p:sp>
      <p:sp>
        <p:nvSpPr>
          <p:cNvPr id="8195" name="Title 1"/>
          <p:cNvSpPr>
            <a:spLocks noGrp="1"/>
          </p:cNvSpPr>
          <p:nvPr>
            <p:ph type="title" idx="4294967295"/>
          </p:nvPr>
        </p:nvSpPr>
        <p:spPr/>
        <p:txBody>
          <a:bodyPr/>
          <a:lstStyle/>
          <a:p>
            <a:r>
              <a:rPr lang="en-US" altLang="zh-CN">
                <a:ea typeface="宋体" panose="02010600030101010101" pitchFamily="2" charset="-122"/>
              </a:rPr>
              <a:t>2.3	Optimization Goals</a:t>
            </a:r>
          </a:p>
        </p:txBody>
      </p:sp>
      <p:sp>
        <p:nvSpPr>
          <p:cNvPr id="8196" name="Content Placeholder 2"/>
          <p:cNvSpPr>
            <a:spLocks noGrp="1"/>
          </p:cNvSpPr>
          <p:nvPr>
            <p:ph idx="4294967295"/>
          </p:nvPr>
        </p:nvSpPr>
        <p:spPr/>
        <p:txBody>
          <a:bodyPr/>
          <a:lstStyle/>
          <a:p>
            <a:r>
              <a:rPr lang="en-US" altLang="zh-CN">
                <a:ea typeface="宋体" panose="02010600030101010101" pitchFamily="2" charset="-122"/>
              </a:rPr>
              <a:t>In detail, what are the optimization goals?</a:t>
            </a:r>
          </a:p>
          <a:p>
            <a:pPr lvl="1"/>
            <a:r>
              <a:rPr lang="en-US" altLang="zh-CN">
                <a:ea typeface="宋体" panose="02010600030101010101" pitchFamily="2" charset="-122"/>
              </a:rPr>
              <a:t>Number of connections between partitions is minimized</a:t>
            </a:r>
          </a:p>
          <a:p>
            <a:pPr lvl="1"/>
            <a:r>
              <a:rPr lang="en-US" altLang="zh-CN">
                <a:ea typeface="宋体" panose="02010600030101010101" pitchFamily="2" charset="-122"/>
              </a:rPr>
              <a:t>Each partition meets all design constraints (size, number of external connections..) </a:t>
            </a:r>
          </a:p>
          <a:p>
            <a:pPr lvl="1"/>
            <a:r>
              <a:rPr lang="en-US" altLang="zh-CN">
                <a:ea typeface="宋体" panose="02010600030101010101" pitchFamily="2" charset="-122"/>
              </a:rPr>
              <a:t>Balance every partition as well as possible</a:t>
            </a:r>
          </a:p>
          <a:p>
            <a:endParaRPr lang="en-US" altLang="zh-CN">
              <a:ea typeface="宋体" panose="02010600030101010101" pitchFamily="2" charset="-122"/>
            </a:endParaRPr>
          </a:p>
          <a:p>
            <a:r>
              <a:rPr lang="en-US" altLang="zh-CN">
                <a:ea typeface="宋体" panose="02010600030101010101" pitchFamily="2" charset="-122"/>
              </a:rPr>
              <a:t>How can we meet these goals?</a:t>
            </a:r>
          </a:p>
          <a:p>
            <a:pPr lvl="1"/>
            <a:r>
              <a:rPr lang="en-US" altLang="zh-CN">
                <a:ea typeface="宋体" panose="02010600030101010101" pitchFamily="2" charset="-122"/>
              </a:rPr>
              <a:t>Unfortunately, this problem is NP-hard</a:t>
            </a:r>
          </a:p>
          <a:p>
            <a:pPr lvl="1"/>
            <a:r>
              <a:rPr lang="en-US" altLang="zh-CN">
                <a:ea typeface="宋体" panose="02010600030101010101" pitchFamily="2" charset="-122"/>
              </a:rPr>
              <a:t>Efficient heuristics are developed in the 1970s and 1980s. </a:t>
            </a:r>
            <a:br>
              <a:rPr lang="en-US" altLang="zh-CN">
                <a:ea typeface="宋体" panose="02010600030101010101" pitchFamily="2" charset="-122"/>
              </a:rPr>
            </a:br>
            <a:r>
              <a:rPr lang="en-US" altLang="zh-CN">
                <a:ea typeface="宋体" panose="02010600030101010101" pitchFamily="2" charset="-122"/>
              </a:rPr>
              <a:t>   They are high quality and in low-order polynomial time.</a:t>
            </a:r>
          </a:p>
          <a:p>
            <a:pPr lvl="1"/>
            <a:endParaRPr lang="en-US" altLang="zh-CN">
              <a:ea typeface="宋体" panose="02010600030101010101" pitchFamily="2" charset="-122"/>
            </a:endParaRPr>
          </a:p>
        </p:txBody>
      </p:sp>
      <p:sp>
        <p:nvSpPr>
          <p:cNvPr id="819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979B4310-1EFB-414A-8ED3-9878C1130C94}" type="slidenum">
              <a:rPr lang="en-US" altLang="de-DE" sz="1000">
                <a:solidFill>
                  <a:srgbClr val="C0C0C0"/>
                </a:solidFill>
              </a:rPr>
              <a:pPr algn="r">
                <a:lnSpc>
                  <a:spcPct val="100000"/>
                </a:lnSpc>
              </a:pPr>
              <a:t>7</a:t>
            </a:fld>
            <a:endParaRPr lang="en-US" altLang="de-DE" sz="1000">
              <a:solidFill>
                <a:srgbClr val="C0C0C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196">
                                            <p:txEl>
                                              <p:pRg st="0" end="0"/>
                                            </p:txEl>
                                          </p:spTgt>
                                        </p:tgtEl>
                                        <p:attrNameLst>
                                          <p:attrName>style.visibility</p:attrName>
                                        </p:attrNameLst>
                                      </p:cBhvr>
                                      <p:to>
                                        <p:strVal val="visible"/>
                                      </p:to>
                                    </p:set>
                                    <p:animEffect transition="in" filter="dissolve">
                                      <p:cBhvr>
                                        <p:cTn id="7" dur="500"/>
                                        <p:tgtEl>
                                          <p:spTgt spid="819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196">
                                            <p:txEl>
                                              <p:pRg st="1" end="1"/>
                                            </p:txEl>
                                          </p:spTgt>
                                        </p:tgtEl>
                                        <p:attrNameLst>
                                          <p:attrName>style.visibility</p:attrName>
                                        </p:attrNameLst>
                                      </p:cBhvr>
                                      <p:to>
                                        <p:strVal val="visible"/>
                                      </p:to>
                                    </p:set>
                                    <p:animEffect transition="in" filter="dissolve">
                                      <p:cBhvr>
                                        <p:cTn id="12" dur="500"/>
                                        <p:tgtEl>
                                          <p:spTgt spid="819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8196">
                                            <p:txEl>
                                              <p:pRg st="2" end="2"/>
                                            </p:txEl>
                                          </p:spTgt>
                                        </p:tgtEl>
                                        <p:attrNameLst>
                                          <p:attrName>style.visibility</p:attrName>
                                        </p:attrNameLst>
                                      </p:cBhvr>
                                      <p:to>
                                        <p:strVal val="visible"/>
                                      </p:to>
                                    </p:set>
                                    <p:animEffect transition="in" filter="dissolve">
                                      <p:cBhvr>
                                        <p:cTn id="17" dur="500"/>
                                        <p:tgtEl>
                                          <p:spTgt spid="8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196">
                                            <p:txEl>
                                              <p:pRg st="3" end="3"/>
                                            </p:txEl>
                                          </p:spTgt>
                                        </p:tgtEl>
                                        <p:attrNameLst>
                                          <p:attrName>style.visibility</p:attrName>
                                        </p:attrNameLst>
                                      </p:cBhvr>
                                      <p:to>
                                        <p:strVal val="visible"/>
                                      </p:to>
                                    </p:set>
                                    <p:animEffect transition="in" filter="dissolve">
                                      <p:cBhvr>
                                        <p:cTn id="22" dur="500"/>
                                        <p:tgtEl>
                                          <p:spTgt spid="81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196">
                                            <p:txEl>
                                              <p:pRg st="5" end="5"/>
                                            </p:txEl>
                                          </p:spTgt>
                                        </p:tgtEl>
                                        <p:attrNameLst>
                                          <p:attrName>style.visibility</p:attrName>
                                        </p:attrNameLst>
                                      </p:cBhvr>
                                      <p:to>
                                        <p:strVal val="visible"/>
                                      </p:to>
                                    </p:set>
                                    <p:animEffect transition="in" filter="dissolve">
                                      <p:cBhvr>
                                        <p:cTn id="27" dur="500"/>
                                        <p:tgtEl>
                                          <p:spTgt spid="819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196">
                                            <p:txEl>
                                              <p:pRg st="6" end="6"/>
                                            </p:txEl>
                                          </p:spTgt>
                                        </p:tgtEl>
                                        <p:attrNameLst>
                                          <p:attrName>style.visibility</p:attrName>
                                        </p:attrNameLst>
                                      </p:cBhvr>
                                      <p:to>
                                        <p:strVal val="visible"/>
                                      </p:to>
                                    </p:set>
                                    <p:animEffect transition="in" filter="dissolve">
                                      <p:cBhvr>
                                        <p:cTn id="32" dur="500"/>
                                        <p:tgtEl>
                                          <p:spTgt spid="8196">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8196">
                                            <p:txEl>
                                              <p:pRg st="7" end="7"/>
                                            </p:txEl>
                                          </p:spTgt>
                                        </p:tgtEl>
                                        <p:attrNameLst>
                                          <p:attrName>style.visibility</p:attrName>
                                        </p:attrNameLst>
                                      </p:cBhvr>
                                      <p:to>
                                        <p:strVal val="visible"/>
                                      </p:to>
                                    </p:set>
                                    <p:animEffect transition="in" filter="dissolve">
                                      <p:cBhvr>
                                        <p:cTn id="37" dur="500"/>
                                        <p:tgtEl>
                                          <p:spTgt spid="819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6"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1422D7A1-BA09-48D2-8327-6A730AC9794C}" type="slidenum">
              <a:rPr lang="en-US" altLang="de-DE" sz="1000">
                <a:solidFill>
                  <a:srgbClr val="C0C0C0"/>
                </a:solidFill>
              </a:rPr>
              <a:pPr/>
              <a:t>8</a:t>
            </a:fld>
            <a:endParaRPr lang="en-US" altLang="de-DE" sz="1000">
              <a:solidFill>
                <a:srgbClr val="C0C0C0"/>
              </a:solidFill>
            </a:endParaRPr>
          </a:p>
        </p:txBody>
      </p:sp>
      <p:sp>
        <p:nvSpPr>
          <p:cNvPr id="9219" name="Rectangle 2"/>
          <p:cNvSpPr>
            <a:spLocks noGrp="1" noChangeArrowheads="1"/>
          </p:cNvSpPr>
          <p:nvPr>
            <p:ph type="title"/>
          </p:nvPr>
        </p:nvSpPr>
        <p:spPr/>
        <p:txBody>
          <a:bodyPr/>
          <a:lstStyle/>
          <a:p>
            <a:r>
              <a:rPr lang="en-US" altLang="zh-CN">
                <a:ea typeface="宋体" panose="02010600030101010101" pitchFamily="2" charset="-122"/>
              </a:rPr>
              <a:t>Chapter 2 – Netlist and System Partitioning</a:t>
            </a:r>
          </a:p>
        </p:txBody>
      </p:sp>
      <p:sp>
        <p:nvSpPr>
          <p:cNvPr id="9220" name="Rectangle 3"/>
          <p:cNvSpPr>
            <a:spLocks noGrp="1" noChangeArrowheads="1"/>
          </p:cNvSpPr>
          <p:nvPr>
            <p:ph type="body" idx="1"/>
          </p:nvPr>
        </p:nvSpPr>
        <p:spPr>
          <a:xfrm>
            <a:off x="608013" y="1341438"/>
            <a:ext cx="8193087" cy="5032375"/>
          </a:xfrm>
        </p:spPr>
        <p:txBody>
          <a:bodyPr/>
          <a:lstStyle/>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2.1	Introduction</a:t>
            </a: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2.2	Terminology</a:t>
            </a: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2.3	Optimization Goals</a:t>
            </a:r>
          </a:p>
          <a:p>
            <a:pPr marL="0" indent="0">
              <a:lnSpc>
                <a:spcPct val="100000"/>
              </a:lnSpc>
              <a:buFont typeface="Symbol" panose="05050102010706020507" pitchFamily="18" charset="2"/>
              <a:buNone/>
            </a:pPr>
            <a:r>
              <a:rPr lang="en-US" altLang="zh-CN">
                <a:ea typeface="宋体" panose="02010600030101010101" pitchFamily="2" charset="-122"/>
              </a:rPr>
              <a:t>2.4	Partitioning Algorithms</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2.4.1  Kernighan-Lin (KL) Algorithm</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2.4.2  Extensions of the Kernighan-Lin Algorithm</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2.4.3  Fiduccia-Mattheyses (FM) Algorithm</a:t>
            </a:r>
            <a:endParaRPr lang="en-US" altLang="zh-CN" sz="800">
              <a:ea typeface="宋体" panose="02010600030101010101" pitchFamily="2" charset="-122"/>
            </a:endParaRP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2.5	Framework for Multilevel Partitioning</a:t>
            </a:r>
          </a:p>
          <a:p>
            <a:pPr lvl="1" indent="0">
              <a:lnSpc>
                <a:spcPct val="100000"/>
              </a:lnSpc>
              <a:spcBef>
                <a:spcPct val="20000"/>
              </a:spcBef>
              <a:buFont typeface="Symbol" panose="05050102010706020507" pitchFamily="18" charset="2"/>
              <a:buNone/>
            </a:pPr>
            <a:r>
              <a:rPr lang="en-US" altLang="zh-CN">
                <a:solidFill>
                  <a:srgbClr val="C0C0C0"/>
                </a:solidFill>
                <a:ea typeface="宋体" panose="02010600030101010101" pitchFamily="2" charset="-122"/>
              </a:rPr>
              <a:t>    2.5.1  Clustering</a:t>
            </a:r>
          </a:p>
          <a:p>
            <a:pPr lvl="1" indent="0">
              <a:lnSpc>
                <a:spcPct val="100000"/>
              </a:lnSpc>
              <a:spcBef>
                <a:spcPct val="20000"/>
              </a:spcBef>
              <a:buFont typeface="Symbol" panose="05050102010706020507" pitchFamily="18" charset="2"/>
              <a:buNone/>
            </a:pPr>
            <a:r>
              <a:rPr lang="en-US" altLang="zh-CN">
                <a:solidFill>
                  <a:srgbClr val="C0C0C0"/>
                </a:solidFill>
                <a:ea typeface="宋体" panose="02010600030101010101" pitchFamily="2" charset="-122"/>
              </a:rPr>
              <a:t>    2.5.2  Multilevel Partitioning</a:t>
            </a: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2.6	System Partitioning onto Multiple FPGAs</a:t>
            </a:r>
          </a:p>
          <a:p>
            <a:pPr marL="0" indent="0">
              <a:lnSpc>
                <a:spcPct val="100000"/>
              </a:lnSpc>
              <a:buFont typeface="Symbol" panose="05050102010706020507" pitchFamily="18" charset="2"/>
              <a:buNone/>
            </a:pPr>
            <a:endParaRPr lang="de-DE" altLang="de-DE">
              <a:solidFill>
                <a:srgbClr val="C0C0C0"/>
              </a:solidFill>
            </a:endParaRPr>
          </a:p>
        </p:txBody>
      </p:sp>
      <p:sp>
        <p:nvSpPr>
          <p:cNvPr id="9221" name="Line 4"/>
          <p:cNvSpPr>
            <a:spLocks noChangeShapeType="1"/>
          </p:cNvSpPr>
          <p:nvPr/>
        </p:nvSpPr>
        <p:spPr bwMode="auto">
          <a:xfrm>
            <a:off x="249238" y="2708275"/>
            <a:ext cx="411162"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5E00A95-CACD-4AD5-9EFC-E95C3F56517B}" type="slidenum">
              <a:rPr lang="en-US" altLang="de-DE" sz="1000">
                <a:solidFill>
                  <a:srgbClr val="C0C0C0"/>
                </a:solidFill>
              </a:rPr>
              <a:pPr/>
              <a:t>9</a:t>
            </a:fld>
            <a:endParaRPr lang="en-US" altLang="de-DE" sz="1000">
              <a:solidFill>
                <a:srgbClr val="C0C0C0"/>
              </a:solidFill>
            </a:endParaRPr>
          </a:p>
        </p:txBody>
      </p:sp>
      <p:sp>
        <p:nvSpPr>
          <p:cNvPr id="10243" name="Text Box 3"/>
          <p:cNvSpPr txBox="1">
            <a:spLocks noChangeArrowheads="1"/>
          </p:cNvSpPr>
          <p:nvPr/>
        </p:nvSpPr>
        <p:spPr bwMode="auto">
          <a:xfrm>
            <a:off x="608013" y="1446213"/>
            <a:ext cx="8080375" cy="1033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2000"/>
              </a:lnSpc>
              <a:spcBef>
                <a:spcPct val="50000"/>
              </a:spcBef>
            </a:pPr>
            <a:r>
              <a:rPr lang="en-US" altLang="zh-CN">
                <a:ea typeface="宋体" panose="02010600030101010101" pitchFamily="2" charset="-122"/>
              </a:rPr>
              <a:t>Given: A graph with 2</a:t>
            </a:r>
            <a:r>
              <a:rPr lang="en-US" altLang="zh-CN" i="1">
                <a:ea typeface="宋体" panose="02010600030101010101" pitchFamily="2" charset="-122"/>
              </a:rPr>
              <a:t>n</a:t>
            </a:r>
            <a:r>
              <a:rPr lang="en-US" altLang="zh-CN">
                <a:ea typeface="宋体" panose="02010600030101010101" pitchFamily="2" charset="-122"/>
              </a:rPr>
              <a:t> nodes where each node has the same weight.</a:t>
            </a:r>
            <a:endParaRPr lang="de-DE" altLang="de-DE"/>
          </a:p>
          <a:p>
            <a:pPr algn="l">
              <a:lnSpc>
                <a:spcPct val="102000"/>
              </a:lnSpc>
              <a:spcBef>
                <a:spcPct val="50000"/>
              </a:spcBef>
            </a:pPr>
            <a:r>
              <a:rPr lang="en-US" altLang="zh-CN">
                <a:ea typeface="宋体" panose="02010600030101010101" pitchFamily="2" charset="-122"/>
              </a:rPr>
              <a:t>Goal: A partition (division) of the graph into two disjoint subsets </a:t>
            </a:r>
            <a:r>
              <a:rPr lang="en-US" altLang="zh-CN" i="1">
                <a:ea typeface="宋体" panose="02010600030101010101" pitchFamily="2" charset="-122"/>
              </a:rPr>
              <a:t>A</a:t>
            </a:r>
            <a:r>
              <a:rPr lang="en-US" altLang="zh-CN">
                <a:ea typeface="宋体" panose="02010600030101010101" pitchFamily="2" charset="-122"/>
              </a:rPr>
              <a:t> and </a:t>
            </a:r>
            <a:r>
              <a:rPr lang="en-US" altLang="zh-CN" i="1">
                <a:ea typeface="宋体" panose="02010600030101010101" pitchFamily="2" charset="-122"/>
              </a:rPr>
              <a:t>B</a:t>
            </a:r>
            <a:r>
              <a:rPr lang="en-US" altLang="zh-CN">
                <a:ea typeface="宋体" panose="02010600030101010101" pitchFamily="2" charset="-122"/>
              </a:rPr>
              <a:t> with minimum cut cost and </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A</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B</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n</a:t>
            </a:r>
            <a:r>
              <a:rPr lang="en-US" altLang="zh-CN">
                <a:ea typeface="宋体" panose="02010600030101010101" pitchFamily="2" charset="-122"/>
                <a:sym typeface="Symbol" panose="05050102010706020507" pitchFamily="18" charset="2"/>
              </a:rPr>
              <a:t>.</a:t>
            </a:r>
          </a:p>
        </p:txBody>
      </p:sp>
      <p:sp>
        <p:nvSpPr>
          <p:cNvPr id="555012" name="Line 4"/>
          <p:cNvSpPr>
            <a:spLocks noChangeAspect="1" noChangeShapeType="1"/>
          </p:cNvSpPr>
          <p:nvPr/>
        </p:nvSpPr>
        <p:spPr bwMode="auto">
          <a:xfrm>
            <a:off x="3716338" y="46958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3" name="Line 5"/>
          <p:cNvSpPr>
            <a:spLocks noChangeAspect="1" noChangeShapeType="1"/>
          </p:cNvSpPr>
          <p:nvPr/>
        </p:nvSpPr>
        <p:spPr bwMode="auto">
          <a:xfrm>
            <a:off x="3721100" y="363220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4" name="Line 6"/>
          <p:cNvSpPr>
            <a:spLocks noChangeAspect="1" noChangeShapeType="1"/>
          </p:cNvSpPr>
          <p:nvPr/>
        </p:nvSpPr>
        <p:spPr bwMode="auto">
          <a:xfrm>
            <a:off x="3086100" y="47021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5" name="Line 7"/>
          <p:cNvSpPr>
            <a:spLocks noChangeAspect="1" noChangeShapeType="1"/>
          </p:cNvSpPr>
          <p:nvPr/>
        </p:nvSpPr>
        <p:spPr bwMode="auto">
          <a:xfrm>
            <a:off x="3086100" y="364966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6" name="Line 8"/>
          <p:cNvSpPr>
            <a:spLocks noChangeAspect="1" noChangeShapeType="1"/>
          </p:cNvSpPr>
          <p:nvPr/>
        </p:nvSpPr>
        <p:spPr bwMode="auto">
          <a:xfrm flipH="1">
            <a:off x="3132138" y="4202113"/>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7" name="Line 9"/>
          <p:cNvSpPr>
            <a:spLocks noChangeAspect="1" noChangeShapeType="1"/>
          </p:cNvSpPr>
          <p:nvPr/>
        </p:nvSpPr>
        <p:spPr bwMode="auto">
          <a:xfrm flipH="1">
            <a:off x="3117850" y="4767263"/>
            <a:ext cx="576263"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8" name="Line 10"/>
          <p:cNvSpPr>
            <a:spLocks noChangeAspect="1" noChangeShapeType="1"/>
          </p:cNvSpPr>
          <p:nvPr/>
        </p:nvSpPr>
        <p:spPr bwMode="auto">
          <a:xfrm flipH="1">
            <a:off x="3108325" y="368935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19" name="Line 11"/>
          <p:cNvSpPr>
            <a:spLocks noChangeAspect="1" noChangeShapeType="1"/>
          </p:cNvSpPr>
          <p:nvPr/>
        </p:nvSpPr>
        <p:spPr bwMode="auto">
          <a:xfrm>
            <a:off x="3022600" y="4703763"/>
            <a:ext cx="627063"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20" name="Line 12"/>
          <p:cNvSpPr>
            <a:spLocks noChangeAspect="1" noChangeShapeType="1"/>
          </p:cNvSpPr>
          <p:nvPr/>
        </p:nvSpPr>
        <p:spPr bwMode="auto">
          <a:xfrm>
            <a:off x="3089275" y="3652838"/>
            <a:ext cx="627063"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21" name="Line 13"/>
          <p:cNvSpPr>
            <a:spLocks noChangeAspect="1" noChangeShapeType="1"/>
          </p:cNvSpPr>
          <p:nvPr/>
        </p:nvSpPr>
        <p:spPr bwMode="auto">
          <a:xfrm>
            <a:off x="3149600" y="4194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22" name="Line 14"/>
          <p:cNvSpPr>
            <a:spLocks noChangeAspect="1" noChangeShapeType="1"/>
          </p:cNvSpPr>
          <p:nvPr/>
        </p:nvSpPr>
        <p:spPr bwMode="auto">
          <a:xfrm>
            <a:off x="3117850" y="4738688"/>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23" name="Line 15"/>
          <p:cNvSpPr>
            <a:spLocks noChangeAspect="1" noChangeShapeType="1"/>
          </p:cNvSpPr>
          <p:nvPr/>
        </p:nvSpPr>
        <p:spPr bwMode="auto">
          <a:xfrm>
            <a:off x="3124200" y="529748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24" name="Line 16"/>
          <p:cNvSpPr>
            <a:spLocks noChangeAspect="1" noChangeShapeType="1"/>
          </p:cNvSpPr>
          <p:nvPr/>
        </p:nvSpPr>
        <p:spPr bwMode="auto">
          <a:xfrm>
            <a:off x="3132138" y="3662363"/>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25" name="Oval 17"/>
          <p:cNvSpPr>
            <a:spLocks noChangeAspect="1" noChangeArrowheads="1"/>
          </p:cNvSpPr>
          <p:nvPr/>
        </p:nvSpPr>
        <p:spPr bwMode="auto">
          <a:xfrm>
            <a:off x="2914650" y="4044950"/>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26" name="Rectangle 18"/>
          <p:cNvSpPr>
            <a:spLocks noChangeAspect="1" noChangeArrowheads="1"/>
          </p:cNvSpPr>
          <p:nvPr/>
        </p:nvSpPr>
        <p:spPr bwMode="auto">
          <a:xfrm>
            <a:off x="2944813" y="4070350"/>
            <a:ext cx="261937"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555027" name="Oval 19"/>
          <p:cNvSpPr>
            <a:spLocks noChangeAspect="1" noChangeArrowheads="1"/>
          </p:cNvSpPr>
          <p:nvPr/>
        </p:nvSpPr>
        <p:spPr bwMode="auto">
          <a:xfrm>
            <a:off x="3552825" y="350043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28" name="Rectangle 20"/>
          <p:cNvSpPr>
            <a:spLocks noChangeAspect="1" noChangeArrowheads="1"/>
          </p:cNvSpPr>
          <p:nvPr/>
        </p:nvSpPr>
        <p:spPr bwMode="auto">
          <a:xfrm>
            <a:off x="3584575" y="3532188"/>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555029" name="Oval 21"/>
          <p:cNvSpPr>
            <a:spLocks noChangeAspect="1" noChangeArrowheads="1"/>
          </p:cNvSpPr>
          <p:nvPr/>
        </p:nvSpPr>
        <p:spPr bwMode="auto">
          <a:xfrm>
            <a:off x="3567113" y="4044950"/>
            <a:ext cx="325437"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30" name="Rectangle 22"/>
          <p:cNvSpPr>
            <a:spLocks noChangeAspect="1" noChangeArrowheads="1"/>
          </p:cNvSpPr>
          <p:nvPr/>
        </p:nvSpPr>
        <p:spPr bwMode="auto">
          <a:xfrm>
            <a:off x="3584575" y="4068763"/>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555031" name="Oval 23"/>
          <p:cNvSpPr>
            <a:spLocks noChangeAspect="1" noChangeArrowheads="1"/>
          </p:cNvSpPr>
          <p:nvPr/>
        </p:nvSpPr>
        <p:spPr bwMode="auto">
          <a:xfrm>
            <a:off x="2914650" y="458787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32" name="Rectangle 24"/>
          <p:cNvSpPr>
            <a:spLocks noChangeAspect="1" noChangeArrowheads="1"/>
          </p:cNvSpPr>
          <p:nvPr/>
        </p:nvSpPr>
        <p:spPr bwMode="auto">
          <a:xfrm>
            <a:off x="2952750" y="461962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555033" name="Oval 25"/>
          <p:cNvSpPr>
            <a:spLocks noChangeAspect="1" noChangeArrowheads="1"/>
          </p:cNvSpPr>
          <p:nvPr/>
        </p:nvSpPr>
        <p:spPr bwMode="auto">
          <a:xfrm>
            <a:off x="2930525" y="3500438"/>
            <a:ext cx="323850"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34" name="Rectangle 26"/>
          <p:cNvSpPr>
            <a:spLocks noChangeAspect="1" noChangeArrowheads="1"/>
          </p:cNvSpPr>
          <p:nvPr/>
        </p:nvSpPr>
        <p:spPr bwMode="auto">
          <a:xfrm>
            <a:off x="2959100" y="3536950"/>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555035" name="Oval 27"/>
          <p:cNvSpPr>
            <a:spLocks noChangeAspect="1" noChangeArrowheads="1"/>
          </p:cNvSpPr>
          <p:nvPr/>
        </p:nvSpPr>
        <p:spPr bwMode="auto">
          <a:xfrm>
            <a:off x="2914650" y="5130800"/>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36" name="Rectangle 28"/>
          <p:cNvSpPr>
            <a:spLocks noChangeAspect="1" noChangeArrowheads="1"/>
          </p:cNvSpPr>
          <p:nvPr/>
        </p:nvSpPr>
        <p:spPr bwMode="auto">
          <a:xfrm>
            <a:off x="2946400" y="5162550"/>
            <a:ext cx="261938"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555037" name="Oval 29"/>
          <p:cNvSpPr>
            <a:spLocks noChangeAspect="1" noChangeArrowheads="1"/>
          </p:cNvSpPr>
          <p:nvPr/>
        </p:nvSpPr>
        <p:spPr bwMode="auto">
          <a:xfrm>
            <a:off x="3552825" y="4587875"/>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38" name="Rectangle 30"/>
          <p:cNvSpPr>
            <a:spLocks noChangeAspect="1" noChangeArrowheads="1"/>
          </p:cNvSpPr>
          <p:nvPr/>
        </p:nvSpPr>
        <p:spPr bwMode="auto">
          <a:xfrm>
            <a:off x="3584575" y="461962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555039" name="Oval 31"/>
          <p:cNvSpPr>
            <a:spLocks noChangeAspect="1" noChangeArrowheads="1"/>
          </p:cNvSpPr>
          <p:nvPr/>
        </p:nvSpPr>
        <p:spPr bwMode="auto">
          <a:xfrm>
            <a:off x="3567113" y="5130800"/>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40" name="Rectangle 32"/>
          <p:cNvSpPr>
            <a:spLocks noChangeAspect="1" noChangeArrowheads="1"/>
          </p:cNvSpPr>
          <p:nvPr/>
        </p:nvSpPr>
        <p:spPr bwMode="auto">
          <a:xfrm>
            <a:off x="3600450" y="517366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555041" name="Line 33"/>
          <p:cNvSpPr>
            <a:spLocks noChangeAspect="1" noChangeShapeType="1"/>
          </p:cNvSpPr>
          <p:nvPr/>
        </p:nvSpPr>
        <p:spPr bwMode="auto">
          <a:xfrm>
            <a:off x="3414713" y="3392488"/>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55044" name="Text Box 36"/>
          <p:cNvSpPr txBox="1">
            <a:spLocks noChangeArrowheads="1"/>
          </p:cNvSpPr>
          <p:nvPr/>
        </p:nvSpPr>
        <p:spPr bwMode="auto">
          <a:xfrm>
            <a:off x="609600" y="3455988"/>
            <a:ext cx="1730375"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a:t>Example: </a:t>
            </a:r>
            <a:r>
              <a:rPr lang="de-DE" altLang="de-DE" i="1"/>
              <a:t>n</a:t>
            </a:r>
            <a:r>
              <a:rPr lang="de-DE" altLang="de-DE"/>
              <a:t> = 4</a:t>
            </a:r>
          </a:p>
        </p:txBody>
      </p:sp>
      <p:sp>
        <p:nvSpPr>
          <p:cNvPr id="555045" name="Text Box 37"/>
          <p:cNvSpPr txBox="1">
            <a:spLocks noChangeArrowheads="1"/>
          </p:cNvSpPr>
          <p:nvPr/>
        </p:nvSpPr>
        <p:spPr bwMode="auto">
          <a:xfrm>
            <a:off x="1727200" y="4208463"/>
            <a:ext cx="1014413"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a:solidFill>
                  <a:srgbClr val="CC0000"/>
                </a:solidFill>
              </a:rPr>
              <a:t>Block</a:t>
            </a:r>
            <a:r>
              <a:rPr lang="de-DE" altLang="de-DE"/>
              <a:t> </a:t>
            </a:r>
            <a:r>
              <a:rPr lang="de-DE" altLang="de-DE" i="1">
                <a:solidFill>
                  <a:srgbClr val="CC0000"/>
                </a:solidFill>
              </a:rPr>
              <a:t>A</a:t>
            </a:r>
          </a:p>
        </p:txBody>
      </p:sp>
      <p:sp>
        <p:nvSpPr>
          <p:cNvPr id="555046" name="Oval 38"/>
          <p:cNvSpPr>
            <a:spLocks noChangeArrowheads="1"/>
          </p:cNvSpPr>
          <p:nvPr/>
        </p:nvSpPr>
        <p:spPr bwMode="auto">
          <a:xfrm>
            <a:off x="2741613" y="3213100"/>
            <a:ext cx="673100" cy="2519363"/>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47" name="Oval 39"/>
          <p:cNvSpPr>
            <a:spLocks noChangeArrowheads="1"/>
          </p:cNvSpPr>
          <p:nvPr/>
        </p:nvSpPr>
        <p:spPr bwMode="auto">
          <a:xfrm>
            <a:off x="3389313" y="3213100"/>
            <a:ext cx="673100" cy="2519363"/>
          </a:xfrm>
          <a:prstGeom prst="ellipse">
            <a:avLst/>
          </a:prstGeom>
          <a:noFill/>
          <a:ln w="38100" algn="ctr">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55048" name="Text Box 40"/>
          <p:cNvSpPr txBox="1">
            <a:spLocks noChangeArrowheads="1"/>
          </p:cNvSpPr>
          <p:nvPr/>
        </p:nvSpPr>
        <p:spPr bwMode="auto">
          <a:xfrm>
            <a:off x="3959225" y="4221163"/>
            <a:ext cx="1014413" cy="411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a:solidFill>
                  <a:schemeClr val="accent2"/>
                </a:solidFill>
              </a:rPr>
              <a:t>Block </a:t>
            </a:r>
            <a:r>
              <a:rPr lang="de-DE" altLang="de-DE" i="1">
                <a:solidFill>
                  <a:schemeClr val="accent2"/>
                </a:solidFill>
              </a:rPr>
              <a:t>B</a:t>
            </a:r>
          </a:p>
        </p:txBody>
      </p:sp>
      <p:sp>
        <p:nvSpPr>
          <p:cNvPr id="10279" name="Rectangle 41"/>
          <p:cNvSpPr>
            <a:spLocks noGrp="1" noChangeArrowheads="1"/>
          </p:cNvSpPr>
          <p:nvPr>
            <p:ph type="title"/>
          </p:nvPr>
        </p:nvSpPr>
        <p:spPr/>
        <p:txBody>
          <a:bodyPr/>
          <a:lstStyle/>
          <a:p>
            <a:r>
              <a:rPr lang="en-US" altLang="zh-CN">
                <a:ea typeface="宋体" panose="02010600030101010101" pitchFamily="2" charset="-122"/>
              </a:rPr>
              <a:t>2.4.1  Kernighan-Lin (KL) 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55012"/>
                                        </p:tgtEl>
                                        <p:attrNameLst>
                                          <p:attrName>style.visibility</p:attrName>
                                        </p:attrNameLst>
                                      </p:cBhvr>
                                      <p:to>
                                        <p:strVal val="visible"/>
                                      </p:to>
                                    </p:set>
                                    <p:animEffect transition="in" filter="dissolve">
                                      <p:cBhvr>
                                        <p:cTn id="7" dur="500"/>
                                        <p:tgtEl>
                                          <p:spTgt spid="555012"/>
                                        </p:tgtEl>
                                      </p:cBhvr>
                                    </p:animEffect>
                                  </p:childTnLst>
                                </p:cTn>
                              </p:par>
                              <p:par>
                                <p:cTn id="8" presetID="9" presetClass="entr" presetSubtype="0" fill="hold" nodeType="withEffect">
                                  <p:stCondLst>
                                    <p:cond delay="0"/>
                                  </p:stCondLst>
                                  <p:childTnLst>
                                    <p:set>
                                      <p:cBhvr>
                                        <p:cTn id="9" dur="1" fill="hold">
                                          <p:stCondLst>
                                            <p:cond delay="0"/>
                                          </p:stCondLst>
                                        </p:cTn>
                                        <p:tgtEl>
                                          <p:spTgt spid="555013"/>
                                        </p:tgtEl>
                                        <p:attrNameLst>
                                          <p:attrName>style.visibility</p:attrName>
                                        </p:attrNameLst>
                                      </p:cBhvr>
                                      <p:to>
                                        <p:strVal val="visible"/>
                                      </p:to>
                                    </p:set>
                                    <p:animEffect transition="in" filter="dissolve">
                                      <p:cBhvr>
                                        <p:cTn id="10" dur="500"/>
                                        <p:tgtEl>
                                          <p:spTgt spid="555013"/>
                                        </p:tgtEl>
                                      </p:cBhvr>
                                    </p:animEffect>
                                  </p:childTnLst>
                                </p:cTn>
                              </p:par>
                              <p:par>
                                <p:cTn id="11" presetID="9" presetClass="entr" presetSubtype="0" fill="hold" nodeType="withEffect">
                                  <p:stCondLst>
                                    <p:cond delay="0"/>
                                  </p:stCondLst>
                                  <p:childTnLst>
                                    <p:set>
                                      <p:cBhvr>
                                        <p:cTn id="12" dur="1" fill="hold">
                                          <p:stCondLst>
                                            <p:cond delay="0"/>
                                          </p:stCondLst>
                                        </p:cTn>
                                        <p:tgtEl>
                                          <p:spTgt spid="555014"/>
                                        </p:tgtEl>
                                        <p:attrNameLst>
                                          <p:attrName>style.visibility</p:attrName>
                                        </p:attrNameLst>
                                      </p:cBhvr>
                                      <p:to>
                                        <p:strVal val="visible"/>
                                      </p:to>
                                    </p:set>
                                    <p:animEffect transition="in" filter="dissolve">
                                      <p:cBhvr>
                                        <p:cTn id="13" dur="500"/>
                                        <p:tgtEl>
                                          <p:spTgt spid="555014"/>
                                        </p:tgtEl>
                                      </p:cBhvr>
                                    </p:animEffect>
                                  </p:childTnLst>
                                </p:cTn>
                              </p:par>
                              <p:par>
                                <p:cTn id="14" presetID="9" presetClass="entr" presetSubtype="0" fill="hold" nodeType="withEffect">
                                  <p:stCondLst>
                                    <p:cond delay="0"/>
                                  </p:stCondLst>
                                  <p:childTnLst>
                                    <p:set>
                                      <p:cBhvr>
                                        <p:cTn id="15" dur="1" fill="hold">
                                          <p:stCondLst>
                                            <p:cond delay="0"/>
                                          </p:stCondLst>
                                        </p:cTn>
                                        <p:tgtEl>
                                          <p:spTgt spid="555015"/>
                                        </p:tgtEl>
                                        <p:attrNameLst>
                                          <p:attrName>style.visibility</p:attrName>
                                        </p:attrNameLst>
                                      </p:cBhvr>
                                      <p:to>
                                        <p:strVal val="visible"/>
                                      </p:to>
                                    </p:set>
                                    <p:animEffect transition="in" filter="dissolve">
                                      <p:cBhvr>
                                        <p:cTn id="16" dur="500"/>
                                        <p:tgtEl>
                                          <p:spTgt spid="555015"/>
                                        </p:tgtEl>
                                      </p:cBhvr>
                                    </p:animEffect>
                                  </p:childTnLst>
                                </p:cTn>
                              </p:par>
                              <p:par>
                                <p:cTn id="17" presetID="9" presetClass="entr" presetSubtype="0" fill="hold" nodeType="withEffect">
                                  <p:stCondLst>
                                    <p:cond delay="0"/>
                                  </p:stCondLst>
                                  <p:childTnLst>
                                    <p:set>
                                      <p:cBhvr>
                                        <p:cTn id="18" dur="1" fill="hold">
                                          <p:stCondLst>
                                            <p:cond delay="0"/>
                                          </p:stCondLst>
                                        </p:cTn>
                                        <p:tgtEl>
                                          <p:spTgt spid="555016"/>
                                        </p:tgtEl>
                                        <p:attrNameLst>
                                          <p:attrName>style.visibility</p:attrName>
                                        </p:attrNameLst>
                                      </p:cBhvr>
                                      <p:to>
                                        <p:strVal val="visible"/>
                                      </p:to>
                                    </p:set>
                                    <p:animEffect transition="in" filter="dissolve">
                                      <p:cBhvr>
                                        <p:cTn id="19" dur="500"/>
                                        <p:tgtEl>
                                          <p:spTgt spid="555016"/>
                                        </p:tgtEl>
                                      </p:cBhvr>
                                    </p:animEffect>
                                  </p:childTnLst>
                                </p:cTn>
                              </p:par>
                              <p:par>
                                <p:cTn id="20" presetID="9" presetClass="entr" presetSubtype="0" fill="hold" nodeType="withEffect">
                                  <p:stCondLst>
                                    <p:cond delay="0"/>
                                  </p:stCondLst>
                                  <p:childTnLst>
                                    <p:set>
                                      <p:cBhvr>
                                        <p:cTn id="21" dur="1" fill="hold">
                                          <p:stCondLst>
                                            <p:cond delay="0"/>
                                          </p:stCondLst>
                                        </p:cTn>
                                        <p:tgtEl>
                                          <p:spTgt spid="555017"/>
                                        </p:tgtEl>
                                        <p:attrNameLst>
                                          <p:attrName>style.visibility</p:attrName>
                                        </p:attrNameLst>
                                      </p:cBhvr>
                                      <p:to>
                                        <p:strVal val="visible"/>
                                      </p:to>
                                    </p:set>
                                    <p:animEffect transition="in" filter="dissolve">
                                      <p:cBhvr>
                                        <p:cTn id="22" dur="500"/>
                                        <p:tgtEl>
                                          <p:spTgt spid="555017"/>
                                        </p:tgtEl>
                                      </p:cBhvr>
                                    </p:animEffect>
                                  </p:childTnLst>
                                </p:cTn>
                              </p:par>
                              <p:par>
                                <p:cTn id="23" presetID="9" presetClass="entr" presetSubtype="0" fill="hold" nodeType="withEffect">
                                  <p:stCondLst>
                                    <p:cond delay="0"/>
                                  </p:stCondLst>
                                  <p:childTnLst>
                                    <p:set>
                                      <p:cBhvr>
                                        <p:cTn id="24" dur="1" fill="hold">
                                          <p:stCondLst>
                                            <p:cond delay="0"/>
                                          </p:stCondLst>
                                        </p:cTn>
                                        <p:tgtEl>
                                          <p:spTgt spid="555018"/>
                                        </p:tgtEl>
                                        <p:attrNameLst>
                                          <p:attrName>style.visibility</p:attrName>
                                        </p:attrNameLst>
                                      </p:cBhvr>
                                      <p:to>
                                        <p:strVal val="visible"/>
                                      </p:to>
                                    </p:set>
                                    <p:animEffect transition="in" filter="dissolve">
                                      <p:cBhvr>
                                        <p:cTn id="25" dur="500"/>
                                        <p:tgtEl>
                                          <p:spTgt spid="555018"/>
                                        </p:tgtEl>
                                      </p:cBhvr>
                                    </p:animEffect>
                                  </p:childTnLst>
                                </p:cTn>
                              </p:par>
                              <p:par>
                                <p:cTn id="26" presetID="9" presetClass="entr" presetSubtype="0" fill="hold" nodeType="withEffect">
                                  <p:stCondLst>
                                    <p:cond delay="0"/>
                                  </p:stCondLst>
                                  <p:childTnLst>
                                    <p:set>
                                      <p:cBhvr>
                                        <p:cTn id="27" dur="1" fill="hold">
                                          <p:stCondLst>
                                            <p:cond delay="0"/>
                                          </p:stCondLst>
                                        </p:cTn>
                                        <p:tgtEl>
                                          <p:spTgt spid="555019"/>
                                        </p:tgtEl>
                                        <p:attrNameLst>
                                          <p:attrName>style.visibility</p:attrName>
                                        </p:attrNameLst>
                                      </p:cBhvr>
                                      <p:to>
                                        <p:strVal val="visible"/>
                                      </p:to>
                                    </p:set>
                                    <p:animEffect transition="in" filter="dissolve">
                                      <p:cBhvr>
                                        <p:cTn id="28" dur="500"/>
                                        <p:tgtEl>
                                          <p:spTgt spid="555019"/>
                                        </p:tgtEl>
                                      </p:cBhvr>
                                    </p:animEffect>
                                  </p:childTnLst>
                                </p:cTn>
                              </p:par>
                              <p:par>
                                <p:cTn id="29" presetID="9" presetClass="entr" presetSubtype="0" fill="hold" nodeType="withEffect">
                                  <p:stCondLst>
                                    <p:cond delay="0"/>
                                  </p:stCondLst>
                                  <p:childTnLst>
                                    <p:set>
                                      <p:cBhvr>
                                        <p:cTn id="30" dur="1" fill="hold">
                                          <p:stCondLst>
                                            <p:cond delay="0"/>
                                          </p:stCondLst>
                                        </p:cTn>
                                        <p:tgtEl>
                                          <p:spTgt spid="555020"/>
                                        </p:tgtEl>
                                        <p:attrNameLst>
                                          <p:attrName>style.visibility</p:attrName>
                                        </p:attrNameLst>
                                      </p:cBhvr>
                                      <p:to>
                                        <p:strVal val="visible"/>
                                      </p:to>
                                    </p:set>
                                    <p:animEffect transition="in" filter="dissolve">
                                      <p:cBhvr>
                                        <p:cTn id="31" dur="500"/>
                                        <p:tgtEl>
                                          <p:spTgt spid="555020"/>
                                        </p:tgtEl>
                                      </p:cBhvr>
                                    </p:animEffect>
                                  </p:childTnLst>
                                </p:cTn>
                              </p:par>
                              <p:par>
                                <p:cTn id="32" presetID="9" presetClass="entr" presetSubtype="0" fill="hold" nodeType="withEffect">
                                  <p:stCondLst>
                                    <p:cond delay="0"/>
                                  </p:stCondLst>
                                  <p:childTnLst>
                                    <p:set>
                                      <p:cBhvr>
                                        <p:cTn id="33" dur="1" fill="hold">
                                          <p:stCondLst>
                                            <p:cond delay="0"/>
                                          </p:stCondLst>
                                        </p:cTn>
                                        <p:tgtEl>
                                          <p:spTgt spid="555021"/>
                                        </p:tgtEl>
                                        <p:attrNameLst>
                                          <p:attrName>style.visibility</p:attrName>
                                        </p:attrNameLst>
                                      </p:cBhvr>
                                      <p:to>
                                        <p:strVal val="visible"/>
                                      </p:to>
                                    </p:set>
                                    <p:animEffect transition="in" filter="dissolve">
                                      <p:cBhvr>
                                        <p:cTn id="34" dur="500"/>
                                        <p:tgtEl>
                                          <p:spTgt spid="555021"/>
                                        </p:tgtEl>
                                      </p:cBhvr>
                                    </p:animEffect>
                                  </p:childTnLst>
                                </p:cTn>
                              </p:par>
                              <p:par>
                                <p:cTn id="35" presetID="9" presetClass="entr" presetSubtype="0" fill="hold" nodeType="withEffect">
                                  <p:stCondLst>
                                    <p:cond delay="0"/>
                                  </p:stCondLst>
                                  <p:childTnLst>
                                    <p:set>
                                      <p:cBhvr>
                                        <p:cTn id="36" dur="1" fill="hold">
                                          <p:stCondLst>
                                            <p:cond delay="0"/>
                                          </p:stCondLst>
                                        </p:cTn>
                                        <p:tgtEl>
                                          <p:spTgt spid="555022"/>
                                        </p:tgtEl>
                                        <p:attrNameLst>
                                          <p:attrName>style.visibility</p:attrName>
                                        </p:attrNameLst>
                                      </p:cBhvr>
                                      <p:to>
                                        <p:strVal val="visible"/>
                                      </p:to>
                                    </p:set>
                                    <p:animEffect transition="in" filter="dissolve">
                                      <p:cBhvr>
                                        <p:cTn id="37" dur="500"/>
                                        <p:tgtEl>
                                          <p:spTgt spid="555022"/>
                                        </p:tgtEl>
                                      </p:cBhvr>
                                    </p:animEffect>
                                  </p:childTnLst>
                                </p:cTn>
                              </p:par>
                              <p:par>
                                <p:cTn id="38" presetID="9" presetClass="entr" presetSubtype="0" fill="hold" nodeType="withEffect">
                                  <p:stCondLst>
                                    <p:cond delay="0"/>
                                  </p:stCondLst>
                                  <p:childTnLst>
                                    <p:set>
                                      <p:cBhvr>
                                        <p:cTn id="39" dur="1" fill="hold">
                                          <p:stCondLst>
                                            <p:cond delay="0"/>
                                          </p:stCondLst>
                                        </p:cTn>
                                        <p:tgtEl>
                                          <p:spTgt spid="555023"/>
                                        </p:tgtEl>
                                        <p:attrNameLst>
                                          <p:attrName>style.visibility</p:attrName>
                                        </p:attrNameLst>
                                      </p:cBhvr>
                                      <p:to>
                                        <p:strVal val="visible"/>
                                      </p:to>
                                    </p:set>
                                    <p:animEffect transition="in" filter="dissolve">
                                      <p:cBhvr>
                                        <p:cTn id="40" dur="500"/>
                                        <p:tgtEl>
                                          <p:spTgt spid="555023"/>
                                        </p:tgtEl>
                                      </p:cBhvr>
                                    </p:animEffect>
                                  </p:childTnLst>
                                </p:cTn>
                              </p:par>
                              <p:par>
                                <p:cTn id="41" presetID="9" presetClass="entr" presetSubtype="0" fill="hold" nodeType="withEffect">
                                  <p:stCondLst>
                                    <p:cond delay="0"/>
                                  </p:stCondLst>
                                  <p:childTnLst>
                                    <p:set>
                                      <p:cBhvr>
                                        <p:cTn id="42" dur="1" fill="hold">
                                          <p:stCondLst>
                                            <p:cond delay="0"/>
                                          </p:stCondLst>
                                        </p:cTn>
                                        <p:tgtEl>
                                          <p:spTgt spid="555024"/>
                                        </p:tgtEl>
                                        <p:attrNameLst>
                                          <p:attrName>style.visibility</p:attrName>
                                        </p:attrNameLst>
                                      </p:cBhvr>
                                      <p:to>
                                        <p:strVal val="visible"/>
                                      </p:to>
                                    </p:set>
                                    <p:animEffect transition="in" filter="dissolve">
                                      <p:cBhvr>
                                        <p:cTn id="43" dur="500"/>
                                        <p:tgtEl>
                                          <p:spTgt spid="55502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555025"/>
                                        </p:tgtEl>
                                        <p:attrNameLst>
                                          <p:attrName>style.visibility</p:attrName>
                                        </p:attrNameLst>
                                      </p:cBhvr>
                                      <p:to>
                                        <p:strVal val="visible"/>
                                      </p:to>
                                    </p:set>
                                    <p:animEffect transition="in" filter="dissolve">
                                      <p:cBhvr>
                                        <p:cTn id="46" dur="500"/>
                                        <p:tgtEl>
                                          <p:spTgt spid="555025"/>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555026"/>
                                        </p:tgtEl>
                                        <p:attrNameLst>
                                          <p:attrName>style.visibility</p:attrName>
                                        </p:attrNameLst>
                                      </p:cBhvr>
                                      <p:to>
                                        <p:strVal val="visible"/>
                                      </p:to>
                                    </p:set>
                                    <p:animEffect transition="in" filter="dissolve">
                                      <p:cBhvr>
                                        <p:cTn id="49" dur="500"/>
                                        <p:tgtEl>
                                          <p:spTgt spid="555026"/>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555027"/>
                                        </p:tgtEl>
                                        <p:attrNameLst>
                                          <p:attrName>style.visibility</p:attrName>
                                        </p:attrNameLst>
                                      </p:cBhvr>
                                      <p:to>
                                        <p:strVal val="visible"/>
                                      </p:to>
                                    </p:set>
                                    <p:animEffect transition="in" filter="dissolve">
                                      <p:cBhvr>
                                        <p:cTn id="52" dur="500"/>
                                        <p:tgtEl>
                                          <p:spTgt spid="55502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55028"/>
                                        </p:tgtEl>
                                        <p:attrNameLst>
                                          <p:attrName>style.visibility</p:attrName>
                                        </p:attrNameLst>
                                      </p:cBhvr>
                                      <p:to>
                                        <p:strVal val="visible"/>
                                      </p:to>
                                    </p:set>
                                    <p:animEffect transition="in" filter="dissolve">
                                      <p:cBhvr>
                                        <p:cTn id="55" dur="500"/>
                                        <p:tgtEl>
                                          <p:spTgt spid="555028"/>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55029"/>
                                        </p:tgtEl>
                                        <p:attrNameLst>
                                          <p:attrName>style.visibility</p:attrName>
                                        </p:attrNameLst>
                                      </p:cBhvr>
                                      <p:to>
                                        <p:strVal val="visible"/>
                                      </p:to>
                                    </p:set>
                                    <p:animEffect transition="in" filter="dissolve">
                                      <p:cBhvr>
                                        <p:cTn id="58" dur="500"/>
                                        <p:tgtEl>
                                          <p:spTgt spid="555029"/>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555030"/>
                                        </p:tgtEl>
                                        <p:attrNameLst>
                                          <p:attrName>style.visibility</p:attrName>
                                        </p:attrNameLst>
                                      </p:cBhvr>
                                      <p:to>
                                        <p:strVal val="visible"/>
                                      </p:to>
                                    </p:set>
                                    <p:animEffect transition="in" filter="dissolve">
                                      <p:cBhvr>
                                        <p:cTn id="61" dur="500"/>
                                        <p:tgtEl>
                                          <p:spTgt spid="555030"/>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55031"/>
                                        </p:tgtEl>
                                        <p:attrNameLst>
                                          <p:attrName>style.visibility</p:attrName>
                                        </p:attrNameLst>
                                      </p:cBhvr>
                                      <p:to>
                                        <p:strVal val="visible"/>
                                      </p:to>
                                    </p:set>
                                    <p:animEffect transition="in" filter="dissolve">
                                      <p:cBhvr>
                                        <p:cTn id="64" dur="500"/>
                                        <p:tgtEl>
                                          <p:spTgt spid="55503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55032"/>
                                        </p:tgtEl>
                                        <p:attrNameLst>
                                          <p:attrName>style.visibility</p:attrName>
                                        </p:attrNameLst>
                                      </p:cBhvr>
                                      <p:to>
                                        <p:strVal val="visible"/>
                                      </p:to>
                                    </p:set>
                                    <p:animEffect transition="in" filter="dissolve">
                                      <p:cBhvr>
                                        <p:cTn id="67" dur="500"/>
                                        <p:tgtEl>
                                          <p:spTgt spid="555032"/>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555033"/>
                                        </p:tgtEl>
                                        <p:attrNameLst>
                                          <p:attrName>style.visibility</p:attrName>
                                        </p:attrNameLst>
                                      </p:cBhvr>
                                      <p:to>
                                        <p:strVal val="visible"/>
                                      </p:to>
                                    </p:set>
                                    <p:animEffect transition="in" filter="dissolve">
                                      <p:cBhvr>
                                        <p:cTn id="70" dur="500"/>
                                        <p:tgtEl>
                                          <p:spTgt spid="555033"/>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555034"/>
                                        </p:tgtEl>
                                        <p:attrNameLst>
                                          <p:attrName>style.visibility</p:attrName>
                                        </p:attrNameLst>
                                      </p:cBhvr>
                                      <p:to>
                                        <p:strVal val="visible"/>
                                      </p:to>
                                    </p:set>
                                    <p:animEffect transition="in" filter="dissolve">
                                      <p:cBhvr>
                                        <p:cTn id="73" dur="500"/>
                                        <p:tgtEl>
                                          <p:spTgt spid="555034"/>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555035"/>
                                        </p:tgtEl>
                                        <p:attrNameLst>
                                          <p:attrName>style.visibility</p:attrName>
                                        </p:attrNameLst>
                                      </p:cBhvr>
                                      <p:to>
                                        <p:strVal val="visible"/>
                                      </p:to>
                                    </p:set>
                                    <p:animEffect transition="in" filter="dissolve">
                                      <p:cBhvr>
                                        <p:cTn id="76" dur="500"/>
                                        <p:tgtEl>
                                          <p:spTgt spid="555035"/>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555036"/>
                                        </p:tgtEl>
                                        <p:attrNameLst>
                                          <p:attrName>style.visibility</p:attrName>
                                        </p:attrNameLst>
                                      </p:cBhvr>
                                      <p:to>
                                        <p:strVal val="visible"/>
                                      </p:to>
                                    </p:set>
                                    <p:animEffect transition="in" filter="dissolve">
                                      <p:cBhvr>
                                        <p:cTn id="79" dur="500"/>
                                        <p:tgtEl>
                                          <p:spTgt spid="555036"/>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555037"/>
                                        </p:tgtEl>
                                        <p:attrNameLst>
                                          <p:attrName>style.visibility</p:attrName>
                                        </p:attrNameLst>
                                      </p:cBhvr>
                                      <p:to>
                                        <p:strVal val="visible"/>
                                      </p:to>
                                    </p:set>
                                    <p:animEffect transition="in" filter="dissolve">
                                      <p:cBhvr>
                                        <p:cTn id="82" dur="500"/>
                                        <p:tgtEl>
                                          <p:spTgt spid="555037"/>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555038"/>
                                        </p:tgtEl>
                                        <p:attrNameLst>
                                          <p:attrName>style.visibility</p:attrName>
                                        </p:attrNameLst>
                                      </p:cBhvr>
                                      <p:to>
                                        <p:strVal val="visible"/>
                                      </p:to>
                                    </p:set>
                                    <p:animEffect transition="in" filter="dissolve">
                                      <p:cBhvr>
                                        <p:cTn id="85" dur="500"/>
                                        <p:tgtEl>
                                          <p:spTgt spid="555038"/>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555039"/>
                                        </p:tgtEl>
                                        <p:attrNameLst>
                                          <p:attrName>style.visibility</p:attrName>
                                        </p:attrNameLst>
                                      </p:cBhvr>
                                      <p:to>
                                        <p:strVal val="visible"/>
                                      </p:to>
                                    </p:set>
                                    <p:animEffect transition="in" filter="dissolve">
                                      <p:cBhvr>
                                        <p:cTn id="88" dur="500"/>
                                        <p:tgtEl>
                                          <p:spTgt spid="555039"/>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555040"/>
                                        </p:tgtEl>
                                        <p:attrNameLst>
                                          <p:attrName>style.visibility</p:attrName>
                                        </p:attrNameLst>
                                      </p:cBhvr>
                                      <p:to>
                                        <p:strVal val="visible"/>
                                      </p:to>
                                    </p:set>
                                    <p:animEffect transition="in" filter="dissolve">
                                      <p:cBhvr>
                                        <p:cTn id="91" dur="500"/>
                                        <p:tgtEl>
                                          <p:spTgt spid="555040"/>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555044"/>
                                        </p:tgtEl>
                                        <p:attrNameLst>
                                          <p:attrName>style.visibility</p:attrName>
                                        </p:attrNameLst>
                                      </p:cBhvr>
                                      <p:to>
                                        <p:strVal val="visible"/>
                                      </p:to>
                                    </p:set>
                                    <p:animEffect transition="in" filter="dissolve">
                                      <p:cBhvr>
                                        <p:cTn id="94" dur="500"/>
                                        <p:tgtEl>
                                          <p:spTgt spid="555044"/>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nodeType="clickEffect">
                                  <p:stCondLst>
                                    <p:cond delay="0"/>
                                  </p:stCondLst>
                                  <p:childTnLst>
                                    <p:set>
                                      <p:cBhvr>
                                        <p:cTn id="98" dur="1" fill="hold">
                                          <p:stCondLst>
                                            <p:cond delay="0"/>
                                          </p:stCondLst>
                                        </p:cTn>
                                        <p:tgtEl>
                                          <p:spTgt spid="555041"/>
                                        </p:tgtEl>
                                        <p:attrNameLst>
                                          <p:attrName>style.visibility</p:attrName>
                                        </p:attrNameLst>
                                      </p:cBhvr>
                                      <p:to>
                                        <p:strVal val="visible"/>
                                      </p:to>
                                    </p:set>
                                    <p:animEffect transition="in" filter="dissolve">
                                      <p:cBhvr>
                                        <p:cTn id="99" dur="500"/>
                                        <p:tgtEl>
                                          <p:spTgt spid="555041"/>
                                        </p:tgtEl>
                                      </p:cBhvr>
                                    </p:animEffect>
                                  </p:childTnLst>
                                </p:cTn>
                              </p:par>
                            </p:childTnLst>
                          </p:cTn>
                        </p:par>
                      </p:childTnLst>
                    </p:cTn>
                  </p:par>
                  <p:par>
                    <p:cTn id="100" fill="hold" nodeType="clickPar">
                      <p:stCondLst>
                        <p:cond delay="indefinite"/>
                      </p:stCondLst>
                      <p:childTnLst>
                        <p:par>
                          <p:cTn id="101" fill="hold" nodeType="withGroup">
                            <p:stCondLst>
                              <p:cond delay="0"/>
                            </p:stCondLst>
                            <p:childTnLst>
                              <p:par>
                                <p:cTn id="102" presetID="9" presetClass="entr" presetSubtype="0" fill="hold" grpId="0" nodeType="clickEffect">
                                  <p:stCondLst>
                                    <p:cond delay="0"/>
                                  </p:stCondLst>
                                  <p:childTnLst>
                                    <p:set>
                                      <p:cBhvr>
                                        <p:cTn id="103" dur="1" fill="hold">
                                          <p:stCondLst>
                                            <p:cond delay="0"/>
                                          </p:stCondLst>
                                        </p:cTn>
                                        <p:tgtEl>
                                          <p:spTgt spid="555045"/>
                                        </p:tgtEl>
                                        <p:attrNameLst>
                                          <p:attrName>style.visibility</p:attrName>
                                        </p:attrNameLst>
                                      </p:cBhvr>
                                      <p:to>
                                        <p:strVal val="visible"/>
                                      </p:to>
                                    </p:set>
                                    <p:animEffect transition="in" filter="dissolve">
                                      <p:cBhvr>
                                        <p:cTn id="104" dur="500"/>
                                        <p:tgtEl>
                                          <p:spTgt spid="555045"/>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555046"/>
                                        </p:tgtEl>
                                        <p:attrNameLst>
                                          <p:attrName>style.visibility</p:attrName>
                                        </p:attrNameLst>
                                      </p:cBhvr>
                                      <p:to>
                                        <p:strVal val="visible"/>
                                      </p:to>
                                    </p:set>
                                    <p:animEffect transition="in" filter="dissolve">
                                      <p:cBhvr>
                                        <p:cTn id="107" dur="500"/>
                                        <p:tgtEl>
                                          <p:spTgt spid="555046"/>
                                        </p:tgtEl>
                                      </p:cBhvr>
                                    </p:animEffect>
                                  </p:childTnLst>
                                </p:cTn>
                              </p:par>
                              <p:par>
                                <p:cTn id="108" presetID="9" presetClass="entr" presetSubtype="0" fill="hold" grpId="0" nodeType="withEffect">
                                  <p:stCondLst>
                                    <p:cond delay="0"/>
                                  </p:stCondLst>
                                  <p:childTnLst>
                                    <p:set>
                                      <p:cBhvr>
                                        <p:cTn id="109" dur="1" fill="hold">
                                          <p:stCondLst>
                                            <p:cond delay="0"/>
                                          </p:stCondLst>
                                        </p:cTn>
                                        <p:tgtEl>
                                          <p:spTgt spid="555047"/>
                                        </p:tgtEl>
                                        <p:attrNameLst>
                                          <p:attrName>style.visibility</p:attrName>
                                        </p:attrNameLst>
                                      </p:cBhvr>
                                      <p:to>
                                        <p:strVal val="visible"/>
                                      </p:to>
                                    </p:set>
                                    <p:animEffect transition="in" filter="dissolve">
                                      <p:cBhvr>
                                        <p:cTn id="110" dur="500"/>
                                        <p:tgtEl>
                                          <p:spTgt spid="555047"/>
                                        </p:tgtEl>
                                      </p:cBhvr>
                                    </p:animEffect>
                                  </p:childTnLst>
                                </p:cTn>
                              </p:par>
                              <p:par>
                                <p:cTn id="111" presetID="9" presetClass="entr" presetSubtype="0" fill="hold" grpId="0" nodeType="withEffect">
                                  <p:stCondLst>
                                    <p:cond delay="0"/>
                                  </p:stCondLst>
                                  <p:childTnLst>
                                    <p:set>
                                      <p:cBhvr>
                                        <p:cTn id="112" dur="1" fill="hold">
                                          <p:stCondLst>
                                            <p:cond delay="0"/>
                                          </p:stCondLst>
                                        </p:cTn>
                                        <p:tgtEl>
                                          <p:spTgt spid="555048"/>
                                        </p:tgtEl>
                                        <p:attrNameLst>
                                          <p:attrName>style.visibility</p:attrName>
                                        </p:attrNameLst>
                                      </p:cBhvr>
                                      <p:to>
                                        <p:strVal val="visible"/>
                                      </p:to>
                                    </p:set>
                                    <p:animEffect transition="in" filter="dissolve">
                                      <p:cBhvr>
                                        <p:cTn id="113" dur="500"/>
                                        <p:tgtEl>
                                          <p:spTgt spid="55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5025" grpId="0" animBg="1"/>
      <p:bldP spid="555026" grpId="0"/>
      <p:bldP spid="555027" grpId="0" animBg="1"/>
      <p:bldP spid="555028" grpId="0"/>
      <p:bldP spid="555029" grpId="0" animBg="1"/>
      <p:bldP spid="555030" grpId="0"/>
      <p:bldP spid="555031" grpId="0" animBg="1"/>
      <p:bldP spid="555032" grpId="0"/>
      <p:bldP spid="555033" grpId="0" animBg="1"/>
      <p:bldP spid="555034" grpId="0"/>
      <p:bldP spid="555035" grpId="0" animBg="1"/>
      <p:bldP spid="555036" grpId="0"/>
      <p:bldP spid="555037" grpId="0" animBg="1"/>
      <p:bldP spid="555038" grpId="0"/>
      <p:bldP spid="555039" grpId="0" animBg="1"/>
      <p:bldP spid="555040" grpId="0"/>
      <p:bldP spid="555044" grpId="0"/>
      <p:bldP spid="555045" grpId="0"/>
      <p:bldP spid="555046" grpId="0" animBg="1"/>
      <p:bldP spid="555047" grpId="0" animBg="1"/>
      <p:bldP spid="5550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1EC253AD-7082-4CA1-8CB5-2693B3D94B0D}" type="slidenum">
              <a:rPr lang="en-US" altLang="de-DE" sz="1000">
                <a:solidFill>
                  <a:srgbClr val="C0C0C0"/>
                </a:solidFill>
              </a:rPr>
              <a:pPr/>
              <a:t>10</a:t>
            </a:fld>
            <a:endParaRPr lang="en-US" altLang="de-DE" sz="1000">
              <a:solidFill>
                <a:srgbClr val="C0C0C0"/>
              </a:solidFill>
            </a:endParaRPr>
          </a:p>
        </p:txBody>
      </p:sp>
      <p:sp>
        <p:nvSpPr>
          <p:cNvPr id="565251" name="Text Box 3"/>
          <p:cNvSpPr txBox="1">
            <a:spLocks noChangeArrowheads="1"/>
          </p:cNvSpPr>
          <p:nvPr/>
        </p:nvSpPr>
        <p:spPr bwMode="auto">
          <a:xfrm>
            <a:off x="608013" y="1446213"/>
            <a:ext cx="4684712" cy="3992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Cost </a:t>
            </a:r>
            <a:r>
              <a:rPr lang="de-DE" altLang="de-DE" i="1">
                <a:solidFill>
                  <a:srgbClr val="CC0000"/>
                </a:solidFill>
              </a:rPr>
              <a:t>D</a:t>
            </a:r>
            <a:r>
              <a:rPr lang="de-DE" altLang="de-DE">
                <a:solidFill>
                  <a:srgbClr val="CC0000"/>
                </a:solidFill>
              </a:rPr>
              <a:t>(</a:t>
            </a:r>
            <a:r>
              <a:rPr lang="de-DE" altLang="de-DE" i="1">
                <a:solidFill>
                  <a:srgbClr val="CC0000"/>
                </a:solidFill>
              </a:rPr>
              <a:t>v</a:t>
            </a:r>
            <a:r>
              <a:rPr lang="de-DE" altLang="de-DE">
                <a:solidFill>
                  <a:srgbClr val="CC0000"/>
                </a:solidFill>
              </a:rPr>
              <a:t>) of moving a node </a:t>
            </a:r>
            <a:r>
              <a:rPr lang="de-DE" altLang="de-DE" i="1">
                <a:solidFill>
                  <a:srgbClr val="CC0000"/>
                </a:solidFill>
              </a:rPr>
              <a:t>v </a:t>
            </a:r>
          </a:p>
          <a:p>
            <a:pPr algn="l">
              <a:lnSpc>
                <a:spcPct val="100000"/>
              </a:lnSpc>
              <a:spcBef>
                <a:spcPct val="25000"/>
              </a:spcBef>
            </a:pPr>
            <a:endParaRPr lang="de-DE" altLang="de-DE" i="1">
              <a:solidFill>
                <a:srgbClr val="CC0000"/>
              </a:solidFill>
            </a:endParaRPr>
          </a:p>
          <a:p>
            <a:pPr algn="l">
              <a:lnSpc>
                <a:spcPct val="100000"/>
              </a:lnSpc>
              <a:spcBef>
                <a:spcPct val="25000"/>
              </a:spcBef>
            </a:pPr>
            <a:r>
              <a:rPr lang="de-DE" altLang="de-DE" i="1"/>
              <a:t>D</a:t>
            </a:r>
            <a:r>
              <a:rPr lang="de-DE" altLang="de-DE"/>
              <a:t>(</a:t>
            </a:r>
            <a:r>
              <a:rPr lang="de-DE" altLang="de-DE" i="1"/>
              <a:t>v</a:t>
            </a:r>
            <a:r>
              <a:rPr lang="de-DE" altLang="de-DE"/>
              <a:t>) = </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E</a:t>
            </a:r>
            <a:r>
              <a:rPr lang="en-US" altLang="zh-CN" baseline="-25000">
                <a:ea typeface="宋体" panose="02010600030101010101" pitchFamily="2" charset="-122"/>
                <a:sym typeface="Symbol" panose="05050102010706020507" pitchFamily="18" charset="2"/>
              </a:rPr>
              <a:t>c</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E</a:t>
            </a:r>
            <a:r>
              <a:rPr lang="en-US" altLang="zh-CN" baseline="-25000">
                <a:ea typeface="宋体" panose="02010600030101010101" pitchFamily="2" charset="-122"/>
                <a:sym typeface="Symbol" panose="05050102010706020507" pitchFamily="18" charset="2"/>
              </a:rPr>
              <a:t>nc</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a:t>
            </a:r>
            <a:r>
              <a:rPr lang="de-DE" altLang="de-DE"/>
              <a:t>, </a:t>
            </a:r>
          </a:p>
          <a:p>
            <a:pPr algn="l">
              <a:lnSpc>
                <a:spcPct val="100000"/>
              </a:lnSpc>
              <a:spcBef>
                <a:spcPct val="25000"/>
              </a:spcBef>
            </a:pPr>
            <a:endParaRPr lang="de-DE" altLang="de-DE"/>
          </a:p>
          <a:p>
            <a:pPr algn="l">
              <a:lnSpc>
                <a:spcPct val="100000"/>
              </a:lnSpc>
              <a:spcBef>
                <a:spcPct val="25000"/>
              </a:spcBef>
            </a:pPr>
            <a:r>
              <a:rPr lang="en-US" altLang="zh-CN" sz="1400">
                <a:ea typeface="宋体" panose="02010600030101010101" pitchFamily="2" charset="-122"/>
              </a:rPr>
              <a:t>where</a:t>
            </a:r>
            <a:r>
              <a:rPr lang="de-DE" altLang="de-DE" sz="1400"/>
              <a:t> </a:t>
            </a:r>
          </a:p>
          <a:p>
            <a:pPr algn="l">
              <a:lnSpc>
                <a:spcPct val="100000"/>
              </a:lnSpc>
              <a:spcBef>
                <a:spcPct val="25000"/>
              </a:spcBef>
            </a:pPr>
            <a:r>
              <a:rPr lang="en-US" altLang="zh-CN" sz="1400" i="1">
                <a:ea typeface="宋体" panose="02010600030101010101" pitchFamily="2" charset="-122"/>
              </a:rPr>
              <a:t>E</a:t>
            </a:r>
            <a:r>
              <a:rPr lang="en-US" altLang="zh-CN" sz="1400" baseline="-25000">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v</a:t>
            </a:r>
            <a:r>
              <a:rPr lang="en-US" altLang="zh-CN" sz="1400">
                <a:ea typeface="宋体" panose="02010600030101010101" pitchFamily="2" charset="-122"/>
              </a:rPr>
              <a:t>) is the set of </a:t>
            </a:r>
            <a:r>
              <a:rPr lang="en-US" altLang="zh-CN" sz="1400" i="1">
                <a:ea typeface="宋体" panose="02010600030101010101" pitchFamily="2" charset="-122"/>
              </a:rPr>
              <a:t>v</a:t>
            </a:r>
            <a:r>
              <a:rPr lang="en-US" altLang="zh-CN" sz="1400">
                <a:ea typeface="宋体" panose="02010600030101010101" pitchFamily="2" charset="-122"/>
              </a:rPr>
              <a:t>’s incident edges that are cut by the cut line, and </a:t>
            </a:r>
          </a:p>
          <a:p>
            <a:pPr algn="l">
              <a:lnSpc>
                <a:spcPct val="100000"/>
              </a:lnSpc>
              <a:spcBef>
                <a:spcPct val="25000"/>
              </a:spcBef>
            </a:pPr>
            <a:r>
              <a:rPr lang="en-US" altLang="zh-CN" sz="1400" i="1">
                <a:ea typeface="宋体" panose="02010600030101010101" pitchFamily="2" charset="-122"/>
              </a:rPr>
              <a:t>E</a:t>
            </a:r>
            <a:r>
              <a:rPr lang="en-US" altLang="zh-CN" sz="1400" baseline="-25000">
                <a:ea typeface="宋体" panose="02010600030101010101" pitchFamily="2" charset="-122"/>
              </a:rPr>
              <a:t>nc</a:t>
            </a:r>
            <a:r>
              <a:rPr lang="en-US" altLang="zh-CN" sz="1400">
                <a:ea typeface="宋体" panose="02010600030101010101" pitchFamily="2" charset="-122"/>
              </a:rPr>
              <a:t>(</a:t>
            </a:r>
            <a:r>
              <a:rPr lang="en-US" altLang="zh-CN" sz="1400" i="1">
                <a:ea typeface="宋体" panose="02010600030101010101" pitchFamily="2" charset="-122"/>
              </a:rPr>
              <a:t>v</a:t>
            </a:r>
            <a:r>
              <a:rPr lang="en-US" altLang="zh-CN" sz="1400">
                <a:ea typeface="宋体" panose="02010600030101010101" pitchFamily="2" charset="-122"/>
              </a:rPr>
              <a:t>) is the set of </a:t>
            </a:r>
            <a:r>
              <a:rPr lang="en-US" altLang="zh-CN" sz="1400" i="1">
                <a:ea typeface="宋体" panose="02010600030101010101" pitchFamily="2" charset="-122"/>
              </a:rPr>
              <a:t>v</a:t>
            </a:r>
            <a:r>
              <a:rPr lang="en-US" altLang="zh-CN" sz="1400">
                <a:ea typeface="宋体" panose="02010600030101010101" pitchFamily="2" charset="-122"/>
              </a:rPr>
              <a:t>’s incident edges that are not cut by the cut line. </a:t>
            </a:r>
            <a:endParaRPr lang="de-DE" altLang="de-DE" sz="1400"/>
          </a:p>
          <a:p>
            <a:pPr algn="l">
              <a:lnSpc>
                <a:spcPct val="100000"/>
              </a:lnSpc>
              <a:spcBef>
                <a:spcPct val="25000"/>
              </a:spcBef>
            </a:pPr>
            <a:endParaRPr lang="de-DE" altLang="de-DE"/>
          </a:p>
          <a:p>
            <a:pPr algn="l">
              <a:lnSpc>
                <a:spcPct val="100000"/>
              </a:lnSpc>
              <a:spcBef>
                <a:spcPct val="25000"/>
              </a:spcBef>
            </a:pPr>
            <a:r>
              <a:rPr lang="en-US" altLang="zh-CN">
                <a:ea typeface="宋体" panose="02010600030101010101" pitchFamily="2" charset="-122"/>
              </a:rPr>
              <a:t>High costs (</a:t>
            </a:r>
            <a:r>
              <a:rPr lang="en-US" altLang="zh-CN" i="1">
                <a:ea typeface="宋体" panose="02010600030101010101" pitchFamily="2" charset="-122"/>
              </a:rPr>
              <a:t>D</a:t>
            </a:r>
            <a:r>
              <a:rPr lang="en-US" altLang="zh-CN">
                <a:ea typeface="宋体" panose="02010600030101010101" pitchFamily="2" charset="-122"/>
              </a:rPr>
              <a:t> &gt; 0) indicate that the node should move, while low costs (</a:t>
            </a:r>
            <a:r>
              <a:rPr lang="en-US" altLang="zh-CN" i="1">
                <a:ea typeface="宋体" panose="02010600030101010101" pitchFamily="2" charset="-122"/>
              </a:rPr>
              <a:t>D</a:t>
            </a:r>
            <a:r>
              <a:rPr lang="en-US" altLang="zh-CN">
                <a:ea typeface="宋体" panose="02010600030101010101" pitchFamily="2" charset="-122"/>
              </a:rPr>
              <a:t> &lt; 0) indicate that the node should stay within the same partition. </a:t>
            </a:r>
            <a:endParaRPr lang="de-DE" altLang="de-DE"/>
          </a:p>
        </p:txBody>
      </p:sp>
      <p:sp>
        <p:nvSpPr>
          <p:cNvPr id="565252" name="Line 4"/>
          <p:cNvSpPr>
            <a:spLocks noChangeAspect="1" noChangeShapeType="1"/>
          </p:cNvSpPr>
          <p:nvPr/>
        </p:nvSpPr>
        <p:spPr bwMode="auto">
          <a:xfrm>
            <a:off x="8067675" y="27400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3" name="Line 5"/>
          <p:cNvSpPr>
            <a:spLocks noChangeAspect="1" noChangeShapeType="1"/>
          </p:cNvSpPr>
          <p:nvPr/>
        </p:nvSpPr>
        <p:spPr bwMode="auto">
          <a:xfrm>
            <a:off x="8072438" y="167640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4" name="Line 6"/>
          <p:cNvSpPr>
            <a:spLocks noChangeAspect="1" noChangeShapeType="1"/>
          </p:cNvSpPr>
          <p:nvPr/>
        </p:nvSpPr>
        <p:spPr bwMode="auto">
          <a:xfrm>
            <a:off x="7437438" y="27463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5" name="Line 7"/>
          <p:cNvSpPr>
            <a:spLocks noChangeAspect="1" noChangeShapeType="1"/>
          </p:cNvSpPr>
          <p:nvPr/>
        </p:nvSpPr>
        <p:spPr bwMode="auto">
          <a:xfrm>
            <a:off x="7437438" y="169386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6" name="Line 8"/>
          <p:cNvSpPr>
            <a:spLocks noChangeAspect="1" noChangeShapeType="1"/>
          </p:cNvSpPr>
          <p:nvPr/>
        </p:nvSpPr>
        <p:spPr bwMode="auto">
          <a:xfrm flipH="1">
            <a:off x="7483475" y="2246313"/>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7" name="Line 9"/>
          <p:cNvSpPr>
            <a:spLocks noChangeAspect="1" noChangeShapeType="1"/>
          </p:cNvSpPr>
          <p:nvPr/>
        </p:nvSpPr>
        <p:spPr bwMode="auto">
          <a:xfrm flipH="1">
            <a:off x="7469188" y="2811463"/>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8" name="Line 10"/>
          <p:cNvSpPr>
            <a:spLocks noChangeAspect="1" noChangeShapeType="1"/>
          </p:cNvSpPr>
          <p:nvPr/>
        </p:nvSpPr>
        <p:spPr bwMode="auto">
          <a:xfrm flipH="1">
            <a:off x="7459663" y="173355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59" name="Line 11"/>
          <p:cNvSpPr>
            <a:spLocks noChangeAspect="1" noChangeShapeType="1"/>
          </p:cNvSpPr>
          <p:nvPr/>
        </p:nvSpPr>
        <p:spPr bwMode="auto">
          <a:xfrm>
            <a:off x="7373938" y="2747963"/>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60" name="Line 12"/>
          <p:cNvSpPr>
            <a:spLocks noChangeAspect="1" noChangeShapeType="1"/>
          </p:cNvSpPr>
          <p:nvPr/>
        </p:nvSpPr>
        <p:spPr bwMode="auto">
          <a:xfrm>
            <a:off x="7440613" y="1697038"/>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61" name="Line 13"/>
          <p:cNvSpPr>
            <a:spLocks noChangeAspect="1" noChangeShapeType="1"/>
          </p:cNvSpPr>
          <p:nvPr/>
        </p:nvSpPr>
        <p:spPr bwMode="auto">
          <a:xfrm>
            <a:off x="7500938"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62" name="Line 14"/>
          <p:cNvSpPr>
            <a:spLocks noChangeAspect="1" noChangeShapeType="1"/>
          </p:cNvSpPr>
          <p:nvPr/>
        </p:nvSpPr>
        <p:spPr bwMode="auto">
          <a:xfrm>
            <a:off x="7469188" y="2782888"/>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63" name="Line 15"/>
          <p:cNvSpPr>
            <a:spLocks noChangeAspect="1" noChangeShapeType="1"/>
          </p:cNvSpPr>
          <p:nvPr/>
        </p:nvSpPr>
        <p:spPr bwMode="auto">
          <a:xfrm>
            <a:off x="7475538" y="334168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64" name="Line 16"/>
          <p:cNvSpPr>
            <a:spLocks noChangeAspect="1" noChangeShapeType="1"/>
          </p:cNvSpPr>
          <p:nvPr/>
        </p:nvSpPr>
        <p:spPr bwMode="auto">
          <a:xfrm>
            <a:off x="7483475" y="17065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65" name="Oval 17"/>
          <p:cNvSpPr>
            <a:spLocks noChangeAspect="1" noChangeArrowheads="1"/>
          </p:cNvSpPr>
          <p:nvPr/>
        </p:nvSpPr>
        <p:spPr bwMode="auto">
          <a:xfrm>
            <a:off x="7265988" y="2089150"/>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66" name="Rectangle 18"/>
          <p:cNvSpPr>
            <a:spLocks noChangeAspect="1" noChangeArrowheads="1"/>
          </p:cNvSpPr>
          <p:nvPr/>
        </p:nvSpPr>
        <p:spPr bwMode="auto">
          <a:xfrm>
            <a:off x="7296150" y="2114550"/>
            <a:ext cx="261938"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565267" name="Oval 19"/>
          <p:cNvSpPr>
            <a:spLocks noChangeAspect="1" noChangeArrowheads="1"/>
          </p:cNvSpPr>
          <p:nvPr/>
        </p:nvSpPr>
        <p:spPr bwMode="auto">
          <a:xfrm>
            <a:off x="7904163" y="154463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68" name="Rectangle 20"/>
          <p:cNvSpPr>
            <a:spLocks noChangeAspect="1" noChangeArrowheads="1"/>
          </p:cNvSpPr>
          <p:nvPr/>
        </p:nvSpPr>
        <p:spPr bwMode="auto">
          <a:xfrm>
            <a:off x="7935913" y="1576388"/>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565269" name="Oval 21"/>
          <p:cNvSpPr>
            <a:spLocks noChangeAspect="1" noChangeArrowheads="1"/>
          </p:cNvSpPr>
          <p:nvPr/>
        </p:nvSpPr>
        <p:spPr bwMode="auto">
          <a:xfrm>
            <a:off x="7918450" y="2089150"/>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70" name="Rectangle 22"/>
          <p:cNvSpPr>
            <a:spLocks noChangeAspect="1" noChangeArrowheads="1"/>
          </p:cNvSpPr>
          <p:nvPr/>
        </p:nvSpPr>
        <p:spPr bwMode="auto">
          <a:xfrm>
            <a:off x="7935913" y="2112963"/>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565271" name="Oval 23"/>
          <p:cNvSpPr>
            <a:spLocks noChangeAspect="1" noChangeArrowheads="1"/>
          </p:cNvSpPr>
          <p:nvPr/>
        </p:nvSpPr>
        <p:spPr bwMode="auto">
          <a:xfrm>
            <a:off x="7265988" y="263207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72" name="Rectangle 24"/>
          <p:cNvSpPr>
            <a:spLocks noChangeAspect="1" noChangeArrowheads="1"/>
          </p:cNvSpPr>
          <p:nvPr/>
        </p:nvSpPr>
        <p:spPr bwMode="auto">
          <a:xfrm>
            <a:off x="7304088" y="266382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565273" name="Oval 25"/>
          <p:cNvSpPr>
            <a:spLocks noChangeAspect="1" noChangeArrowheads="1"/>
          </p:cNvSpPr>
          <p:nvPr/>
        </p:nvSpPr>
        <p:spPr bwMode="auto">
          <a:xfrm>
            <a:off x="7281863" y="1544638"/>
            <a:ext cx="323850"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74" name="Rectangle 26"/>
          <p:cNvSpPr>
            <a:spLocks noChangeAspect="1" noChangeArrowheads="1"/>
          </p:cNvSpPr>
          <p:nvPr/>
        </p:nvSpPr>
        <p:spPr bwMode="auto">
          <a:xfrm>
            <a:off x="7310438" y="1581150"/>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565275" name="Oval 27"/>
          <p:cNvSpPr>
            <a:spLocks noChangeAspect="1" noChangeArrowheads="1"/>
          </p:cNvSpPr>
          <p:nvPr/>
        </p:nvSpPr>
        <p:spPr bwMode="auto">
          <a:xfrm>
            <a:off x="7265988" y="3175000"/>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76" name="Rectangle 28"/>
          <p:cNvSpPr>
            <a:spLocks noChangeAspect="1" noChangeArrowheads="1"/>
          </p:cNvSpPr>
          <p:nvPr/>
        </p:nvSpPr>
        <p:spPr bwMode="auto">
          <a:xfrm>
            <a:off x="7297738" y="3206750"/>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565277" name="Oval 29"/>
          <p:cNvSpPr>
            <a:spLocks noChangeAspect="1" noChangeArrowheads="1"/>
          </p:cNvSpPr>
          <p:nvPr/>
        </p:nvSpPr>
        <p:spPr bwMode="auto">
          <a:xfrm>
            <a:off x="7904163" y="263207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78" name="Rectangle 30"/>
          <p:cNvSpPr>
            <a:spLocks noChangeAspect="1" noChangeArrowheads="1"/>
          </p:cNvSpPr>
          <p:nvPr/>
        </p:nvSpPr>
        <p:spPr bwMode="auto">
          <a:xfrm>
            <a:off x="7935913" y="266382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565279" name="Oval 31"/>
          <p:cNvSpPr>
            <a:spLocks noChangeAspect="1" noChangeArrowheads="1"/>
          </p:cNvSpPr>
          <p:nvPr/>
        </p:nvSpPr>
        <p:spPr bwMode="auto">
          <a:xfrm>
            <a:off x="7918450" y="317500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5280" name="Rectangle 32"/>
          <p:cNvSpPr>
            <a:spLocks noChangeAspect="1" noChangeArrowheads="1"/>
          </p:cNvSpPr>
          <p:nvPr/>
        </p:nvSpPr>
        <p:spPr bwMode="auto">
          <a:xfrm>
            <a:off x="7951788" y="321786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565281" name="Line 33"/>
          <p:cNvSpPr>
            <a:spLocks noChangeAspect="1" noChangeShapeType="1"/>
          </p:cNvSpPr>
          <p:nvPr/>
        </p:nvSpPr>
        <p:spPr bwMode="auto">
          <a:xfrm>
            <a:off x="7766050" y="1436688"/>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5282" name="Text Box 34"/>
          <p:cNvSpPr txBox="1">
            <a:spLocks noChangeArrowheads="1"/>
          </p:cNvSpPr>
          <p:nvPr/>
        </p:nvSpPr>
        <p:spPr bwMode="auto">
          <a:xfrm>
            <a:off x="5583238" y="2924175"/>
            <a:ext cx="1435100" cy="709613"/>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600"/>
              <a:t>Node 3:</a:t>
            </a:r>
          </a:p>
          <a:p>
            <a:pPr algn="l"/>
            <a:r>
              <a:rPr lang="de-DE" altLang="de-DE" sz="1600" i="1"/>
              <a:t>D</a:t>
            </a:r>
            <a:r>
              <a:rPr lang="de-DE" altLang="de-DE" sz="1600"/>
              <a:t>(3) = 3-1=2</a:t>
            </a:r>
            <a:endParaRPr lang="en-US" altLang="zh-CN" sz="1600">
              <a:ea typeface="宋体" panose="02010600030101010101" pitchFamily="2" charset="-122"/>
            </a:endParaRPr>
          </a:p>
        </p:txBody>
      </p:sp>
      <p:sp>
        <p:nvSpPr>
          <p:cNvPr id="565284" name="Text Box 36"/>
          <p:cNvSpPr txBox="1">
            <a:spLocks noChangeArrowheads="1"/>
          </p:cNvSpPr>
          <p:nvPr/>
        </p:nvSpPr>
        <p:spPr bwMode="auto">
          <a:xfrm>
            <a:off x="6442075" y="4138613"/>
            <a:ext cx="1435100" cy="70961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600"/>
              <a:t>Node 7:</a:t>
            </a:r>
          </a:p>
          <a:p>
            <a:pPr algn="l"/>
            <a:r>
              <a:rPr lang="de-DE" altLang="de-DE" sz="1600" i="1"/>
              <a:t>D</a:t>
            </a:r>
            <a:r>
              <a:rPr lang="de-DE" altLang="de-DE" sz="1600"/>
              <a:t>(7) = 2-1=1</a:t>
            </a:r>
            <a:endParaRPr lang="en-US" altLang="zh-CN" sz="1600">
              <a:ea typeface="宋体" panose="02010600030101010101" pitchFamily="2" charset="-122"/>
            </a:endParaRPr>
          </a:p>
        </p:txBody>
      </p:sp>
      <p:sp>
        <p:nvSpPr>
          <p:cNvPr id="565285" name="Line 37"/>
          <p:cNvSpPr>
            <a:spLocks noChangeShapeType="1"/>
          </p:cNvSpPr>
          <p:nvPr/>
        </p:nvSpPr>
        <p:spPr bwMode="auto">
          <a:xfrm flipV="1">
            <a:off x="7018338" y="2925763"/>
            <a:ext cx="247650" cy="2492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565286" name="Freeform 38"/>
          <p:cNvSpPr>
            <a:spLocks/>
          </p:cNvSpPr>
          <p:nvPr/>
        </p:nvSpPr>
        <p:spPr bwMode="auto">
          <a:xfrm>
            <a:off x="7885113" y="2924175"/>
            <a:ext cx="563562" cy="1441450"/>
          </a:xfrm>
          <a:custGeom>
            <a:avLst/>
            <a:gdLst>
              <a:gd name="T0" fmla="*/ 0 w 355"/>
              <a:gd name="T1" fmla="*/ 1441450 h 908"/>
              <a:gd name="T2" fmla="*/ 503237 w 355"/>
              <a:gd name="T3" fmla="*/ 360363 h 908"/>
              <a:gd name="T4" fmla="*/ 358775 w 355"/>
              <a:gd name="T5" fmla="*/ 0 h 908"/>
              <a:gd name="T6" fmla="*/ 0 60000 65536"/>
              <a:gd name="T7" fmla="*/ 0 60000 65536"/>
              <a:gd name="T8" fmla="*/ 0 60000 65536"/>
            </a:gdLst>
            <a:ahLst/>
            <a:cxnLst>
              <a:cxn ang="T6">
                <a:pos x="T0" y="T1"/>
              </a:cxn>
              <a:cxn ang="T7">
                <a:pos x="T2" y="T3"/>
              </a:cxn>
              <a:cxn ang="T8">
                <a:pos x="T4" y="T5"/>
              </a:cxn>
            </a:cxnLst>
            <a:rect l="0" t="0" r="r" b="b"/>
            <a:pathLst>
              <a:path w="355" h="908">
                <a:moveTo>
                  <a:pt x="0" y="908"/>
                </a:moveTo>
                <a:cubicBezTo>
                  <a:pt x="139" y="643"/>
                  <a:pt x="279" y="378"/>
                  <a:pt x="317" y="227"/>
                </a:cubicBezTo>
                <a:cubicBezTo>
                  <a:pt x="355" y="76"/>
                  <a:pt x="290" y="38"/>
                  <a:pt x="226"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11302" name="Rectangle 41"/>
          <p:cNvSpPr>
            <a:spLocks noGrp="1" noChangeArrowheads="1"/>
          </p:cNvSpPr>
          <p:nvPr>
            <p:ph type="title"/>
          </p:nvPr>
        </p:nvSpPr>
        <p:spPr/>
        <p:txBody>
          <a:bodyPr/>
          <a:lstStyle/>
          <a:p>
            <a:pPr defTabSz="914400"/>
            <a:r>
              <a:rPr lang="en-US" altLang="zh-CN">
                <a:ea typeface="宋体" panose="02010600030101010101" pitchFamily="2" charset="-122"/>
              </a:rPr>
              <a:t>2.4.1  Kernighan-Lin (KL) Algorithm – Terminology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65252"/>
                                        </p:tgtEl>
                                        <p:attrNameLst>
                                          <p:attrName>style.visibility</p:attrName>
                                        </p:attrNameLst>
                                      </p:cBhvr>
                                      <p:to>
                                        <p:strVal val="visible"/>
                                      </p:to>
                                    </p:set>
                                    <p:animEffect transition="in" filter="dissolve">
                                      <p:cBhvr>
                                        <p:cTn id="7" dur="500"/>
                                        <p:tgtEl>
                                          <p:spTgt spid="565252"/>
                                        </p:tgtEl>
                                      </p:cBhvr>
                                    </p:animEffect>
                                  </p:childTnLst>
                                </p:cTn>
                              </p:par>
                              <p:par>
                                <p:cTn id="8" presetID="9" presetClass="entr" presetSubtype="0" fill="hold" nodeType="withEffect">
                                  <p:stCondLst>
                                    <p:cond delay="0"/>
                                  </p:stCondLst>
                                  <p:childTnLst>
                                    <p:set>
                                      <p:cBhvr>
                                        <p:cTn id="9" dur="1" fill="hold">
                                          <p:stCondLst>
                                            <p:cond delay="0"/>
                                          </p:stCondLst>
                                        </p:cTn>
                                        <p:tgtEl>
                                          <p:spTgt spid="565253"/>
                                        </p:tgtEl>
                                        <p:attrNameLst>
                                          <p:attrName>style.visibility</p:attrName>
                                        </p:attrNameLst>
                                      </p:cBhvr>
                                      <p:to>
                                        <p:strVal val="visible"/>
                                      </p:to>
                                    </p:set>
                                    <p:animEffect transition="in" filter="dissolve">
                                      <p:cBhvr>
                                        <p:cTn id="10" dur="500"/>
                                        <p:tgtEl>
                                          <p:spTgt spid="565253"/>
                                        </p:tgtEl>
                                      </p:cBhvr>
                                    </p:animEffect>
                                  </p:childTnLst>
                                </p:cTn>
                              </p:par>
                              <p:par>
                                <p:cTn id="11" presetID="9" presetClass="entr" presetSubtype="0" fill="hold" nodeType="withEffect">
                                  <p:stCondLst>
                                    <p:cond delay="0"/>
                                  </p:stCondLst>
                                  <p:childTnLst>
                                    <p:set>
                                      <p:cBhvr>
                                        <p:cTn id="12" dur="1" fill="hold">
                                          <p:stCondLst>
                                            <p:cond delay="0"/>
                                          </p:stCondLst>
                                        </p:cTn>
                                        <p:tgtEl>
                                          <p:spTgt spid="565254"/>
                                        </p:tgtEl>
                                        <p:attrNameLst>
                                          <p:attrName>style.visibility</p:attrName>
                                        </p:attrNameLst>
                                      </p:cBhvr>
                                      <p:to>
                                        <p:strVal val="visible"/>
                                      </p:to>
                                    </p:set>
                                    <p:animEffect transition="in" filter="dissolve">
                                      <p:cBhvr>
                                        <p:cTn id="13" dur="500"/>
                                        <p:tgtEl>
                                          <p:spTgt spid="565254"/>
                                        </p:tgtEl>
                                      </p:cBhvr>
                                    </p:animEffect>
                                  </p:childTnLst>
                                </p:cTn>
                              </p:par>
                              <p:par>
                                <p:cTn id="14" presetID="9" presetClass="entr" presetSubtype="0" fill="hold" nodeType="withEffect">
                                  <p:stCondLst>
                                    <p:cond delay="0"/>
                                  </p:stCondLst>
                                  <p:childTnLst>
                                    <p:set>
                                      <p:cBhvr>
                                        <p:cTn id="15" dur="1" fill="hold">
                                          <p:stCondLst>
                                            <p:cond delay="0"/>
                                          </p:stCondLst>
                                        </p:cTn>
                                        <p:tgtEl>
                                          <p:spTgt spid="565255"/>
                                        </p:tgtEl>
                                        <p:attrNameLst>
                                          <p:attrName>style.visibility</p:attrName>
                                        </p:attrNameLst>
                                      </p:cBhvr>
                                      <p:to>
                                        <p:strVal val="visible"/>
                                      </p:to>
                                    </p:set>
                                    <p:animEffect transition="in" filter="dissolve">
                                      <p:cBhvr>
                                        <p:cTn id="16" dur="500"/>
                                        <p:tgtEl>
                                          <p:spTgt spid="565255"/>
                                        </p:tgtEl>
                                      </p:cBhvr>
                                    </p:animEffect>
                                  </p:childTnLst>
                                </p:cTn>
                              </p:par>
                              <p:par>
                                <p:cTn id="17" presetID="9" presetClass="entr" presetSubtype="0" fill="hold" nodeType="withEffect">
                                  <p:stCondLst>
                                    <p:cond delay="0"/>
                                  </p:stCondLst>
                                  <p:childTnLst>
                                    <p:set>
                                      <p:cBhvr>
                                        <p:cTn id="18" dur="1" fill="hold">
                                          <p:stCondLst>
                                            <p:cond delay="0"/>
                                          </p:stCondLst>
                                        </p:cTn>
                                        <p:tgtEl>
                                          <p:spTgt spid="565256"/>
                                        </p:tgtEl>
                                        <p:attrNameLst>
                                          <p:attrName>style.visibility</p:attrName>
                                        </p:attrNameLst>
                                      </p:cBhvr>
                                      <p:to>
                                        <p:strVal val="visible"/>
                                      </p:to>
                                    </p:set>
                                    <p:animEffect transition="in" filter="dissolve">
                                      <p:cBhvr>
                                        <p:cTn id="19" dur="500"/>
                                        <p:tgtEl>
                                          <p:spTgt spid="565256"/>
                                        </p:tgtEl>
                                      </p:cBhvr>
                                    </p:animEffect>
                                  </p:childTnLst>
                                </p:cTn>
                              </p:par>
                              <p:par>
                                <p:cTn id="20" presetID="9" presetClass="entr" presetSubtype="0" fill="hold" nodeType="withEffect">
                                  <p:stCondLst>
                                    <p:cond delay="0"/>
                                  </p:stCondLst>
                                  <p:childTnLst>
                                    <p:set>
                                      <p:cBhvr>
                                        <p:cTn id="21" dur="1" fill="hold">
                                          <p:stCondLst>
                                            <p:cond delay="0"/>
                                          </p:stCondLst>
                                        </p:cTn>
                                        <p:tgtEl>
                                          <p:spTgt spid="565257"/>
                                        </p:tgtEl>
                                        <p:attrNameLst>
                                          <p:attrName>style.visibility</p:attrName>
                                        </p:attrNameLst>
                                      </p:cBhvr>
                                      <p:to>
                                        <p:strVal val="visible"/>
                                      </p:to>
                                    </p:set>
                                    <p:animEffect transition="in" filter="dissolve">
                                      <p:cBhvr>
                                        <p:cTn id="22" dur="500"/>
                                        <p:tgtEl>
                                          <p:spTgt spid="565257"/>
                                        </p:tgtEl>
                                      </p:cBhvr>
                                    </p:animEffect>
                                  </p:childTnLst>
                                </p:cTn>
                              </p:par>
                              <p:par>
                                <p:cTn id="23" presetID="9" presetClass="entr" presetSubtype="0" fill="hold" nodeType="withEffect">
                                  <p:stCondLst>
                                    <p:cond delay="0"/>
                                  </p:stCondLst>
                                  <p:childTnLst>
                                    <p:set>
                                      <p:cBhvr>
                                        <p:cTn id="24" dur="1" fill="hold">
                                          <p:stCondLst>
                                            <p:cond delay="0"/>
                                          </p:stCondLst>
                                        </p:cTn>
                                        <p:tgtEl>
                                          <p:spTgt spid="565258"/>
                                        </p:tgtEl>
                                        <p:attrNameLst>
                                          <p:attrName>style.visibility</p:attrName>
                                        </p:attrNameLst>
                                      </p:cBhvr>
                                      <p:to>
                                        <p:strVal val="visible"/>
                                      </p:to>
                                    </p:set>
                                    <p:animEffect transition="in" filter="dissolve">
                                      <p:cBhvr>
                                        <p:cTn id="25" dur="500"/>
                                        <p:tgtEl>
                                          <p:spTgt spid="565258"/>
                                        </p:tgtEl>
                                      </p:cBhvr>
                                    </p:animEffect>
                                  </p:childTnLst>
                                </p:cTn>
                              </p:par>
                              <p:par>
                                <p:cTn id="26" presetID="9" presetClass="entr" presetSubtype="0" fill="hold" nodeType="withEffect">
                                  <p:stCondLst>
                                    <p:cond delay="0"/>
                                  </p:stCondLst>
                                  <p:childTnLst>
                                    <p:set>
                                      <p:cBhvr>
                                        <p:cTn id="27" dur="1" fill="hold">
                                          <p:stCondLst>
                                            <p:cond delay="0"/>
                                          </p:stCondLst>
                                        </p:cTn>
                                        <p:tgtEl>
                                          <p:spTgt spid="565259"/>
                                        </p:tgtEl>
                                        <p:attrNameLst>
                                          <p:attrName>style.visibility</p:attrName>
                                        </p:attrNameLst>
                                      </p:cBhvr>
                                      <p:to>
                                        <p:strVal val="visible"/>
                                      </p:to>
                                    </p:set>
                                    <p:animEffect transition="in" filter="dissolve">
                                      <p:cBhvr>
                                        <p:cTn id="28" dur="500"/>
                                        <p:tgtEl>
                                          <p:spTgt spid="565259"/>
                                        </p:tgtEl>
                                      </p:cBhvr>
                                    </p:animEffect>
                                  </p:childTnLst>
                                </p:cTn>
                              </p:par>
                              <p:par>
                                <p:cTn id="29" presetID="9" presetClass="entr" presetSubtype="0" fill="hold" nodeType="withEffect">
                                  <p:stCondLst>
                                    <p:cond delay="0"/>
                                  </p:stCondLst>
                                  <p:childTnLst>
                                    <p:set>
                                      <p:cBhvr>
                                        <p:cTn id="30" dur="1" fill="hold">
                                          <p:stCondLst>
                                            <p:cond delay="0"/>
                                          </p:stCondLst>
                                        </p:cTn>
                                        <p:tgtEl>
                                          <p:spTgt spid="565260"/>
                                        </p:tgtEl>
                                        <p:attrNameLst>
                                          <p:attrName>style.visibility</p:attrName>
                                        </p:attrNameLst>
                                      </p:cBhvr>
                                      <p:to>
                                        <p:strVal val="visible"/>
                                      </p:to>
                                    </p:set>
                                    <p:animEffect transition="in" filter="dissolve">
                                      <p:cBhvr>
                                        <p:cTn id="31" dur="500"/>
                                        <p:tgtEl>
                                          <p:spTgt spid="565260"/>
                                        </p:tgtEl>
                                      </p:cBhvr>
                                    </p:animEffect>
                                  </p:childTnLst>
                                </p:cTn>
                              </p:par>
                              <p:par>
                                <p:cTn id="32" presetID="9" presetClass="entr" presetSubtype="0" fill="hold" nodeType="withEffect">
                                  <p:stCondLst>
                                    <p:cond delay="0"/>
                                  </p:stCondLst>
                                  <p:childTnLst>
                                    <p:set>
                                      <p:cBhvr>
                                        <p:cTn id="33" dur="1" fill="hold">
                                          <p:stCondLst>
                                            <p:cond delay="0"/>
                                          </p:stCondLst>
                                        </p:cTn>
                                        <p:tgtEl>
                                          <p:spTgt spid="565261"/>
                                        </p:tgtEl>
                                        <p:attrNameLst>
                                          <p:attrName>style.visibility</p:attrName>
                                        </p:attrNameLst>
                                      </p:cBhvr>
                                      <p:to>
                                        <p:strVal val="visible"/>
                                      </p:to>
                                    </p:set>
                                    <p:animEffect transition="in" filter="dissolve">
                                      <p:cBhvr>
                                        <p:cTn id="34" dur="500"/>
                                        <p:tgtEl>
                                          <p:spTgt spid="565261"/>
                                        </p:tgtEl>
                                      </p:cBhvr>
                                    </p:animEffect>
                                  </p:childTnLst>
                                </p:cTn>
                              </p:par>
                              <p:par>
                                <p:cTn id="35" presetID="9" presetClass="entr" presetSubtype="0" fill="hold" nodeType="withEffect">
                                  <p:stCondLst>
                                    <p:cond delay="0"/>
                                  </p:stCondLst>
                                  <p:childTnLst>
                                    <p:set>
                                      <p:cBhvr>
                                        <p:cTn id="36" dur="1" fill="hold">
                                          <p:stCondLst>
                                            <p:cond delay="0"/>
                                          </p:stCondLst>
                                        </p:cTn>
                                        <p:tgtEl>
                                          <p:spTgt spid="565262"/>
                                        </p:tgtEl>
                                        <p:attrNameLst>
                                          <p:attrName>style.visibility</p:attrName>
                                        </p:attrNameLst>
                                      </p:cBhvr>
                                      <p:to>
                                        <p:strVal val="visible"/>
                                      </p:to>
                                    </p:set>
                                    <p:animEffect transition="in" filter="dissolve">
                                      <p:cBhvr>
                                        <p:cTn id="37" dur="500"/>
                                        <p:tgtEl>
                                          <p:spTgt spid="565262"/>
                                        </p:tgtEl>
                                      </p:cBhvr>
                                    </p:animEffect>
                                  </p:childTnLst>
                                </p:cTn>
                              </p:par>
                              <p:par>
                                <p:cTn id="38" presetID="9" presetClass="entr" presetSubtype="0" fill="hold" nodeType="withEffect">
                                  <p:stCondLst>
                                    <p:cond delay="0"/>
                                  </p:stCondLst>
                                  <p:childTnLst>
                                    <p:set>
                                      <p:cBhvr>
                                        <p:cTn id="39" dur="1" fill="hold">
                                          <p:stCondLst>
                                            <p:cond delay="0"/>
                                          </p:stCondLst>
                                        </p:cTn>
                                        <p:tgtEl>
                                          <p:spTgt spid="565263"/>
                                        </p:tgtEl>
                                        <p:attrNameLst>
                                          <p:attrName>style.visibility</p:attrName>
                                        </p:attrNameLst>
                                      </p:cBhvr>
                                      <p:to>
                                        <p:strVal val="visible"/>
                                      </p:to>
                                    </p:set>
                                    <p:animEffect transition="in" filter="dissolve">
                                      <p:cBhvr>
                                        <p:cTn id="40" dur="500"/>
                                        <p:tgtEl>
                                          <p:spTgt spid="565263"/>
                                        </p:tgtEl>
                                      </p:cBhvr>
                                    </p:animEffect>
                                  </p:childTnLst>
                                </p:cTn>
                              </p:par>
                              <p:par>
                                <p:cTn id="41" presetID="9" presetClass="entr" presetSubtype="0" fill="hold" nodeType="withEffect">
                                  <p:stCondLst>
                                    <p:cond delay="0"/>
                                  </p:stCondLst>
                                  <p:childTnLst>
                                    <p:set>
                                      <p:cBhvr>
                                        <p:cTn id="42" dur="1" fill="hold">
                                          <p:stCondLst>
                                            <p:cond delay="0"/>
                                          </p:stCondLst>
                                        </p:cTn>
                                        <p:tgtEl>
                                          <p:spTgt spid="565264"/>
                                        </p:tgtEl>
                                        <p:attrNameLst>
                                          <p:attrName>style.visibility</p:attrName>
                                        </p:attrNameLst>
                                      </p:cBhvr>
                                      <p:to>
                                        <p:strVal val="visible"/>
                                      </p:to>
                                    </p:set>
                                    <p:animEffect transition="in" filter="dissolve">
                                      <p:cBhvr>
                                        <p:cTn id="43" dur="500"/>
                                        <p:tgtEl>
                                          <p:spTgt spid="56526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565265"/>
                                        </p:tgtEl>
                                        <p:attrNameLst>
                                          <p:attrName>style.visibility</p:attrName>
                                        </p:attrNameLst>
                                      </p:cBhvr>
                                      <p:to>
                                        <p:strVal val="visible"/>
                                      </p:to>
                                    </p:set>
                                    <p:animEffect transition="in" filter="dissolve">
                                      <p:cBhvr>
                                        <p:cTn id="46" dur="500"/>
                                        <p:tgtEl>
                                          <p:spTgt spid="565265"/>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565266"/>
                                        </p:tgtEl>
                                        <p:attrNameLst>
                                          <p:attrName>style.visibility</p:attrName>
                                        </p:attrNameLst>
                                      </p:cBhvr>
                                      <p:to>
                                        <p:strVal val="visible"/>
                                      </p:to>
                                    </p:set>
                                    <p:animEffect transition="in" filter="dissolve">
                                      <p:cBhvr>
                                        <p:cTn id="49" dur="500"/>
                                        <p:tgtEl>
                                          <p:spTgt spid="565266"/>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565267"/>
                                        </p:tgtEl>
                                        <p:attrNameLst>
                                          <p:attrName>style.visibility</p:attrName>
                                        </p:attrNameLst>
                                      </p:cBhvr>
                                      <p:to>
                                        <p:strVal val="visible"/>
                                      </p:to>
                                    </p:set>
                                    <p:animEffect transition="in" filter="dissolve">
                                      <p:cBhvr>
                                        <p:cTn id="52" dur="500"/>
                                        <p:tgtEl>
                                          <p:spTgt spid="565267"/>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65268"/>
                                        </p:tgtEl>
                                        <p:attrNameLst>
                                          <p:attrName>style.visibility</p:attrName>
                                        </p:attrNameLst>
                                      </p:cBhvr>
                                      <p:to>
                                        <p:strVal val="visible"/>
                                      </p:to>
                                    </p:set>
                                    <p:animEffect transition="in" filter="dissolve">
                                      <p:cBhvr>
                                        <p:cTn id="55" dur="500"/>
                                        <p:tgtEl>
                                          <p:spTgt spid="565268"/>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65269"/>
                                        </p:tgtEl>
                                        <p:attrNameLst>
                                          <p:attrName>style.visibility</p:attrName>
                                        </p:attrNameLst>
                                      </p:cBhvr>
                                      <p:to>
                                        <p:strVal val="visible"/>
                                      </p:to>
                                    </p:set>
                                    <p:animEffect transition="in" filter="dissolve">
                                      <p:cBhvr>
                                        <p:cTn id="58" dur="500"/>
                                        <p:tgtEl>
                                          <p:spTgt spid="565269"/>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565270"/>
                                        </p:tgtEl>
                                        <p:attrNameLst>
                                          <p:attrName>style.visibility</p:attrName>
                                        </p:attrNameLst>
                                      </p:cBhvr>
                                      <p:to>
                                        <p:strVal val="visible"/>
                                      </p:to>
                                    </p:set>
                                    <p:animEffect transition="in" filter="dissolve">
                                      <p:cBhvr>
                                        <p:cTn id="61" dur="500"/>
                                        <p:tgtEl>
                                          <p:spTgt spid="565270"/>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65271"/>
                                        </p:tgtEl>
                                        <p:attrNameLst>
                                          <p:attrName>style.visibility</p:attrName>
                                        </p:attrNameLst>
                                      </p:cBhvr>
                                      <p:to>
                                        <p:strVal val="visible"/>
                                      </p:to>
                                    </p:set>
                                    <p:animEffect transition="in" filter="dissolve">
                                      <p:cBhvr>
                                        <p:cTn id="64" dur="500"/>
                                        <p:tgtEl>
                                          <p:spTgt spid="565271"/>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65272"/>
                                        </p:tgtEl>
                                        <p:attrNameLst>
                                          <p:attrName>style.visibility</p:attrName>
                                        </p:attrNameLst>
                                      </p:cBhvr>
                                      <p:to>
                                        <p:strVal val="visible"/>
                                      </p:to>
                                    </p:set>
                                    <p:animEffect transition="in" filter="dissolve">
                                      <p:cBhvr>
                                        <p:cTn id="67" dur="500"/>
                                        <p:tgtEl>
                                          <p:spTgt spid="565272"/>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565273"/>
                                        </p:tgtEl>
                                        <p:attrNameLst>
                                          <p:attrName>style.visibility</p:attrName>
                                        </p:attrNameLst>
                                      </p:cBhvr>
                                      <p:to>
                                        <p:strVal val="visible"/>
                                      </p:to>
                                    </p:set>
                                    <p:animEffect transition="in" filter="dissolve">
                                      <p:cBhvr>
                                        <p:cTn id="70" dur="500"/>
                                        <p:tgtEl>
                                          <p:spTgt spid="565273"/>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565274"/>
                                        </p:tgtEl>
                                        <p:attrNameLst>
                                          <p:attrName>style.visibility</p:attrName>
                                        </p:attrNameLst>
                                      </p:cBhvr>
                                      <p:to>
                                        <p:strVal val="visible"/>
                                      </p:to>
                                    </p:set>
                                    <p:animEffect transition="in" filter="dissolve">
                                      <p:cBhvr>
                                        <p:cTn id="73" dur="500"/>
                                        <p:tgtEl>
                                          <p:spTgt spid="565274"/>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565275"/>
                                        </p:tgtEl>
                                        <p:attrNameLst>
                                          <p:attrName>style.visibility</p:attrName>
                                        </p:attrNameLst>
                                      </p:cBhvr>
                                      <p:to>
                                        <p:strVal val="visible"/>
                                      </p:to>
                                    </p:set>
                                    <p:animEffect transition="in" filter="dissolve">
                                      <p:cBhvr>
                                        <p:cTn id="76" dur="500"/>
                                        <p:tgtEl>
                                          <p:spTgt spid="565275"/>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565276"/>
                                        </p:tgtEl>
                                        <p:attrNameLst>
                                          <p:attrName>style.visibility</p:attrName>
                                        </p:attrNameLst>
                                      </p:cBhvr>
                                      <p:to>
                                        <p:strVal val="visible"/>
                                      </p:to>
                                    </p:set>
                                    <p:animEffect transition="in" filter="dissolve">
                                      <p:cBhvr>
                                        <p:cTn id="79" dur="500"/>
                                        <p:tgtEl>
                                          <p:spTgt spid="565276"/>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565277"/>
                                        </p:tgtEl>
                                        <p:attrNameLst>
                                          <p:attrName>style.visibility</p:attrName>
                                        </p:attrNameLst>
                                      </p:cBhvr>
                                      <p:to>
                                        <p:strVal val="visible"/>
                                      </p:to>
                                    </p:set>
                                    <p:animEffect transition="in" filter="dissolve">
                                      <p:cBhvr>
                                        <p:cTn id="82" dur="500"/>
                                        <p:tgtEl>
                                          <p:spTgt spid="565277"/>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565278"/>
                                        </p:tgtEl>
                                        <p:attrNameLst>
                                          <p:attrName>style.visibility</p:attrName>
                                        </p:attrNameLst>
                                      </p:cBhvr>
                                      <p:to>
                                        <p:strVal val="visible"/>
                                      </p:to>
                                    </p:set>
                                    <p:animEffect transition="in" filter="dissolve">
                                      <p:cBhvr>
                                        <p:cTn id="85" dur="500"/>
                                        <p:tgtEl>
                                          <p:spTgt spid="565278"/>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565279"/>
                                        </p:tgtEl>
                                        <p:attrNameLst>
                                          <p:attrName>style.visibility</p:attrName>
                                        </p:attrNameLst>
                                      </p:cBhvr>
                                      <p:to>
                                        <p:strVal val="visible"/>
                                      </p:to>
                                    </p:set>
                                    <p:animEffect transition="in" filter="dissolve">
                                      <p:cBhvr>
                                        <p:cTn id="88" dur="500"/>
                                        <p:tgtEl>
                                          <p:spTgt spid="565279"/>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565280"/>
                                        </p:tgtEl>
                                        <p:attrNameLst>
                                          <p:attrName>style.visibility</p:attrName>
                                        </p:attrNameLst>
                                      </p:cBhvr>
                                      <p:to>
                                        <p:strVal val="visible"/>
                                      </p:to>
                                    </p:set>
                                    <p:animEffect transition="in" filter="dissolve">
                                      <p:cBhvr>
                                        <p:cTn id="91" dur="500"/>
                                        <p:tgtEl>
                                          <p:spTgt spid="565280"/>
                                        </p:tgtEl>
                                      </p:cBhvr>
                                    </p:animEffect>
                                  </p:childTnLst>
                                </p:cTn>
                              </p:par>
                              <p:par>
                                <p:cTn id="92" presetID="9" presetClass="entr" presetSubtype="0" fill="hold" nodeType="withEffect">
                                  <p:stCondLst>
                                    <p:cond delay="0"/>
                                  </p:stCondLst>
                                  <p:childTnLst>
                                    <p:set>
                                      <p:cBhvr>
                                        <p:cTn id="93" dur="1" fill="hold">
                                          <p:stCondLst>
                                            <p:cond delay="0"/>
                                          </p:stCondLst>
                                        </p:cTn>
                                        <p:tgtEl>
                                          <p:spTgt spid="565281"/>
                                        </p:tgtEl>
                                        <p:attrNameLst>
                                          <p:attrName>style.visibility</p:attrName>
                                        </p:attrNameLst>
                                      </p:cBhvr>
                                      <p:to>
                                        <p:strVal val="visible"/>
                                      </p:to>
                                    </p:set>
                                    <p:animEffect transition="in" filter="dissolve">
                                      <p:cBhvr>
                                        <p:cTn id="94" dur="500"/>
                                        <p:tgtEl>
                                          <p:spTgt spid="565281"/>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9" presetClass="entr" presetSubtype="0" fill="hold" grpId="0" nodeType="clickEffect">
                                  <p:stCondLst>
                                    <p:cond delay="0"/>
                                  </p:stCondLst>
                                  <p:childTnLst>
                                    <p:set>
                                      <p:cBhvr>
                                        <p:cTn id="98" dur="1" fill="hold">
                                          <p:stCondLst>
                                            <p:cond delay="0"/>
                                          </p:stCondLst>
                                        </p:cTn>
                                        <p:tgtEl>
                                          <p:spTgt spid="565282"/>
                                        </p:tgtEl>
                                        <p:attrNameLst>
                                          <p:attrName>style.visibility</p:attrName>
                                        </p:attrNameLst>
                                      </p:cBhvr>
                                      <p:to>
                                        <p:strVal val="visible"/>
                                      </p:to>
                                    </p:set>
                                    <p:animEffect transition="in" filter="dissolve">
                                      <p:cBhvr>
                                        <p:cTn id="99" dur="500"/>
                                        <p:tgtEl>
                                          <p:spTgt spid="565282"/>
                                        </p:tgtEl>
                                      </p:cBhvr>
                                    </p:animEffect>
                                  </p:childTnLst>
                                </p:cTn>
                              </p:par>
                              <p:par>
                                <p:cTn id="100" presetID="9" presetClass="entr" presetSubtype="0" fill="hold" nodeType="withEffect">
                                  <p:stCondLst>
                                    <p:cond delay="0"/>
                                  </p:stCondLst>
                                  <p:childTnLst>
                                    <p:set>
                                      <p:cBhvr>
                                        <p:cTn id="101" dur="1" fill="hold">
                                          <p:stCondLst>
                                            <p:cond delay="0"/>
                                          </p:stCondLst>
                                        </p:cTn>
                                        <p:tgtEl>
                                          <p:spTgt spid="565285"/>
                                        </p:tgtEl>
                                        <p:attrNameLst>
                                          <p:attrName>style.visibility</p:attrName>
                                        </p:attrNameLst>
                                      </p:cBhvr>
                                      <p:to>
                                        <p:strVal val="visible"/>
                                      </p:to>
                                    </p:set>
                                    <p:animEffect transition="in" filter="dissolve">
                                      <p:cBhvr>
                                        <p:cTn id="102" dur="500"/>
                                        <p:tgtEl>
                                          <p:spTgt spid="565285"/>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9" presetClass="entr" presetSubtype="0" fill="hold" grpId="0" nodeType="clickEffect">
                                  <p:stCondLst>
                                    <p:cond delay="0"/>
                                  </p:stCondLst>
                                  <p:childTnLst>
                                    <p:set>
                                      <p:cBhvr>
                                        <p:cTn id="106" dur="1" fill="hold">
                                          <p:stCondLst>
                                            <p:cond delay="0"/>
                                          </p:stCondLst>
                                        </p:cTn>
                                        <p:tgtEl>
                                          <p:spTgt spid="565284"/>
                                        </p:tgtEl>
                                        <p:attrNameLst>
                                          <p:attrName>style.visibility</p:attrName>
                                        </p:attrNameLst>
                                      </p:cBhvr>
                                      <p:to>
                                        <p:strVal val="visible"/>
                                      </p:to>
                                    </p:set>
                                    <p:animEffect transition="in" filter="dissolve">
                                      <p:cBhvr>
                                        <p:cTn id="107" dur="500"/>
                                        <p:tgtEl>
                                          <p:spTgt spid="565284"/>
                                        </p:tgtEl>
                                      </p:cBhvr>
                                    </p:animEffect>
                                  </p:childTnLst>
                                </p:cTn>
                              </p:par>
                              <p:par>
                                <p:cTn id="108" presetID="9" presetClass="entr" presetSubtype="0" fill="hold" nodeType="withEffect">
                                  <p:stCondLst>
                                    <p:cond delay="0"/>
                                  </p:stCondLst>
                                  <p:childTnLst>
                                    <p:set>
                                      <p:cBhvr>
                                        <p:cTn id="109" dur="1" fill="hold">
                                          <p:stCondLst>
                                            <p:cond delay="0"/>
                                          </p:stCondLst>
                                        </p:cTn>
                                        <p:tgtEl>
                                          <p:spTgt spid="565286"/>
                                        </p:tgtEl>
                                        <p:attrNameLst>
                                          <p:attrName>style.visibility</p:attrName>
                                        </p:attrNameLst>
                                      </p:cBhvr>
                                      <p:to>
                                        <p:strVal val="visible"/>
                                      </p:to>
                                    </p:set>
                                    <p:animEffect transition="in" filter="dissolve">
                                      <p:cBhvr>
                                        <p:cTn id="110" dur="500"/>
                                        <p:tgtEl>
                                          <p:spTgt spid="565286"/>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9" presetClass="entr" presetSubtype="0" fill="hold" nodeType="clickEffect">
                                  <p:stCondLst>
                                    <p:cond delay="0"/>
                                  </p:stCondLst>
                                  <p:childTnLst>
                                    <p:set>
                                      <p:cBhvr>
                                        <p:cTn id="114" dur="1" fill="hold">
                                          <p:stCondLst>
                                            <p:cond delay="0"/>
                                          </p:stCondLst>
                                        </p:cTn>
                                        <p:tgtEl>
                                          <p:spTgt spid="565251">
                                            <p:txEl>
                                              <p:pRg st="8" end="8"/>
                                            </p:txEl>
                                          </p:spTgt>
                                        </p:tgtEl>
                                        <p:attrNameLst>
                                          <p:attrName>style.visibility</p:attrName>
                                        </p:attrNameLst>
                                      </p:cBhvr>
                                      <p:to>
                                        <p:strVal val="visible"/>
                                      </p:to>
                                    </p:set>
                                    <p:animEffect transition="in" filter="dissolve">
                                      <p:cBhvr>
                                        <p:cTn id="115" dur="500"/>
                                        <p:tgtEl>
                                          <p:spTgt spid="56525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5265" grpId="0" animBg="1"/>
      <p:bldP spid="565266" grpId="0"/>
      <p:bldP spid="565267" grpId="0" animBg="1"/>
      <p:bldP spid="565268" grpId="0"/>
      <p:bldP spid="565269" grpId="0" animBg="1"/>
      <p:bldP spid="565270" grpId="0"/>
      <p:bldP spid="565271" grpId="0" animBg="1"/>
      <p:bldP spid="565272" grpId="0"/>
      <p:bldP spid="565273" grpId="0" animBg="1"/>
      <p:bldP spid="565274" grpId="0"/>
      <p:bldP spid="565275" grpId="0" animBg="1"/>
      <p:bldP spid="565276" grpId="0"/>
      <p:bldP spid="565277" grpId="0" animBg="1"/>
      <p:bldP spid="565278" grpId="0"/>
      <p:bldP spid="565279" grpId="0" animBg="1"/>
      <p:bldP spid="565280" grpId="0"/>
      <p:bldP spid="565282" grpId="0" animBg="1"/>
      <p:bldP spid="56528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5D2EB3-C8E9-41E8-8E6E-4822CBE988B8}" type="slidenum">
              <a:rPr lang="en-US" altLang="de-DE" sz="1000">
                <a:solidFill>
                  <a:srgbClr val="C0C0C0"/>
                </a:solidFill>
              </a:rPr>
              <a:pPr/>
              <a:t>11</a:t>
            </a:fld>
            <a:endParaRPr lang="en-US" altLang="de-DE" sz="1000">
              <a:solidFill>
                <a:srgbClr val="C0C0C0"/>
              </a:solidFill>
            </a:endParaRPr>
          </a:p>
        </p:txBody>
      </p:sp>
      <p:sp>
        <p:nvSpPr>
          <p:cNvPr id="567299" name="Text Box 3"/>
          <p:cNvSpPr txBox="1">
            <a:spLocks noChangeArrowheads="1"/>
          </p:cNvSpPr>
          <p:nvPr/>
        </p:nvSpPr>
        <p:spPr bwMode="auto">
          <a:xfrm>
            <a:off x="608013" y="1446213"/>
            <a:ext cx="5835650" cy="4519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Gain of swapping a pair of nodes </a:t>
            </a:r>
            <a:r>
              <a:rPr lang="de-DE" altLang="de-DE" i="1">
                <a:solidFill>
                  <a:srgbClr val="CC0000"/>
                </a:solidFill>
              </a:rPr>
              <a:t>a</a:t>
            </a:r>
            <a:r>
              <a:rPr lang="de-DE" altLang="de-DE">
                <a:solidFill>
                  <a:srgbClr val="CC0000"/>
                </a:solidFill>
              </a:rPr>
              <a:t> und </a:t>
            </a:r>
            <a:r>
              <a:rPr lang="de-DE" altLang="de-DE" i="1">
                <a:solidFill>
                  <a:srgbClr val="CC0000"/>
                </a:solidFill>
              </a:rPr>
              <a:t>b</a:t>
            </a:r>
          </a:p>
          <a:p>
            <a:pPr algn="l">
              <a:lnSpc>
                <a:spcPct val="100000"/>
              </a:lnSpc>
              <a:spcBef>
                <a:spcPct val="25000"/>
              </a:spcBef>
            </a:pPr>
            <a:endParaRPr lang="de-DE" altLang="de-DE"/>
          </a:p>
          <a:p>
            <a:pPr algn="l">
              <a:lnSpc>
                <a:spcPct val="100000"/>
              </a:lnSpc>
              <a:spcBef>
                <a:spcPct val="25000"/>
              </a:spcBef>
            </a:pPr>
            <a:r>
              <a:rPr lang="de-DE" altLang="de-DE">
                <a:sym typeface="Symbol" panose="05050102010706020507" pitchFamily="18" charset="2"/>
              </a:rPr>
              <a:t></a:t>
            </a:r>
            <a:r>
              <a:rPr lang="de-DE" altLang="de-DE" i="1"/>
              <a:t>g = D</a:t>
            </a:r>
            <a:r>
              <a:rPr lang="de-DE" altLang="de-DE"/>
              <a:t>(</a:t>
            </a:r>
            <a:r>
              <a:rPr lang="de-DE" altLang="de-DE" i="1"/>
              <a:t>a</a:t>
            </a:r>
            <a:r>
              <a:rPr lang="de-DE" altLang="de-DE"/>
              <a:t>)</a:t>
            </a:r>
            <a:r>
              <a:rPr lang="de-DE" altLang="de-DE" i="1"/>
              <a:t> + D</a:t>
            </a:r>
            <a:r>
              <a:rPr lang="de-DE" altLang="de-DE"/>
              <a:t>(</a:t>
            </a:r>
            <a:r>
              <a:rPr lang="de-DE" altLang="de-DE" i="1"/>
              <a:t>b</a:t>
            </a:r>
            <a:r>
              <a:rPr lang="de-DE" altLang="de-DE"/>
              <a:t>)</a:t>
            </a:r>
            <a:r>
              <a:rPr lang="de-DE" altLang="de-DE" i="1"/>
              <a:t> - 2</a:t>
            </a:r>
            <a:r>
              <a:rPr lang="de-DE" altLang="de-DE" sz="1000" i="1"/>
              <a:t>*</a:t>
            </a:r>
            <a:r>
              <a:rPr lang="de-DE" altLang="de-DE" i="1"/>
              <a:t> c</a:t>
            </a:r>
            <a:r>
              <a:rPr lang="de-DE" altLang="de-DE"/>
              <a:t>(</a:t>
            </a:r>
            <a:r>
              <a:rPr lang="de-DE" altLang="de-DE" i="1"/>
              <a:t>a,b</a:t>
            </a:r>
            <a:r>
              <a:rPr lang="de-DE" altLang="de-DE"/>
              <a:t>)</a:t>
            </a:r>
            <a:r>
              <a:rPr lang="de-DE" altLang="de-DE" i="1"/>
              <a:t>,</a:t>
            </a:r>
          </a:p>
          <a:p>
            <a:pPr algn="l">
              <a:lnSpc>
                <a:spcPct val="100000"/>
              </a:lnSpc>
              <a:spcBef>
                <a:spcPct val="25000"/>
              </a:spcBef>
            </a:pPr>
            <a:endParaRPr lang="de-DE" altLang="de-DE"/>
          </a:p>
          <a:p>
            <a:pPr algn="l">
              <a:lnSpc>
                <a:spcPct val="100000"/>
              </a:lnSpc>
              <a:spcBef>
                <a:spcPct val="25000"/>
              </a:spcBef>
            </a:pPr>
            <a:r>
              <a:rPr lang="de-DE" altLang="de-DE" sz="1400"/>
              <a:t>where </a:t>
            </a:r>
          </a:p>
          <a:p>
            <a:pPr algn="l">
              <a:lnSpc>
                <a:spcPct val="100000"/>
              </a:lnSpc>
              <a:spcBef>
                <a:spcPct val="25000"/>
              </a:spcBef>
              <a:buFontTx/>
              <a:buChar char="•"/>
            </a:pPr>
            <a:r>
              <a:rPr lang="de-DE" altLang="de-DE" sz="1400" i="1"/>
              <a:t> D</a:t>
            </a:r>
            <a:r>
              <a:rPr lang="de-DE" altLang="de-DE" sz="1400"/>
              <a:t>(</a:t>
            </a:r>
            <a:r>
              <a:rPr lang="de-DE" altLang="de-DE" sz="1400" i="1"/>
              <a:t>a</a:t>
            </a:r>
            <a:r>
              <a:rPr lang="de-DE" altLang="de-DE" sz="1400"/>
              <a:t>)</a:t>
            </a:r>
            <a:r>
              <a:rPr lang="de-DE" altLang="de-DE" sz="1400" i="1"/>
              <a:t>,</a:t>
            </a:r>
            <a:r>
              <a:rPr lang="de-DE" altLang="de-DE" sz="1400"/>
              <a:t> </a:t>
            </a:r>
            <a:r>
              <a:rPr lang="de-DE" altLang="de-DE" sz="1400" i="1"/>
              <a:t>D</a:t>
            </a:r>
            <a:r>
              <a:rPr lang="de-DE" altLang="de-DE" sz="1400"/>
              <a:t>(</a:t>
            </a:r>
            <a:r>
              <a:rPr lang="de-DE" altLang="de-DE" sz="1400" i="1"/>
              <a:t>b</a:t>
            </a:r>
            <a:r>
              <a:rPr lang="de-DE" altLang="de-DE" sz="1400"/>
              <a:t>) are the respective costs of nodes </a:t>
            </a:r>
            <a:r>
              <a:rPr lang="de-DE" altLang="de-DE" sz="1400" i="1"/>
              <a:t>a</a:t>
            </a:r>
            <a:r>
              <a:rPr lang="de-DE" altLang="de-DE" sz="1400"/>
              <a:t>, </a:t>
            </a:r>
            <a:r>
              <a:rPr lang="de-DE" altLang="de-DE" sz="1400" i="1"/>
              <a:t>b </a:t>
            </a:r>
          </a:p>
          <a:p>
            <a:pPr algn="l">
              <a:lnSpc>
                <a:spcPct val="100000"/>
              </a:lnSpc>
              <a:spcBef>
                <a:spcPct val="25000"/>
              </a:spcBef>
              <a:buFontTx/>
              <a:buChar char="•"/>
            </a:pPr>
            <a:r>
              <a:rPr lang="en-US" altLang="zh-CN" sz="1400" i="1">
                <a:ea typeface="宋体" panose="02010600030101010101" pitchFamily="2" charset="-122"/>
              </a:rPr>
              <a:t> c</a:t>
            </a:r>
            <a:r>
              <a:rPr lang="en-US" altLang="zh-CN" sz="1400">
                <a:ea typeface="宋体" panose="02010600030101010101" pitchFamily="2" charset="-122"/>
              </a:rPr>
              <a:t>(</a:t>
            </a:r>
            <a:r>
              <a:rPr lang="en-US" altLang="zh-CN" sz="1400" i="1">
                <a:ea typeface="宋体" panose="02010600030101010101" pitchFamily="2" charset="-122"/>
              </a:rPr>
              <a:t>a</a:t>
            </a:r>
            <a:r>
              <a:rPr lang="en-US" altLang="zh-CN" sz="1400">
                <a:ea typeface="宋体" panose="02010600030101010101" pitchFamily="2" charset="-122"/>
              </a:rPr>
              <a:t>,</a:t>
            </a:r>
            <a:r>
              <a:rPr lang="en-US" altLang="zh-CN" sz="1400" i="1">
                <a:ea typeface="宋体" panose="02010600030101010101" pitchFamily="2" charset="-122"/>
              </a:rPr>
              <a:t>b</a:t>
            </a:r>
            <a:r>
              <a:rPr lang="en-US" altLang="zh-CN" sz="1400">
                <a:ea typeface="宋体" panose="02010600030101010101" pitchFamily="2" charset="-122"/>
              </a:rPr>
              <a:t>) is the connection weight between </a:t>
            </a:r>
            <a:r>
              <a:rPr lang="en-US" altLang="zh-CN" sz="1400" i="1">
                <a:ea typeface="宋体" panose="02010600030101010101" pitchFamily="2" charset="-122"/>
              </a:rPr>
              <a:t>a</a:t>
            </a:r>
            <a:r>
              <a:rPr lang="en-US" altLang="zh-CN" sz="1400">
                <a:ea typeface="宋体" panose="02010600030101010101" pitchFamily="2" charset="-122"/>
              </a:rPr>
              <a:t> and </a:t>
            </a:r>
            <a:r>
              <a:rPr lang="en-US" altLang="zh-CN" sz="1400" i="1">
                <a:ea typeface="宋体" panose="02010600030101010101" pitchFamily="2" charset="-122"/>
              </a:rPr>
              <a:t>b</a:t>
            </a:r>
            <a:r>
              <a:rPr lang="en-US" altLang="zh-CN" sz="1400">
                <a:ea typeface="宋体" panose="02010600030101010101" pitchFamily="2" charset="-122"/>
              </a:rPr>
              <a:t>:</a:t>
            </a:r>
          </a:p>
          <a:p>
            <a:pPr algn="l">
              <a:lnSpc>
                <a:spcPct val="100000"/>
              </a:lnSpc>
              <a:spcBef>
                <a:spcPct val="15000"/>
              </a:spcBef>
            </a:pPr>
            <a:r>
              <a:rPr lang="en-US" altLang="zh-CN" sz="1400">
                <a:ea typeface="宋体" panose="02010600030101010101" pitchFamily="2" charset="-122"/>
              </a:rPr>
              <a:t>  If an edge exists between </a:t>
            </a:r>
            <a:r>
              <a:rPr lang="en-US" altLang="zh-CN" sz="1400" i="1">
                <a:ea typeface="宋体" panose="02010600030101010101" pitchFamily="2" charset="-122"/>
              </a:rPr>
              <a:t>a</a:t>
            </a:r>
            <a:r>
              <a:rPr lang="en-US" altLang="zh-CN" sz="1400">
                <a:ea typeface="宋体" panose="02010600030101010101" pitchFamily="2" charset="-122"/>
              </a:rPr>
              <a:t> and </a:t>
            </a:r>
            <a:r>
              <a:rPr lang="en-US" altLang="zh-CN" sz="1400" i="1">
                <a:ea typeface="宋体" panose="02010600030101010101" pitchFamily="2" charset="-122"/>
              </a:rPr>
              <a:t>b</a:t>
            </a:r>
            <a:r>
              <a:rPr lang="en-US" altLang="zh-CN" sz="1400">
                <a:ea typeface="宋体" panose="02010600030101010101" pitchFamily="2" charset="-122"/>
              </a:rPr>
              <a:t>, </a:t>
            </a:r>
            <a:br>
              <a:rPr lang="en-US" altLang="zh-CN" sz="1400">
                <a:ea typeface="宋体" panose="02010600030101010101" pitchFamily="2" charset="-122"/>
              </a:rPr>
            </a:br>
            <a:r>
              <a:rPr lang="en-US" altLang="zh-CN" sz="1400">
                <a:ea typeface="宋体" panose="02010600030101010101" pitchFamily="2" charset="-122"/>
              </a:rPr>
              <a:t>  then </a:t>
            </a:r>
            <a:r>
              <a:rPr lang="en-US" altLang="zh-CN" sz="1400" i="1">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a,b</a:t>
            </a:r>
            <a:r>
              <a:rPr lang="en-US" altLang="zh-CN" sz="1400">
                <a:ea typeface="宋体" panose="02010600030101010101" pitchFamily="2" charset="-122"/>
              </a:rPr>
              <a:t>)</a:t>
            </a:r>
            <a:r>
              <a:rPr lang="en-US" altLang="zh-CN" sz="1400" i="1">
                <a:ea typeface="宋体" panose="02010600030101010101" pitchFamily="2" charset="-122"/>
              </a:rPr>
              <a:t> </a:t>
            </a:r>
            <a:r>
              <a:rPr lang="en-US" altLang="zh-CN" sz="1400">
                <a:ea typeface="宋体" panose="02010600030101010101" pitchFamily="2" charset="-122"/>
              </a:rPr>
              <a:t>= edge weight (here 1), </a:t>
            </a:r>
          </a:p>
          <a:p>
            <a:pPr algn="l">
              <a:lnSpc>
                <a:spcPct val="100000"/>
              </a:lnSpc>
              <a:spcBef>
                <a:spcPct val="5000"/>
              </a:spcBef>
              <a:spcAft>
                <a:spcPct val="5000"/>
              </a:spcAft>
            </a:pPr>
            <a:r>
              <a:rPr lang="en-US" altLang="zh-CN" sz="1400">
                <a:ea typeface="宋体" panose="02010600030101010101" pitchFamily="2" charset="-122"/>
              </a:rPr>
              <a:t>  otherwise, </a:t>
            </a:r>
            <a:r>
              <a:rPr lang="en-US" altLang="zh-CN" sz="1400" i="1">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a,b</a:t>
            </a:r>
            <a:r>
              <a:rPr lang="en-US" altLang="zh-CN" sz="1400">
                <a:ea typeface="宋体" panose="02010600030101010101" pitchFamily="2" charset="-122"/>
              </a:rPr>
              <a:t>)</a:t>
            </a:r>
            <a:r>
              <a:rPr lang="en-US" altLang="zh-CN" sz="1400" i="1">
                <a:ea typeface="宋体" panose="02010600030101010101" pitchFamily="2" charset="-122"/>
              </a:rPr>
              <a:t> </a:t>
            </a:r>
            <a:r>
              <a:rPr lang="en-US" altLang="zh-CN" sz="1400">
                <a:ea typeface="宋体" panose="02010600030101010101" pitchFamily="2" charset="-122"/>
              </a:rPr>
              <a:t>= 0</a:t>
            </a:r>
            <a:r>
              <a:rPr lang="en-US" altLang="zh-CN" sz="1400" i="1">
                <a:ea typeface="宋体" panose="02010600030101010101" pitchFamily="2" charset="-122"/>
              </a:rPr>
              <a:t>.</a:t>
            </a:r>
            <a:r>
              <a:rPr lang="en-US" altLang="zh-CN">
                <a:ea typeface="宋体" panose="02010600030101010101" pitchFamily="2" charset="-122"/>
              </a:rPr>
              <a:t> </a:t>
            </a:r>
            <a:br>
              <a:rPr lang="en-US" altLang="zh-CN">
                <a:ea typeface="宋体" panose="02010600030101010101" pitchFamily="2" charset="-122"/>
              </a:rPr>
            </a:br>
            <a:br>
              <a:rPr lang="en-US" altLang="zh-CN">
                <a:ea typeface="宋体" panose="02010600030101010101" pitchFamily="2" charset="-122"/>
              </a:rPr>
            </a:br>
            <a:endParaRPr lang="de-DE" altLang="de-DE" sz="1400"/>
          </a:p>
          <a:p>
            <a:pPr algn="l">
              <a:lnSpc>
                <a:spcPct val="100000"/>
              </a:lnSpc>
              <a:spcBef>
                <a:spcPct val="25000"/>
              </a:spcBef>
            </a:pPr>
            <a:r>
              <a:rPr lang="de-DE" altLang="de-DE">
                <a:sym typeface="Symbol" panose="05050102010706020507" pitchFamily="18" charset="2"/>
              </a:rPr>
              <a:t>The gain </a:t>
            </a:r>
            <a:r>
              <a:rPr lang="en-US" altLang="zh-CN" i="1">
                <a:ea typeface="宋体" panose="02010600030101010101" pitchFamily="2" charset="-122"/>
              </a:rPr>
              <a:t>g </a:t>
            </a:r>
            <a:r>
              <a:rPr lang="en-US" altLang="zh-CN">
                <a:ea typeface="宋体" panose="02010600030101010101" pitchFamily="2" charset="-122"/>
              </a:rPr>
              <a:t>indicates how useful the swap between two nodes will be</a:t>
            </a:r>
            <a:br>
              <a:rPr lang="en-US" altLang="zh-CN">
                <a:ea typeface="宋体" panose="02010600030101010101" pitchFamily="2" charset="-122"/>
              </a:rPr>
            </a:br>
            <a:r>
              <a:rPr lang="en-US" altLang="zh-CN">
                <a:ea typeface="宋体" panose="02010600030101010101" pitchFamily="2" charset="-122"/>
              </a:rPr>
              <a:t> </a:t>
            </a:r>
          </a:p>
          <a:p>
            <a:pPr algn="l">
              <a:lnSpc>
                <a:spcPct val="100000"/>
              </a:lnSpc>
              <a:spcBef>
                <a:spcPct val="25000"/>
              </a:spcBef>
            </a:pPr>
            <a:r>
              <a:rPr lang="en-US" altLang="zh-CN">
                <a:ea typeface="宋体" panose="02010600030101010101" pitchFamily="2" charset="-122"/>
              </a:rPr>
              <a:t>The larger </a:t>
            </a:r>
            <a:r>
              <a:rPr lang="de-DE" altLang="de-DE">
                <a:sym typeface="Symbol" panose="05050102010706020507" pitchFamily="18" charset="2"/>
              </a:rPr>
              <a:t></a:t>
            </a:r>
            <a:r>
              <a:rPr lang="en-US" altLang="zh-CN" i="1">
                <a:ea typeface="宋体" panose="02010600030101010101" pitchFamily="2" charset="-122"/>
              </a:rPr>
              <a:t>g</a:t>
            </a:r>
            <a:r>
              <a:rPr lang="en-US" altLang="zh-CN">
                <a:ea typeface="宋体" panose="02010600030101010101" pitchFamily="2" charset="-122"/>
              </a:rPr>
              <a:t>, the more the total cut cost will be reduced </a:t>
            </a:r>
            <a:endParaRPr lang="de-DE" altLang="de-DE"/>
          </a:p>
        </p:txBody>
      </p:sp>
      <p:sp>
        <p:nvSpPr>
          <p:cNvPr id="12292" name="Line 4"/>
          <p:cNvSpPr>
            <a:spLocks noChangeAspect="1" noChangeShapeType="1"/>
          </p:cNvSpPr>
          <p:nvPr/>
        </p:nvSpPr>
        <p:spPr bwMode="auto">
          <a:xfrm>
            <a:off x="8067675" y="27400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3" name="Line 5"/>
          <p:cNvSpPr>
            <a:spLocks noChangeAspect="1" noChangeShapeType="1"/>
          </p:cNvSpPr>
          <p:nvPr/>
        </p:nvSpPr>
        <p:spPr bwMode="auto">
          <a:xfrm>
            <a:off x="8072438" y="167640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4" name="Line 6"/>
          <p:cNvSpPr>
            <a:spLocks noChangeAspect="1" noChangeShapeType="1"/>
          </p:cNvSpPr>
          <p:nvPr/>
        </p:nvSpPr>
        <p:spPr bwMode="auto">
          <a:xfrm>
            <a:off x="7437438" y="27463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5" name="Line 7"/>
          <p:cNvSpPr>
            <a:spLocks noChangeAspect="1" noChangeShapeType="1"/>
          </p:cNvSpPr>
          <p:nvPr/>
        </p:nvSpPr>
        <p:spPr bwMode="auto">
          <a:xfrm>
            <a:off x="7437438" y="169386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6" name="Line 8"/>
          <p:cNvSpPr>
            <a:spLocks noChangeAspect="1" noChangeShapeType="1"/>
          </p:cNvSpPr>
          <p:nvPr/>
        </p:nvSpPr>
        <p:spPr bwMode="auto">
          <a:xfrm flipH="1">
            <a:off x="7483475" y="2246313"/>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7" name="Line 9"/>
          <p:cNvSpPr>
            <a:spLocks noChangeAspect="1" noChangeShapeType="1"/>
          </p:cNvSpPr>
          <p:nvPr/>
        </p:nvSpPr>
        <p:spPr bwMode="auto">
          <a:xfrm flipH="1">
            <a:off x="7469188" y="2811463"/>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8" name="Line 10"/>
          <p:cNvSpPr>
            <a:spLocks noChangeAspect="1" noChangeShapeType="1"/>
          </p:cNvSpPr>
          <p:nvPr/>
        </p:nvSpPr>
        <p:spPr bwMode="auto">
          <a:xfrm flipH="1">
            <a:off x="7459663" y="173355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299" name="Line 11"/>
          <p:cNvSpPr>
            <a:spLocks noChangeAspect="1" noChangeShapeType="1"/>
          </p:cNvSpPr>
          <p:nvPr/>
        </p:nvSpPr>
        <p:spPr bwMode="auto">
          <a:xfrm>
            <a:off x="7373938" y="2747963"/>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00" name="Line 12"/>
          <p:cNvSpPr>
            <a:spLocks noChangeAspect="1" noChangeShapeType="1"/>
          </p:cNvSpPr>
          <p:nvPr/>
        </p:nvSpPr>
        <p:spPr bwMode="auto">
          <a:xfrm>
            <a:off x="7440613" y="1697038"/>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01" name="Line 13"/>
          <p:cNvSpPr>
            <a:spLocks noChangeAspect="1" noChangeShapeType="1"/>
          </p:cNvSpPr>
          <p:nvPr/>
        </p:nvSpPr>
        <p:spPr bwMode="auto">
          <a:xfrm>
            <a:off x="7500938"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02" name="Line 14"/>
          <p:cNvSpPr>
            <a:spLocks noChangeAspect="1" noChangeShapeType="1"/>
          </p:cNvSpPr>
          <p:nvPr/>
        </p:nvSpPr>
        <p:spPr bwMode="auto">
          <a:xfrm>
            <a:off x="7469188" y="2782888"/>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03" name="Line 15"/>
          <p:cNvSpPr>
            <a:spLocks noChangeAspect="1" noChangeShapeType="1"/>
          </p:cNvSpPr>
          <p:nvPr/>
        </p:nvSpPr>
        <p:spPr bwMode="auto">
          <a:xfrm>
            <a:off x="7475538" y="334168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04" name="Line 16"/>
          <p:cNvSpPr>
            <a:spLocks noChangeAspect="1" noChangeShapeType="1"/>
          </p:cNvSpPr>
          <p:nvPr/>
        </p:nvSpPr>
        <p:spPr bwMode="auto">
          <a:xfrm>
            <a:off x="7483475" y="17065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05" name="Oval 17"/>
          <p:cNvSpPr>
            <a:spLocks noChangeAspect="1" noChangeArrowheads="1"/>
          </p:cNvSpPr>
          <p:nvPr/>
        </p:nvSpPr>
        <p:spPr bwMode="auto">
          <a:xfrm>
            <a:off x="7265988" y="2089150"/>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06" name="Rectangle 18"/>
          <p:cNvSpPr>
            <a:spLocks noChangeAspect="1" noChangeArrowheads="1"/>
          </p:cNvSpPr>
          <p:nvPr/>
        </p:nvSpPr>
        <p:spPr bwMode="auto">
          <a:xfrm>
            <a:off x="7296150" y="2114550"/>
            <a:ext cx="261938"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12307" name="Oval 19"/>
          <p:cNvSpPr>
            <a:spLocks noChangeAspect="1" noChangeArrowheads="1"/>
          </p:cNvSpPr>
          <p:nvPr/>
        </p:nvSpPr>
        <p:spPr bwMode="auto">
          <a:xfrm>
            <a:off x="7904163" y="154463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08" name="Rectangle 20"/>
          <p:cNvSpPr>
            <a:spLocks noChangeAspect="1" noChangeArrowheads="1"/>
          </p:cNvSpPr>
          <p:nvPr/>
        </p:nvSpPr>
        <p:spPr bwMode="auto">
          <a:xfrm>
            <a:off x="7935913" y="1576388"/>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12309" name="Oval 21"/>
          <p:cNvSpPr>
            <a:spLocks noChangeAspect="1" noChangeArrowheads="1"/>
          </p:cNvSpPr>
          <p:nvPr/>
        </p:nvSpPr>
        <p:spPr bwMode="auto">
          <a:xfrm>
            <a:off x="7918450" y="2089150"/>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0" name="Rectangle 22"/>
          <p:cNvSpPr>
            <a:spLocks noChangeAspect="1" noChangeArrowheads="1"/>
          </p:cNvSpPr>
          <p:nvPr/>
        </p:nvSpPr>
        <p:spPr bwMode="auto">
          <a:xfrm>
            <a:off x="7935913" y="2112963"/>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12311" name="Oval 23"/>
          <p:cNvSpPr>
            <a:spLocks noChangeAspect="1" noChangeArrowheads="1"/>
          </p:cNvSpPr>
          <p:nvPr/>
        </p:nvSpPr>
        <p:spPr bwMode="auto">
          <a:xfrm>
            <a:off x="7265988" y="263207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2" name="Rectangle 24"/>
          <p:cNvSpPr>
            <a:spLocks noChangeAspect="1" noChangeArrowheads="1"/>
          </p:cNvSpPr>
          <p:nvPr/>
        </p:nvSpPr>
        <p:spPr bwMode="auto">
          <a:xfrm>
            <a:off x="7304088" y="266382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12313" name="Oval 25"/>
          <p:cNvSpPr>
            <a:spLocks noChangeAspect="1" noChangeArrowheads="1"/>
          </p:cNvSpPr>
          <p:nvPr/>
        </p:nvSpPr>
        <p:spPr bwMode="auto">
          <a:xfrm>
            <a:off x="7281863" y="1544638"/>
            <a:ext cx="323850"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4" name="Rectangle 26"/>
          <p:cNvSpPr>
            <a:spLocks noChangeAspect="1" noChangeArrowheads="1"/>
          </p:cNvSpPr>
          <p:nvPr/>
        </p:nvSpPr>
        <p:spPr bwMode="auto">
          <a:xfrm>
            <a:off x="7310438" y="1581150"/>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12315" name="Oval 27"/>
          <p:cNvSpPr>
            <a:spLocks noChangeAspect="1" noChangeArrowheads="1"/>
          </p:cNvSpPr>
          <p:nvPr/>
        </p:nvSpPr>
        <p:spPr bwMode="auto">
          <a:xfrm>
            <a:off x="7265988" y="3175000"/>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6" name="Rectangle 28"/>
          <p:cNvSpPr>
            <a:spLocks noChangeAspect="1" noChangeArrowheads="1"/>
          </p:cNvSpPr>
          <p:nvPr/>
        </p:nvSpPr>
        <p:spPr bwMode="auto">
          <a:xfrm>
            <a:off x="7297738" y="3206750"/>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12317" name="Oval 29"/>
          <p:cNvSpPr>
            <a:spLocks noChangeAspect="1" noChangeArrowheads="1"/>
          </p:cNvSpPr>
          <p:nvPr/>
        </p:nvSpPr>
        <p:spPr bwMode="auto">
          <a:xfrm>
            <a:off x="7904163" y="263207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18" name="Rectangle 30"/>
          <p:cNvSpPr>
            <a:spLocks noChangeAspect="1" noChangeArrowheads="1"/>
          </p:cNvSpPr>
          <p:nvPr/>
        </p:nvSpPr>
        <p:spPr bwMode="auto">
          <a:xfrm>
            <a:off x="7935913" y="266382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12319" name="Oval 31"/>
          <p:cNvSpPr>
            <a:spLocks noChangeAspect="1" noChangeArrowheads="1"/>
          </p:cNvSpPr>
          <p:nvPr/>
        </p:nvSpPr>
        <p:spPr bwMode="auto">
          <a:xfrm>
            <a:off x="7918450" y="317500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2320" name="Rectangle 32"/>
          <p:cNvSpPr>
            <a:spLocks noChangeAspect="1" noChangeArrowheads="1"/>
          </p:cNvSpPr>
          <p:nvPr/>
        </p:nvSpPr>
        <p:spPr bwMode="auto">
          <a:xfrm>
            <a:off x="7951788" y="321786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12321" name="Line 33"/>
          <p:cNvSpPr>
            <a:spLocks noChangeAspect="1" noChangeShapeType="1"/>
          </p:cNvSpPr>
          <p:nvPr/>
        </p:nvSpPr>
        <p:spPr bwMode="auto">
          <a:xfrm>
            <a:off x="7766050" y="1436688"/>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2322" name="Rectangle 35"/>
          <p:cNvSpPr>
            <a:spLocks noGrp="1" noChangeArrowheads="1"/>
          </p:cNvSpPr>
          <p:nvPr>
            <p:ph type="title"/>
          </p:nvPr>
        </p:nvSpPr>
        <p:spPr/>
        <p:txBody>
          <a:bodyPr/>
          <a:lstStyle/>
          <a:p>
            <a:pPr defTabSz="914400"/>
            <a:r>
              <a:rPr lang="en-US" altLang="zh-CN">
                <a:ea typeface="宋体" panose="02010600030101010101" pitchFamily="2" charset="-122"/>
              </a:rPr>
              <a:t>2.4.1  Kernighan-Lin (KL) Algorithm – Terminology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67299">
                                            <p:txEl>
                                              <p:pRg st="9" end="9"/>
                                            </p:txEl>
                                          </p:spTgt>
                                        </p:tgtEl>
                                        <p:attrNameLst>
                                          <p:attrName>style.visibility</p:attrName>
                                        </p:attrNameLst>
                                      </p:cBhvr>
                                      <p:to>
                                        <p:strVal val="visible"/>
                                      </p:to>
                                    </p:set>
                                    <p:animEffect transition="in" filter="dissolve">
                                      <p:cBhvr>
                                        <p:cTn id="7" dur="500"/>
                                        <p:tgtEl>
                                          <p:spTgt spid="567299">
                                            <p:txEl>
                                              <p:pRg st="9" end="9"/>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67299">
                                            <p:txEl>
                                              <p:pRg st="10" end="10"/>
                                            </p:txEl>
                                          </p:spTgt>
                                        </p:tgtEl>
                                        <p:attrNameLst>
                                          <p:attrName>style.visibility</p:attrName>
                                        </p:attrNameLst>
                                      </p:cBhvr>
                                      <p:to>
                                        <p:strVal val="visible"/>
                                      </p:to>
                                    </p:set>
                                    <p:animEffect transition="in" filter="dissolve">
                                      <p:cBhvr>
                                        <p:cTn id="12" dur="500"/>
                                        <p:tgtEl>
                                          <p:spTgt spid="56729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9FA16EC9-C3C0-41B1-BA53-48E7F6A61824}" type="slidenum">
              <a:rPr lang="en-US" altLang="de-DE" sz="1000">
                <a:solidFill>
                  <a:srgbClr val="C0C0C0"/>
                </a:solidFill>
              </a:rPr>
              <a:pPr/>
              <a:t>12</a:t>
            </a:fld>
            <a:endParaRPr lang="en-US" altLang="de-DE" sz="1000">
              <a:solidFill>
                <a:srgbClr val="C0C0C0"/>
              </a:solidFill>
            </a:endParaRPr>
          </a:p>
        </p:txBody>
      </p:sp>
      <p:sp>
        <p:nvSpPr>
          <p:cNvPr id="13315" name="Text Box 3"/>
          <p:cNvSpPr txBox="1">
            <a:spLocks noChangeArrowheads="1"/>
          </p:cNvSpPr>
          <p:nvPr/>
        </p:nvSpPr>
        <p:spPr bwMode="auto">
          <a:xfrm>
            <a:off x="608013" y="1446213"/>
            <a:ext cx="5692775" cy="313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Gain of swapping a pair of nodes </a:t>
            </a:r>
            <a:r>
              <a:rPr lang="de-DE" altLang="de-DE" i="1">
                <a:solidFill>
                  <a:srgbClr val="CC0000"/>
                </a:solidFill>
              </a:rPr>
              <a:t>a</a:t>
            </a:r>
            <a:r>
              <a:rPr lang="de-DE" altLang="de-DE">
                <a:solidFill>
                  <a:srgbClr val="CC0000"/>
                </a:solidFill>
              </a:rPr>
              <a:t> und </a:t>
            </a:r>
            <a:r>
              <a:rPr lang="de-DE" altLang="de-DE" i="1">
                <a:solidFill>
                  <a:srgbClr val="CC0000"/>
                </a:solidFill>
              </a:rPr>
              <a:t>b</a:t>
            </a:r>
          </a:p>
          <a:p>
            <a:pPr algn="l">
              <a:lnSpc>
                <a:spcPct val="100000"/>
              </a:lnSpc>
              <a:spcBef>
                <a:spcPct val="25000"/>
              </a:spcBef>
            </a:pPr>
            <a:endParaRPr lang="de-DE" altLang="de-DE"/>
          </a:p>
          <a:p>
            <a:pPr algn="l">
              <a:lnSpc>
                <a:spcPct val="100000"/>
              </a:lnSpc>
              <a:spcBef>
                <a:spcPct val="25000"/>
              </a:spcBef>
            </a:pPr>
            <a:r>
              <a:rPr lang="de-DE" altLang="de-DE">
                <a:sym typeface="Symbol" panose="05050102010706020507" pitchFamily="18" charset="2"/>
              </a:rPr>
              <a:t></a:t>
            </a:r>
            <a:r>
              <a:rPr lang="de-DE" altLang="de-DE" i="1"/>
              <a:t>g = D</a:t>
            </a:r>
            <a:r>
              <a:rPr lang="de-DE" altLang="de-DE"/>
              <a:t>(</a:t>
            </a:r>
            <a:r>
              <a:rPr lang="de-DE" altLang="de-DE" i="1"/>
              <a:t>a</a:t>
            </a:r>
            <a:r>
              <a:rPr lang="de-DE" altLang="de-DE"/>
              <a:t>)</a:t>
            </a:r>
            <a:r>
              <a:rPr lang="de-DE" altLang="de-DE" i="1"/>
              <a:t> + D</a:t>
            </a:r>
            <a:r>
              <a:rPr lang="de-DE" altLang="de-DE"/>
              <a:t>(</a:t>
            </a:r>
            <a:r>
              <a:rPr lang="de-DE" altLang="de-DE" i="1"/>
              <a:t>b</a:t>
            </a:r>
            <a:r>
              <a:rPr lang="de-DE" altLang="de-DE"/>
              <a:t>)</a:t>
            </a:r>
            <a:r>
              <a:rPr lang="de-DE" altLang="de-DE" i="1"/>
              <a:t> - 2</a:t>
            </a:r>
            <a:r>
              <a:rPr lang="de-DE" altLang="de-DE" sz="1000" i="1"/>
              <a:t>*</a:t>
            </a:r>
            <a:r>
              <a:rPr lang="de-DE" altLang="de-DE" i="1"/>
              <a:t> c</a:t>
            </a:r>
            <a:r>
              <a:rPr lang="de-DE" altLang="de-DE"/>
              <a:t>(</a:t>
            </a:r>
            <a:r>
              <a:rPr lang="de-DE" altLang="de-DE" i="1"/>
              <a:t>a,b</a:t>
            </a:r>
            <a:r>
              <a:rPr lang="de-DE" altLang="de-DE"/>
              <a:t>)</a:t>
            </a:r>
            <a:r>
              <a:rPr lang="de-DE" altLang="de-DE" i="1"/>
              <a:t>,</a:t>
            </a:r>
          </a:p>
          <a:p>
            <a:pPr algn="l">
              <a:lnSpc>
                <a:spcPct val="100000"/>
              </a:lnSpc>
              <a:spcBef>
                <a:spcPct val="25000"/>
              </a:spcBef>
            </a:pPr>
            <a:endParaRPr lang="de-DE" altLang="de-DE"/>
          </a:p>
          <a:p>
            <a:pPr algn="l">
              <a:lnSpc>
                <a:spcPct val="100000"/>
              </a:lnSpc>
              <a:spcBef>
                <a:spcPct val="25000"/>
              </a:spcBef>
            </a:pPr>
            <a:r>
              <a:rPr lang="de-DE" altLang="de-DE" sz="1400"/>
              <a:t>where </a:t>
            </a:r>
          </a:p>
          <a:p>
            <a:pPr algn="l">
              <a:lnSpc>
                <a:spcPct val="100000"/>
              </a:lnSpc>
              <a:spcBef>
                <a:spcPct val="25000"/>
              </a:spcBef>
              <a:buFontTx/>
              <a:buChar char="•"/>
            </a:pPr>
            <a:r>
              <a:rPr lang="de-DE" altLang="de-DE" sz="1400" i="1"/>
              <a:t> D</a:t>
            </a:r>
            <a:r>
              <a:rPr lang="de-DE" altLang="de-DE" sz="1400"/>
              <a:t>(</a:t>
            </a:r>
            <a:r>
              <a:rPr lang="de-DE" altLang="de-DE" sz="1400" i="1"/>
              <a:t>a</a:t>
            </a:r>
            <a:r>
              <a:rPr lang="de-DE" altLang="de-DE" sz="1400"/>
              <a:t>)</a:t>
            </a:r>
            <a:r>
              <a:rPr lang="de-DE" altLang="de-DE" sz="1400" i="1"/>
              <a:t>,</a:t>
            </a:r>
            <a:r>
              <a:rPr lang="de-DE" altLang="de-DE" sz="1400"/>
              <a:t> </a:t>
            </a:r>
            <a:r>
              <a:rPr lang="de-DE" altLang="de-DE" sz="1400" i="1"/>
              <a:t>D</a:t>
            </a:r>
            <a:r>
              <a:rPr lang="de-DE" altLang="de-DE" sz="1400"/>
              <a:t>(</a:t>
            </a:r>
            <a:r>
              <a:rPr lang="de-DE" altLang="de-DE" sz="1400" i="1"/>
              <a:t>b</a:t>
            </a:r>
            <a:r>
              <a:rPr lang="de-DE" altLang="de-DE" sz="1400"/>
              <a:t>) are the respective costs of nodes </a:t>
            </a:r>
            <a:r>
              <a:rPr lang="de-DE" altLang="de-DE" sz="1400" i="1"/>
              <a:t>a</a:t>
            </a:r>
            <a:r>
              <a:rPr lang="de-DE" altLang="de-DE" sz="1400"/>
              <a:t>, </a:t>
            </a:r>
            <a:r>
              <a:rPr lang="de-DE" altLang="de-DE" sz="1400" i="1"/>
              <a:t>b </a:t>
            </a:r>
          </a:p>
          <a:p>
            <a:pPr algn="l">
              <a:lnSpc>
                <a:spcPct val="100000"/>
              </a:lnSpc>
              <a:spcBef>
                <a:spcPct val="25000"/>
              </a:spcBef>
              <a:buFontTx/>
              <a:buChar char="•"/>
            </a:pPr>
            <a:r>
              <a:rPr lang="en-US" altLang="zh-CN" sz="1400" i="1">
                <a:ea typeface="宋体" panose="02010600030101010101" pitchFamily="2" charset="-122"/>
              </a:rPr>
              <a:t> c</a:t>
            </a:r>
            <a:r>
              <a:rPr lang="en-US" altLang="zh-CN" sz="1400">
                <a:ea typeface="宋体" panose="02010600030101010101" pitchFamily="2" charset="-122"/>
              </a:rPr>
              <a:t>(</a:t>
            </a:r>
            <a:r>
              <a:rPr lang="en-US" altLang="zh-CN" sz="1400" i="1">
                <a:ea typeface="宋体" panose="02010600030101010101" pitchFamily="2" charset="-122"/>
              </a:rPr>
              <a:t>a</a:t>
            </a:r>
            <a:r>
              <a:rPr lang="en-US" altLang="zh-CN" sz="1400">
                <a:ea typeface="宋体" panose="02010600030101010101" pitchFamily="2" charset="-122"/>
              </a:rPr>
              <a:t>,</a:t>
            </a:r>
            <a:r>
              <a:rPr lang="en-US" altLang="zh-CN" sz="1400" i="1">
                <a:ea typeface="宋体" panose="02010600030101010101" pitchFamily="2" charset="-122"/>
              </a:rPr>
              <a:t>b</a:t>
            </a:r>
            <a:r>
              <a:rPr lang="en-US" altLang="zh-CN" sz="1400">
                <a:ea typeface="宋体" panose="02010600030101010101" pitchFamily="2" charset="-122"/>
              </a:rPr>
              <a:t>) is the connection weight between </a:t>
            </a:r>
            <a:r>
              <a:rPr lang="en-US" altLang="zh-CN" sz="1400" i="1">
                <a:ea typeface="宋体" panose="02010600030101010101" pitchFamily="2" charset="-122"/>
              </a:rPr>
              <a:t>a</a:t>
            </a:r>
            <a:r>
              <a:rPr lang="en-US" altLang="zh-CN" sz="1400">
                <a:ea typeface="宋体" panose="02010600030101010101" pitchFamily="2" charset="-122"/>
              </a:rPr>
              <a:t> and </a:t>
            </a:r>
            <a:r>
              <a:rPr lang="en-US" altLang="zh-CN" sz="1400" i="1">
                <a:ea typeface="宋体" panose="02010600030101010101" pitchFamily="2" charset="-122"/>
              </a:rPr>
              <a:t>b</a:t>
            </a:r>
            <a:r>
              <a:rPr lang="en-US" altLang="zh-CN" sz="1400">
                <a:ea typeface="宋体" panose="02010600030101010101" pitchFamily="2" charset="-122"/>
              </a:rPr>
              <a:t>:</a:t>
            </a:r>
          </a:p>
          <a:p>
            <a:pPr algn="l">
              <a:lnSpc>
                <a:spcPct val="100000"/>
              </a:lnSpc>
              <a:spcBef>
                <a:spcPct val="15000"/>
              </a:spcBef>
            </a:pPr>
            <a:r>
              <a:rPr lang="en-US" altLang="zh-CN" sz="1400">
                <a:ea typeface="宋体" panose="02010600030101010101" pitchFamily="2" charset="-122"/>
              </a:rPr>
              <a:t>  If an edge exists between </a:t>
            </a:r>
            <a:r>
              <a:rPr lang="en-US" altLang="zh-CN" sz="1400" i="1">
                <a:ea typeface="宋体" panose="02010600030101010101" pitchFamily="2" charset="-122"/>
              </a:rPr>
              <a:t>a</a:t>
            </a:r>
            <a:r>
              <a:rPr lang="en-US" altLang="zh-CN" sz="1400">
                <a:ea typeface="宋体" panose="02010600030101010101" pitchFamily="2" charset="-122"/>
              </a:rPr>
              <a:t> and </a:t>
            </a:r>
            <a:r>
              <a:rPr lang="en-US" altLang="zh-CN" sz="1400" i="1">
                <a:ea typeface="宋体" panose="02010600030101010101" pitchFamily="2" charset="-122"/>
              </a:rPr>
              <a:t>b</a:t>
            </a:r>
            <a:r>
              <a:rPr lang="en-US" altLang="zh-CN" sz="1400">
                <a:ea typeface="宋体" panose="02010600030101010101" pitchFamily="2" charset="-122"/>
              </a:rPr>
              <a:t>, </a:t>
            </a:r>
            <a:br>
              <a:rPr lang="en-US" altLang="zh-CN" sz="1400">
                <a:ea typeface="宋体" panose="02010600030101010101" pitchFamily="2" charset="-122"/>
              </a:rPr>
            </a:br>
            <a:r>
              <a:rPr lang="en-US" altLang="zh-CN" sz="1400">
                <a:ea typeface="宋体" panose="02010600030101010101" pitchFamily="2" charset="-122"/>
              </a:rPr>
              <a:t>  then </a:t>
            </a:r>
            <a:r>
              <a:rPr lang="en-US" altLang="zh-CN" sz="1400" i="1">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a,b</a:t>
            </a:r>
            <a:r>
              <a:rPr lang="en-US" altLang="zh-CN" sz="1400">
                <a:ea typeface="宋体" panose="02010600030101010101" pitchFamily="2" charset="-122"/>
              </a:rPr>
              <a:t>)</a:t>
            </a:r>
            <a:r>
              <a:rPr lang="en-US" altLang="zh-CN" sz="1400" i="1">
                <a:ea typeface="宋体" panose="02010600030101010101" pitchFamily="2" charset="-122"/>
              </a:rPr>
              <a:t> </a:t>
            </a:r>
            <a:r>
              <a:rPr lang="en-US" altLang="zh-CN" sz="1400">
                <a:ea typeface="宋体" panose="02010600030101010101" pitchFamily="2" charset="-122"/>
              </a:rPr>
              <a:t>= edge weight (here 1), </a:t>
            </a:r>
          </a:p>
          <a:p>
            <a:pPr algn="l">
              <a:lnSpc>
                <a:spcPct val="100000"/>
              </a:lnSpc>
              <a:spcBef>
                <a:spcPct val="5000"/>
              </a:spcBef>
              <a:spcAft>
                <a:spcPct val="5000"/>
              </a:spcAft>
            </a:pPr>
            <a:r>
              <a:rPr lang="en-US" altLang="zh-CN" sz="1400">
                <a:ea typeface="宋体" panose="02010600030101010101" pitchFamily="2" charset="-122"/>
              </a:rPr>
              <a:t>  otherwise, </a:t>
            </a:r>
            <a:r>
              <a:rPr lang="en-US" altLang="zh-CN" sz="1400" i="1">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a,b</a:t>
            </a:r>
            <a:r>
              <a:rPr lang="en-US" altLang="zh-CN" sz="1400">
                <a:ea typeface="宋体" panose="02010600030101010101" pitchFamily="2" charset="-122"/>
              </a:rPr>
              <a:t>)</a:t>
            </a:r>
            <a:r>
              <a:rPr lang="en-US" altLang="zh-CN" sz="1400" i="1">
                <a:ea typeface="宋体" panose="02010600030101010101" pitchFamily="2" charset="-122"/>
              </a:rPr>
              <a:t> </a:t>
            </a:r>
            <a:r>
              <a:rPr lang="en-US" altLang="zh-CN" sz="1400">
                <a:ea typeface="宋体" panose="02010600030101010101" pitchFamily="2" charset="-122"/>
              </a:rPr>
              <a:t>= 0</a:t>
            </a:r>
            <a:r>
              <a:rPr lang="en-US" altLang="zh-CN" sz="1400" i="1">
                <a:ea typeface="宋体" panose="02010600030101010101" pitchFamily="2" charset="-122"/>
              </a:rPr>
              <a:t>.</a:t>
            </a:r>
            <a:r>
              <a:rPr lang="en-US" altLang="zh-CN">
                <a:ea typeface="宋体" panose="02010600030101010101" pitchFamily="2" charset="-122"/>
              </a:rPr>
              <a:t> </a:t>
            </a:r>
            <a:br>
              <a:rPr lang="en-US" altLang="zh-CN">
                <a:ea typeface="宋体" panose="02010600030101010101" pitchFamily="2" charset="-122"/>
              </a:rPr>
            </a:br>
            <a:endParaRPr lang="de-DE" altLang="de-DE"/>
          </a:p>
        </p:txBody>
      </p:sp>
      <p:sp>
        <p:nvSpPr>
          <p:cNvPr id="13316" name="Line 4"/>
          <p:cNvSpPr>
            <a:spLocks noChangeAspect="1" noChangeShapeType="1"/>
          </p:cNvSpPr>
          <p:nvPr/>
        </p:nvSpPr>
        <p:spPr bwMode="auto">
          <a:xfrm>
            <a:off x="8067675" y="27400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17" name="Line 5"/>
          <p:cNvSpPr>
            <a:spLocks noChangeAspect="1" noChangeShapeType="1"/>
          </p:cNvSpPr>
          <p:nvPr/>
        </p:nvSpPr>
        <p:spPr bwMode="auto">
          <a:xfrm>
            <a:off x="8072438" y="167640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18" name="Line 6"/>
          <p:cNvSpPr>
            <a:spLocks noChangeAspect="1" noChangeShapeType="1"/>
          </p:cNvSpPr>
          <p:nvPr/>
        </p:nvSpPr>
        <p:spPr bwMode="auto">
          <a:xfrm>
            <a:off x="7437438" y="27463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19" name="Line 7"/>
          <p:cNvSpPr>
            <a:spLocks noChangeAspect="1" noChangeShapeType="1"/>
          </p:cNvSpPr>
          <p:nvPr/>
        </p:nvSpPr>
        <p:spPr bwMode="auto">
          <a:xfrm>
            <a:off x="7437438" y="169386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0" name="Line 8"/>
          <p:cNvSpPr>
            <a:spLocks noChangeAspect="1" noChangeShapeType="1"/>
          </p:cNvSpPr>
          <p:nvPr/>
        </p:nvSpPr>
        <p:spPr bwMode="auto">
          <a:xfrm flipH="1">
            <a:off x="7483475" y="2246313"/>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1" name="Line 9"/>
          <p:cNvSpPr>
            <a:spLocks noChangeAspect="1" noChangeShapeType="1"/>
          </p:cNvSpPr>
          <p:nvPr/>
        </p:nvSpPr>
        <p:spPr bwMode="auto">
          <a:xfrm flipH="1">
            <a:off x="7469188" y="2811463"/>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2" name="Line 10"/>
          <p:cNvSpPr>
            <a:spLocks noChangeAspect="1" noChangeShapeType="1"/>
          </p:cNvSpPr>
          <p:nvPr/>
        </p:nvSpPr>
        <p:spPr bwMode="auto">
          <a:xfrm flipH="1">
            <a:off x="7459663" y="173355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3" name="Line 11"/>
          <p:cNvSpPr>
            <a:spLocks noChangeAspect="1" noChangeShapeType="1"/>
          </p:cNvSpPr>
          <p:nvPr/>
        </p:nvSpPr>
        <p:spPr bwMode="auto">
          <a:xfrm>
            <a:off x="7373938" y="2747963"/>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4" name="Line 12"/>
          <p:cNvSpPr>
            <a:spLocks noChangeAspect="1" noChangeShapeType="1"/>
          </p:cNvSpPr>
          <p:nvPr/>
        </p:nvSpPr>
        <p:spPr bwMode="auto">
          <a:xfrm>
            <a:off x="7440613" y="1697038"/>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5" name="Line 13"/>
          <p:cNvSpPr>
            <a:spLocks noChangeAspect="1" noChangeShapeType="1"/>
          </p:cNvSpPr>
          <p:nvPr/>
        </p:nvSpPr>
        <p:spPr bwMode="auto">
          <a:xfrm>
            <a:off x="7500938"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6" name="Line 14"/>
          <p:cNvSpPr>
            <a:spLocks noChangeAspect="1" noChangeShapeType="1"/>
          </p:cNvSpPr>
          <p:nvPr/>
        </p:nvSpPr>
        <p:spPr bwMode="auto">
          <a:xfrm>
            <a:off x="7469188" y="2782888"/>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7" name="Line 15"/>
          <p:cNvSpPr>
            <a:spLocks noChangeAspect="1" noChangeShapeType="1"/>
          </p:cNvSpPr>
          <p:nvPr/>
        </p:nvSpPr>
        <p:spPr bwMode="auto">
          <a:xfrm>
            <a:off x="7475538" y="334168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8" name="Line 16"/>
          <p:cNvSpPr>
            <a:spLocks noChangeAspect="1" noChangeShapeType="1"/>
          </p:cNvSpPr>
          <p:nvPr/>
        </p:nvSpPr>
        <p:spPr bwMode="auto">
          <a:xfrm>
            <a:off x="7483475" y="17065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29" name="Oval 17"/>
          <p:cNvSpPr>
            <a:spLocks noChangeAspect="1" noChangeArrowheads="1"/>
          </p:cNvSpPr>
          <p:nvPr/>
        </p:nvSpPr>
        <p:spPr bwMode="auto">
          <a:xfrm>
            <a:off x="7265988" y="2089150"/>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0" name="Rectangle 18"/>
          <p:cNvSpPr>
            <a:spLocks noChangeAspect="1" noChangeArrowheads="1"/>
          </p:cNvSpPr>
          <p:nvPr/>
        </p:nvSpPr>
        <p:spPr bwMode="auto">
          <a:xfrm>
            <a:off x="7296150" y="2114550"/>
            <a:ext cx="261938"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13331" name="Oval 19"/>
          <p:cNvSpPr>
            <a:spLocks noChangeAspect="1" noChangeArrowheads="1"/>
          </p:cNvSpPr>
          <p:nvPr/>
        </p:nvSpPr>
        <p:spPr bwMode="auto">
          <a:xfrm>
            <a:off x="7904163" y="154463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2" name="Rectangle 20"/>
          <p:cNvSpPr>
            <a:spLocks noChangeAspect="1" noChangeArrowheads="1"/>
          </p:cNvSpPr>
          <p:nvPr/>
        </p:nvSpPr>
        <p:spPr bwMode="auto">
          <a:xfrm>
            <a:off x="7935913" y="1576388"/>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13333" name="Oval 21"/>
          <p:cNvSpPr>
            <a:spLocks noChangeAspect="1" noChangeArrowheads="1"/>
          </p:cNvSpPr>
          <p:nvPr/>
        </p:nvSpPr>
        <p:spPr bwMode="auto">
          <a:xfrm>
            <a:off x="7918450" y="2089150"/>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4" name="Rectangle 22"/>
          <p:cNvSpPr>
            <a:spLocks noChangeAspect="1" noChangeArrowheads="1"/>
          </p:cNvSpPr>
          <p:nvPr/>
        </p:nvSpPr>
        <p:spPr bwMode="auto">
          <a:xfrm>
            <a:off x="7935913" y="2112963"/>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13335" name="Oval 23"/>
          <p:cNvSpPr>
            <a:spLocks noChangeAspect="1" noChangeArrowheads="1"/>
          </p:cNvSpPr>
          <p:nvPr/>
        </p:nvSpPr>
        <p:spPr bwMode="auto">
          <a:xfrm>
            <a:off x="7265988" y="263207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6" name="Rectangle 24"/>
          <p:cNvSpPr>
            <a:spLocks noChangeAspect="1" noChangeArrowheads="1"/>
          </p:cNvSpPr>
          <p:nvPr/>
        </p:nvSpPr>
        <p:spPr bwMode="auto">
          <a:xfrm>
            <a:off x="7304088" y="266382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13337" name="Oval 25"/>
          <p:cNvSpPr>
            <a:spLocks noChangeAspect="1" noChangeArrowheads="1"/>
          </p:cNvSpPr>
          <p:nvPr/>
        </p:nvSpPr>
        <p:spPr bwMode="auto">
          <a:xfrm>
            <a:off x="7281863" y="1544638"/>
            <a:ext cx="323850"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38" name="Rectangle 26"/>
          <p:cNvSpPr>
            <a:spLocks noChangeAspect="1" noChangeArrowheads="1"/>
          </p:cNvSpPr>
          <p:nvPr/>
        </p:nvSpPr>
        <p:spPr bwMode="auto">
          <a:xfrm>
            <a:off x="7310438" y="1581150"/>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13339" name="Oval 27"/>
          <p:cNvSpPr>
            <a:spLocks noChangeAspect="1" noChangeArrowheads="1"/>
          </p:cNvSpPr>
          <p:nvPr/>
        </p:nvSpPr>
        <p:spPr bwMode="auto">
          <a:xfrm>
            <a:off x="7265988" y="3175000"/>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0" name="Rectangle 28"/>
          <p:cNvSpPr>
            <a:spLocks noChangeAspect="1" noChangeArrowheads="1"/>
          </p:cNvSpPr>
          <p:nvPr/>
        </p:nvSpPr>
        <p:spPr bwMode="auto">
          <a:xfrm>
            <a:off x="7297738" y="3206750"/>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13341" name="Oval 29"/>
          <p:cNvSpPr>
            <a:spLocks noChangeAspect="1" noChangeArrowheads="1"/>
          </p:cNvSpPr>
          <p:nvPr/>
        </p:nvSpPr>
        <p:spPr bwMode="auto">
          <a:xfrm>
            <a:off x="7904163" y="263207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2" name="Rectangle 30"/>
          <p:cNvSpPr>
            <a:spLocks noChangeAspect="1" noChangeArrowheads="1"/>
          </p:cNvSpPr>
          <p:nvPr/>
        </p:nvSpPr>
        <p:spPr bwMode="auto">
          <a:xfrm>
            <a:off x="7935913" y="266382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13343" name="Oval 31"/>
          <p:cNvSpPr>
            <a:spLocks noChangeAspect="1" noChangeArrowheads="1"/>
          </p:cNvSpPr>
          <p:nvPr/>
        </p:nvSpPr>
        <p:spPr bwMode="auto">
          <a:xfrm>
            <a:off x="7918450" y="317500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44" name="Rectangle 32"/>
          <p:cNvSpPr>
            <a:spLocks noChangeAspect="1" noChangeArrowheads="1"/>
          </p:cNvSpPr>
          <p:nvPr/>
        </p:nvSpPr>
        <p:spPr bwMode="auto">
          <a:xfrm>
            <a:off x="7951788" y="321786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13345" name="Line 33"/>
          <p:cNvSpPr>
            <a:spLocks noChangeAspect="1" noChangeShapeType="1"/>
          </p:cNvSpPr>
          <p:nvPr/>
        </p:nvSpPr>
        <p:spPr bwMode="auto">
          <a:xfrm>
            <a:off x="7766050" y="1436688"/>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3346" name="Text Box 34"/>
          <p:cNvSpPr txBox="1">
            <a:spLocks noChangeArrowheads="1"/>
          </p:cNvSpPr>
          <p:nvPr/>
        </p:nvSpPr>
        <p:spPr bwMode="auto">
          <a:xfrm>
            <a:off x="5583238" y="2924175"/>
            <a:ext cx="1435100" cy="709613"/>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600"/>
              <a:t>Node 3:</a:t>
            </a:r>
          </a:p>
          <a:p>
            <a:pPr algn="l"/>
            <a:r>
              <a:rPr lang="de-DE" altLang="de-DE" sz="1600" i="1"/>
              <a:t>D</a:t>
            </a:r>
            <a:r>
              <a:rPr lang="de-DE" altLang="de-DE" sz="1600"/>
              <a:t>(3) = 3-1=2</a:t>
            </a:r>
            <a:endParaRPr lang="en-US" altLang="zh-CN" sz="1600">
              <a:ea typeface="宋体" panose="02010600030101010101" pitchFamily="2" charset="-122"/>
            </a:endParaRPr>
          </a:p>
        </p:txBody>
      </p:sp>
      <p:sp>
        <p:nvSpPr>
          <p:cNvPr id="13347" name="Text Box 35"/>
          <p:cNvSpPr txBox="1">
            <a:spLocks noChangeArrowheads="1"/>
          </p:cNvSpPr>
          <p:nvPr/>
        </p:nvSpPr>
        <p:spPr bwMode="auto">
          <a:xfrm>
            <a:off x="5580063" y="1125538"/>
            <a:ext cx="1435100" cy="70961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600"/>
              <a:t>Node 7:</a:t>
            </a:r>
          </a:p>
          <a:p>
            <a:pPr algn="l"/>
            <a:r>
              <a:rPr lang="de-DE" altLang="de-DE" sz="1600" i="1"/>
              <a:t>D</a:t>
            </a:r>
            <a:r>
              <a:rPr lang="de-DE" altLang="de-DE" sz="1600"/>
              <a:t>(7) = 2-1=1</a:t>
            </a:r>
            <a:endParaRPr lang="en-US" altLang="zh-CN" sz="1600">
              <a:ea typeface="宋体" panose="02010600030101010101" pitchFamily="2" charset="-122"/>
            </a:endParaRPr>
          </a:p>
        </p:txBody>
      </p:sp>
      <p:sp>
        <p:nvSpPr>
          <p:cNvPr id="13348" name="Line 36"/>
          <p:cNvSpPr>
            <a:spLocks noChangeShapeType="1"/>
          </p:cNvSpPr>
          <p:nvPr/>
        </p:nvSpPr>
        <p:spPr bwMode="auto">
          <a:xfrm flipV="1">
            <a:off x="7018338" y="2925763"/>
            <a:ext cx="247650" cy="2492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569383" name="Text Box 39"/>
          <p:cNvSpPr txBox="1">
            <a:spLocks noChangeArrowheads="1"/>
          </p:cNvSpPr>
          <p:nvPr/>
        </p:nvSpPr>
        <p:spPr bwMode="auto">
          <a:xfrm>
            <a:off x="827088" y="4652963"/>
            <a:ext cx="4551362" cy="41116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sz="1600">
                <a:sym typeface="Symbol" panose="05050102010706020507" pitchFamily="18" charset="2"/>
              </a:rPr>
              <a:t></a:t>
            </a:r>
            <a:r>
              <a:rPr lang="de-DE" altLang="de-DE" sz="1600" i="1"/>
              <a:t>g </a:t>
            </a:r>
            <a:r>
              <a:rPr lang="de-DE" altLang="de-DE" sz="1600"/>
              <a:t>(3,7) = </a:t>
            </a:r>
            <a:r>
              <a:rPr lang="de-DE" altLang="de-DE" sz="1600" i="1"/>
              <a:t>D</a:t>
            </a:r>
            <a:r>
              <a:rPr lang="de-DE" altLang="de-DE" sz="1600"/>
              <a:t>(3) + </a:t>
            </a:r>
            <a:r>
              <a:rPr lang="de-DE" altLang="de-DE" sz="1600" i="1"/>
              <a:t>D</a:t>
            </a:r>
            <a:r>
              <a:rPr lang="de-DE" altLang="de-DE" sz="1600"/>
              <a:t>(7) - 2</a:t>
            </a:r>
            <a:r>
              <a:rPr lang="de-DE" altLang="de-DE" sz="1000" i="1"/>
              <a:t>*</a:t>
            </a:r>
            <a:r>
              <a:rPr lang="de-DE" altLang="de-DE" sz="1600" i="1"/>
              <a:t> c</a:t>
            </a:r>
            <a:r>
              <a:rPr lang="de-DE" altLang="de-DE" sz="1600"/>
              <a:t>(</a:t>
            </a:r>
            <a:r>
              <a:rPr lang="de-DE" altLang="de-DE" sz="1600" i="1"/>
              <a:t>a,b</a:t>
            </a:r>
            <a:r>
              <a:rPr lang="de-DE" altLang="de-DE" sz="1600"/>
              <a:t>)</a:t>
            </a:r>
            <a:r>
              <a:rPr lang="de-DE" altLang="de-DE" sz="1600" i="1"/>
              <a:t> = </a:t>
            </a:r>
            <a:r>
              <a:rPr lang="de-DE" altLang="de-DE" sz="1600"/>
              <a:t>2 + 1 – 2 = 1</a:t>
            </a:r>
            <a:endParaRPr lang="en-US" altLang="zh-CN" sz="1600">
              <a:ea typeface="宋体" panose="02010600030101010101" pitchFamily="2" charset="-122"/>
            </a:endParaRPr>
          </a:p>
        </p:txBody>
      </p:sp>
      <p:sp>
        <p:nvSpPr>
          <p:cNvPr id="569384" name="Text Box 40"/>
          <p:cNvSpPr txBox="1">
            <a:spLocks noChangeArrowheads="1"/>
          </p:cNvSpPr>
          <p:nvPr/>
        </p:nvSpPr>
        <p:spPr bwMode="auto">
          <a:xfrm>
            <a:off x="611188" y="5237163"/>
            <a:ext cx="4921250" cy="325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buFont typeface="Symbol" panose="05050102010706020507" pitchFamily="18" charset="2"/>
              <a:buNone/>
            </a:pPr>
            <a:r>
              <a:rPr lang="de-DE" altLang="de-DE" sz="1400"/>
              <a:t>=&gt; Swapping nodes 3 and 7 would reduce the cut size by 1</a:t>
            </a:r>
            <a:endParaRPr lang="en-US" altLang="zh-CN" sz="1400">
              <a:ea typeface="宋体" panose="02010600030101010101" pitchFamily="2" charset="-122"/>
            </a:endParaRPr>
          </a:p>
        </p:txBody>
      </p:sp>
      <p:sp>
        <p:nvSpPr>
          <p:cNvPr id="13351" name="Freeform 41"/>
          <p:cNvSpPr>
            <a:spLocks/>
          </p:cNvSpPr>
          <p:nvPr/>
        </p:nvSpPr>
        <p:spPr bwMode="auto">
          <a:xfrm>
            <a:off x="7019925" y="1268413"/>
            <a:ext cx="1549400" cy="1368425"/>
          </a:xfrm>
          <a:custGeom>
            <a:avLst/>
            <a:gdLst>
              <a:gd name="T0" fmla="*/ 0 w 976"/>
              <a:gd name="T1" fmla="*/ 144463 h 862"/>
              <a:gd name="T2" fmla="*/ 936625 w 976"/>
              <a:gd name="T3" fmla="*/ 0 h 862"/>
              <a:gd name="T4" fmla="*/ 1439863 w 976"/>
              <a:gd name="T5" fmla="*/ 144463 h 862"/>
              <a:gd name="T6" fmla="*/ 1512888 w 976"/>
              <a:gd name="T7" fmla="*/ 720725 h 862"/>
              <a:gd name="T8" fmla="*/ 1223963 w 976"/>
              <a:gd name="T9" fmla="*/ 1368425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6" h="862">
                <a:moveTo>
                  <a:pt x="0" y="91"/>
                </a:moveTo>
                <a:cubicBezTo>
                  <a:pt x="219" y="45"/>
                  <a:pt x="439" y="0"/>
                  <a:pt x="590" y="0"/>
                </a:cubicBezTo>
                <a:cubicBezTo>
                  <a:pt x="741" y="0"/>
                  <a:pt x="847" y="15"/>
                  <a:pt x="907" y="91"/>
                </a:cubicBezTo>
                <a:cubicBezTo>
                  <a:pt x="967" y="167"/>
                  <a:pt x="976" y="326"/>
                  <a:pt x="953" y="454"/>
                </a:cubicBezTo>
                <a:cubicBezTo>
                  <a:pt x="930" y="582"/>
                  <a:pt x="850" y="722"/>
                  <a:pt x="771" y="86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569386" name="Line 42"/>
          <p:cNvSpPr>
            <a:spLocks noChangeAspect="1" noChangeShapeType="1"/>
          </p:cNvSpPr>
          <p:nvPr/>
        </p:nvSpPr>
        <p:spPr bwMode="auto">
          <a:xfrm>
            <a:off x="8067675" y="54768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87" name="Line 43"/>
          <p:cNvSpPr>
            <a:spLocks noChangeAspect="1" noChangeShapeType="1"/>
          </p:cNvSpPr>
          <p:nvPr/>
        </p:nvSpPr>
        <p:spPr bwMode="auto">
          <a:xfrm>
            <a:off x="8072438" y="441325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88" name="Line 44"/>
          <p:cNvSpPr>
            <a:spLocks noChangeAspect="1" noChangeShapeType="1"/>
          </p:cNvSpPr>
          <p:nvPr/>
        </p:nvSpPr>
        <p:spPr bwMode="auto">
          <a:xfrm>
            <a:off x="7437438" y="54832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89" name="Line 45"/>
          <p:cNvSpPr>
            <a:spLocks noChangeAspect="1" noChangeShapeType="1"/>
          </p:cNvSpPr>
          <p:nvPr/>
        </p:nvSpPr>
        <p:spPr bwMode="auto">
          <a:xfrm>
            <a:off x="7437438" y="443071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0" name="Line 46"/>
          <p:cNvSpPr>
            <a:spLocks noChangeAspect="1" noChangeShapeType="1"/>
          </p:cNvSpPr>
          <p:nvPr/>
        </p:nvSpPr>
        <p:spPr bwMode="auto">
          <a:xfrm flipH="1">
            <a:off x="7483475" y="4983163"/>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1" name="Line 47"/>
          <p:cNvSpPr>
            <a:spLocks noChangeAspect="1" noChangeShapeType="1"/>
          </p:cNvSpPr>
          <p:nvPr/>
        </p:nvSpPr>
        <p:spPr bwMode="auto">
          <a:xfrm flipH="1">
            <a:off x="7469188" y="5548313"/>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2" name="Line 48"/>
          <p:cNvSpPr>
            <a:spLocks noChangeAspect="1" noChangeShapeType="1"/>
          </p:cNvSpPr>
          <p:nvPr/>
        </p:nvSpPr>
        <p:spPr bwMode="auto">
          <a:xfrm flipH="1">
            <a:off x="7459663" y="44704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3" name="Line 49"/>
          <p:cNvSpPr>
            <a:spLocks noChangeAspect="1" noChangeShapeType="1"/>
          </p:cNvSpPr>
          <p:nvPr/>
        </p:nvSpPr>
        <p:spPr bwMode="auto">
          <a:xfrm>
            <a:off x="7373938" y="5484813"/>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4" name="Line 50"/>
          <p:cNvSpPr>
            <a:spLocks noChangeAspect="1" noChangeShapeType="1"/>
          </p:cNvSpPr>
          <p:nvPr/>
        </p:nvSpPr>
        <p:spPr bwMode="auto">
          <a:xfrm>
            <a:off x="7440613" y="4433888"/>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5" name="Line 51"/>
          <p:cNvSpPr>
            <a:spLocks noChangeAspect="1" noChangeShapeType="1"/>
          </p:cNvSpPr>
          <p:nvPr/>
        </p:nvSpPr>
        <p:spPr bwMode="auto">
          <a:xfrm>
            <a:off x="7500938" y="497522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6" name="Line 52"/>
          <p:cNvSpPr>
            <a:spLocks noChangeAspect="1" noChangeShapeType="1"/>
          </p:cNvSpPr>
          <p:nvPr/>
        </p:nvSpPr>
        <p:spPr bwMode="auto">
          <a:xfrm>
            <a:off x="7469188" y="5519738"/>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7" name="Line 53"/>
          <p:cNvSpPr>
            <a:spLocks noChangeAspect="1" noChangeShapeType="1"/>
          </p:cNvSpPr>
          <p:nvPr/>
        </p:nvSpPr>
        <p:spPr bwMode="auto">
          <a:xfrm>
            <a:off x="7475538" y="607853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8" name="Line 54"/>
          <p:cNvSpPr>
            <a:spLocks noChangeAspect="1" noChangeShapeType="1"/>
          </p:cNvSpPr>
          <p:nvPr/>
        </p:nvSpPr>
        <p:spPr bwMode="auto">
          <a:xfrm>
            <a:off x="7483475" y="444341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399" name="Oval 55"/>
          <p:cNvSpPr>
            <a:spLocks noChangeAspect="1" noChangeArrowheads="1"/>
          </p:cNvSpPr>
          <p:nvPr/>
        </p:nvSpPr>
        <p:spPr bwMode="auto">
          <a:xfrm>
            <a:off x="7265988" y="4826000"/>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00" name="Rectangle 56"/>
          <p:cNvSpPr>
            <a:spLocks noChangeAspect="1" noChangeArrowheads="1"/>
          </p:cNvSpPr>
          <p:nvPr/>
        </p:nvSpPr>
        <p:spPr bwMode="auto">
          <a:xfrm>
            <a:off x="7296150" y="4851400"/>
            <a:ext cx="261938"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569401" name="Oval 57"/>
          <p:cNvSpPr>
            <a:spLocks noChangeAspect="1" noChangeArrowheads="1"/>
          </p:cNvSpPr>
          <p:nvPr/>
        </p:nvSpPr>
        <p:spPr bwMode="auto">
          <a:xfrm>
            <a:off x="7904163" y="428148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02" name="Rectangle 58"/>
          <p:cNvSpPr>
            <a:spLocks noChangeAspect="1" noChangeArrowheads="1"/>
          </p:cNvSpPr>
          <p:nvPr/>
        </p:nvSpPr>
        <p:spPr bwMode="auto">
          <a:xfrm>
            <a:off x="7935913" y="4313238"/>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569403" name="Oval 59"/>
          <p:cNvSpPr>
            <a:spLocks noChangeAspect="1" noChangeArrowheads="1"/>
          </p:cNvSpPr>
          <p:nvPr/>
        </p:nvSpPr>
        <p:spPr bwMode="auto">
          <a:xfrm>
            <a:off x="7918450" y="4826000"/>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04" name="Rectangle 60"/>
          <p:cNvSpPr>
            <a:spLocks noChangeAspect="1" noChangeArrowheads="1"/>
          </p:cNvSpPr>
          <p:nvPr/>
        </p:nvSpPr>
        <p:spPr bwMode="auto">
          <a:xfrm>
            <a:off x="7935913" y="4849813"/>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569405" name="Oval 61"/>
          <p:cNvSpPr>
            <a:spLocks noChangeAspect="1" noChangeArrowheads="1"/>
          </p:cNvSpPr>
          <p:nvPr/>
        </p:nvSpPr>
        <p:spPr bwMode="auto">
          <a:xfrm>
            <a:off x="7265988" y="5368925"/>
            <a:ext cx="327025"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06" name="Rectangle 62"/>
          <p:cNvSpPr>
            <a:spLocks noChangeAspect="1" noChangeArrowheads="1"/>
          </p:cNvSpPr>
          <p:nvPr/>
        </p:nvSpPr>
        <p:spPr bwMode="auto">
          <a:xfrm>
            <a:off x="7304088" y="540067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2"/>
                </a:solidFill>
              </a:rPr>
              <a:t>3</a:t>
            </a:r>
            <a:endParaRPr lang="en-US" altLang="zh-CN" sz="1500" b="1">
              <a:solidFill>
                <a:schemeClr val="bg2"/>
              </a:solidFill>
              <a:ea typeface="宋体" panose="02010600030101010101" pitchFamily="2" charset="-122"/>
            </a:endParaRPr>
          </a:p>
        </p:txBody>
      </p:sp>
      <p:sp>
        <p:nvSpPr>
          <p:cNvPr id="569407" name="Oval 63"/>
          <p:cNvSpPr>
            <a:spLocks noChangeAspect="1" noChangeArrowheads="1"/>
          </p:cNvSpPr>
          <p:nvPr/>
        </p:nvSpPr>
        <p:spPr bwMode="auto">
          <a:xfrm>
            <a:off x="7281863" y="4281488"/>
            <a:ext cx="323850"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08" name="Rectangle 64"/>
          <p:cNvSpPr>
            <a:spLocks noChangeAspect="1" noChangeArrowheads="1"/>
          </p:cNvSpPr>
          <p:nvPr/>
        </p:nvSpPr>
        <p:spPr bwMode="auto">
          <a:xfrm>
            <a:off x="7310438" y="4318000"/>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569409" name="Oval 65"/>
          <p:cNvSpPr>
            <a:spLocks noChangeAspect="1" noChangeArrowheads="1"/>
          </p:cNvSpPr>
          <p:nvPr/>
        </p:nvSpPr>
        <p:spPr bwMode="auto">
          <a:xfrm>
            <a:off x="7265988" y="5911850"/>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10" name="Rectangle 66"/>
          <p:cNvSpPr>
            <a:spLocks noChangeAspect="1" noChangeArrowheads="1"/>
          </p:cNvSpPr>
          <p:nvPr/>
        </p:nvSpPr>
        <p:spPr bwMode="auto">
          <a:xfrm>
            <a:off x="7297738" y="5943600"/>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569411" name="Oval 67"/>
          <p:cNvSpPr>
            <a:spLocks noChangeAspect="1" noChangeArrowheads="1"/>
          </p:cNvSpPr>
          <p:nvPr/>
        </p:nvSpPr>
        <p:spPr bwMode="auto">
          <a:xfrm>
            <a:off x="7904163" y="53689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12" name="Rectangle 68"/>
          <p:cNvSpPr>
            <a:spLocks noChangeAspect="1" noChangeArrowheads="1"/>
          </p:cNvSpPr>
          <p:nvPr/>
        </p:nvSpPr>
        <p:spPr bwMode="auto">
          <a:xfrm>
            <a:off x="7935913" y="540067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7</a:t>
            </a:r>
            <a:endParaRPr lang="en-US" altLang="zh-CN" sz="1500" b="1">
              <a:ea typeface="宋体" panose="02010600030101010101" pitchFamily="2" charset="-122"/>
            </a:endParaRPr>
          </a:p>
        </p:txBody>
      </p:sp>
      <p:sp>
        <p:nvSpPr>
          <p:cNvPr id="569413" name="Oval 69"/>
          <p:cNvSpPr>
            <a:spLocks noChangeAspect="1" noChangeArrowheads="1"/>
          </p:cNvSpPr>
          <p:nvPr/>
        </p:nvSpPr>
        <p:spPr bwMode="auto">
          <a:xfrm>
            <a:off x="7918450" y="591185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69414" name="Rectangle 70"/>
          <p:cNvSpPr>
            <a:spLocks noChangeAspect="1" noChangeArrowheads="1"/>
          </p:cNvSpPr>
          <p:nvPr/>
        </p:nvSpPr>
        <p:spPr bwMode="auto">
          <a:xfrm>
            <a:off x="7951788" y="59547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569415" name="Line 71"/>
          <p:cNvSpPr>
            <a:spLocks noChangeAspect="1" noChangeShapeType="1"/>
          </p:cNvSpPr>
          <p:nvPr/>
        </p:nvSpPr>
        <p:spPr bwMode="auto">
          <a:xfrm>
            <a:off x="7766050" y="4173538"/>
            <a:ext cx="0" cy="9842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417" name="Line 73"/>
          <p:cNvSpPr>
            <a:spLocks noChangeAspect="1" noChangeShapeType="1"/>
          </p:cNvSpPr>
          <p:nvPr/>
        </p:nvSpPr>
        <p:spPr bwMode="auto">
          <a:xfrm>
            <a:off x="7750175" y="5324475"/>
            <a:ext cx="0" cy="3365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418" name="Line 74"/>
          <p:cNvSpPr>
            <a:spLocks noChangeAspect="1" noChangeShapeType="1"/>
          </p:cNvSpPr>
          <p:nvPr/>
        </p:nvSpPr>
        <p:spPr bwMode="auto">
          <a:xfrm>
            <a:off x="7767638" y="5908675"/>
            <a:ext cx="0" cy="3365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419" name="Line 75"/>
          <p:cNvSpPr>
            <a:spLocks noChangeAspect="1" noChangeShapeType="1"/>
          </p:cNvSpPr>
          <p:nvPr/>
        </p:nvSpPr>
        <p:spPr bwMode="auto">
          <a:xfrm flipV="1">
            <a:off x="7199313" y="5803900"/>
            <a:ext cx="431800"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420" name="Line 76"/>
          <p:cNvSpPr>
            <a:spLocks noChangeAspect="1" noChangeShapeType="1"/>
          </p:cNvSpPr>
          <p:nvPr/>
        </p:nvSpPr>
        <p:spPr bwMode="auto">
          <a:xfrm flipV="1">
            <a:off x="7885113" y="5805488"/>
            <a:ext cx="431800"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69421" name="AutoShape 77"/>
          <p:cNvSpPr>
            <a:spLocks noChangeArrowheads="1"/>
          </p:cNvSpPr>
          <p:nvPr/>
        </p:nvSpPr>
        <p:spPr bwMode="auto">
          <a:xfrm rot="-5400000">
            <a:off x="7634287" y="3533776"/>
            <a:ext cx="288925" cy="654050"/>
          </a:xfrm>
          <a:prstGeom prst="leftArrow">
            <a:avLst>
              <a:gd name="adj1" fmla="val 50000"/>
              <a:gd name="adj2" fmla="val 25000"/>
            </a:avLst>
          </a:prstGeom>
          <a:gradFill rotWithShape="1">
            <a:gsLst>
              <a:gs pos="0">
                <a:schemeClr val="tx1"/>
              </a:gs>
              <a:gs pos="100000">
                <a:srgbClr val="EAEAEA"/>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3387" name="Rectangle 79"/>
          <p:cNvSpPr>
            <a:spLocks noGrp="1" noChangeArrowheads="1"/>
          </p:cNvSpPr>
          <p:nvPr>
            <p:ph type="title"/>
          </p:nvPr>
        </p:nvSpPr>
        <p:spPr/>
        <p:txBody>
          <a:bodyPr/>
          <a:lstStyle/>
          <a:p>
            <a:pPr defTabSz="914400"/>
            <a:r>
              <a:rPr lang="en-US" altLang="zh-CN">
                <a:ea typeface="宋体" panose="02010600030101010101" pitchFamily="2" charset="-122"/>
              </a:rPr>
              <a:t>2.4.1  Kernighan-Lin (KL) Algorithm – Terminology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69383"/>
                                        </p:tgtEl>
                                        <p:attrNameLst>
                                          <p:attrName>style.visibility</p:attrName>
                                        </p:attrNameLst>
                                      </p:cBhvr>
                                      <p:to>
                                        <p:strVal val="visible"/>
                                      </p:to>
                                    </p:set>
                                    <p:animEffect transition="in" filter="dissolve">
                                      <p:cBhvr>
                                        <p:cTn id="7" dur="500"/>
                                        <p:tgtEl>
                                          <p:spTgt spid="5693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69384"/>
                                        </p:tgtEl>
                                        <p:attrNameLst>
                                          <p:attrName>style.visibility</p:attrName>
                                        </p:attrNameLst>
                                      </p:cBhvr>
                                      <p:to>
                                        <p:strVal val="visible"/>
                                      </p:to>
                                    </p:set>
                                    <p:animEffect transition="in" filter="dissolve">
                                      <p:cBhvr>
                                        <p:cTn id="12" dur="500"/>
                                        <p:tgtEl>
                                          <p:spTgt spid="56938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69386"/>
                                        </p:tgtEl>
                                        <p:attrNameLst>
                                          <p:attrName>style.visibility</p:attrName>
                                        </p:attrNameLst>
                                      </p:cBhvr>
                                      <p:to>
                                        <p:strVal val="visible"/>
                                      </p:to>
                                    </p:set>
                                    <p:animEffect transition="in" filter="dissolve">
                                      <p:cBhvr>
                                        <p:cTn id="17" dur="500"/>
                                        <p:tgtEl>
                                          <p:spTgt spid="569386"/>
                                        </p:tgtEl>
                                      </p:cBhvr>
                                    </p:animEffect>
                                  </p:childTnLst>
                                </p:cTn>
                              </p:par>
                              <p:par>
                                <p:cTn id="18" presetID="9" presetClass="entr" presetSubtype="0" fill="hold" nodeType="withEffect">
                                  <p:stCondLst>
                                    <p:cond delay="0"/>
                                  </p:stCondLst>
                                  <p:childTnLst>
                                    <p:set>
                                      <p:cBhvr>
                                        <p:cTn id="19" dur="1" fill="hold">
                                          <p:stCondLst>
                                            <p:cond delay="0"/>
                                          </p:stCondLst>
                                        </p:cTn>
                                        <p:tgtEl>
                                          <p:spTgt spid="569387"/>
                                        </p:tgtEl>
                                        <p:attrNameLst>
                                          <p:attrName>style.visibility</p:attrName>
                                        </p:attrNameLst>
                                      </p:cBhvr>
                                      <p:to>
                                        <p:strVal val="visible"/>
                                      </p:to>
                                    </p:set>
                                    <p:animEffect transition="in" filter="dissolve">
                                      <p:cBhvr>
                                        <p:cTn id="20" dur="500"/>
                                        <p:tgtEl>
                                          <p:spTgt spid="569387"/>
                                        </p:tgtEl>
                                      </p:cBhvr>
                                    </p:animEffect>
                                  </p:childTnLst>
                                </p:cTn>
                              </p:par>
                              <p:par>
                                <p:cTn id="21" presetID="9" presetClass="entr" presetSubtype="0" fill="hold" nodeType="withEffect">
                                  <p:stCondLst>
                                    <p:cond delay="0"/>
                                  </p:stCondLst>
                                  <p:childTnLst>
                                    <p:set>
                                      <p:cBhvr>
                                        <p:cTn id="22" dur="1" fill="hold">
                                          <p:stCondLst>
                                            <p:cond delay="0"/>
                                          </p:stCondLst>
                                        </p:cTn>
                                        <p:tgtEl>
                                          <p:spTgt spid="569388"/>
                                        </p:tgtEl>
                                        <p:attrNameLst>
                                          <p:attrName>style.visibility</p:attrName>
                                        </p:attrNameLst>
                                      </p:cBhvr>
                                      <p:to>
                                        <p:strVal val="visible"/>
                                      </p:to>
                                    </p:set>
                                    <p:animEffect transition="in" filter="dissolve">
                                      <p:cBhvr>
                                        <p:cTn id="23" dur="500"/>
                                        <p:tgtEl>
                                          <p:spTgt spid="569388"/>
                                        </p:tgtEl>
                                      </p:cBhvr>
                                    </p:animEffect>
                                  </p:childTnLst>
                                </p:cTn>
                              </p:par>
                              <p:par>
                                <p:cTn id="24" presetID="9" presetClass="entr" presetSubtype="0" fill="hold" nodeType="withEffect">
                                  <p:stCondLst>
                                    <p:cond delay="0"/>
                                  </p:stCondLst>
                                  <p:childTnLst>
                                    <p:set>
                                      <p:cBhvr>
                                        <p:cTn id="25" dur="1" fill="hold">
                                          <p:stCondLst>
                                            <p:cond delay="0"/>
                                          </p:stCondLst>
                                        </p:cTn>
                                        <p:tgtEl>
                                          <p:spTgt spid="569389"/>
                                        </p:tgtEl>
                                        <p:attrNameLst>
                                          <p:attrName>style.visibility</p:attrName>
                                        </p:attrNameLst>
                                      </p:cBhvr>
                                      <p:to>
                                        <p:strVal val="visible"/>
                                      </p:to>
                                    </p:set>
                                    <p:animEffect transition="in" filter="dissolve">
                                      <p:cBhvr>
                                        <p:cTn id="26" dur="500"/>
                                        <p:tgtEl>
                                          <p:spTgt spid="569389"/>
                                        </p:tgtEl>
                                      </p:cBhvr>
                                    </p:animEffect>
                                  </p:childTnLst>
                                </p:cTn>
                              </p:par>
                              <p:par>
                                <p:cTn id="27" presetID="9" presetClass="entr" presetSubtype="0" fill="hold" nodeType="withEffect">
                                  <p:stCondLst>
                                    <p:cond delay="0"/>
                                  </p:stCondLst>
                                  <p:childTnLst>
                                    <p:set>
                                      <p:cBhvr>
                                        <p:cTn id="28" dur="1" fill="hold">
                                          <p:stCondLst>
                                            <p:cond delay="0"/>
                                          </p:stCondLst>
                                        </p:cTn>
                                        <p:tgtEl>
                                          <p:spTgt spid="569390"/>
                                        </p:tgtEl>
                                        <p:attrNameLst>
                                          <p:attrName>style.visibility</p:attrName>
                                        </p:attrNameLst>
                                      </p:cBhvr>
                                      <p:to>
                                        <p:strVal val="visible"/>
                                      </p:to>
                                    </p:set>
                                    <p:animEffect transition="in" filter="dissolve">
                                      <p:cBhvr>
                                        <p:cTn id="29" dur="500"/>
                                        <p:tgtEl>
                                          <p:spTgt spid="569390"/>
                                        </p:tgtEl>
                                      </p:cBhvr>
                                    </p:animEffect>
                                  </p:childTnLst>
                                </p:cTn>
                              </p:par>
                              <p:par>
                                <p:cTn id="30" presetID="9" presetClass="entr" presetSubtype="0" fill="hold" nodeType="withEffect">
                                  <p:stCondLst>
                                    <p:cond delay="0"/>
                                  </p:stCondLst>
                                  <p:childTnLst>
                                    <p:set>
                                      <p:cBhvr>
                                        <p:cTn id="31" dur="1" fill="hold">
                                          <p:stCondLst>
                                            <p:cond delay="0"/>
                                          </p:stCondLst>
                                        </p:cTn>
                                        <p:tgtEl>
                                          <p:spTgt spid="569391"/>
                                        </p:tgtEl>
                                        <p:attrNameLst>
                                          <p:attrName>style.visibility</p:attrName>
                                        </p:attrNameLst>
                                      </p:cBhvr>
                                      <p:to>
                                        <p:strVal val="visible"/>
                                      </p:to>
                                    </p:set>
                                    <p:animEffect transition="in" filter="dissolve">
                                      <p:cBhvr>
                                        <p:cTn id="32" dur="500"/>
                                        <p:tgtEl>
                                          <p:spTgt spid="569391"/>
                                        </p:tgtEl>
                                      </p:cBhvr>
                                    </p:animEffect>
                                  </p:childTnLst>
                                </p:cTn>
                              </p:par>
                              <p:par>
                                <p:cTn id="33" presetID="9" presetClass="entr" presetSubtype="0" fill="hold" nodeType="withEffect">
                                  <p:stCondLst>
                                    <p:cond delay="0"/>
                                  </p:stCondLst>
                                  <p:childTnLst>
                                    <p:set>
                                      <p:cBhvr>
                                        <p:cTn id="34" dur="1" fill="hold">
                                          <p:stCondLst>
                                            <p:cond delay="0"/>
                                          </p:stCondLst>
                                        </p:cTn>
                                        <p:tgtEl>
                                          <p:spTgt spid="569392"/>
                                        </p:tgtEl>
                                        <p:attrNameLst>
                                          <p:attrName>style.visibility</p:attrName>
                                        </p:attrNameLst>
                                      </p:cBhvr>
                                      <p:to>
                                        <p:strVal val="visible"/>
                                      </p:to>
                                    </p:set>
                                    <p:animEffect transition="in" filter="dissolve">
                                      <p:cBhvr>
                                        <p:cTn id="35" dur="500"/>
                                        <p:tgtEl>
                                          <p:spTgt spid="569392"/>
                                        </p:tgtEl>
                                      </p:cBhvr>
                                    </p:animEffect>
                                  </p:childTnLst>
                                </p:cTn>
                              </p:par>
                              <p:par>
                                <p:cTn id="36" presetID="9" presetClass="entr" presetSubtype="0" fill="hold" nodeType="withEffect">
                                  <p:stCondLst>
                                    <p:cond delay="0"/>
                                  </p:stCondLst>
                                  <p:childTnLst>
                                    <p:set>
                                      <p:cBhvr>
                                        <p:cTn id="37" dur="1" fill="hold">
                                          <p:stCondLst>
                                            <p:cond delay="0"/>
                                          </p:stCondLst>
                                        </p:cTn>
                                        <p:tgtEl>
                                          <p:spTgt spid="569393"/>
                                        </p:tgtEl>
                                        <p:attrNameLst>
                                          <p:attrName>style.visibility</p:attrName>
                                        </p:attrNameLst>
                                      </p:cBhvr>
                                      <p:to>
                                        <p:strVal val="visible"/>
                                      </p:to>
                                    </p:set>
                                    <p:animEffect transition="in" filter="dissolve">
                                      <p:cBhvr>
                                        <p:cTn id="38" dur="500"/>
                                        <p:tgtEl>
                                          <p:spTgt spid="569393"/>
                                        </p:tgtEl>
                                      </p:cBhvr>
                                    </p:animEffect>
                                  </p:childTnLst>
                                </p:cTn>
                              </p:par>
                              <p:par>
                                <p:cTn id="39" presetID="9" presetClass="entr" presetSubtype="0" fill="hold" nodeType="withEffect">
                                  <p:stCondLst>
                                    <p:cond delay="0"/>
                                  </p:stCondLst>
                                  <p:childTnLst>
                                    <p:set>
                                      <p:cBhvr>
                                        <p:cTn id="40" dur="1" fill="hold">
                                          <p:stCondLst>
                                            <p:cond delay="0"/>
                                          </p:stCondLst>
                                        </p:cTn>
                                        <p:tgtEl>
                                          <p:spTgt spid="569394"/>
                                        </p:tgtEl>
                                        <p:attrNameLst>
                                          <p:attrName>style.visibility</p:attrName>
                                        </p:attrNameLst>
                                      </p:cBhvr>
                                      <p:to>
                                        <p:strVal val="visible"/>
                                      </p:to>
                                    </p:set>
                                    <p:animEffect transition="in" filter="dissolve">
                                      <p:cBhvr>
                                        <p:cTn id="41" dur="500"/>
                                        <p:tgtEl>
                                          <p:spTgt spid="569394"/>
                                        </p:tgtEl>
                                      </p:cBhvr>
                                    </p:animEffect>
                                  </p:childTnLst>
                                </p:cTn>
                              </p:par>
                              <p:par>
                                <p:cTn id="42" presetID="9" presetClass="entr" presetSubtype="0" fill="hold" nodeType="withEffect">
                                  <p:stCondLst>
                                    <p:cond delay="0"/>
                                  </p:stCondLst>
                                  <p:childTnLst>
                                    <p:set>
                                      <p:cBhvr>
                                        <p:cTn id="43" dur="1" fill="hold">
                                          <p:stCondLst>
                                            <p:cond delay="0"/>
                                          </p:stCondLst>
                                        </p:cTn>
                                        <p:tgtEl>
                                          <p:spTgt spid="569395"/>
                                        </p:tgtEl>
                                        <p:attrNameLst>
                                          <p:attrName>style.visibility</p:attrName>
                                        </p:attrNameLst>
                                      </p:cBhvr>
                                      <p:to>
                                        <p:strVal val="visible"/>
                                      </p:to>
                                    </p:set>
                                    <p:animEffect transition="in" filter="dissolve">
                                      <p:cBhvr>
                                        <p:cTn id="44" dur="500"/>
                                        <p:tgtEl>
                                          <p:spTgt spid="569395"/>
                                        </p:tgtEl>
                                      </p:cBhvr>
                                    </p:animEffect>
                                  </p:childTnLst>
                                </p:cTn>
                              </p:par>
                              <p:par>
                                <p:cTn id="45" presetID="9" presetClass="entr" presetSubtype="0" fill="hold" nodeType="withEffect">
                                  <p:stCondLst>
                                    <p:cond delay="0"/>
                                  </p:stCondLst>
                                  <p:childTnLst>
                                    <p:set>
                                      <p:cBhvr>
                                        <p:cTn id="46" dur="1" fill="hold">
                                          <p:stCondLst>
                                            <p:cond delay="0"/>
                                          </p:stCondLst>
                                        </p:cTn>
                                        <p:tgtEl>
                                          <p:spTgt spid="569396"/>
                                        </p:tgtEl>
                                        <p:attrNameLst>
                                          <p:attrName>style.visibility</p:attrName>
                                        </p:attrNameLst>
                                      </p:cBhvr>
                                      <p:to>
                                        <p:strVal val="visible"/>
                                      </p:to>
                                    </p:set>
                                    <p:animEffect transition="in" filter="dissolve">
                                      <p:cBhvr>
                                        <p:cTn id="47" dur="500"/>
                                        <p:tgtEl>
                                          <p:spTgt spid="569396"/>
                                        </p:tgtEl>
                                      </p:cBhvr>
                                    </p:animEffect>
                                  </p:childTnLst>
                                </p:cTn>
                              </p:par>
                              <p:par>
                                <p:cTn id="48" presetID="9" presetClass="entr" presetSubtype="0" fill="hold" nodeType="withEffect">
                                  <p:stCondLst>
                                    <p:cond delay="0"/>
                                  </p:stCondLst>
                                  <p:childTnLst>
                                    <p:set>
                                      <p:cBhvr>
                                        <p:cTn id="49" dur="1" fill="hold">
                                          <p:stCondLst>
                                            <p:cond delay="0"/>
                                          </p:stCondLst>
                                        </p:cTn>
                                        <p:tgtEl>
                                          <p:spTgt spid="569397"/>
                                        </p:tgtEl>
                                        <p:attrNameLst>
                                          <p:attrName>style.visibility</p:attrName>
                                        </p:attrNameLst>
                                      </p:cBhvr>
                                      <p:to>
                                        <p:strVal val="visible"/>
                                      </p:to>
                                    </p:set>
                                    <p:animEffect transition="in" filter="dissolve">
                                      <p:cBhvr>
                                        <p:cTn id="50" dur="500"/>
                                        <p:tgtEl>
                                          <p:spTgt spid="569397"/>
                                        </p:tgtEl>
                                      </p:cBhvr>
                                    </p:animEffect>
                                  </p:childTnLst>
                                </p:cTn>
                              </p:par>
                              <p:par>
                                <p:cTn id="51" presetID="9" presetClass="entr" presetSubtype="0" fill="hold" nodeType="withEffect">
                                  <p:stCondLst>
                                    <p:cond delay="0"/>
                                  </p:stCondLst>
                                  <p:childTnLst>
                                    <p:set>
                                      <p:cBhvr>
                                        <p:cTn id="52" dur="1" fill="hold">
                                          <p:stCondLst>
                                            <p:cond delay="0"/>
                                          </p:stCondLst>
                                        </p:cTn>
                                        <p:tgtEl>
                                          <p:spTgt spid="569398"/>
                                        </p:tgtEl>
                                        <p:attrNameLst>
                                          <p:attrName>style.visibility</p:attrName>
                                        </p:attrNameLst>
                                      </p:cBhvr>
                                      <p:to>
                                        <p:strVal val="visible"/>
                                      </p:to>
                                    </p:set>
                                    <p:animEffect transition="in" filter="dissolve">
                                      <p:cBhvr>
                                        <p:cTn id="53" dur="500"/>
                                        <p:tgtEl>
                                          <p:spTgt spid="569398"/>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569399"/>
                                        </p:tgtEl>
                                        <p:attrNameLst>
                                          <p:attrName>style.visibility</p:attrName>
                                        </p:attrNameLst>
                                      </p:cBhvr>
                                      <p:to>
                                        <p:strVal val="visible"/>
                                      </p:to>
                                    </p:set>
                                    <p:animEffect transition="in" filter="dissolve">
                                      <p:cBhvr>
                                        <p:cTn id="56" dur="500"/>
                                        <p:tgtEl>
                                          <p:spTgt spid="569399"/>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569400"/>
                                        </p:tgtEl>
                                        <p:attrNameLst>
                                          <p:attrName>style.visibility</p:attrName>
                                        </p:attrNameLst>
                                      </p:cBhvr>
                                      <p:to>
                                        <p:strVal val="visible"/>
                                      </p:to>
                                    </p:set>
                                    <p:animEffect transition="in" filter="dissolve">
                                      <p:cBhvr>
                                        <p:cTn id="59" dur="500"/>
                                        <p:tgtEl>
                                          <p:spTgt spid="569400"/>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569401"/>
                                        </p:tgtEl>
                                        <p:attrNameLst>
                                          <p:attrName>style.visibility</p:attrName>
                                        </p:attrNameLst>
                                      </p:cBhvr>
                                      <p:to>
                                        <p:strVal val="visible"/>
                                      </p:to>
                                    </p:set>
                                    <p:animEffect transition="in" filter="dissolve">
                                      <p:cBhvr>
                                        <p:cTn id="62" dur="500"/>
                                        <p:tgtEl>
                                          <p:spTgt spid="569401"/>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569402"/>
                                        </p:tgtEl>
                                        <p:attrNameLst>
                                          <p:attrName>style.visibility</p:attrName>
                                        </p:attrNameLst>
                                      </p:cBhvr>
                                      <p:to>
                                        <p:strVal val="visible"/>
                                      </p:to>
                                    </p:set>
                                    <p:animEffect transition="in" filter="dissolve">
                                      <p:cBhvr>
                                        <p:cTn id="65" dur="500"/>
                                        <p:tgtEl>
                                          <p:spTgt spid="569402"/>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569403"/>
                                        </p:tgtEl>
                                        <p:attrNameLst>
                                          <p:attrName>style.visibility</p:attrName>
                                        </p:attrNameLst>
                                      </p:cBhvr>
                                      <p:to>
                                        <p:strVal val="visible"/>
                                      </p:to>
                                    </p:set>
                                    <p:animEffect transition="in" filter="dissolve">
                                      <p:cBhvr>
                                        <p:cTn id="68" dur="500"/>
                                        <p:tgtEl>
                                          <p:spTgt spid="569403"/>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569404"/>
                                        </p:tgtEl>
                                        <p:attrNameLst>
                                          <p:attrName>style.visibility</p:attrName>
                                        </p:attrNameLst>
                                      </p:cBhvr>
                                      <p:to>
                                        <p:strVal val="visible"/>
                                      </p:to>
                                    </p:set>
                                    <p:animEffect transition="in" filter="dissolve">
                                      <p:cBhvr>
                                        <p:cTn id="71" dur="500"/>
                                        <p:tgtEl>
                                          <p:spTgt spid="569404"/>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569405"/>
                                        </p:tgtEl>
                                        <p:attrNameLst>
                                          <p:attrName>style.visibility</p:attrName>
                                        </p:attrNameLst>
                                      </p:cBhvr>
                                      <p:to>
                                        <p:strVal val="visible"/>
                                      </p:to>
                                    </p:set>
                                    <p:animEffect transition="in" filter="dissolve">
                                      <p:cBhvr>
                                        <p:cTn id="74" dur="500"/>
                                        <p:tgtEl>
                                          <p:spTgt spid="569405"/>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569406"/>
                                        </p:tgtEl>
                                        <p:attrNameLst>
                                          <p:attrName>style.visibility</p:attrName>
                                        </p:attrNameLst>
                                      </p:cBhvr>
                                      <p:to>
                                        <p:strVal val="visible"/>
                                      </p:to>
                                    </p:set>
                                    <p:animEffect transition="in" filter="dissolve">
                                      <p:cBhvr>
                                        <p:cTn id="77" dur="500"/>
                                        <p:tgtEl>
                                          <p:spTgt spid="569406"/>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569407"/>
                                        </p:tgtEl>
                                        <p:attrNameLst>
                                          <p:attrName>style.visibility</p:attrName>
                                        </p:attrNameLst>
                                      </p:cBhvr>
                                      <p:to>
                                        <p:strVal val="visible"/>
                                      </p:to>
                                    </p:set>
                                    <p:animEffect transition="in" filter="dissolve">
                                      <p:cBhvr>
                                        <p:cTn id="80" dur="500"/>
                                        <p:tgtEl>
                                          <p:spTgt spid="569407"/>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569408"/>
                                        </p:tgtEl>
                                        <p:attrNameLst>
                                          <p:attrName>style.visibility</p:attrName>
                                        </p:attrNameLst>
                                      </p:cBhvr>
                                      <p:to>
                                        <p:strVal val="visible"/>
                                      </p:to>
                                    </p:set>
                                    <p:animEffect transition="in" filter="dissolve">
                                      <p:cBhvr>
                                        <p:cTn id="83" dur="500"/>
                                        <p:tgtEl>
                                          <p:spTgt spid="569408"/>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569409"/>
                                        </p:tgtEl>
                                        <p:attrNameLst>
                                          <p:attrName>style.visibility</p:attrName>
                                        </p:attrNameLst>
                                      </p:cBhvr>
                                      <p:to>
                                        <p:strVal val="visible"/>
                                      </p:to>
                                    </p:set>
                                    <p:animEffect transition="in" filter="dissolve">
                                      <p:cBhvr>
                                        <p:cTn id="86" dur="500"/>
                                        <p:tgtEl>
                                          <p:spTgt spid="569409"/>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569410"/>
                                        </p:tgtEl>
                                        <p:attrNameLst>
                                          <p:attrName>style.visibility</p:attrName>
                                        </p:attrNameLst>
                                      </p:cBhvr>
                                      <p:to>
                                        <p:strVal val="visible"/>
                                      </p:to>
                                    </p:set>
                                    <p:animEffect transition="in" filter="dissolve">
                                      <p:cBhvr>
                                        <p:cTn id="89" dur="500"/>
                                        <p:tgtEl>
                                          <p:spTgt spid="569410"/>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569411"/>
                                        </p:tgtEl>
                                        <p:attrNameLst>
                                          <p:attrName>style.visibility</p:attrName>
                                        </p:attrNameLst>
                                      </p:cBhvr>
                                      <p:to>
                                        <p:strVal val="visible"/>
                                      </p:to>
                                    </p:set>
                                    <p:animEffect transition="in" filter="dissolve">
                                      <p:cBhvr>
                                        <p:cTn id="92" dur="500"/>
                                        <p:tgtEl>
                                          <p:spTgt spid="569411"/>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569412"/>
                                        </p:tgtEl>
                                        <p:attrNameLst>
                                          <p:attrName>style.visibility</p:attrName>
                                        </p:attrNameLst>
                                      </p:cBhvr>
                                      <p:to>
                                        <p:strVal val="visible"/>
                                      </p:to>
                                    </p:set>
                                    <p:animEffect transition="in" filter="dissolve">
                                      <p:cBhvr>
                                        <p:cTn id="95" dur="500"/>
                                        <p:tgtEl>
                                          <p:spTgt spid="569412"/>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569413"/>
                                        </p:tgtEl>
                                        <p:attrNameLst>
                                          <p:attrName>style.visibility</p:attrName>
                                        </p:attrNameLst>
                                      </p:cBhvr>
                                      <p:to>
                                        <p:strVal val="visible"/>
                                      </p:to>
                                    </p:set>
                                    <p:animEffect transition="in" filter="dissolve">
                                      <p:cBhvr>
                                        <p:cTn id="98" dur="500"/>
                                        <p:tgtEl>
                                          <p:spTgt spid="569413"/>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569414"/>
                                        </p:tgtEl>
                                        <p:attrNameLst>
                                          <p:attrName>style.visibility</p:attrName>
                                        </p:attrNameLst>
                                      </p:cBhvr>
                                      <p:to>
                                        <p:strVal val="visible"/>
                                      </p:to>
                                    </p:set>
                                    <p:animEffect transition="in" filter="dissolve">
                                      <p:cBhvr>
                                        <p:cTn id="101" dur="500"/>
                                        <p:tgtEl>
                                          <p:spTgt spid="569414"/>
                                        </p:tgtEl>
                                      </p:cBhvr>
                                    </p:animEffect>
                                  </p:childTnLst>
                                </p:cTn>
                              </p:par>
                              <p:par>
                                <p:cTn id="102" presetID="9" presetClass="entr" presetSubtype="0" fill="hold" nodeType="withEffect">
                                  <p:stCondLst>
                                    <p:cond delay="0"/>
                                  </p:stCondLst>
                                  <p:childTnLst>
                                    <p:set>
                                      <p:cBhvr>
                                        <p:cTn id="103" dur="1" fill="hold">
                                          <p:stCondLst>
                                            <p:cond delay="0"/>
                                          </p:stCondLst>
                                        </p:cTn>
                                        <p:tgtEl>
                                          <p:spTgt spid="569415"/>
                                        </p:tgtEl>
                                        <p:attrNameLst>
                                          <p:attrName>style.visibility</p:attrName>
                                        </p:attrNameLst>
                                      </p:cBhvr>
                                      <p:to>
                                        <p:strVal val="visible"/>
                                      </p:to>
                                    </p:set>
                                    <p:animEffect transition="in" filter="dissolve">
                                      <p:cBhvr>
                                        <p:cTn id="104" dur="500"/>
                                        <p:tgtEl>
                                          <p:spTgt spid="569415"/>
                                        </p:tgtEl>
                                      </p:cBhvr>
                                    </p:animEffect>
                                  </p:childTnLst>
                                </p:cTn>
                              </p:par>
                              <p:par>
                                <p:cTn id="105" presetID="9" presetClass="entr" presetSubtype="0" fill="hold" nodeType="withEffect">
                                  <p:stCondLst>
                                    <p:cond delay="0"/>
                                  </p:stCondLst>
                                  <p:childTnLst>
                                    <p:set>
                                      <p:cBhvr>
                                        <p:cTn id="106" dur="1" fill="hold">
                                          <p:stCondLst>
                                            <p:cond delay="0"/>
                                          </p:stCondLst>
                                        </p:cTn>
                                        <p:tgtEl>
                                          <p:spTgt spid="569417"/>
                                        </p:tgtEl>
                                        <p:attrNameLst>
                                          <p:attrName>style.visibility</p:attrName>
                                        </p:attrNameLst>
                                      </p:cBhvr>
                                      <p:to>
                                        <p:strVal val="visible"/>
                                      </p:to>
                                    </p:set>
                                    <p:animEffect transition="in" filter="dissolve">
                                      <p:cBhvr>
                                        <p:cTn id="107" dur="500"/>
                                        <p:tgtEl>
                                          <p:spTgt spid="569417"/>
                                        </p:tgtEl>
                                      </p:cBhvr>
                                    </p:animEffect>
                                  </p:childTnLst>
                                </p:cTn>
                              </p:par>
                              <p:par>
                                <p:cTn id="108" presetID="9" presetClass="entr" presetSubtype="0" fill="hold" nodeType="withEffect">
                                  <p:stCondLst>
                                    <p:cond delay="0"/>
                                  </p:stCondLst>
                                  <p:childTnLst>
                                    <p:set>
                                      <p:cBhvr>
                                        <p:cTn id="109" dur="1" fill="hold">
                                          <p:stCondLst>
                                            <p:cond delay="0"/>
                                          </p:stCondLst>
                                        </p:cTn>
                                        <p:tgtEl>
                                          <p:spTgt spid="569418"/>
                                        </p:tgtEl>
                                        <p:attrNameLst>
                                          <p:attrName>style.visibility</p:attrName>
                                        </p:attrNameLst>
                                      </p:cBhvr>
                                      <p:to>
                                        <p:strVal val="visible"/>
                                      </p:to>
                                    </p:set>
                                    <p:animEffect transition="in" filter="dissolve">
                                      <p:cBhvr>
                                        <p:cTn id="110" dur="500"/>
                                        <p:tgtEl>
                                          <p:spTgt spid="569418"/>
                                        </p:tgtEl>
                                      </p:cBhvr>
                                    </p:animEffect>
                                  </p:childTnLst>
                                </p:cTn>
                              </p:par>
                              <p:par>
                                <p:cTn id="111" presetID="9" presetClass="entr" presetSubtype="0" fill="hold" nodeType="withEffect">
                                  <p:stCondLst>
                                    <p:cond delay="0"/>
                                  </p:stCondLst>
                                  <p:childTnLst>
                                    <p:set>
                                      <p:cBhvr>
                                        <p:cTn id="112" dur="1" fill="hold">
                                          <p:stCondLst>
                                            <p:cond delay="0"/>
                                          </p:stCondLst>
                                        </p:cTn>
                                        <p:tgtEl>
                                          <p:spTgt spid="569419"/>
                                        </p:tgtEl>
                                        <p:attrNameLst>
                                          <p:attrName>style.visibility</p:attrName>
                                        </p:attrNameLst>
                                      </p:cBhvr>
                                      <p:to>
                                        <p:strVal val="visible"/>
                                      </p:to>
                                    </p:set>
                                    <p:animEffect transition="in" filter="dissolve">
                                      <p:cBhvr>
                                        <p:cTn id="113" dur="500"/>
                                        <p:tgtEl>
                                          <p:spTgt spid="569419"/>
                                        </p:tgtEl>
                                      </p:cBhvr>
                                    </p:animEffect>
                                  </p:childTnLst>
                                </p:cTn>
                              </p:par>
                              <p:par>
                                <p:cTn id="114" presetID="9" presetClass="entr" presetSubtype="0" fill="hold" nodeType="withEffect">
                                  <p:stCondLst>
                                    <p:cond delay="0"/>
                                  </p:stCondLst>
                                  <p:childTnLst>
                                    <p:set>
                                      <p:cBhvr>
                                        <p:cTn id="115" dur="1" fill="hold">
                                          <p:stCondLst>
                                            <p:cond delay="0"/>
                                          </p:stCondLst>
                                        </p:cTn>
                                        <p:tgtEl>
                                          <p:spTgt spid="569420"/>
                                        </p:tgtEl>
                                        <p:attrNameLst>
                                          <p:attrName>style.visibility</p:attrName>
                                        </p:attrNameLst>
                                      </p:cBhvr>
                                      <p:to>
                                        <p:strVal val="visible"/>
                                      </p:to>
                                    </p:set>
                                    <p:animEffect transition="in" filter="dissolve">
                                      <p:cBhvr>
                                        <p:cTn id="116" dur="500"/>
                                        <p:tgtEl>
                                          <p:spTgt spid="569420"/>
                                        </p:tgtEl>
                                      </p:cBhvr>
                                    </p:animEffect>
                                  </p:childTnLst>
                                </p:cTn>
                              </p:par>
                              <p:par>
                                <p:cTn id="117" presetID="9" presetClass="entr" presetSubtype="0" fill="hold" grpId="0" nodeType="withEffect">
                                  <p:stCondLst>
                                    <p:cond delay="0"/>
                                  </p:stCondLst>
                                  <p:childTnLst>
                                    <p:set>
                                      <p:cBhvr>
                                        <p:cTn id="118" dur="1" fill="hold">
                                          <p:stCondLst>
                                            <p:cond delay="0"/>
                                          </p:stCondLst>
                                        </p:cTn>
                                        <p:tgtEl>
                                          <p:spTgt spid="569421"/>
                                        </p:tgtEl>
                                        <p:attrNameLst>
                                          <p:attrName>style.visibility</p:attrName>
                                        </p:attrNameLst>
                                      </p:cBhvr>
                                      <p:to>
                                        <p:strVal val="visible"/>
                                      </p:to>
                                    </p:set>
                                    <p:animEffect transition="in" filter="dissolve">
                                      <p:cBhvr>
                                        <p:cTn id="119" dur="500"/>
                                        <p:tgtEl>
                                          <p:spTgt spid="5694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83" grpId="0" animBg="1"/>
      <p:bldP spid="569384" grpId="0"/>
      <p:bldP spid="569399" grpId="0" animBg="1"/>
      <p:bldP spid="569400" grpId="0"/>
      <p:bldP spid="569401" grpId="0" animBg="1"/>
      <p:bldP spid="569402" grpId="0"/>
      <p:bldP spid="569403" grpId="0" animBg="1"/>
      <p:bldP spid="569404" grpId="0"/>
      <p:bldP spid="569405" grpId="0" animBg="1"/>
      <p:bldP spid="569406" grpId="0"/>
      <p:bldP spid="569407" grpId="0" animBg="1"/>
      <p:bldP spid="569408" grpId="0"/>
      <p:bldP spid="569409" grpId="0" animBg="1"/>
      <p:bldP spid="569410" grpId="0"/>
      <p:bldP spid="569411" grpId="0" animBg="1"/>
      <p:bldP spid="569412" grpId="0"/>
      <p:bldP spid="569413" grpId="0" animBg="1"/>
      <p:bldP spid="569414" grpId="0"/>
      <p:bldP spid="5694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108310E5-A0DC-40D7-BC5A-0BD858D629CA}" type="slidenum">
              <a:rPr lang="en-US" altLang="de-DE" sz="1000">
                <a:solidFill>
                  <a:srgbClr val="C0C0C0"/>
                </a:solidFill>
              </a:rPr>
              <a:pPr/>
              <a:t>13</a:t>
            </a:fld>
            <a:endParaRPr lang="en-US" altLang="de-DE" sz="1000">
              <a:solidFill>
                <a:srgbClr val="C0C0C0"/>
              </a:solidFill>
            </a:endParaRPr>
          </a:p>
        </p:txBody>
      </p:sp>
      <p:sp>
        <p:nvSpPr>
          <p:cNvPr id="14339" name="Text Box 3"/>
          <p:cNvSpPr txBox="1">
            <a:spLocks noChangeArrowheads="1"/>
          </p:cNvSpPr>
          <p:nvPr/>
        </p:nvSpPr>
        <p:spPr bwMode="auto">
          <a:xfrm>
            <a:off x="608013" y="1446213"/>
            <a:ext cx="5692775" cy="2871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Gain of swapping a pair of nodes </a:t>
            </a:r>
            <a:r>
              <a:rPr lang="de-DE" altLang="de-DE" i="1">
                <a:solidFill>
                  <a:srgbClr val="CC0000"/>
                </a:solidFill>
              </a:rPr>
              <a:t>a</a:t>
            </a:r>
            <a:r>
              <a:rPr lang="de-DE" altLang="de-DE">
                <a:solidFill>
                  <a:srgbClr val="CC0000"/>
                </a:solidFill>
              </a:rPr>
              <a:t> und </a:t>
            </a:r>
            <a:r>
              <a:rPr lang="de-DE" altLang="de-DE" i="1">
                <a:solidFill>
                  <a:srgbClr val="CC0000"/>
                </a:solidFill>
              </a:rPr>
              <a:t>b</a:t>
            </a:r>
          </a:p>
          <a:p>
            <a:pPr algn="l">
              <a:lnSpc>
                <a:spcPct val="100000"/>
              </a:lnSpc>
              <a:spcBef>
                <a:spcPct val="25000"/>
              </a:spcBef>
            </a:pPr>
            <a:endParaRPr lang="de-DE" altLang="de-DE"/>
          </a:p>
          <a:p>
            <a:pPr algn="l">
              <a:lnSpc>
                <a:spcPct val="100000"/>
              </a:lnSpc>
              <a:spcBef>
                <a:spcPct val="25000"/>
              </a:spcBef>
            </a:pPr>
            <a:r>
              <a:rPr lang="de-DE" altLang="de-DE">
                <a:sym typeface="Symbol" panose="05050102010706020507" pitchFamily="18" charset="2"/>
              </a:rPr>
              <a:t></a:t>
            </a:r>
            <a:r>
              <a:rPr lang="de-DE" altLang="de-DE" i="1"/>
              <a:t>g = D</a:t>
            </a:r>
            <a:r>
              <a:rPr lang="de-DE" altLang="de-DE"/>
              <a:t>(</a:t>
            </a:r>
            <a:r>
              <a:rPr lang="de-DE" altLang="de-DE" i="1"/>
              <a:t>a</a:t>
            </a:r>
            <a:r>
              <a:rPr lang="de-DE" altLang="de-DE"/>
              <a:t>)</a:t>
            </a:r>
            <a:r>
              <a:rPr lang="de-DE" altLang="de-DE" i="1"/>
              <a:t> + D</a:t>
            </a:r>
            <a:r>
              <a:rPr lang="de-DE" altLang="de-DE"/>
              <a:t>(</a:t>
            </a:r>
            <a:r>
              <a:rPr lang="de-DE" altLang="de-DE" i="1"/>
              <a:t>b</a:t>
            </a:r>
            <a:r>
              <a:rPr lang="de-DE" altLang="de-DE"/>
              <a:t>)</a:t>
            </a:r>
            <a:r>
              <a:rPr lang="de-DE" altLang="de-DE" i="1"/>
              <a:t> - 2</a:t>
            </a:r>
            <a:r>
              <a:rPr lang="de-DE" altLang="de-DE" sz="1000" i="1"/>
              <a:t>*</a:t>
            </a:r>
            <a:r>
              <a:rPr lang="de-DE" altLang="de-DE" i="1"/>
              <a:t> c</a:t>
            </a:r>
            <a:r>
              <a:rPr lang="de-DE" altLang="de-DE"/>
              <a:t>(</a:t>
            </a:r>
            <a:r>
              <a:rPr lang="de-DE" altLang="de-DE" i="1"/>
              <a:t>a,b</a:t>
            </a:r>
            <a:r>
              <a:rPr lang="de-DE" altLang="de-DE"/>
              <a:t>)</a:t>
            </a:r>
            <a:r>
              <a:rPr lang="de-DE" altLang="de-DE" i="1"/>
              <a:t>,</a:t>
            </a:r>
          </a:p>
          <a:p>
            <a:pPr algn="l">
              <a:lnSpc>
                <a:spcPct val="100000"/>
              </a:lnSpc>
              <a:spcBef>
                <a:spcPct val="25000"/>
              </a:spcBef>
            </a:pPr>
            <a:endParaRPr lang="de-DE" altLang="de-DE"/>
          </a:p>
          <a:p>
            <a:pPr algn="l">
              <a:lnSpc>
                <a:spcPct val="100000"/>
              </a:lnSpc>
              <a:spcBef>
                <a:spcPct val="25000"/>
              </a:spcBef>
            </a:pPr>
            <a:r>
              <a:rPr lang="de-DE" altLang="de-DE" sz="1400"/>
              <a:t>where </a:t>
            </a:r>
          </a:p>
          <a:p>
            <a:pPr algn="l">
              <a:lnSpc>
                <a:spcPct val="100000"/>
              </a:lnSpc>
              <a:spcBef>
                <a:spcPct val="25000"/>
              </a:spcBef>
              <a:buFontTx/>
              <a:buChar char="•"/>
            </a:pPr>
            <a:r>
              <a:rPr lang="de-DE" altLang="de-DE" sz="1400" i="1"/>
              <a:t> D</a:t>
            </a:r>
            <a:r>
              <a:rPr lang="de-DE" altLang="de-DE" sz="1400"/>
              <a:t>(</a:t>
            </a:r>
            <a:r>
              <a:rPr lang="de-DE" altLang="de-DE" sz="1400" i="1"/>
              <a:t>a</a:t>
            </a:r>
            <a:r>
              <a:rPr lang="de-DE" altLang="de-DE" sz="1400"/>
              <a:t>)</a:t>
            </a:r>
            <a:r>
              <a:rPr lang="de-DE" altLang="de-DE" sz="1400" i="1"/>
              <a:t>,</a:t>
            </a:r>
            <a:r>
              <a:rPr lang="de-DE" altLang="de-DE" sz="1400"/>
              <a:t> </a:t>
            </a:r>
            <a:r>
              <a:rPr lang="de-DE" altLang="de-DE" sz="1400" i="1"/>
              <a:t>D</a:t>
            </a:r>
            <a:r>
              <a:rPr lang="de-DE" altLang="de-DE" sz="1400"/>
              <a:t>(</a:t>
            </a:r>
            <a:r>
              <a:rPr lang="de-DE" altLang="de-DE" sz="1400" i="1"/>
              <a:t>b</a:t>
            </a:r>
            <a:r>
              <a:rPr lang="de-DE" altLang="de-DE" sz="1400"/>
              <a:t>) are the respective costs of nodes </a:t>
            </a:r>
            <a:r>
              <a:rPr lang="de-DE" altLang="de-DE" sz="1400" i="1"/>
              <a:t>a</a:t>
            </a:r>
            <a:r>
              <a:rPr lang="de-DE" altLang="de-DE" sz="1400"/>
              <a:t>, </a:t>
            </a:r>
            <a:r>
              <a:rPr lang="de-DE" altLang="de-DE" sz="1400" i="1"/>
              <a:t>b </a:t>
            </a:r>
          </a:p>
          <a:p>
            <a:pPr algn="l">
              <a:lnSpc>
                <a:spcPct val="100000"/>
              </a:lnSpc>
              <a:spcBef>
                <a:spcPct val="25000"/>
              </a:spcBef>
              <a:buFontTx/>
              <a:buChar char="•"/>
            </a:pPr>
            <a:r>
              <a:rPr lang="en-US" altLang="zh-CN" sz="1400" i="1">
                <a:ea typeface="宋体" panose="02010600030101010101" pitchFamily="2" charset="-122"/>
              </a:rPr>
              <a:t> c</a:t>
            </a:r>
            <a:r>
              <a:rPr lang="en-US" altLang="zh-CN" sz="1400">
                <a:ea typeface="宋体" panose="02010600030101010101" pitchFamily="2" charset="-122"/>
              </a:rPr>
              <a:t>(</a:t>
            </a:r>
            <a:r>
              <a:rPr lang="en-US" altLang="zh-CN" sz="1400" i="1">
                <a:ea typeface="宋体" panose="02010600030101010101" pitchFamily="2" charset="-122"/>
              </a:rPr>
              <a:t>a</a:t>
            </a:r>
            <a:r>
              <a:rPr lang="en-US" altLang="zh-CN" sz="1400">
                <a:ea typeface="宋体" panose="02010600030101010101" pitchFamily="2" charset="-122"/>
              </a:rPr>
              <a:t>,</a:t>
            </a:r>
            <a:r>
              <a:rPr lang="en-US" altLang="zh-CN" sz="1400" i="1">
                <a:ea typeface="宋体" panose="02010600030101010101" pitchFamily="2" charset="-122"/>
              </a:rPr>
              <a:t>b</a:t>
            </a:r>
            <a:r>
              <a:rPr lang="en-US" altLang="zh-CN" sz="1400">
                <a:ea typeface="宋体" panose="02010600030101010101" pitchFamily="2" charset="-122"/>
              </a:rPr>
              <a:t>) is the connection weight between </a:t>
            </a:r>
            <a:r>
              <a:rPr lang="en-US" altLang="zh-CN" sz="1400" i="1">
                <a:ea typeface="宋体" panose="02010600030101010101" pitchFamily="2" charset="-122"/>
              </a:rPr>
              <a:t>a</a:t>
            </a:r>
            <a:r>
              <a:rPr lang="en-US" altLang="zh-CN" sz="1400">
                <a:ea typeface="宋体" panose="02010600030101010101" pitchFamily="2" charset="-122"/>
              </a:rPr>
              <a:t> and </a:t>
            </a:r>
            <a:r>
              <a:rPr lang="en-US" altLang="zh-CN" sz="1400" i="1">
                <a:ea typeface="宋体" panose="02010600030101010101" pitchFamily="2" charset="-122"/>
              </a:rPr>
              <a:t>b</a:t>
            </a:r>
            <a:r>
              <a:rPr lang="en-US" altLang="zh-CN" sz="1400">
                <a:ea typeface="宋体" panose="02010600030101010101" pitchFamily="2" charset="-122"/>
              </a:rPr>
              <a:t>:</a:t>
            </a:r>
          </a:p>
          <a:p>
            <a:pPr algn="l">
              <a:lnSpc>
                <a:spcPct val="100000"/>
              </a:lnSpc>
              <a:spcBef>
                <a:spcPct val="15000"/>
              </a:spcBef>
            </a:pPr>
            <a:r>
              <a:rPr lang="en-US" altLang="zh-CN" sz="1400">
                <a:ea typeface="宋体" panose="02010600030101010101" pitchFamily="2" charset="-122"/>
              </a:rPr>
              <a:t>  If an edge exists between </a:t>
            </a:r>
            <a:r>
              <a:rPr lang="en-US" altLang="zh-CN" sz="1400" i="1">
                <a:ea typeface="宋体" panose="02010600030101010101" pitchFamily="2" charset="-122"/>
              </a:rPr>
              <a:t>a</a:t>
            </a:r>
            <a:r>
              <a:rPr lang="en-US" altLang="zh-CN" sz="1400">
                <a:ea typeface="宋体" panose="02010600030101010101" pitchFamily="2" charset="-122"/>
              </a:rPr>
              <a:t> and </a:t>
            </a:r>
            <a:r>
              <a:rPr lang="en-US" altLang="zh-CN" sz="1400" i="1">
                <a:ea typeface="宋体" panose="02010600030101010101" pitchFamily="2" charset="-122"/>
              </a:rPr>
              <a:t>b</a:t>
            </a:r>
            <a:r>
              <a:rPr lang="en-US" altLang="zh-CN" sz="1400">
                <a:ea typeface="宋体" panose="02010600030101010101" pitchFamily="2" charset="-122"/>
              </a:rPr>
              <a:t>, </a:t>
            </a:r>
            <a:br>
              <a:rPr lang="en-US" altLang="zh-CN" sz="1400">
                <a:ea typeface="宋体" panose="02010600030101010101" pitchFamily="2" charset="-122"/>
              </a:rPr>
            </a:br>
            <a:r>
              <a:rPr lang="en-US" altLang="zh-CN" sz="1400">
                <a:ea typeface="宋体" panose="02010600030101010101" pitchFamily="2" charset="-122"/>
              </a:rPr>
              <a:t>  then </a:t>
            </a:r>
            <a:r>
              <a:rPr lang="en-US" altLang="zh-CN" sz="1400" i="1">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a,b</a:t>
            </a:r>
            <a:r>
              <a:rPr lang="en-US" altLang="zh-CN" sz="1400">
                <a:ea typeface="宋体" panose="02010600030101010101" pitchFamily="2" charset="-122"/>
              </a:rPr>
              <a:t>)</a:t>
            </a:r>
            <a:r>
              <a:rPr lang="en-US" altLang="zh-CN" sz="1400" i="1">
                <a:ea typeface="宋体" panose="02010600030101010101" pitchFamily="2" charset="-122"/>
              </a:rPr>
              <a:t> </a:t>
            </a:r>
            <a:r>
              <a:rPr lang="en-US" altLang="zh-CN" sz="1400">
                <a:ea typeface="宋体" panose="02010600030101010101" pitchFamily="2" charset="-122"/>
              </a:rPr>
              <a:t>= edge weight (here 1), </a:t>
            </a:r>
          </a:p>
          <a:p>
            <a:pPr algn="l">
              <a:lnSpc>
                <a:spcPct val="100000"/>
              </a:lnSpc>
              <a:spcBef>
                <a:spcPct val="5000"/>
              </a:spcBef>
              <a:spcAft>
                <a:spcPct val="5000"/>
              </a:spcAft>
            </a:pPr>
            <a:r>
              <a:rPr lang="en-US" altLang="zh-CN" sz="1400">
                <a:ea typeface="宋体" panose="02010600030101010101" pitchFamily="2" charset="-122"/>
              </a:rPr>
              <a:t>  otherwise, </a:t>
            </a:r>
            <a:r>
              <a:rPr lang="en-US" altLang="zh-CN" sz="1400" i="1">
                <a:ea typeface="宋体" panose="02010600030101010101" pitchFamily="2" charset="-122"/>
              </a:rPr>
              <a:t>c</a:t>
            </a:r>
            <a:r>
              <a:rPr lang="en-US" altLang="zh-CN" sz="1400">
                <a:ea typeface="宋体" panose="02010600030101010101" pitchFamily="2" charset="-122"/>
              </a:rPr>
              <a:t>(</a:t>
            </a:r>
            <a:r>
              <a:rPr lang="en-US" altLang="zh-CN" sz="1400" i="1">
                <a:ea typeface="宋体" panose="02010600030101010101" pitchFamily="2" charset="-122"/>
              </a:rPr>
              <a:t>a,b</a:t>
            </a:r>
            <a:r>
              <a:rPr lang="en-US" altLang="zh-CN" sz="1400">
                <a:ea typeface="宋体" panose="02010600030101010101" pitchFamily="2" charset="-122"/>
              </a:rPr>
              <a:t>)</a:t>
            </a:r>
            <a:r>
              <a:rPr lang="en-US" altLang="zh-CN" sz="1400" i="1">
                <a:ea typeface="宋体" panose="02010600030101010101" pitchFamily="2" charset="-122"/>
              </a:rPr>
              <a:t> </a:t>
            </a:r>
            <a:r>
              <a:rPr lang="en-US" altLang="zh-CN" sz="1400">
                <a:ea typeface="宋体" panose="02010600030101010101" pitchFamily="2" charset="-122"/>
              </a:rPr>
              <a:t>= 0</a:t>
            </a:r>
            <a:r>
              <a:rPr lang="en-US" altLang="zh-CN" sz="1400" i="1">
                <a:ea typeface="宋体" panose="02010600030101010101" pitchFamily="2" charset="-122"/>
              </a:rPr>
              <a:t>.</a:t>
            </a:r>
            <a:r>
              <a:rPr lang="en-US" altLang="zh-CN">
                <a:ea typeface="宋体" panose="02010600030101010101" pitchFamily="2" charset="-122"/>
              </a:rPr>
              <a:t> </a:t>
            </a:r>
            <a:endParaRPr lang="de-DE" altLang="de-DE"/>
          </a:p>
        </p:txBody>
      </p:sp>
      <p:sp>
        <p:nvSpPr>
          <p:cNvPr id="14340" name="Line 4"/>
          <p:cNvSpPr>
            <a:spLocks noChangeAspect="1" noChangeShapeType="1"/>
          </p:cNvSpPr>
          <p:nvPr/>
        </p:nvSpPr>
        <p:spPr bwMode="auto">
          <a:xfrm>
            <a:off x="8067675" y="27400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1" name="Line 5"/>
          <p:cNvSpPr>
            <a:spLocks noChangeAspect="1" noChangeShapeType="1"/>
          </p:cNvSpPr>
          <p:nvPr/>
        </p:nvSpPr>
        <p:spPr bwMode="auto">
          <a:xfrm>
            <a:off x="8072438" y="167640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2" name="Line 6"/>
          <p:cNvSpPr>
            <a:spLocks noChangeAspect="1" noChangeShapeType="1"/>
          </p:cNvSpPr>
          <p:nvPr/>
        </p:nvSpPr>
        <p:spPr bwMode="auto">
          <a:xfrm>
            <a:off x="7437438" y="27463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3" name="Line 7"/>
          <p:cNvSpPr>
            <a:spLocks noChangeAspect="1" noChangeShapeType="1"/>
          </p:cNvSpPr>
          <p:nvPr/>
        </p:nvSpPr>
        <p:spPr bwMode="auto">
          <a:xfrm>
            <a:off x="7437438" y="169386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4" name="Line 8"/>
          <p:cNvSpPr>
            <a:spLocks noChangeAspect="1" noChangeShapeType="1"/>
          </p:cNvSpPr>
          <p:nvPr/>
        </p:nvSpPr>
        <p:spPr bwMode="auto">
          <a:xfrm flipH="1">
            <a:off x="7483475" y="2246313"/>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5" name="Line 9"/>
          <p:cNvSpPr>
            <a:spLocks noChangeAspect="1" noChangeShapeType="1"/>
          </p:cNvSpPr>
          <p:nvPr/>
        </p:nvSpPr>
        <p:spPr bwMode="auto">
          <a:xfrm flipH="1">
            <a:off x="7469188" y="2811463"/>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6" name="Line 10"/>
          <p:cNvSpPr>
            <a:spLocks noChangeAspect="1" noChangeShapeType="1"/>
          </p:cNvSpPr>
          <p:nvPr/>
        </p:nvSpPr>
        <p:spPr bwMode="auto">
          <a:xfrm flipH="1">
            <a:off x="7459663" y="173355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7" name="Line 11"/>
          <p:cNvSpPr>
            <a:spLocks noChangeAspect="1" noChangeShapeType="1"/>
          </p:cNvSpPr>
          <p:nvPr/>
        </p:nvSpPr>
        <p:spPr bwMode="auto">
          <a:xfrm>
            <a:off x="7373938" y="2747963"/>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8" name="Line 12"/>
          <p:cNvSpPr>
            <a:spLocks noChangeAspect="1" noChangeShapeType="1"/>
          </p:cNvSpPr>
          <p:nvPr/>
        </p:nvSpPr>
        <p:spPr bwMode="auto">
          <a:xfrm>
            <a:off x="7440613" y="1697038"/>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49" name="Line 13"/>
          <p:cNvSpPr>
            <a:spLocks noChangeAspect="1" noChangeShapeType="1"/>
          </p:cNvSpPr>
          <p:nvPr/>
        </p:nvSpPr>
        <p:spPr bwMode="auto">
          <a:xfrm>
            <a:off x="7500938"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50" name="Line 14"/>
          <p:cNvSpPr>
            <a:spLocks noChangeAspect="1" noChangeShapeType="1"/>
          </p:cNvSpPr>
          <p:nvPr/>
        </p:nvSpPr>
        <p:spPr bwMode="auto">
          <a:xfrm>
            <a:off x="7469188" y="2782888"/>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51" name="Line 15"/>
          <p:cNvSpPr>
            <a:spLocks noChangeAspect="1" noChangeShapeType="1"/>
          </p:cNvSpPr>
          <p:nvPr/>
        </p:nvSpPr>
        <p:spPr bwMode="auto">
          <a:xfrm>
            <a:off x="7475538" y="334168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52" name="Line 16"/>
          <p:cNvSpPr>
            <a:spLocks noChangeAspect="1" noChangeShapeType="1"/>
          </p:cNvSpPr>
          <p:nvPr/>
        </p:nvSpPr>
        <p:spPr bwMode="auto">
          <a:xfrm>
            <a:off x="7483475" y="17065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53" name="Oval 17"/>
          <p:cNvSpPr>
            <a:spLocks noChangeAspect="1" noChangeArrowheads="1"/>
          </p:cNvSpPr>
          <p:nvPr/>
        </p:nvSpPr>
        <p:spPr bwMode="auto">
          <a:xfrm>
            <a:off x="7265988" y="2089150"/>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4" name="Rectangle 18"/>
          <p:cNvSpPr>
            <a:spLocks noChangeAspect="1" noChangeArrowheads="1"/>
          </p:cNvSpPr>
          <p:nvPr/>
        </p:nvSpPr>
        <p:spPr bwMode="auto">
          <a:xfrm>
            <a:off x="7296150" y="2114550"/>
            <a:ext cx="261938"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14355" name="Oval 19"/>
          <p:cNvSpPr>
            <a:spLocks noChangeAspect="1" noChangeArrowheads="1"/>
          </p:cNvSpPr>
          <p:nvPr/>
        </p:nvSpPr>
        <p:spPr bwMode="auto">
          <a:xfrm>
            <a:off x="7904163" y="154463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6" name="Rectangle 20"/>
          <p:cNvSpPr>
            <a:spLocks noChangeAspect="1" noChangeArrowheads="1"/>
          </p:cNvSpPr>
          <p:nvPr/>
        </p:nvSpPr>
        <p:spPr bwMode="auto">
          <a:xfrm>
            <a:off x="7935913" y="1576388"/>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14357" name="Oval 21"/>
          <p:cNvSpPr>
            <a:spLocks noChangeAspect="1" noChangeArrowheads="1"/>
          </p:cNvSpPr>
          <p:nvPr/>
        </p:nvSpPr>
        <p:spPr bwMode="auto">
          <a:xfrm>
            <a:off x="7918450" y="2089150"/>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58" name="Rectangle 22"/>
          <p:cNvSpPr>
            <a:spLocks noChangeAspect="1" noChangeArrowheads="1"/>
          </p:cNvSpPr>
          <p:nvPr/>
        </p:nvSpPr>
        <p:spPr bwMode="auto">
          <a:xfrm>
            <a:off x="7935913" y="2112963"/>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14359" name="Oval 23"/>
          <p:cNvSpPr>
            <a:spLocks noChangeAspect="1" noChangeArrowheads="1"/>
          </p:cNvSpPr>
          <p:nvPr/>
        </p:nvSpPr>
        <p:spPr bwMode="auto">
          <a:xfrm>
            <a:off x="7265988" y="263207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0" name="Rectangle 24"/>
          <p:cNvSpPr>
            <a:spLocks noChangeAspect="1" noChangeArrowheads="1"/>
          </p:cNvSpPr>
          <p:nvPr/>
        </p:nvSpPr>
        <p:spPr bwMode="auto">
          <a:xfrm>
            <a:off x="7304088" y="266382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14361" name="Oval 25"/>
          <p:cNvSpPr>
            <a:spLocks noChangeAspect="1" noChangeArrowheads="1"/>
          </p:cNvSpPr>
          <p:nvPr/>
        </p:nvSpPr>
        <p:spPr bwMode="auto">
          <a:xfrm>
            <a:off x="7281863" y="1544638"/>
            <a:ext cx="323850"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2" name="Rectangle 26"/>
          <p:cNvSpPr>
            <a:spLocks noChangeAspect="1" noChangeArrowheads="1"/>
          </p:cNvSpPr>
          <p:nvPr/>
        </p:nvSpPr>
        <p:spPr bwMode="auto">
          <a:xfrm>
            <a:off x="7310438" y="1581150"/>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14363" name="Oval 27"/>
          <p:cNvSpPr>
            <a:spLocks noChangeAspect="1" noChangeArrowheads="1"/>
          </p:cNvSpPr>
          <p:nvPr/>
        </p:nvSpPr>
        <p:spPr bwMode="auto">
          <a:xfrm>
            <a:off x="7265988" y="3175000"/>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4" name="Rectangle 28"/>
          <p:cNvSpPr>
            <a:spLocks noChangeAspect="1" noChangeArrowheads="1"/>
          </p:cNvSpPr>
          <p:nvPr/>
        </p:nvSpPr>
        <p:spPr bwMode="auto">
          <a:xfrm>
            <a:off x="7297738" y="3206750"/>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14365" name="Oval 29"/>
          <p:cNvSpPr>
            <a:spLocks noChangeAspect="1" noChangeArrowheads="1"/>
          </p:cNvSpPr>
          <p:nvPr/>
        </p:nvSpPr>
        <p:spPr bwMode="auto">
          <a:xfrm>
            <a:off x="7904163" y="263207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6" name="Rectangle 30"/>
          <p:cNvSpPr>
            <a:spLocks noChangeAspect="1" noChangeArrowheads="1"/>
          </p:cNvSpPr>
          <p:nvPr/>
        </p:nvSpPr>
        <p:spPr bwMode="auto">
          <a:xfrm>
            <a:off x="7935913" y="266382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14367" name="Oval 31"/>
          <p:cNvSpPr>
            <a:spLocks noChangeAspect="1" noChangeArrowheads="1"/>
          </p:cNvSpPr>
          <p:nvPr/>
        </p:nvSpPr>
        <p:spPr bwMode="auto">
          <a:xfrm>
            <a:off x="7918450" y="317500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368" name="Rectangle 32"/>
          <p:cNvSpPr>
            <a:spLocks noChangeAspect="1" noChangeArrowheads="1"/>
          </p:cNvSpPr>
          <p:nvPr/>
        </p:nvSpPr>
        <p:spPr bwMode="auto">
          <a:xfrm>
            <a:off x="7951788" y="321786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14369" name="Line 33"/>
          <p:cNvSpPr>
            <a:spLocks noChangeAspect="1" noChangeShapeType="1"/>
          </p:cNvSpPr>
          <p:nvPr/>
        </p:nvSpPr>
        <p:spPr bwMode="auto">
          <a:xfrm>
            <a:off x="7766050" y="1436688"/>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4370" name="Text Box 34"/>
          <p:cNvSpPr txBox="1">
            <a:spLocks noChangeArrowheads="1"/>
          </p:cNvSpPr>
          <p:nvPr/>
        </p:nvSpPr>
        <p:spPr bwMode="auto">
          <a:xfrm>
            <a:off x="5583238" y="2924175"/>
            <a:ext cx="1435100" cy="709613"/>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600"/>
              <a:t>Node 3:</a:t>
            </a:r>
          </a:p>
          <a:p>
            <a:pPr algn="l"/>
            <a:r>
              <a:rPr lang="de-DE" altLang="de-DE" sz="1600" i="1"/>
              <a:t>D</a:t>
            </a:r>
            <a:r>
              <a:rPr lang="de-DE" altLang="de-DE" sz="1600"/>
              <a:t>(3) = 3-1=2</a:t>
            </a:r>
            <a:endParaRPr lang="en-US" altLang="zh-CN" sz="1600">
              <a:ea typeface="宋体" panose="02010600030101010101" pitchFamily="2" charset="-122"/>
            </a:endParaRPr>
          </a:p>
        </p:txBody>
      </p:sp>
      <p:sp>
        <p:nvSpPr>
          <p:cNvPr id="14371" name="Text Box 35"/>
          <p:cNvSpPr txBox="1">
            <a:spLocks noChangeArrowheads="1"/>
          </p:cNvSpPr>
          <p:nvPr/>
        </p:nvSpPr>
        <p:spPr bwMode="auto">
          <a:xfrm>
            <a:off x="5580063" y="1125538"/>
            <a:ext cx="1435100" cy="70961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600"/>
              <a:t>Node 5:</a:t>
            </a:r>
          </a:p>
          <a:p>
            <a:pPr algn="l"/>
            <a:r>
              <a:rPr lang="de-DE" altLang="de-DE" sz="1600" i="1"/>
              <a:t>D</a:t>
            </a:r>
            <a:r>
              <a:rPr lang="de-DE" altLang="de-DE" sz="1600"/>
              <a:t>(5) = 2-1=1</a:t>
            </a:r>
            <a:endParaRPr lang="en-US" altLang="zh-CN" sz="1600">
              <a:ea typeface="宋体" panose="02010600030101010101" pitchFamily="2" charset="-122"/>
            </a:endParaRPr>
          </a:p>
        </p:txBody>
      </p:sp>
      <p:sp>
        <p:nvSpPr>
          <p:cNvPr id="14372" name="Line 36"/>
          <p:cNvSpPr>
            <a:spLocks noChangeShapeType="1"/>
          </p:cNvSpPr>
          <p:nvPr/>
        </p:nvSpPr>
        <p:spPr bwMode="auto">
          <a:xfrm flipV="1">
            <a:off x="7018338" y="2925763"/>
            <a:ext cx="247650" cy="2492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571429" name="Text Box 37"/>
          <p:cNvSpPr txBox="1">
            <a:spLocks noChangeArrowheads="1"/>
          </p:cNvSpPr>
          <p:nvPr/>
        </p:nvSpPr>
        <p:spPr bwMode="auto">
          <a:xfrm>
            <a:off x="827088" y="4652963"/>
            <a:ext cx="4551362" cy="41116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sz="1600">
                <a:sym typeface="Symbol" panose="05050102010706020507" pitchFamily="18" charset="2"/>
              </a:rPr>
              <a:t></a:t>
            </a:r>
            <a:r>
              <a:rPr lang="de-DE" altLang="de-DE" sz="1600" i="1"/>
              <a:t>g </a:t>
            </a:r>
            <a:r>
              <a:rPr lang="de-DE" altLang="de-DE" sz="1600"/>
              <a:t>(3,5) = </a:t>
            </a:r>
            <a:r>
              <a:rPr lang="de-DE" altLang="de-DE" sz="1600" i="1"/>
              <a:t>D</a:t>
            </a:r>
            <a:r>
              <a:rPr lang="de-DE" altLang="de-DE" sz="1600"/>
              <a:t>(3) + </a:t>
            </a:r>
            <a:r>
              <a:rPr lang="de-DE" altLang="de-DE" sz="1600" i="1"/>
              <a:t>D</a:t>
            </a:r>
            <a:r>
              <a:rPr lang="de-DE" altLang="de-DE" sz="1600"/>
              <a:t>(5) - 2</a:t>
            </a:r>
            <a:r>
              <a:rPr lang="de-DE" altLang="de-DE" sz="1000" i="1"/>
              <a:t>*</a:t>
            </a:r>
            <a:r>
              <a:rPr lang="de-DE" altLang="de-DE" sz="1600" i="1"/>
              <a:t> c</a:t>
            </a:r>
            <a:r>
              <a:rPr lang="de-DE" altLang="de-DE" sz="1600"/>
              <a:t>(</a:t>
            </a:r>
            <a:r>
              <a:rPr lang="de-DE" altLang="de-DE" sz="1600" i="1"/>
              <a:t>a,b</a:t>
            </a:r>
            <a:r>
              <a:rPr lang="de-DE" altLang="de-DE" sz="1600"/>
              <a:t>)</a:t>
            </a:r>
            <a:r>
              <a:rPr lang="de-DE" altLang="de-DE" sz="1600" i="1"/>
              <a:t> = </a:t>
            </a:r>
            <a:r>
              <a:rPr lang="de-DE" altLang="de-DE" sz="1600"/>
              <a:t>2 + 1 – 0 = 3</a:t>
            </a:r>
            <a:endParaRPr lang="en-US" altLang="zh-CN" sz="1600">
              <a:ea typeface="宋体" panose="02010600030101010101" pitchFamily="2" charset="-122"/>
            </a:endParaRPr>
          </a:p>
        </p:txBody>
      </p:sp>
      <p:sp>
        <p:nvSpPr>
          <p:cNvPr id="571430" name="Text Box 38"/>
          <p:cNvSpPr txBox="1">
            <a:spLocks noChangeArrowheads="1"/>
          </p:cNvSpPr>
          <p:nvPr/>
        </p:nvSpPr>
        <p:spPr bwMode="auto">
          <a:xfrm>
            <a:off x="611188" y="5237163"/>
            <a:ext cx="4921250"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buFont typeface="Symbol" panose="05050102010706020507" pitchFamily="18" charset="2"/>
              <a:buNone/>
            </a:pPr>
            <a:r>
              <a:rPr lang="de-DE" altLang="de-DE" sz="1400"/>
              <a:t>=&gt; Swapping nodes 3 and 5 would reduce the cut size by 3</a:t>
            </a:r>
            <a:endParaRPr lang="en-US" altLang="zh-CN" sz="1400">
              <a:ea typeface="宋体" panose="02010600030101010101" pitchFamily="2" charset="-122"/>
            </a:endParaRPr>
          </a:p>
          <a:p>
            <a:pPr algn="l">
              <a:lnSpc>
                <a:spcPct val="100000"/>
              </a:lnSpc>
              <a:buFont typeface="Symbol" panose="05050102010706020507" pitchFamily="18" charset="2"/>
              <a:buNone/>
            </a:pPr>
            <a:endParaRPr lang="en-US" altLang="zh-CN" sz="1400">
              <a:ea typeface="宋体" panose="02010600030101010101" pitchFamily="2" charset="-122"/>
            </a:endParaRPr>
          </a:p>
        </p:txBody>
      </p:sp>
      <p:sp>
        <p:nvSpPr>
          <p:cNvPr id="14375" name="Freeform 39"/>
          <p:cNvSpPr>
            <a:spLocks/>
          </p:cNvSpPr>
          <p:nvPr/>
        </p:nvSpPr>
        <p:spPr bwMode="auto">
          <a:xfrm>
            <a:off x="7019925" y="1268413"/>
            <a:ext cx="1549400" cy="288925"/>
          </a:xfrm>
          <a:custGeom>
            <a:avLst/>
            <a:gdLst>
              <a:gd name="T0" fmla="*/ 0 w 976"/>
              <a:gd name="T1" fmla="*/ 30501 h 862"/>
              <a:gd name="T2" fmla="*/ 936625 w 976"/>
              <a:gd name="T3" fmla="*/ 0 h 862"/>
              <a:gd name="T4" fmla="*/ 1439863 w 976"/>
              <a:gd name="T5" fmla="*/ 30501 h 862"/>
              <a:gd name="T6" fmla="*/ 1512888 w 976"/>
              <a:gd name="T7" fmla="*/ 152172 h 862"/>
              <a:gd name="T8" fmla="*/ 1223963 w 976"/>
              <a:gd name="T9" fmla="*/ 288925 h 86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76" h="862">
                <a:moveTo>
                  <a:pt x="0" y="91"/>
                </a:moveTo>
                <a:cubicBezTo>
                  <a:pt x="219" y="45"/>
                  <a:pt x="439" y="0"/>
                  <a:pt x="590" y="0"/>
                </a:cubicBezTo>
                <a:cubicBezTo>
                  <a:pt x="741" y="0"/>
                  <a:pt x="847" y="15"/>
                  <a:pt x="907" y="91"/>
                </a:cubicBezTo>
                <a:cubicBezTo>
                  <a:pt x="967" y="167"/>
                  <a:pt x="976" y="326"/>
                  <a:pt x="953" y="454"/>
                </a:cubicBezTo>
                <a:cubicBezTo>
                  <a:pt x="930" y="582"/>
                  <a:pt x="850" y="722"/>
                  <a:pt x="771" y="862"/>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
        <p:nvSpPr>
          <p:cNvPr id="571466" name="Line 74"/>
          <p:cNvSpPr>
            <a:spLocks noChangeAspect="1" noChangeShapeType="1"/>
          </p:cNvSpPr>
          <p:nvPr/>
        </p:nvSpPr>
        <p:spPr bwMode="auto">
          <a:xfrm>
            <a:off x="8083550" y="54768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67" name="Line 75"/>
          <p:cNvSpPr>
            <a:spLocks noChangeAspect="1" noChangeShapeType="1"/>
          </p:cNvSpPr>
          <p:nvPr/>
        </p:nvSpPr>
        <p:spPr bwMode="auto">
          <a:xfrm>
            <a:off x="8088313" y="441325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68" name="Line 76"/>
          <p:cNvSpPr>
            <a:spLocks noChangeAspect="1" noChangeShapeType="1"/>
          </p:cNvSpPr>
          <p:nvPr/>
        </p:nvSpPr>
        <p:spPr bwMode="auto">
          <a:xfrm>
            <a:off x="7453313" y="54832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69" name="Line 77"/>
          <p:cNvSpPr>
            <a:spLocks noChangeAspect="1" noChangeShapeType="1"/>
          </p:cNvSpPr>
          <p:nvPr/>
        </p:nvSpPr>
        <p:spPr bwMode="auto">
          <a:xfrm>
            <a:off x="7453313" y="443071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0" name="Line 78"/>
          <p:cNvSpPr>
            <a:spLocks noChangeAspect="1" noChangeShapeType="1"/>
          </p:cNvSpPr>
          <p:nvPr/>
        </p:nvSpPr>
        <p:spPr bwMode="auto">
          <a:xfrm flipH="1">
            <a:off x="7497763" y="4983163"/>
            <a:ext cx="576262"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1" name="Line 79"/>
          <p:cNvSpPr>
            <a:spLocks noChangeAspect="1" noChangeShapeType="1"/>
          </p:cNvSpPr>
          <p:nvPr/>
        </p:nvSpPr>
        <p:spPr bwMode="auto">
          <a:xfrm flipH="1">
            <a:off x="7485063" y="5548313"/>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2" name="Line 80"/>
          <p:cNvSpPr>
            <a:spLocks noChangeAspect="1" noChangeShapeType="1"/>
          </p:cNvSpPr>
          <p:nvPr/>
        </p:nvSpPr>
        <p:spPr bwMode="auto">
          <a:xfrm flipH="1">
            <a:off x="7473950" y="44704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3" name="Line 81"/>
          <p:cNvSpPr>
            <a:spLocks noChangeAspect="1" noChangeShapeType="1"/>
          </p:cNvSpPr>
          <p:nvPr/>
        </p:nvSpPr>
        <p:spPr bwMode="auto">
          <a:xfrm>
            <a:off x="7388225" y="5484813"/>
            <a:ext cx="627063"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4" name="Line 82"/>
          <p:cNvSpPr>
            <a:spLocks noChangeAspect="1" noChangeShapeType="1"/>
          </p:cNvSpPr>
          <p:nvPr/>
        </p:nvSpPr>
        <p:spPr bwMode="auto">
          <a:xfrm>
            <a:off x="7456488" y="4433888"/>
            <a:ext cx="627062"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5" name="Line 83"/>
          <p:cNvSpPr>
            <a:spLocks noChangeAspect="1" noChangeShapeType="1"/>
          </p:cNvSpPr>
          <p:nvPr/>
        </p:nvSpPr>
        <p:spPr bwMode="auto">
          <a:xfrm>
            <a:off x="7515225" y="497522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6" name="Line 84"/>
          <p:cNvSpPr>
            <a:spLocks noChangeAspect="1" noChangeShapeType="1"/>
          </p:cNvSpPr>
          <p:nvPr/>
        </p:nvSpPr>
        <p:spPr bwMode="auto">
          <a:xfrm>
            <a:off x="7485063" y="5519738"/>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7" name="Line 85"/>
          <p:cNvSpPr>
            <a:spLocks noChangeAspect="1" noChangeShapeType="1"/>
          </p:cNvSpPr>
          <p:nvPr/>
        </p:nvSpPr>
        <p:spPr bwMode="auto">
          <a:xfrm>
            <a:off x="7489825" y="6078538"/>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8" name="Line 86"/>
          <p:cNvSpPr>
            <a:spLocks noChangeAspect="1" noChangeShapeType="1"/>
          </p:cNvSpPr>
          <p:nvPr/>
        </p:nvSpPr>
        <p:spPr bwMode="auto">
          <a:xfrm>
            <a:off x="7497763" y="4443413"/>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79" name="Oval 87"/>
          <p:cNvSpPr>
            <a:spLocks noChangeAspect="1" noChangeArrowheads="1"/>
          </p:cNvSpPr>
          <p:nvPr/>
        </p:nvSpPr>
        <p:spPr bwMode="auto">
          <a:xfrm>
            <a:off x="7281863" y="4826000"/>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80" name="Rectangle 88"/>
          <p:cNvSpPr>
            <a:spLocks noChangeAspect="1" noChangeArrowheads="1"/>
          </p:cNvSpPr>
          <p:nvPr/>
        </p:nvSpPr>
        <p:spPr bwMode="auto">
          <a:xfrm>
            <a:off x="7312025" y="4851400"/>
            <a:ext cx="260350" cy="258763"/>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571481" name="Oval 89"/>
          <p:cNvSpPr>
            <a:spLocks noChangeAspect="1" noChangeArrowheads="1"/>
          </p:cNvSpPr>
          <p:nvPr/>
        </p:nvSpPr>
        <p:spPr bwMode="auto">
          <a:xfrm>
            <a:off x="7918450" y="4281488"/>
            <a:ext cx="325438"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571482" name="Rectangle 90"/>
          <p:cNvSpPr>
            <a:spLocks noChangeAspect="1" noChangeArrowheads="1"/>
          </p:cNvSpPr>
          <p:nvPr/>
        </p:nvSpPr>
        <p:spPr bwMode="auto">
          <a:xfrm>
            <a:off x="7950200" y="4314825"/>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571483" name="Oval 91"/>
          <p:cNvSpPr>
            <a:spLocks noChangeAspect="1" noChangeArrowheads="1"/>
          </p:cNvSpPr>
          <p:nvPr/>
        </p:nvSpPr>
        <p:spPr bwMode="auto">
          <a:xfrm>
            <a:off x="7932738" y="4826000"/>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84" name="Rectangle 92"/>
          <p:cNvSpPr>
            <a:spLocks noChangeAspect="1" noChangeArrowheads="1"/>
          </p:cNvSpPr>
          <p:nvPr/>
        </p:nvSpPr>
        <p:spPr bwMode="auto">
          <a:xfrm>
            <a:off x="7950200" y="48498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571485" name="Oval 93"/>
          <p:cNvSpPr>
            <a:spLocks noChangeAspect="1" noChangeArrowheads="1"/>
          </p:cNvSpPr>
          <p:nvPr/>
        </p:nvSpPr>
        <p:spPr bwMode="auto">
          <a:xfrm>
            <a:off x="7281863" y="53689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86" name="Rectangle 94"/>
          <p:cNvSpPr>
            <a:spLocks noChangeAspect="1" noChangeArrowheads="1"/>
          </p:cNvSpPr>
          <p:nvPr/>
        </p:nvSpPr>
        <p:spPr bwMode="auto">
          <a:xfrm>
            <a:off x="7318375" y="540067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571487" name="Oval 95"/>
          <p:cNvSpPr>
            <a:spLocks noChangeAspect="1" noChangeArrowheads="1"/>
          </p:cNvSpPr>
          <p:nvPr/>
        </p:nvSpPr>
        <p:spPr bwMode="auto">
          <a:xfrm>
            <a:off x="7296150" y="4281488"/>
            <a:ext cx="325438"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88" name="Rectangle 96"/>
          <p:cNvSpPr>
            <a:spLocks noChangeAspect="1" noChangeArrowheads="1"/>
          </p:cNvSpPr>
          <p:nvPr/>
        </p:nvSpPr>
        <p:spPr bwMode="auto">
          <a:xfrm>
            <a:off x="7324725" y="4318000"/>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571489" name="Oval 97"/>
          <p:cNvSpPr>
            <a:spLocks noChangeAspect="1" noChangeArrowheads="1"/>
          </p:cNvSpPr>
          <p:nvPr/>
        </p:nvSpPr>
        <p:spPr bwMode="auto">
          <a:xfrm>
            <a:off x="7281863" y="5911850"/>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90" name="Rectangle 98"/>
          <p:cNvSpPr>
            <a:spLocks noChangeAspect="1" noChangeArrowheads="1"/>
          </p:cNvSpPr>
          <p:nvPr/>
        </p:nvSpPr>
        <p:spPr bwMode="auto">
          <a:xfrm>
            <a:off x="7313613" y="594360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571491" name="Oval 99"/>
          <p:cNvSpPr>
            <a:spLocks noChangeAspect="1" noChangeArrowheads="1"/>
          </p:cNvSpPr>
          <p:nvPr/>
        </p:nvSpPr>
        <p:spPr bwMode="auto">
          <a:xfrm>
            <a:off x="7918450" y="5368925"/>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92" name="Rectangle 100"/>
          <p:cNvSpPr>
            <a:spLocks noChangeAspect="1" noChangeArrowheads="1"/>
          </p:cNvSpPr>
          <p:nvPr/>
        </p:nvSpPr>
        <p:spPr bwMode="auto">
          <a:xfrm>
            <a:off x="7950200" y="54006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571493" name="Oval 101"/>
          <p:cNvSpPr>
            <a:spLocks noChangeAspect="1" noChangeArrowheads="1"/>
          </p:cNvSpPr>
          <p:nvPr/>
        </p:nvSpPr>
        <p:spPr bwMode="auto">
          <a:xfrm>
            <a:off x="7932738" y="5911850"/>
            <a:ext cx="327025"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71494" name="Rectangle 102"/>
          <p:cNvSpPr>
            <a:spLocks noChangeAspect="1" noChangeArrowheads="1"/>
          </p:cNvSpPr>
          <p:nvPr/>
        </p:nvSpPr>
        <p:spPr bwMode="auto">
          <a:xfrm>
            <a:off x="7967663" y="59547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571495" name="Freeform 103"/>
          <p:cNvSpPr>
            <a:spLocks noChangeAspect="1"/>
          </p:cNvSpPr>
          <p:nvPr/>
        </p:nvSpPr>
        <p:spPr bwMode="auto">
          <a:xfrm>
            <a:off x="7019925" y="4662488"/>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71496" name="AutoShape 104"/>
          <p:cNvSpPr>
            <a:spLocks noChangeArrowheads="1"/>
          </p:cNvSpPr>
          <p:nvPr/>
        </p:nvSpPr>
        <p:spPr bwMode="auto">
          <a:xfrm rot="-5400000">
            <a:off x="7634287" y="3533776"/>
            <a:ext cx="288925" cy="654050"/>
          </a:xfrm>
          <a:prstGeom prst="leftArrow">
            <a:avLst>
              <a:gd name="adj1" fmla="val 50000"/>
              <a:gd name="adj2" fmla="val 25000"/>
            </a:avLst>
          </a:prstGeom>
          <a:gradFill rotWithShape="1">
            <a:gsLst>
              <a:gs pos="0">
                <a:schemeClr val="tx1"/>
              </a:gs>
              <a:gs pos="100000">
                <a:srgbClr val="EAEAEA"/>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4407" name="Rectangle 106"/>
          <p:cNvSpPr>
            <a:spLocks noGrp="1" noChangeArrowheads="1"/>
          </p:cNvSpPr>
          <p:nvPr>
            <p:ph type="title"/>
          </p:nvPr>
        </p:nvSpPr>
        <p:spPr/>
        <p:txBody>
          <a:bodyPr/>
          <a:lstStyle/>
          <a:p>
            <a:pPr defTabSz="914400"/>
            <a:r>
              <a:rPr lang="en-US" altLang="zh-CN">
                <a:ea typeface="宋体" panose="02010600030101010101" pitchFamily="2" charset="-122"/>
              </a:rPr>
              <a:t>2.4.1  Kernighan-Lin (KL) Algorithm – Terminology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71429"/>
                                        </p:tgtEl>
                                        <p:attrNameLst>
                                          <p:attrName>style.visibility</p:attrName>
                                        </p:attrNameLst>
                                      </p:cBhvr>
                                      <p:to>
                                        <p:strVal val="visible"/>
                                      </p:to>
                                    </p:set>
                                    <p:animEffect transition="in" filter="dissolve">
                                      <p:cBhvr>
                                        <p:cTn id="7" dur="500"/>
                                        <p:tgtEl>
                                          <p:spTgt spid="571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71430"/>
                                        </p:tgtEl>
                                        <p:attrNameLst>
                                          <p:attrName>style.visibility</p:attrName>
                                        </p:attrNameLst>
                                      </p:cBhvr>
                                      <p:to>
                                        <p:strVal val="visible"/>
                                      </p:to>
                                    </p:set>
                                    <p:animEffect transition="in" filter="dissolve">
                                      <p:cBhvr>
                                        <p:cTn id="12" dur="500"/>
                                        <p:tgtEl>
                                          <p:spTgt spid="5714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71466"/>
                                        </p:tgtEl>
                                        <p:attrNameLst>
                                          <p:attrName>style.visibility</p:attrName>
                                        </p:attrNameLst>
                                      </p:cBhvr>
                                      <p:to>
                                        <p:strVal val="visible"/>
                                      </p:to>
                                    </p:set>
                                    <p:animEffect transition="in" filter="dissolve">
                                      <p:cBhvr>
                                        <p:cTn id="17" dur="500"/>
                                        <p:tgtEl>
                                          <p:spTgt spid="571466"/>
                                        </p:tgtEl>
                                      </p:cBhvr>
                                    </p:animEffect>
                                  </p:childTnLst>
                                </p:cTn>
                              </p:par>
                              <p:par>
                                <p:cTn id="18" presetID="9" presetClass="entr" presetSubtype="0" fill="hold" nodeType="withEffect">
                                  <p:stCondLst>
                                    <p:cond delay="0"/>
                                  </p:stCondLst>
                                  <p:childTnLst>
                                    <p:set>
                                      <p:cBhvr>
                                        <p:cTn id="19" dur="1" fill="hold">
                                          <p:stCondLst>
                                            <p:cond delay="0"/>
                                          </p:stCondLst>
                                        </p:cTn>
                                        <p:tgtEl>
                                          <p:spTgt spid="571467"/>
                                        </p:tgtEl>
                                        <p:attrNameLst>
                                          <p:attrName>style.visibility</p:attrName>
                                        </p:attrNameLst>
                                      </p:cBhvr>
                                      <p:to>
                                        <p:strVal val="visible"/>
                                      </p:to>
                                    </p:set>
                                    <p:animEffect transition="in" filter="dissolve">
                                      <p:cBhvr>
                                        <p:cTn id="20" dur="500"/>
                                        <p:tgtEl>
                                          <p:spTgt spid="571467"/>
                                        </p:tgtEl>
                                      </p:cBhvr>
                                    </p:animEffect>
                                  </p:childTnLst>
                                </p:cTn>
                              </p:par>
                              <p:par>
                                <p:cTn id="21" presetID="9" presetClass="entr" presetSubtype="0" fill="hold" nodeType="withEffect">
                                  <p:stCondLst>
                                    <p:cond delay="0"/>
                                  </p:stCondLst>
                                  <p:childTnLst>
                                    <p:set>
                                      <p:cBhvr>
                                        <p:cTn id="22" dur="1" fill="hold">
                                          <p:stCondLst>
                                            <p:cond delay="0"/>
                                          </p:stCondLst>
                                        </p:cTn>
                                        <p:tgtEl>
                                          <p:spTgt spid="571468"/>
                                        </p:tgtEl>
                                        <p:attrNameLst>
                                          <p:attrName>style.visibility</p:attrName>
                                        </p:attrNameLst>
                                      </p:cBhvr>
                                      <p:to>
                                        <p:strVal val="visible"/>
                                      </p:to>
                                    </p:set>
                                    <p:animEffect transition="in" filter="dissolve">
                                      <p:cBhvr>
                                        <p:cTn id="23" dur="500"/>
                                        <p:tgtEl>
                                          <p:spTgt spid="571468"/>
                                        </p:tgtEl>
                                      </p:cBhvr>
                                    </p:animEffect>
                                  </p:childTnLst>
                                </p:cTn>
                              </p:par>
                              <p:par>
                                <p:cTn id="24" presetID="9" presetClass="entr" presetSubtype="0" fill="hold" nodeType="withEffect">
                                  <p:stCondLst>
                                    <p:cond delay="0"/>
                                  </p:stCondLst>
                                  <p:childTnLst>
                                    <p:set>
                                      <p:cBhvr>
                                        <p:cTn id="25" dur="1" fill="hold">
                                          <p:stCondLst>
                                            <p:cond delay="0"/>
                                          </p:stCondLst>
                                        </p:cTn>
                                        <p:tgtEl>
                                          <p:spTgt spid="571469"/>
                                        </p:tgtEl>
                                        <p:attrNameLst>
                                          <p:attrName>style.visibility</p:attrName>
                                        </p:attrNameLst>
                                      </p:cBhvr>
                                      <p:to>
                                        <p:strVal val="visible"/>
                                      </p:to>
                                    </p:set>
                                    <p:animEffect transition="in" filter="dissolve">
                                      <p:cBhvr>
                                        <p:cTn id="26" dur="500"/>
                                        <p:tgtEl>
                                          <p:spTgt spid="571469"/>
                                        </p:tgtEl>
                                      </p:cBhvr>
                                    </p:animEffect>
                                  </p:childTnLst>
                                </p:cTn>
                              </p:par>
                              <p:par>
                                <p:cTn id="27" presetID="9" presetClass="entr" presetSubtype="0" fill="hold" nodeType="withEffect">
                                  <p:stCondLst>
                                    <p:cond delay="0"/>
                                  </p:stCondLst>
                                  <p:childTnLst>
                                    <p:set>
                                      <p:cBhvr>
                                        <p:cTn id="28" dur="1" fill="hold">
                                          <p:stCondLst>
                                            <p:cond delay="0"/>
                                          </p:stCondLst>
                                        </p:cTn>
                                        <p:tgtEl>
                                          <p:spTgt spid="571470"/>
                                        </p:tgtEl>
                                        <p:attrNameLst>
                                          <p:attrName>style.visibility</p:attrName>
                                        </p:attrNameLst>
                                      </p:cBhvr>
                                      <p:to>
                                        <p:strVal val="visible"/>
                                      </p:to>
                                    </p:set>
                                    <p:animEffect transition="in" filter="dissolve">
                                      <p:cBhvr>
                                        <p:cTn id="29" dur="500"/>
                                        <p:tgtEl>
                                          <p:spTgt spid="571470"/>
                                        </p:tgtEl>
                                      </p:cBhvr>
                                    </p:animEffect>
                                  </p:childTnLst>
                                </p:cTn>
                              </p:par>
                              <p:par>
                                <p:cTn id="30" presetID="9" presetClass="entr" presetSubtype="0" fill="hold" nodeType="withEffect">
                                  <p:stCondLst>
                                    <p:cond delay="0"/>
                                  </p:stCondLst>
                                  <p:childTnLst>
                                    <p:set>
                                      <p:cBhvr>
                                        <p:cTn id="31" dur="1" fill="hold">
                                          <p:stCondLst>
                                            <p:cond delay="0"/>
                                          </p:stCondLst>
                                        </p:cTn>
                                        <p:tgtEl>
                                          <p:spTgt spid="571471"/>
                                        </p:tgtEl>
                                        <p:attrNameLst>
                                          <p:attrName>style.visibility</p:attrName>
                                        </p:attrNameLst>
                                      </p:cBhvr>
                                      <p:to>
                                        <p:strVal val="visible"/>
                                      </p:to>
                                    </p:set>
                                    <p:animEffect transition="in" filter="dissolve">
                                      <p:cBhvr>
                                        <p:cTn id="32" dur="500"/>
                                        <p:tgtEl>
                                          <p:spTgt spid="571471"/>
                                        </p:tgtEl>
                                      </p:cBhvr>
                                    </p:animEffect>
                                  </p:childTnLst>
                                </p:cTn>
                              </p:par>
                              <p:par>
                                <p:cTn id="33" presetID="9" presetClass="entr" presetSubtype="0" fill="hold" nodeType="withEffect">
                                  <p:stCondLst>
                                    <p:cond delay="0"/>
                                  </p:stCondLst>
                                  <p:childTnLst>
                                    <p:set>
                                      <p:cBhvr>
                                        <p:cTn id="34" dur="1" fill="hold">
                                          <p:stCondLst>
                                            <p:cond delay="0"/>
                                          </p:stCondLst>
                                        </p:cTn>
                                        <p:tgtEl>
                                          <p:spTgt spid="571472"/>
                                        </p:tgtEl>
                                        <p:attrNameLst>
                                          <p:attrName>style.visibility</p:attrName>
                                        </p:attrNameLst>
                                      </p:cBhvr>
                                      <p:to>
                                        <p:strVal val="visible"/>
                                      </p:to>
                                    </p:set>
                                    <p:animEffect transition="in" filter="dissolve">
                                      <p:cBhvr>
                                        <p:cTn id="35" dur="500"/>
                                        <p:tgtEl>
                                          <p:spTgt spid="571472"/>
                                        </p:tgtEl>
                                      </p:cBhvr>
                                    </p:animEffect>
                                  </p:childTnLst>
                                </p:cTn>
                              </p:par>
                              <p:par>
                                <p:cTn id="36" presetID="9" presetClass="entr" presetSubtype="0" fill="hold" nodeType="withEffect">
                                  <p:stCondLst>
                                    <p:cond delay="0"/>
                                  </p:stCondLst>
                                  <p:childTnLst>
                                    <p:set>
                                      <p:cBhvr>
                                        <p:cTn id="37" dur="1" fill="hold">
                                          <p:stCondLst>
                                            <p:cond delay="0"/>
                                          </p:stCondLst>
                                        </p:cTn>
                                        <p:tgtEl>
                                          <p:spTgt spid="571473"/>
                                        </p:tgtEl>
                                        <p:attrNameLst>
                                          <p:attrName>style.visibility</p:attrName>
                                        </p:attrNameLst>
                                      </p:cBhvr>
                                      <p:to>
                                        <p:strVal val="visible"/>
                                      </p:to>
                                    </p:set>
                                    <p:animEffect transition="in" filter="dissolve">
                                      <p:cBhvr>
                                        <p:cTn id="38" dur="500"/>
                                        <p:tgtEl>
                                          <p:spTgt spid="571473"/>
                                        </p:tgtEl>
                                      </p:cBhvr>
                                    </p:animEffect>
                                  </p:childTnLst>
                                </p:cTn>
                              </p:par>
                              <p:par>
                                <p:cTn id="39" presetID="9" presetClass="entr" presetSubtype="0" fill="hold" nodeType="withEffect">
                                  <p:stCondLst>
                                    <p:cond delay="0"/>
                                  </p:stCondLst>
                                  <p:childTnLst>
                                    <p:set>
                                      <p:cBhvr>
                                        <p:cTn id="40" dur="1" fill="hold">
                                          <p:stCondLst>
                                            <p:cond delay="0"/>
                                          </p:stCondLst>
                                        </p:cTn>
                                        <p:tgtEl>
                                          <p:spTgt spid="571474"/>
                                        </p:tgtEl>
                                        <p:attrNameLst>
                                          <p:attrName>style.visibility</p:attrName>
                                        </p:attrNameLst>
                                      </p:cBhvr>
                                      <p:to>
                                        <p:strVal val="visible"/>
                                      </p:to>
                                    </p:set>
                                    <p:animEffect transition="in" filter="dissolve">
                                      <p:cBhvr>
                                        <p:cTn id="41" dur="500"/>
                                        <p:tgtEl>
                                          <p:spTgt spid="571474"/>
                                        </p:tgtEl>
                                      </p:cBhvr>
                                    </p:animEffect>
                                  </p:childTnLst>
                                </p:cTn>
                              </p:par>
                              <p:par>
                                <p:cTn id="42" presetID="9" presetClass="entr" presetSubtype="0" fill="hold" nodeType="withEffect">
                                  <p:stCondLst>
                                    <p:cond delay="0"/>
                                  </p:stCondLst>
                                  <p:childTnLst>
                                    <p:set>
                                      <p:cBhvr>
                                        <p:cTn id="43" dur="1" fill="hold">
                                          <p:stCondLst>
                                            <p:cond delay="0"/>
                                          </p:stCondLst>
                                        </p:cTn>
                                        <p:tgtEl>
                                          <p:spTgt spid="571475"/>
                                        </p:tgtEl>
                                        <p:attrNameLst>
                                          <p:attrName>style.visibility</p:attrName>
                                        </p:attrNameLst>
                                      </p:cBhvr>
                                      <p:to>
                                        <p:strVal val="visible"/>
                                      </p:to>
                                    </p:set>
                                    <p:animEffect transition="in" filter="dissolve">
                                      <p:cBhvr>
                                        <p:cTn id="44" dur="500"/>
                                        <p:tgtEl>
                                          <p:spTgt spid="571475"/>
                                        </p:tgtEl>
                                      </p:cBhvr>
                                    </p:animEffect>
                                  </p:childTnLst>
                                </p:cTn>
                              </p:par>
                              <p:par>
                                <p:cTn id="45" presetID="9" presetClass="entr" presetSubtype="0" fill="hold" nodeType="withEffect">
                                  <p:stCondLst>
                                    <p:cond delay="0"/>
                                  </p:stCondLst>
                                  <p:childTnLst>
                                    <p:set>
                                      <p:cBhvr>
                                        <p:cTn id="46" dur="1" fill="hold">
                                          <p:stCondLst>
                                            <p:cond delay="0"/>
                                          </p:stCondLst>
                                        </p:cTn>
                                        <p:tgtEl>
                                          <p:spTgt spid="571476"/>
                                        </p:tgtEl>
                                        <p:attrNameLst>
                                          <p:attrName>style.visibility</p:attrName>
                                        </p:attrNameLst>
                                      </p:cBhvr>
                                      <p:to>
                                        <p:strVal val="visible"/>
                                      </p:to>
                                    </p:set>
                                    <p:animEffect transition="in" filter="dissolve">
                                      <p:cBhvr>
                                        <p:cTn id="47" dur="500"/>
                                        <p:tgtEl>
                                          <p:spTgt spid="571476"/>
                                        </p:tgtEl>
                                      </p:cBhvr>
                                    </p:animEffect>
                                  </p:childTnLst>
                                </p:cTn>
                              </p:par>
                              <p:par>
                                <p:cTn id="48" presetID="9" presetClass="entr" presetSubtype="0" fill="hold" nodeType="withEffect">
                                  <p:stCondLst>
                                    <p:cond delay="0"/>
                                  </p:stCondLst>
                                  <p:childTnLst>
                                    <p:set>
                                      <p:cBhvr>
                                        <p:cTn id="49" dur="1" fill="hold">
                                          <p:stCondLst>
                                            <p:cond delay="0"/>
                                          </p:stCondLst>
                                        </p:cTn>
                                        <p:tgtEl>
                                          <p:spTgt spid="571477"/>
                                        </p:tgtEl>
                                        <p:attrNameLst>
                                          <p:attrName>style.visibility</p:attrName>
                                        </p:attrNameLst>
                                      </p:cBhvr>
                                      <p:to>
                                        <p:strVal val="visible"/>
                                      </p:to>
                                    </p:set>
                                    <p:animEffect transition="in" filter="dissolve">
                                      <p:cBhvr>
                                        <p:cTn id="50" dur="500"/>
                                        <p:tgtEl>
                                          <p:spTgt spid="571477"/>
                                        </p:tgtEl>
                                      </p:cBhvr>
                                    </p:animEffect>
                                  </p:childTnLst>
                                </p:cTn>
                              </p:par>
                              <p:par>
                                <p:cTn id="51" presetID="9" presetClass="entr" presetSubtype="0" fill="hold" nodeType="withEffect">
                                  <p:stCondLst>
                                    <p:cond delay="0"/>
                                  </p:stCondLst>
                                  <p:childTnLst>
                                    <p:set>
                                      <p:cBhvr>
                                        <p:cTn id="52" dur="1" fill="hold">
                                          <p:stCondLst>
                                            <p:cond delay="0"/>
                                          </p:stCondLst>
                                        </p:cTn>
                                        <p:tgtEl>
                                          <p:spTgt spid="571478"/>
                                        </p:tgtEl>
                                        <p:attrNameLst>
                                          <p:attrName>style.visibility</p:attrName>
                                        </p:attrNameLst>
                                      </p:cBhvr>
                                      <p:to>
                                        <p:strVal val="visible"/>
                                      </p:to>
                                    </p:set>
                                    <p:animEffect transition="in" filter="dissolve">
                                      <p:cBhvr>
                                        <p:cTn id="53" dur="500"/>
                                        <p:tgtEl>
                                          <p:spTgt spid="571478"/>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571479"/>
                                        </p:tgtEl>
                                        <p:attrNameLst>
                                          <p:attrName>style.visibility</p:attrName>
                                        </p:attrNameLst>
                                      </p:cBhvr>
                                      <p:to>
                                        <p:strVal val="visible"/>
                                      </p:to>
                                    </p:set>
                                    <p:animEffect transition="in" filter="dissolve">
                                      <p:cBhvr>
                                        <p:cTn id="56" dur="500"/>
                                        <p:tgtEl>
                                          <p:spTgt spid="571479"/>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571480"/>
                                        </p:tgtEl>
                                        <p:attrNameLst>
                                          <p:attrName>style.visibility</p:attrName>
                                        </p:attrNameLst>
                                      </p:cBhvr>
                                      <p:to>
                                        <p:strVal val="visible"/>
                                      </p:to>
                                    </p:set>
                                    <p:animEffect transition="in" filter="dissolve">
                                      <p:cBhvr>
                                        <p:cTn id="59" dur="500"/>
                                        <p:tgtEl>
                                          <p:spTgt spid="571480"/>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571481"/>
                                        </p:tgtEl>
                                        <p:attrNameLst>
                                          <p:attrName>style.visibility</p:attrName>
                                        </p:attrNameLst>
                                      </p:cBhvr>
                                      <p:to>
                                        <p:strVal val="visible"/>
                                      </p:to>
                                    </p:set>
                                    <p:animEffect transition="in" filter="dissolve">
                                      <p:cBhvr>
                                        <p:cTn id="62" dur="500"/>
                                        <p:tgtEl>
                                          <p:spTgt spid="571481"/>
                                        </p:tgtEl>
                                      </p:cBhvr>
                                    </p:animEffect>
                                  </p:childTnLst>
                                </p:cTn>
                              </p:par>
                              <p:par>
                                <p:cTn id="63" presetID="9" presetClass="entr" presetSubtype="0" fill="hold" grpId="0" nodeType="withEffect">
                                  <p:stCondLst>
                                    <p:cond delay="0"/>
                                  </p:stCondLst>
                                  <p:childTnLst>
                                    <p:set>
                                      <p:cBhvr>
                                        <p:cTn id="64" dur="1" fill="hold">
                                          <p:stCondLst>
                                            <p:cond delay="0"/>
                                          </p:stCondLst>
                                        </p:cTn>
                                        <p:tgtEl>
                                          <p:spTgt spid="571482"/>
                                        </p:tgtEl>
                                        <p:attrNameLst>
                                          <p:attrName>style.visibility</p:attrName>
                                        </p:attrNameLst>
                                      </p:cBhvr>
                                      <p:to>
                                        <p:strVal val="visible"/>
                                      </p:to>
                                    </p:set>
                                    <p:animEffect transition="in" filter="dissolve">
                                      <p:cBhvr>
                                        <p:cTn id="65" dur="500"/>
                                        <p:tgtEl>
                                          <p:spTgt spid="571482"/>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571483"/>
                                        </p:tgtEl>
                                        <p:attrNameLst>
                                          <p:attrName>style.visibility</p:attrName>
                                        </p:attrNameLst>
                                      </p:cBhvr>
                                      <p:to>
                                        <p:strVal val="visible"/>
                                      </p:to>
                                    </p:set>
                                    <p:animEffect transition="in" filter="dissolve">
                                      <p:cBhvr>
                                        <p:cTn id="68" dur="500"/>
                                        <p:tgtEl>
                                          <p:spTgt spid="571483"/>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571484"/>
                                        </p:tgtEl>
                                        <p:attrNameLst>
                                          <p:attrName>style.visibility</p:attrName>
                                        </p:attrNameLst>
                                      </p:cBhvr>
                                      <p:to>
                                        <p:strVal val="visible"/>
                                      </p:to>
                                    </p:set>
                                    <p:animEffect transition="in" filter="dissolve">
                                      <p:cBhvr>
                                        <p:cTn id="71" dur="500"/>
                                        <p:tgtEl>
                                          <p:spTgt spid="571484"/>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571485"/>
                                        </p:tgtEl>
                                        <p:attrNameLst>
                                          <p:attrName>style.visibility</p:attrName>
                                        </p:attrNameLst>
                                      </p:cBhvr>
                                      <p:to>
                                        <p:strVal val="visible"/>
                                      </p:to>
                                    </p:set>
                                    <p:animEffect transition="in" filter="dissolve">
                                      <p:cBhvr>
                                        <p:cTn id="74" dur="500"/>
                                        <p:tgtEl>
                                          <p:spTgt spid="571485"/>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571486"/>
                                        </p:tgtEl>
                                        <p:attrNameLst>
                                          <p:attrName>style.visibility</p:attrName>
                                        </p:attrNameLst>
                                      </p:cBhvr>
                                      <p:to>
                                        <p:strVal val="visible"/>
                                      </p:to>
                                    </p:set>
                                    <p:animEffect transition="in" filter="dissolve">
                                      <p:cBhvr>
                                        <p:cTn id="77" dur="500"/>
                                        <p:tgtEl>
                                          <p:spTgt spid="571486"/>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571487"/>
                                        </p:tgtEl>
                                        <p:attrNameLst>
                                          <p:attrName>style.visibility</p:attrName>
                                        </p:attrNameLst>
                                      </p:cBhvr>
                                      <p:to>
                                        <p:strVal val="visible"/>
                                      </p:to>
                                    </p:set>
                                    <p:animEffect transition="in" filter="dissolve">
                                      <p:cBhvr>
                                        <p:cTn id="80" dur="500"/>
                                        <p:tgtEl>
                                          <p:spTgt spid="571487"/>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571488"/>
                                        </p:tgtEl>
                                        <p:attrNameLst>
                                          <p:attrName>style.visibility</p:attrName>
                                        </p:attrNameLst>
                                      </p:cBhvr>
                                      <p:to>
                                        <p:strVal val="visible"/>
                                      </p:to>
                                    </p:set>
                                    <p:animEffect transition="in" filter="dissolve">
                                      <p:cBhvr>
                                        <p:cTn id="83" dur="500"/>
                                        <p:tgtEl>
                                          <p:spTgt spid="571488"/>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571489"/>
                                        </p:tgtEl>
                                        <p:attrNameLst>
                                          <p:attrName>style.visibility</p:attrName>
                                        </p:attrNameLst>
                                      </p:cBhvr>
                                      <p:to>
                                        <p:strVal val="visible"/>
                                      </p:to>
                                    </p:set>
                                    <p:animEffect transition="in" filter="dissolve">
                                      <p:cBhvr>
                                        <p:cTn id="86" dur="500"/>
                                        <p:tgtEl>
                                          <p:spTgt spid="571489"/>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571490"/>
                                        </p:tgtEl>
                                        <p:attrNameLst>
                                          <p:attrName>style.visibility</p:attrName>
                                        </p:attrNameLst>
                                      </p:cBhvr>
                                      <p:to>
                                        <p:strVal val="visible"/>
                                      </p:to>
                                    </p:set>
                                    <p:animEffect transition="in" filter="dissolve">
                                      <p:cBhvr>
                                        <p:cTn id="89" dur="500"/>
                                        <p:tgtEl>
                                          <p:spTgt spid="571490"/>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571491"/>
                                        </p:tgtEl>
                                        <p:attrNameLst>
                                          <p:attrName>style.visibility</p:attrName>
                                        </p:attrNameLst>
                                      </p:cBhvr>
                                      <p:to>
                                        <p:strVal val="visible"/>
                                      </p:to>
                                    </p:set>
                                    <p:animEffect transition="in" filter="dissolve">
                                      <p:cBhvr>
                                        <p:cTn id="92" dur="500"/>
                                        <p:tgtEl>
                                          <p:spTgt spid="571491"/>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571492"/>
                                        </p:tgtEl>
                                        <p:attrNameLst>
                                          <p:attrName>style.visibility</p:attrName>
                                        </p:attrNameLst>
                                      </p:cBhvr>
                                      <p:to>
                                        <p:strVal val="visible"/>
                                      </p:to>
                                    </p:set>
                                    <p:animEffect transition="in" filter="dissolve">
                                      <p:cBhvr>
                                        <p:cTn id="95" dur="500"/>
                                        <p:tgtEl>
                                          <p:spTgt spid="571492"/>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571493"/>
                                        </p:tgtEl>
                                        <p:attrNameLst>
                                          <p:attrName>style.visibility</p:attrName>
                                        </p:attrNameLst>
                                      </p:cBhvr>
                                      <p:to>
                                        <p:strVal val="visible"/>
                                      </p:to>
                                    </p:set>
                                    <p:animEffect transition="in" filter="dissolve">
                                      <p:cBhvr>
                                        <p:cTn id="98" dur="500"/>
                                        <p:tgtEl>
                                          <p:spTgt spid="571493"/>
                                        </p:tgtEl>
                                      </p:cBhvr>
                                    </p:animEffect>
                                  </p:childTnLst>
                                </p:cTn>
                              </p:par>
                              <p:par>
                                <p:cTn id="99" presetID="9" presetClass="entr" presetSubtype="0" fill="hold" grpId="0" nodeType="withEffect">
                                  <p:stCondLst>
                                    <p:cond delay="0"/>
                                  </p:stCondLst>
                                  <p:childTnLst>
                                    <p:set>
                                      <p:cBhvr>
                                        <p:cTn id="100" dur="1" fill="hold">
                                          <p:stCondLst>
                                            <p:cond delay="0"/>
                                          </p:stCondLst>
                                        </p:cTn>
                                        <p:tgtEl>
                                          <p:spTgt spid="571494"/>
                                        </p:tgtEl>
                                        <p:attrNameLst>
                                          <p:attrName>style.visibility</p:attrName>
                                        </p:attrNameLst>
                                      </p:cBhvr>
                                      <p:to>
                                        <p:strVal val="visible"/>
                                      </p:to>
                                    </p:set>
                                    <p:animEffect transition="in" filter="dissolve">
                                      <p:cBhvr>
                                        <p:cTn id="101" dur="500"/>
                                        <p:tgtEl>
                                          <p:spTgt spid="571494"/>
                                        </p:tgtEl>
                                      </p:cBhvr>
                                    </p:animEffect>
                                  </p:childTnLst>
                                </p:cTn>
                              </p:par>
                              <p:par>
                                <p:cTn id="102" presetID="9" presetClass="entr" presetSubtype="0" fill="hold" nodeType="withEffect">
                                  <p:stCondLst>
                                    <p:cond delay="0"/>
                                  </p:stCondLst>
                                  <p:childTnLst>
                                    <p:set>
                                      <p:cBhvr>
                                        <p:cTn id="103" dur="1" fill="hold">
                                          <p:stCondLst>
                                            <p:cond delay="0"/>
                                          </p:stCondLst>
                                        </p:cTn>
                                        <p:tgtEl>
                                          <p:spTgt spid="571495"/>
                                        </p:tgtEl>
                                        <p:attrNameLst>
                                          <p:attrName>style.visibility</p:attrName>
                                        </p:attrNameLst>
                                      </p:cBhvr>
                                      <p:to>
                                        <p:strVal val="visible"/>
                                      </p:to>
                                    </p:set>
                                    <p:animEffect transition="in" filter="dissolve">
                                      <p:cBhvr>
                                        <p:cTn id="104" dur="500"/>
                                        <p:tgtEl>
                                          <p:spTgt spid="571495"/>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571496"/>
                                        </p:tgtEl>
                                        <p:attrNameLst>
                                          <p:attrName>style.visibility</p:attrName>
                                        </p:attrNameLst>
                                      </p:cBhvr>
                                      <p:to>
                                        <p:strVal val="visible"/>
                                      </p:to>
                                    </p:set>
                                    <p:animEffect transition="in" filter="dissolve">
                                      <p:cBhvr>
                                        <p:cTn id="107" dur="500"/>
                                        <p:tgtEl>
                                          <p:spTgt spid="571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429" grpId="0" animBg="1"/>
      <p:bldP spid="571430" grpId="0"/>
      <p:bldP spid="571479" grpId="0" animBg="1"/>
      <p:bldP spid="571480" grpId="0"/>
      <p:bldP spid="571481" grpId="0" animBg="1"/>
      <p:bldP spid="571482" grpId="0"/>
      <p:bldP spid="571483" grpId="0" animBg="1"/>
      <p:bldP spid="571484" grpId="0"/>
      <p:bldP spid="571485" grpId="0" animBg="1"/>
      <p:bldP spid="571486" grpId="0"/>
      <p:bldP spid="571487" grpId="0" animBg="1"/>
      <p:bldP spid="571488" grpId="0"/>
      <p:bldP spid="571489" grpId="0" animBg="1"/>
      <p:bldP spid="571490" grpId="0"/>
      <p:bldP spid="571491" grpId="0" animBg="1"/>
      <p:bldP spid="571492" grpId="0"/>
      <p:bldP spid="571493" grpId="0" animBg="1"/>
      <p:bldP spid="571494" grpId="0"/>
      <p:bldP spid="57149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F29173F-F470-423C-9665-85E471276FB1}" type="slidenum">
              <a:rPr lang="en-US" altLang="de-DE" sz="1000">
                <a:solidFill>
                  <a:srgbClr val="C0C0C0"/>
                </a:solidFill>
              </a:rPr>
              <a:pPr/>
              <a:t>14</a:t>
            </a:fld>
            <a:endParaRPr lang="en-US" altLang="de-DE" sz="1000">
              <a:solidFill>
                <a:srgbClr val="C0C0C0"/>
              </a:solidFill>
            </a:endParaRPr>
          </a:p>
        </p:txBody>
      </p:sp>
      <p:sp>
        <p:nvSpPr>
          <p:cNvPr id="15363" name="Text Box 3"/>
          <p:cNvSpPr txBox="1">
            <a:spLocks noChangeArrowheads="1"/>
          </p:cNvSpPr>
          <p:nvPr/>
        </p:nvSpPr>
        <p:spPr bwMode="auto">
          <a:xfrm>
            <a:off x="608013" y="1446213"/>
            <a:ext cx="7348537" cy="1277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Gain of swapping a pair of nodes </a:t>
            </a:r>
            <a:r>
              <a:rPr lang="de-DE" altLang="de-DE" i="1">
                <a:solidFill>
                  <a:srgbClr val="CC0000"/>
                </a:solidFill>
              </a:rPr>
              <a:t>a</a:t>
            </a:r>
            <a:r>
              <a:rPr lang="de-DE" altLang="de-DE">
                <a:solidFill>
                  <a:srgbClr val="CC0000"/>
                </a:solidFill>
              </a:rPr>
              <a:t> und </a:t>
            </a:r>
            <a:r>
              <a:rPr lang="de-DE" altLang="de-DE" i="1">
                <a:solidFill>
                  <a:srgbClr val="CC0000"/>
                </a:solidFill>
              </a:rPr>
              <a:t>b</a:t>
            </a:r>
          </a:p>
          <a:p>
            <a:pPr algn="l">
              <a:lnSpc>
                <a:spcPct val="100000"/>
              </a:lnSpc>
              <a:spcBef>
                <a:spcPct val="25000"/>
              </a:spcBef>
            </a:pPr>
            <a:endParaRPr lang="de-DE" altLang="de-DE"/>
          </a:p>
          <a:p>
            <a:pPr algn="l">
              <a:lnSpc>
                <a:spcPct val="100000"/>
              </a:lnSpc>
              <a:spcBef>
                <a:spcPct val="25000"/>
              </a:spcBef>
            </a:pPr>
            <a:r>
              <a:rPr lang="en-US" altLang="zh-CN">
                <a:ea typeface="宋体" panose="02010600030101010101" pitchFamily="2" charset="-122"/>
                <a:sym typeface="Symbol" panose="05050102010706020507" pitchFamily="18" charset="2"/>
              </a:rPr>
              <a:t>The goal is to find a pair of nodes </a:t>
            </a:r>
            <a:r>
              <a:rPr lang="en-US" altLang="zh-CN" i="1">
                <a:ea typeface="宋体" panose="02010600030101010101" pitchFamily="2" charset="-122"/>
                <a:sym typeface="Symbol" panose="05050102010706020507" pitchFamily="18" charset="2"/>
              </a:rPr>
              <a:t>a</a:t>
            </a:r>
            <a:r>
              <a:rPr lang="en-US" altLang="zh-CN">
                <a:ea typeface="宋体" panose="02010600030101010101" pitchFamily="2" charset="-122"/>
                <a:sym typeface="Symbol" panose="05050102010706020507" pitchFamily="18" charset="2"/>
              </a:rPr>
              <a:t> and </a:t>
            </a:r>
            <a:r>
              <a:rPr lang="en-US" altLang="zh-CN" i="1">
                <a:ea typeface="宋体" panose="02010600030101010101" pitchFamily="2" charset="-122"/>
                <a:sym typeface="Symbol" panose="05050102010706020507" pitchFamily="18" charset="2"/>
              </a:rPr>
              <a:t>b</a:t>
            </a:r>
            <a:r>
              <a:rPr lang="en-US" altLang="zh-CN">
                <a:ea typeface="宋体" panose="02010600030101010101" pitchFamily="2" charset="-122"/>
                <a:sym typeface="Symbol" panose="05050102010706020507" pitchFamily="18" charset="2"/>
              </a:rPr>
              <a:t> to exchange such that </a:t>
            </a:r>
            <a:r>
              <a:rPr lang="de-DE" altLang="de-DE">
                <a:sym typeface="Symbol" panose="05050102010706020507" pitchFamily="18" charset="2"/>
              </a:rPr>
              <a:t></a:t>
            </a:r>
            <a:r>
              <a:rPr lang="en-US" altLang="zh-CN" i="1">
                <a:ea typeface="宋体" panose="02010600030101010101" pitchFamily="2" charset="-122"/>
                <a:sym typeface="Symbol" panose="05050102010706020507" pitchFamily="18" charset="2"/>
              </a:rPr>
              <a:t>g</a:t>
            </a:r>
            <a:r>
              <a:rPr lang="en-US" altLang="zh-CN">
                <a:ea typeface="宋体" panose="02010600030101010101" pitchFamily="2" charset="-122"/>
                <a:sym typeface="Symbol" panose="05050102010706020507" pitchFamily="18" charset="2"/>
              </a:rPr>
              <a:t> is maximized and swap them.</a:t>
            </a:r>
            <a:endParaRPr lang="de-DE" altLang="de-DE">
              <a:sym typeface="Symbol" panose="05050102010706020507" pitchFamily="18" charset="2"/>
            </a:endParaRPr>
          </a:p>
        </p:txBody>
      </p:sp>
      <p:sp>
        <p:nvSpPr>
          <p:cNvPr id="15364" name="Rectangle 71"/>
          <p:cNvSpPr>
            <a:spLocks noGrp="1" noChangeArrowheads="1"/>
          </p:cNvSpPr>
          <p:nvPr>
            <p:ph type="title"/>
          </p:nvPr>
        </p:nvSpPr>
        <p:spPr/>
        <p:txBody>
          <a:bodyPr lIns="191095" tIns="44941" rIns="89883" bIns="67945"/>
          <a:lstStyle/>
          <a:p>
            <a:pPr defTabSz="914400"/>
            <a:r>
              <a:rPr lang="en-US" altLang="zh-CN">
                <a:ea typeface="宋体" panose="02010600030101010101" pitchFamily="2" charset="-122"/>
              </a:rPr>
              <a:t>2.4.1  Kernighan-Lin (KL) Algorithm – Terminology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8C7E3855-8683-4679-A7EE-E6C5EC1BE017}" type="slidenum">
              <a:rPr lang="en-US" altLang="de-DE" sz="1000">
                <a:solidFill>
                  <a:srgbClr val="C0C0C0"/>
                </a:solidFill>
              </a:rPr>
              <a:pPr/>
              <a:t>15</a:t>
            </a:fld>
            <a:endParaRPr lang="en-US" altLang="de-DE" sz="1000">
              <a:solidFill>
                <a:srgbClr val="C0C0C0"/>
              </a:solidFill>
            </a:endParaRPr>
          </a:p>
        </p:txBody>
      </p:sp>
      <p:sp>
        <p:nvSpPr>
          <p:cNvPr id="575491" name="Text Box 3"/>
          <p:cNvSpPr txBox="1">
            <a:spLocks noChangeArrowheads="1"/>
          </p:cNvSpPr>
          <p:nvPr/>
        </p:nvSpPr>
        <p:spPr bwMode="auto">
          <a:xfrm>
            <a:off x="608013" y="1446213"/>
            <a:ext cx="7348537" cy="309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Maximum positive gain </a:t>
            </a:r>
            <a:r>
              <a:rPr lang="de-DE" altLang="de-DE" i="1">
                <a:solidFill>
                  <a:srgbClr val="CC0000"/>
                </a:solidFill>
                <a:sym typeface="Symbol" panose="05050102010706020507" pitchFamily="18" charset="2"/>
              </a:rPr>
              <a:t>G</a:t>
            </a:r>
            <a:r>
              <a:rPr lang="de-DE" altLang="de-DE" i="1" baseline="-25000">
                <a:solidFill>
                  <a:srgbClr val="CC0000"/>
                </a:solidFill>
                <a:sym typeface="Symbol" panose="05050102010706020507" pitchFamily="18" charset="2"/>
              </a:rPr>
              <a:t>m</a:t>
            </a:r>
            <a:r>
              <a:rPr lang="de-DE" altLang="de-DE" i="1">
                <a:sym typeface="Symbol" panose="05050102010706020507" pitchFamily="18" charset="2"/>
              </a:rPr>
              <a:t> </a:t>
            </a:r>
            <a:r>
              <a:rPr lang="de-DE" altLang="de-DE">
                <a:solidFill>
                  <a:srgbClr val="CC0000"/>
                </a:solidFill>
              </a:rPr>
              <a:t>of a pass </a:t>
            </a:r>
            <a:endParaRPr lang="de-DE" altLang="de-DE" i="1">
              <a:solidFill>
                <a:srgbClr val="CC0000"/>
              </a:solidFill>
            </a:endParaRPr>
          </a:p>
          <a:p>
            <a:pPr algn="l">
              <a:lnSpc>
                <a:spcPct val="100000"/>
              </a:lnSpc>
              <a:spcBef>
                <a:spcPct val="25000"/>
              </a:spcBef>
            </a:pPr>
            <a:endParaRPr lang="de-DE" altLang="de-DE"/>
          </a:p>
          <a:p>
            <a:pPr algn="l">
              <a:lnSpc>
                <a:spcPct val="100000"/>
              </a:lnSpc>
              <a:spcBef>
                <a:spcPct val="25000"/>
              </a:spcBef>
            </a:pPr>
            <a:r>
              <a:rPr lang="en-US" altLang="zh-CN">
                <a:solidFill>
                  <a:srgbClr val="000000"/>
                </a:solidFill>
                <a:ea typeface="宋体" panose="02010600030101010101" pitchFamily="2" charset="-122"/>
                <a:sym typeface="Symbol" panose="05050102010706020507" pitchFamily="18" charset="2"/>
              </a:rPr>
              <a:t>The maximum positive gain</a:t>
            </a:r>
            <a:r>
              <a:rPr lang="en-US" altLang="zh-CN" i="1">
                <a:solidFill>
                  <a:srgbClr val="000000"/>
                </a:solidFill>
                <a:ea typeface="宋体" panose="02010600030101010101" pitchFamily="2" charset="-122"/>
                <a:sym typeface="Symbol" panose="05050102010706020507" pitchFamily="18" charset="2"/>
              </a:rPr>
              <a:t> </a:t>
            </a:r>
            <a:r>
              <a:rPr lang="en-US" altLang="zh-CN" i="1">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G</a:t>
            </a:r>
            <a:r>
              <a:rPr lang="en-US" altLang="zh-CN" i="1" baseline="-30000">
                <a:solidFill>
                  <a:srgbClr val="000000"/>
                </a:solidFill>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m</a:t>
            </a:r>
            <a:r>
              <a:rPr lang="en-US" altLang="zh-CN">
                <a:solidFill>
                  <a:srgbClr val="000000"/>
                </a:solidFill>
                <a:ea typeface="宋体" panose="02010600030101010101" pitchFamily="2" charset="-122"/>
                <a:sym typeface="Symbol" panose="05050102010706020507" pitchFamily="18" charset="2"/>
              </a:rPr>
              <a:t> corresponds to the best prefix of </a:t>
            </a:r>
            <a:r>
              <a:rPr lang="en-US" altLang="zh-CN" i="1">
                <a:solidFill>
                  <a:srgbClr val="000000"/>
                </a:solidFill>
                <a:ea typeface="宋体" panose="02010600030101010101" pitchFamily="2" charset="-122"/>
                <a:sym typeface="Symbol" panose="05050102010706020507" pitchFamily="18" charset="2"/>
              </a:rPr>
              <a:t>m</a:t>
            </a:r>
            <a:r>
              <a:rPr lang="en-US" altLang="zh-CN">
                <a:solidFill>
                  <a:srgbClr val="000000"/>
                </a:solidFill>
                <a:ea typeface="宋体" panose="02010600030101010101" pitchFamily="2" charset="-122"/>
                <a:sym typeface="Symbol" panose="05050102010706020507" pitchFamily="18" charset="2"/>
              </a:rPr>
              <a:t> swaps within the swap sequence of a given pass.</a:t>
            </a:r>
            <a:r>
              <a:rPr lang="en-US" altLang="zh-CN">
                <a:ea typeface="宋体" panose="02010600030101010101" pitchFamily="2" charset="-122"/>
                <a:sym typeface="Symbol" panose="05050102010706020507" pitchFamily="18" charset="2"/>
              </a:rPr>
              <a:t> </a:t>
            </a:r>
          </a:p>
          <a:p>
            <a:pPr algn="l">
              <a:lnSpc>
                <a:spcPct val="100000"/>
              </a:lnSpc>
              <a:spcBef>
                <a:spcPct val="25000"/>
              </a:spcBef>
            </a:pPr>
            <a:endParaRPr lang="en-US" altLang="zh-CN">
              <a:ea typeface="宋体" panose="02010600030101010101" pitchFamily="2" charset="-122"/>
              <a:sym typeface="Symbol" panose="05050102010706020507" pitchFamily="18" charset="2"/>
            </a:endParaRPr>
          </a:p>
          <a:p>
            <a:pPr algn="l">
              <a:lnSpc>
                <a:spcPct val="100000"/>
              </a:lnSpc>
              <a:spcBef>
                <a:spcPct val="25000"/>
              </a:spcBef>
            </a:pPr>
            <a:r>
              <a:rPr lang="en-US" altLang="zh-CN">
                <a:ea typeface="宋体" panose="02010600030101010101" pitchFamily="2" charset="-122"/>
                <a:sym typeface="Symbol" panose="05050102010706020507" pitchFamily="18" charset="2"/>
              </a:rPr>
              <a:t>These </a:t>
            </a:r>
            <a:r>
              <a:rPr lang="en-US" altLang="zh-CN" i="1">
                <a:ea typeface="宋体" panose="02010600030101010101" pitchFamily="2" charset="-122"/>
                <a:sym typeface="Symbol" panose="05050102010706020507" pitchFamily="18" charset="2"/>
              </a:rPr>
              <a:t>m</a:t>
            </a:r>
            <a:r>
              <a:rPr lang="en-US" altLang="zh-CN">
                <a:ea typeface="宋体" panose="02010600030101010101" pitchFamily="2" charset="-122"/>
                <a:sym typeface="Symbol" panose="05050102010706020507" pitchFamily="18" charset="2"/>
              </a:rPr>
              <a:t> swaps lead to the partition with the minimum cut cost encountered during the pass.</a:t>
            </a:r>
          </a:p>
          <a:p>
            <a:pPr algn="l">
              <a:lnSpc>
                <a:spcPct val="100000"/>
              </a:lnSpc>
              <a:spcBef>
                <a:spcPct val="25000"/>
              </a:spcBef>
            </a:pPr>
            <a:r>
              <a:rPr lang="en-US" altLang="zh-CN">
                <a:ea typeface="宋体" panose="02010600030101010101" pitchFamily="2" charset="-122"/>
                <a:sym typeface="Symbol" panose="05050102010706020507" pitchFamily="18" charset="2"/>
              </a:rPr>
              <a:t> </a:t>
            </a:r>
          </a:p>
          <a:p>
            <a:pPr algn="l">
              <a:lnSpc>
                <a:spcPct val="100000"/>
              </a:lnSpc>
              <a:spcBef>
                <a:spcPct val="25000"/>
              </a:spcBef>
            </a:pPr>
            <a:r>
              <a:rPr lang="en-US" altLang="zh-CN" i="1">
                <a:ea typeface="宋体" panose="02010600030101010101" pitchFamily="2" charset="-122"/>
                <a:sym typeface="Symbol" panose="05050102010706020507" pitchFamily="18" charset="2"/>
              </a:rPr>
              <a:t>G</a:t>
            </a:r>
            <a:r>
              <a:rPr lang="en-US" altLang="zh-CN" i="1" baseline="-25000">
                <a:ea typeface="宋体" panose="02010600030101010101" pitchFamily="2" charset="-122"/>
                <a:sym typeface="Symbol" panose="05050102010706020507" pitchFamily="18" charset="2"/>
              </a:rPr>
              <a:t>m</a:t>
            </a:r>
            <a:r>
              <a:rPr lang="en-US" altLang="zh-CN">
                <a:ea typeface="宋体" panose="02010600030101010101" pitchFamily="2" charset="-122"/>
                <a:sym typeface="Symbol" panose="05050102010706020507" pitchFamily="18" charset="2"/>
              </a:rPr>
              <a:t> is computed as the sum of Δ</a:t>
            </a:r>
            <a:r>
              <a:rPr lang="en-US" altLang="zh-CN" i="1">
                <a:ea typeface="宋体" panose="02010600030101010101" pitchFamily="2" charset="-122"/>
                <a:sym typeface="Symbol" panose="05050102010706020507" pitchFamily="18" charset="2"/>
              </a:rPr>
              <a:t>g</a:t>
            </a:r>
            <a:r>
              <a:rPr lang="en-US" altLang="zh-CN">
                <a:ea typeface="宋体" panose="02010600030101010101" pitchFamily="2" charset="-122"/>
                <a:sym typeface="Symbol" panose="05050102010706020507" pitchFamily="18" charset="2"/>
              </a:rPr>
              <a:t> values over the first </a:t>
            </a:r>
            <a:r>
              <a:rPr lang="en-US" altLang="zh-CN" i="1">
                <a:ea typeface="宋体" panose="02010600030101010101" pitchFamily="2" charset="-122"/>
                <a:sym typeface="Symbol" panose="05050102010706020507" pitchFamily="18" charset="2"/>
              </a:rPr>
              <a:t>m</a:t>
            </a:r>
            <a:r>
              <a:rPr lang="en-US" altLang="zh-CN">
                <a:ea typeface="宋体" panose="02010600030101010101" pitchFamily="2" charset="-122"/>
                <a:sym typeface="Symbol" panose="05050102010706020507" pitchFamily="18" charset="2"/>
              </a:rPr>
              <a:t> swaps of the pass, with </a:t>
            </a:r>
            <a:r>
              <a:rPr lang="en-US" altLang="zh-CN" i="1">
                <a:ea typeface="宋体" panose="02010600030101010101" pitchFamily="2" charset="-122"/>
                <a:sym typeface="Symbol" panose="05050102010706020507" pitchFamily="18" charset="2"/>
              </a:rPr>
              <a:t>m</a:t>
            </a:r>
            <a:r>
              <a:rPr lang="en-US" altLang="zh-CN">
                <a:ea typeface="宋体" panose="02010600030101010101" pitchFamily="2" charset="-122"/>
                <a:sym typeface="Symbol" panose="05050102010706020507" pitchFamily="18" charset="2"/>
              </a:rPr>
              <a:t> chosen such that </a:t>
            </a:r>
            <a:r>
              <a:rPr lang="en-US" altLang="zh-CN" i="1">
                <a:ea typeface="宋体" panose="02010600030101010101" pitchFamily="2" charset="-122"/>
                <a:sym typeface="Symbol" panose="05050102010706020507" pitchFamily="18" charset="2"/>
              </a:rPr>
              <a:t>G</a:t>
            </a:r>
            <a:r>
              <a:rPr lang="en-US" altLang="zh-CN" i="1" baseline="-25000">
                <a:ea typeface="宋体" panose="02010600030101010101" pitchFamily="2" charset="-122"/>
                <a:sym typeface="Symbol" panose="05050102010706020507" pitchFamily="18" charset="2"/>
              </a:rPr>
              <a:t>m</a:t>
            </a:r>
            <a:r>
              <a:rPr lang="en-US" altLang="zh-CN">
                <a:ea typeface="宋体" panose="02010600030101010101" pitchFamily="2" charset="-122"/>
                <a:sym typeface="Symbol" panose="05050102010706020507" pitchFamily="18" charset="2"/>
              </a:rPr>
              <a:t> is maximized.</a:t>
            </a:r>
            <a:endParaRPr lang="de-DE" altLang="de-DE">
              <a:sym typeface="Symbol" panose="05050102010706020507" pitchFamily="18" charset="2"/>
            </a:endParaRPr>
          </a:p>
        </p:txBody>
      </p:sp>
      <p:graphicFrame>
        <p:nvGraphicFramePr>
          <p:cNvPr id="575492" name="Object 4"/>
          <p:cNvGraphicFramePr>
            <a:graphicFrameLocks noChangeAspect="1"/>
          </p:cNvGraphicFramePr>
          <p:nvPr/>
        </p:nvGraphicFramePr>
        <p:xfrm>
          <a:off x="2916238" y="4735513"/>
          <a:ext cx="1584325" cy="914400"/>
        </p:xfrm>
        <a:graphic>
          <a:graphicData uri="http://schemas.openxmlformats.org/presentationml/2006/ole">
            <mc:AlternateContent xmlns:mc="http://schemas.openxmlformats.org/markup-compatibility/2006">
              <mc:Choice xmlns:v="urn:schemas-microsoft-com:vml" Requires="v">
                <p:oleObj spid="_x0000_s16399" name="Formel" r:id="rId4" imgW="748975" imgH="431613" progId="Equation.3">
                  <p:embed/>
                </p:oleObj>
              </mc:Choice>
              <mc:Fallback>
                <p:oleObj name="Formel" r:id="rId4" imgW="748975"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4735513"/>
                        <a:ext cx="1584325" cy="914400"/>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9" name="Rectangle 5"/>
          <p:cNvSpPr>
            <a:spLocks noGrp="1" noChangeArrowheads="1"/>
          </p:cNvSpPr>
          <p:nvPr>
            <p:ph type="title"/>
          </p:nvPr>
        </p:nvSpPr>
        <p:spPr/>
        <p:txBody>
          <a:bodyPr lIns="191095" tIns="44941" rIns="89883" bIns="67945"/>
          <a:lstStyle/>
          <a:p>
            <a:pPr defTabSz="914400"/>
            <a:r>
              <a:rPr lang="en-US" altLang="zh-CN">
                <a:ea typeface="宋体" panose="02010600030101010101" pitchFamily="2" charset="-122"/>
              </a:rPr>
              <a:t>2.4.1  Kernighan-Lin (KL) Algorithm – Terminology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75491">
                                            <p:txEl>
                                              <p:pRg st="2" end="2"/>
                                            </p:txEl>
                                          </p:spTgt>
                                        </p:tgtEl>
                                        <p:attrNameLst>
                                          <p:attrName>style.visibility</p:attrName>
                                        </p:attrNameLst>
                                      </p:cBhvr>
                                      <p:to>
                                        <p:strVal val="visible"/>
                                      </p:to>
                                    </p:set>
                                    <p:animEffect transition="in" filter="dissolve">
                                      <p:cBhvr>
                                        <p:cTn id="7" dur="500"/>
                                        <p:tgtEl>
                                          <p:spTgt spid="57549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75491">
                                            <p:txEl>
                                              <p:pRg st="4" end="4"/>
                                            </p:txEl>
                                          </p:spTgt>
                                        </p:tgtEl>
                                        <p:attrNameLst>
                                          <p:attrName>style.visibility</p:attrName>
                                        </p:attrNameLst>
                                      </p:cBhvr>
                                      <p:to>
                                        <p:strVal val="visible"/>
                                      </p:to>
                                    </p:set>
                                    <p:animEffect transition="in" filter="dissolve">
                                      <p:cBhvr>
                                        <p:cTn id="12" dur="500"/>
                                        <p:tgtEl>
                                          <p:spTgt spid="575491">
                                            <p:txEl>
                                              <p:pRg st="4" end="4"/>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75491">
                                            <p:txEl>
                                              <p:pRg st="6" end="6"/>
                                            </p:txEl>
                                          </p:spTgt>
                                        </p:tgtEl>
                                        <p:attrNameLst>
                                          <p:attrName>style.visibility</p:attrName>
                                        </p:attrNameLst>
                                      </p:cBhvr>
                                      <p:to>
                                        <p:strVal val="visible"/>
                                      </p:to>
                                    </p:set>
                                    <p:animEffect transition="in" filter="dissolve">
                                      <p:cBhvr>
                                        <p:cTn id="17" dur="500"/>
                                        <p:tgtEl>
                                          <p:spTgt spid="575491">
                                            <p:txEl>
                                              <p:pRg st="6" end="6"/>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575492"/>
                                        </p:tgtEl>
                                        <p:attrNameLst>
                                          <p:attrName>style.visibility</p:attrName>
                                        </p:attrNameLst>
                                      </p:cBhvr>
                                      <p:to>
                                        <p:strVal val="visible"/>
                                      </p:to>
                                    </p:set>
                                    <p:animEffect transition="in" filter="dissolve">
                                      <p:cBhvr>
                                        <p:cTn id="20" dur="500"/>
                                        <p:tgtEl>
                                          <p:spTgt spid="575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750D283-1904-45CA-890C-F61AA511428B}" type="slidenum">
              <a:rPr lang="en-US" altLang="de-DE" sz="1000">
                <a:solidFill>
                  <a:srgbClr val="C0C0C0"/>
                </a:solidFill>
              </a:rPr>
              <a:pPr/>
              <a:t>16</a:t>
            </a:fld>
            <a:endParaRPr lang="en-US" altLang="de-DE" sz="1000">
              <a:solidFill>
                <a:srgbClr val="C0C0C0"/>
              </a:solidFill>
            </a:endParaRPr>
          </a:p>
        </p:txBody>
      </p:sp>
      <p:graphicFrame>
        <p:nvGraphicFramePr>
          <p:cNvPr id="17411" name="Object 3"/>
          <p:cNvGraphicFramePr>
            <a:graphicFrameLocks noChangeAspect="1"/>
          </p:cNvGraphicFramePr>
          <p:nvPr/>
        </p:nvGraphicFramePr>
        <p:xfrm>
          <a:off x="815975" y="1125538"/>
          <a:ext cx="7872413" cy="5332412"/>
        </p:xfrm>
        <a:graphic>
          <a:graphicData uri="http://schemas.openxmlformats.org/presentationml/2006/ole">
            <mc:AlternateContent xmlns:mc="http://schemas.openxmlformats.org/markup-compatibility/2006">
              <mc:Choice xmlns:v="urn:schemas-microsoft-com:vml" Requires="v">
                <p:oleObj spid="_x0000_s17422" name="Document" r:id="rId4" imgW="5759492" imgH="3795874" progId="Word.Document.8">
                  <p:embed/>
                </p:oleObj>
              </mc:Choice>
              <mc:Fallback>
                <p:oleObj name="Document" r:id="rId4" imgW="5759492" imgH="3795874"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t="4930" r="-2249" b="-10051"/>
                      <a:stretch>
                        <a:fillRect/>
                      </a:stretch>
                    </p:blipFill>
                    <p:spPr bwMode="auto">
                      <a:xfrm>
                        <a:off x="815975" y="1125538"/>
                        <a:ext cx="7872413" cy="533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2" name="Rectangle 5"/>
          <p:cNvSpPr>
            <a:spLocks noGrp="1" noChangeArrowheads="1"/>
          </p:cNvSpPr>
          <p:nvPr>
            <p:ph type="title"/>
          </p:nvPr>
        </p:nvSpPr>
        <p:spPr/>
        <p:txBody>
          <a:bodyPr/>
          <a:lstStyle/>
          <a:p>
            <a:pPr defTabSz="914400"/>
            <a:r>
              <a:rPr lang="en-US" altLang="zh-CN">
                <a:ea typeface="宋体" panose="02010600030101010101" pitchFamily="2" charset="-122"/>
              </a:rPr>
              <a:t>2.4.1  Kernighan-Lin (KL) Algorithm – One pass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A0D96197-BBB7-4482-82B4-2AE54C12617C}" type="slidenum">
              <a:rPr lang="en-US" altLang="de-DE" sz="1000">
                <a:solidFill>
                  <a:srgbClr val="C0C0C0"/>
                </a:solidFill>
              </a:rPr>
              <a:pPr/>
              <a:t>17</a:t>
            </a:fld>
            <a:endParaRPr lang="en-US" altLang="de-DE" sz="1000">
              <a:solidFill>
                <a:srgbClr val="C0C0C0"/>
              </a:solidFill>
            </a:endParaRPr>
          </a:p>
        </p:txBody>
      </p:sp>
      <p:sp>
        <p:nvSpPr>
          <p:cNvPr id="18435" name="Line 3"/>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36" name="Line 4"/>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37" name="Line 5"/>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38" name="Line 6"/>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39" name="Line 7"/>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0" name="Line 8"/>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1" name="Line 9"/>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2" name="Line 10"/>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3" name="Line 11"/>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4" name="Line 12"/>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5" name="Line 13"/>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6" name="Line 14"/>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7" name="Line 15"/>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48" name="Oval 16"/>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49" name="Rectangle 17"/>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18450" name="Oval 18"/>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51" name="Rectangle 19"/>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18452" name="Oval 20"/>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53" name="Rectangle 21"/>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18454" name="Oval 22"/>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55" name="Rectangle 23"/>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18456" name="Oval 24"/>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57" name="Rectangle 25"/>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18458" name="Oval 26"/>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59" name="Rectangle 27"/>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18460" name="Oval 28"/>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61" name="Rectangle 29"/>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18462" name="Oval 30"/>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8463" name="Rectangle 31"/>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18464"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18465" name="Line 33"/>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8466" name="Rectangle 35"/>
          <p:cNvSpPr>
            <a:spLocks noGrp="1" noChangeArrowheads="1"/>
          </p:cNvSpPr>
          <p:nvPr>
            <p:ph type="title"/>
          </p:nvPr>
        </p:nvSpPr>
        <p:spPr/>
        <p:txBody>
          <a:bodyPr/>
          <a:lstStyle/>
          <a:p>
            <a:pPr defTabSz="914400"/>
            <a:r>
              <a:rPr lang="en-US" altLang="zh-CN">
                <a:ea typeface="宋体" panose="02010600030101010101" pitchFamily="2" charset="-122"/>
              </a:rPr>
              <a:t>2.4.1  Kernighan-Lin (KL) Algorithm – Example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DE6F95F3-F646-4221-9DE3-41A14350C025}" type="slidenum">
              <a:rPr lang="en-US" altLang="de-DE" sz="1000">
                <a:solidFill>
                  <a:srgbClr val="C0C0C0"/>
                </a:solidFill>
              </a:rPr>
              <a:pPr/>
              <a:t>18</a:t>
            </a:fld>
            <a:endParaRPr lang="en-US" altLang="de-DE" sz="1000">
              <a:solidFill>
                <a:srgbClr val="C0C0C0"/>
              </a:solidFill>
            </a:endParaRPr>
          </a:p>
        </p:txBody>
      </p:sp>
      <p:sp>
        <p:nvSpPr>
          <p:cNvPr id="19459" name="Line 3"/>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0" name="Line 4"/>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1" name="Line 5"/>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2" name="Line 6"/>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3" name="Line 7"/>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4" name="Line 8"/>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5" name="Line 9"/>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6" name="Line 10"/>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7" name="Line 11"/>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8" name="Line 12"/>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69" name="Line 13"/>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70" name="Line 14"/>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71" name="Line 15"/>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72" name="Oval 16"/>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73" name="Rectangle 17"/>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19474" name="Oval 18"/>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75" name="Rectangle 19"/>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19476" name="Oval 20"/>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77" name="Rectangle 21"/>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19478" name="Oval 22"/>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79" name="Rectangle 23"/>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19480" name="Oval 24"/>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81" name="Rectangle 25"/>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19482" name="Oval 26"/>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83" name="Rectangle 27"/>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19484" name="Oval 28"/>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85" name="Rectangle 29"/>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19486" name="Oval 30"/>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19487" name="Rectangle 31"/>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19488"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19489" name="Line 33"/>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9490" name="Text Box 34"/>
          <p:cNvSpPr txBox="1">
            <a:spLocks noChangeArrowheads="1"/>
          </p:cNvSpPr>
          <p:nvPr/>
        </p:nvSpPr>
        <p:spPr bwMode="auto">
          <a:xfrm>
            <a:off x="684213" y="4667250"/>
            <a:ext cx="1684337" cy="97155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i="1">
                <a:ea typeface="宋体" panose="02010600030101010101" pitchFamily="2" charset="-122"/>
              </a:rPr>
              <a:t>D</a:t>
            </a:r>
            <a:r>
              <a:rPr lang="en-US" altLang="zh-CN" sz="1300">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(3) = 2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p>
          <a:p>
            <a:pPr algn="l" eaLnBrk="1" hangingPunct="1">
              <a:lnSpc>
                <a:spcPct val="100000"/>
              </a:lnSpc>
            </a:pPr>
            <a:endParaRPr lang="en-US" altLang="zh-CN" sz="1300">
              <a:ea typeface="宋体" panose="02010600030101010101" pitchFamily="2" charset="-122"/>
            </a:endParaRPr>
          </a:p>
        </p:txBody>
      </p:sp>
      <p:sp>
        <p:nvSpPr>
          <p:cNvPr id="19491" name="Text Box 35"/>
          <p:cNvSpPr txBox="1">
            <a:spLocks noChangeArrowheads="1"/>
          </p:cNvSpPr>
          <p:nvPr/>
        </p:nvSpPr>
        <p:spPr bwMode="auto">
          <a:xfrm>
            <a:off x="455613" y="4267200"/>
            <a:ext cx="2205037" cy="366713"/>
          </a:xfrm>
          <a:prstGeom prst="rect">
            <a:avLst/>
          </a:prstGeom>
          <a:solidFill>
            <a:srgbClr val="CCCCFF"/>
          </a:solidFill>
          <a:ln w="9525" algn="ctr">
            <a:solidFill>
              <a:srgbClr val="CC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sz="1300"/>
              <a:t>Costs </a:t>
            </a:r>
            <a:r>
              <a:rPr lang="de-DE" altLang="de-DE" sz="1300" i="1"/>
              <a:t>D</a:t>
            </a:r>
            <a:r>
              <a:rPr lang="de-DE" altLang="de-DE" sz="1300"/>
              <a:t>(</a:t>
            </a:r>
            <a:r>
              <a:rPr lang="de-DE" altLang="de-DE" sz="1300" i="1"/>
              <a:t>v</a:t>
            </a:r>
            <a:r>
              <a:rPr lang="de-DE" altLang="de-DE" sz="1300"/>
              <a:t>) of each node:</a:t>
            </a:r>
            <a:endParaRPr lang="en-US" altLang="zh-CN" sz="1300">
              <a:ea typeface="宋体" panose="02010600030101010101" pitchFamily="2" charset="-122"/>
            </a:endParaRPr>
          </a:p>
        </p:txBody>
      </p:sp>
      <p:sp>
        <p:nvSpPr>
          <p:cNvPr id="484391" name="Line 39"/>
          <p:cNvSpPr>
            <a:spLocks noChangeShapeType="1"/>
          </p:cNvSpPr>
          <p:nvPr/>
        </p:nvSpPr>
        <p:spPr bwMode="auto">
          <a:xfrm flipH="1" flipV="1">
            <a:off x="1416050" y="5167313"/>
            <a:ext cx="1181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484392" name="Line 40"/>
          <p:cNvSpPr>
            <a:spLocks noChangeShapeType="1"/>
          </p:cNvSpPr>
          <p:nvPr/>
        </p:nvSpPr>
        <p:spPr bwMode="auto">
          <a:xfrm flipH="1" flipV="1">
            <a:off x="2317750" y="4840288"/>
            <a:ext cx="309563" cy="190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484393" name="Text Box 41"/>
          <p:cNvSpPr txBox="1">
            <a:spLocks noChangeArrowheads="1"/>
          </p:cNvSpPr>
          <p:nvPr/>
        </p:nvSpPr>
        <p:spPr bwMode="auto">
          <a:xfrm>
            <a:off x="2727325" y="4878388"/>
            <a:ext cx="2132013" cy="45402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Nodes that lead to maximum gain</a:t>
            </a:r>
            <a:endParaRPr lang="en-US" altLang="zh-CN" sz="1300">
              <a:ea typeface="宋体" panose="02010600030101010101" pitchFamily="2" charset="-122"/>
            </a:endParaRPr>
          </a:p>
        </p:txBody>
      </p:sp>
      <p:sp>
        <p:nvSpPr>
          <p:cNvPr id="19495" name="Rectangle 42"/>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84391"/>
                                        </p:tgtEl>
                                        <p:attrNameLst>
                                          <p:attrName>style.visibility</p:attrName>
                                        </p:attrNameLst>
                                      </p:cBhvr>
                                      <p:to>
                                        <p:strVal val="visible"/>
                                      </p:to>
                                    </p:set>
                                    <p:animEffect transition="in" filter="dissolve">
                                      <p:cBhvr>
                                        <p:cTn id="7" dur="500"/>
                                        <p:tgtEl>
                                          <p:spTgt spid="484391"/>
                                        </p:tgtEl>
                                      </p:cBhvr>
                                    </p:animEffect>
                                  </p:childTnLst>
                                </p:cTn>
                              </p:par>
                              <p:par>
                                <p:cTn id="8" presetID="9" presetClass="entr" presetSubtype="0" fill="hold" nodeType="withEffect">
                                  <p:stCondLst>
                                    <p:cond delay="0"/>
                                  </p:stCondLst>
                                  <p:childTnLst>
                                    <p:set>
                                      <p:cBhvr>
                                        <p:cTn id="9" dur="1" fill="hold">
                                          <p:stCondLst>
                                            <p:cond delay="0"/>
                                          </p:stCondLst>
                                        </p:cTn>
                                        <p:tgtEl>
                                          <p:spTgt spid="484392"/>
                                        </p:tgtEl>
                                        <p:attrNameLst>
                                          <p:attrName>style.visibility</p:attrName>
                                        </p:attrNameLst>
                                      </p:cBhvr>
                                      <p:to>
                                        <p:strVal val="visible"/>
                                      </p:to>
                                    </p:set>
                                    <p:animEffect transition="in" filter="dissolve">
                                      <p:cBhvr>
                                        <p:cTn id="10" dur="500"/>
                                        <p:tgtEl>
                                          <p:spTgt spid="484392"/>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84393"/>
                                        </p:tgtEl>
                                        <p:attrNameLst>
                                          <p:attrName>style.visibility</p:attrName>
                                        </p:attrNameLst>
                                      </p:cBhvr>
                                      <p:to>
                                        <p:strVal val="visible"/>
                                      </p:to>
                                    </p:set>
                                    <p:animEffect transition="in" filter="dissolve">
                                      <p:cBhvr>
                                        <p:cTn id="13" dur="500"/>
                                        <p:tgtEl>
                                          <p:spTgt spid="484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439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1FCF4918-CA38-4F7D-ADF4-4B4B88987D81}" type="slidenum">
              <a:rPr lang="en-US" altLang="de-DE" sz="1000">
                <a:solidFill>
                  <a:srgbClr val="C0C0C0"/>
                </a:solidFill>
              </a:rPr>
              <a:pPr/>
              <a:t>19</a:t>
            </a:fld>
            <a:endParaRPr lang="en-US" altLang="de-DE" sz="1000">
              <a:solidFill>
                <a:srgbClr val="C0C0C0"/>
              </a:solidFill>
            </a:endParaRPr>
          </a:p>
        </p:txBody>
      </p:sp>
      <p:sp>
        <p:nvSpPr>
          <p:cNvPr id="20483" name="Line 3"/>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84" name="Line 4"/>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85" name="Line 5"/>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86" name="Line 6"/>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87" name="Line 7"/>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88" name="Line 8"/>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89" name="Line 9"/>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0" name="Line 10"/>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1" name="Line 11"/>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2" name="Line 12"/>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3" name="Line 13"/>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4" name="Line 14"/>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5" name="Line 15"/>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496" name="Oval 16"/>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497" name="Rectangle 17"/>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0498" name="Oval 18"/>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499" name="Rectangle 19"/>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0500" name="Oval 20"/>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501" name="Rectangle 21"/>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0502" name="Oval 22"/>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503" name="Rectangle 23"/>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0504" name="Oval 24"/>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505" name="Rectangle 25"/>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0506" name="Oval 26"/>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507" name="Rectangle 27"/>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0508" name="Oval 28"/>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509" name="Rectangle 29"/>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0510" name="Oval 30"/>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0511" name="Rectangle 31"/>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0512"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20513" name="Line 33"/>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0514" name="Text Box 34"/>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0515" name="Line 35"/>
          <p:cNvSpPr>
            <a:spLocks noChangeShapeType="1"/>
          </p:cNvSpPr>
          <p:nvPr/>
        </p:nvSpPr>
        <p:spPr bwMode="auto">
          <a:xfrm flipH="1" flipV="1">
            <a:off x="1416050" y="5167313"/>
            <a:ext cx="1181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0516" name="Line 36"/>
          <p:cNvSpPr>
            <a:spLocks noChangeShapeType="1"/>
          </p:cNvSpPr>
          <p:nvPr/>
        </p:nvSpPr>
        <p:spPr bwMode="auto">
          <a:xfrm flipH="1" flipV="1">
            <a:off x="2317750" y="4840288"/>
            <a:ext cx="309563" cy="190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0517" name="Text Box 37"/>
          <p:cNvSpPr txBox="1">
            <a:spLocks noChangeArrowheads="1"/>
          </p:cNvSpPr>
          <p:nvPr/>
        </p:nvSpPr>
        <p:spPr bwMode="auto">
          <a:xfrm>
            <a:off x="2727325" y="4878388"/>
            <a:ext cx="2205038" cy="45402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Nodes that lead to maximum gain</a:t>
            </a:r>
            <a:endParaRPr lang="en-US" altLang="zh-CN" sz="1300">
              <a:ea typeface="宋体" panose="02010600030101010101" pitchFamily="2" charset="-122"/>
            </a:endParaRPr>
          </a:p>
        </p:txBody>
      </p:sp>
      <p:sp>
        <p:nvSpPr>
          <p:cNvPr id="20518" name="Text Box 39"/>
          <p:cNvSpPr txBox="1">
            <a:spLocks noChangeArrowheads="1"/>
          </p:cNvSpPr>
          <p:nvPr/>
        </p:nvSpPr>
        <p:spPr bwMode="auto">
          <a:xfrm>
            <a:off x="2627313" y="5992813"/>
            <a:ext cx="2736850" cy="255587"/>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in the current pass</a:t>
            </a:r>
            <a:endParaRPr lang="en-US" altLang="zh-CN" sz="1300">
              <a:ea typeface="宋体" panose="02010600030101010101" pitchFamily="2" charset="-122"/>
            </a:endParaRPr>
          </a:p>
        </p:txBody>
      </p:sp>
      <p:sp>
        <p:nvSpPr>
          <p:cNvPr id="20519" name="Line 40"/>
          <p:cNvSpPr>
            <a:spLocks noChangeShapeType="1"/>
          </p:cNvSpPr>
          <p:nvPr/>
        </p:nvSpPr>
        <p:spPr bwMode="auto">
          <a:xfrm flipH="1">
            <a:off x="2006600" y="5753100"/>
            <a:ext cx="5905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0520" name="Line 41"/>
          <p:cNvSpPr>
            <a:spLocks noChangeShapeType="1"/>
          </p:cNvSpPr>
          <p:nvPr/>
        </p:nvSpPr>
        <p:spPr bwMode="auto">
          <a:xfrm flipH="1">
            <a:off x="1793875" y="6135688"/>
            <a:ext cx="8032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0521" name="Text Box 42"/>
          <p:cNvSpPr txBox="1">
            <a:spLocks noChangeArrowheads="1"/>
          </p:cNvSpPr>
          <p:nvPr/>
        </p:nvSpPr>
        <p:spPr bwMode="auto">
          <a:xfrm>
            <a:off x="455613" y="4267200"/>
            <a:ext cx="2205037" cy="366713"/>
          </a:xfrm>
          <a:prstGeom prst="rect">
            <a:avLst/>
          </a:prstGeom>
          <a:solidFill>
            <a:srgbClr val="CCCCFF"/>
          </a:solidFill>
          <a:ln w="9525" algn="ctr">
            <a:solidFill>
              <a:srgbClr val="CC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sz="1300"/>
              <a:t>Costs </a:t>
            </a:r>
            <a:r>
              <a:rPr lang="de-DE" altLang="de-DE" sz="1300" i="1"/>
              <a:t>D</a:t>
            </a:r>
            <a:r>
              <a:rPr lang="de-DE" altLang="de-DE" sz="1300"/>
              <a:t>(</a:t>
            </a:r>
            <a:r>
              <a:rPr lang="de-DE" altLang="de-DE" sz="1300" i="1"/>
              <a:t>v</a:t>
            </a:r>
            <a:r>
              <a:rPr lang="de-DE" altLang="de-DE" sz="1300"/>
              <a:t>) of each node:</a:t>
            </a:r>
            <a:endParaRPr lang="en-US" altLang="zh-CN" sz="1300">
              <a:ea typeface="宋体" panose="02010600030101010101" pitchFamily="2" charset="-122"/>
            </a:endParaRPr>
          </a:p>
        </p:txBody>
      </p:sp>
      <p:sp>
        <p:nvSpPr>
          <p:cNvPr id="20522" name="Text Box 38"/>
          <p:cNvSpPr txBox="1">
            <a:spLocks noChangeArrowheads="1"/>
          </p:cNvSpPr>
          <p:nvPr/>
        </p:nvSpPr>
        <p:spPr bwMode="auto">
          <a:xfrm>
            <a:off x="2619375" y="5616575"/>
            <a:ext cx="2744788" cy="255588"/>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after node swapping</a:t>
            </a:r>
            <a:endParaRPr lang="en-US" altLang="zh-CN" sz="1300">
              <a:ea typeface="宋体" panose="02010600030101010101" pitchFamily="2" charset="-122"/>
            </a:endParaRPr>
          </a:p>
        </p:txBody>
      </p:sp>
      <p:sp>
        <p:nvSpPr>
          <p:cNvPr id="20523" name="Rectangle 43"/>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309A3689-3EC0-4BC4-9D41-03DCE52A602E}" type="slidenum">
              <a:rPr lang="en-US" altLang="de-DE" sz="1000">
                <a:solidFill>
                  <a:srgbClr val="C0C0C0"/>
                </a:solidFill>
              </a:rPr>
              <a:pPr/>
              <a:t>20</a:t>
            </a:fld>
            <a:endParaRPr lang="en-US" altLang="de-DE" sz="1000">
              <a:solidFill>
                <a:srgbClr val="C0C0C0"/>
              </a:solidFill>
            </a:endParaRPr>
          </a:p>
        </p:txBody>
      </p:sp>
      <p:sp>
        <p:nvSpPr>
          <p:cNvPr id="21507"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21508" name="Line 33"/>
          <p:cNvSpPr>
            <a:spLocks noChangeAspect="1" noChangeShapeType="1"/>
          </p:cNvSpPr>
          <p:nvPr/>
        </p:nvSpPr>
        <p:spPr bwMode="auto">
          <a:xfrm>
            <a:off x="3000375"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09" name="Line 34"/>
          <p:cNvSpPr>
            <a:spLocks noChangeAspect="1" noChangeShapeType="1"/>
          </p:cNvSpPr>
          <p:nvPr/>
        </p:nvSpPr>
        <p:spPr bwMode="auto">
          <a:xfrm>
            <a:off x="3005138"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0" name="Line 35"/>
          <p:cNvSpPr>
            <a:spLocks noChangeAspect="1" noChangeShapeType="1"/>
          </p:cNvSpPr>
          <p:nvPr/>
        </p:nvSpPr>
        <p:spPr bwMode="auto">
          <a:xfrm>
            <a:off x="2370138"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1" name="Line 36"/>
          <p:cNvSpPr>
            <a:spLocks noChangeAspect="1" noChangeShapeType="1"/>
          </p:cNvSpPr>
          <p:nvPr/>
        </p:nvSpPr>
        <p:spPr bwMode="auto">
          <a:xfrm>
            <a:off x="2370138"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2" name="Line 37"/>
          <p:cNvSpPr>
            <a:spLocks noChangeAspect="1" noChangeShapeType="1"/>
          </p:cNvSpPr>
          <p:nvPr/>
        </p:nvSpPr>
        <p:spPr bwMode="auto">
          <a:xfrm flipH="1">
            <a:off x="2414588" y="1701800"/>
            <a:ext cx="576262"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3" name="Line 38"/>
          <p:cNvSpPr>
            <a:spLocks noChangeAspect="1" noChangeShapeType="1"/>
          </p:cNvSpPr>
          <p:nvPr/>
        </p:nvSpPr>
        <p:spPr bwMode="auto">
          <a:xfrm flipH="1">
            <a:off x="2401888"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4" name="Line 39"/>
          <p:cNvSpPr>
            <a:spLocks noChangeAspect="1" noChangeShapeType="1"/>
          </p:cNvSpPr>
          <p:nvPr/>
        </p:nvSpPr>
        <p:spPr bwMode="auto">
          <a:xfrm flipH="1">
            <a:off x="2390775"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5" name="Line 40"/>
          <p:cNvSpPr>
            <a:spLocks noChangeAspect="1" noChangeShapeType="1"/>
          </p:cNvSpPr>
          <p:nvPr/>
        </p:nvSpPr>
        <p:spPr bwMode="auto">
          <a:xfrm>
            <a:off x="2305050" y="2203450"/>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6" name="Line 41"/>
          <p:cNvSpPr>
            <a:spLocks noChangeAspect="1" noChangeShapeType="1"/>
          </p:cNvSpPr>
          <p:nvPr/>
        </p:nvSpPr>
        <p:spPr bwMode="auto">
          <a:xfrm>
            <a:off x="2373313"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7" name="Line 42"/>
          <p:cNvSpPr>
            <a:spLocks noChangeAspect="1" noChangeShapeType="1"/>
          </p:cNvSpPr>
          <p:nvPr/>
        </p:nvSpPr>
        <p:spPr bwMode="auto">
          <a:xfrm>
            <a:off x="2432050"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8" name="Line 43"/>
          <p:cNvSpPr>
            <a:spLocks noChangeAspect="1" noChangeShapeType="1"/>
          </p:cNvSpPr>
          <p:nvPr/>
        </p:nvSpPr>
        <p:spPr bwMode="auto">
          <a:xfrm>
            <a:off x="2401888"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19" name="Line 44"/>
          <p:cNvSpPr>
            <a:spLocks noChangeAspect="1" noChangeShapeType="1"/>
          </p:cNvSpPr>
          <p:nvPr/>
        </p:nvSpPr>
        <p:spPr bwMode="auto">
          <a:xfrm>
            <a:off x="2406650"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20" name="Line 45"/>
          <p:cNvSpPr>
            <a:spLocks noChangeAspect="1" noChangeShapeType="1"/>
          </p:cNvSpPr>
          <p:nvPr/>
        </p:nvSpPr>
        <p:spPr bwMode="auto">
          <a:xfrm>
            <a:off x="2414588" y="1162050"/>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21" name="Oval 46"/>
          <p:cNvSpPr>
            <a:spLocks noChangeAspect="1" noChangeArrowheads="1"/>
          </p:cNvSpPr>
          <p:nvPr/>
        </p:nvSpPr>
        <p:spPr bwMode="auto">
          <a:xfrm>
            <a:off x="2198688"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22" name="Rectangle 47"/>
          <p:cNvSpPr>
            <a:spLocks noChangeAspect="1" noChangeArrowheads="1"/>
          </p:cNvSpPr>
          <p:nvPr/>
        </p:nvSpPr>
        <p:spPr bwMode="auto">
          <a:xfrm>
            <a:off x="2228850" y="1570038"/>
            <a:ext cx="260350"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1523" name="Oval 48"/>
          <p:cNvSpPr>
            <a:spLocks noChangeAspect="1" noChangeArrowheads="1"/>
          </p:cNvSpPr>
          <p:nvPr/>
        </p:nvSpPr>
        <p:spPr bwMode="auto">
          <a:xfrm>
            <a:off x="28352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21524" name="Rectangle 49"/>
          <p:cNvSpPr>
            <a:spLocks noChangeAspect="1" noChangeArrowheads="1"/>
          </p:cNvSpPr>
          <p:nvPr/>
        </p:nvSpPr>
        <p:spPr bwMode="auto">
          <a:xfrm>
            <a:off x="2867025" y="1033463"/>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1525" name="Oval 50"/>
          <p:cNvSpPr>
            <a:spLocks noChangeAspect="1" noChangeArrowheads="1"/>
          </p:cNvSpPr>
          <p:nvPr/>
        </p:nvSpPr>
        <p:spPr bwMode="auto">
          <a:xfrm>
            <a:off x="2849563" y="1544638"/>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26" name="Rectangle 51"/>
          <p:cNvSpPr>
            <a:spLocks noChangeAspect="1" noChangeArrowheads="1"/>
          </p:cNvSpPr>
          <p:nvPr/>
        </p:nvSpPr>
        <p:spPr bwMode="auto">
          <a:xfrm>
            <a:off x="2867025"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1527" name="Oval 52"/>
          <p:cNvSpPr>
            <a:spLocks noChangeAspect="1" noChangeArrowheads="1"/>
          </p:cNvSpPr>
          <p:nvPr/>
        </p:nvSpPr>
        <p:spPr bwMode="auto">
          <a:xfrm>
            <a:off x="21986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28" name="Rectangle 53"/>
          <p:cNvSpPr>
            <a:spLocks noChangeAspect="1" noChangeArrowheads="1"/>
          </p:cNvSpPr>
          <p:nvPr/>
        </p:nvSpPr>
        <p:spPr bwMode="auto">
          <a:xfrm>
            <a:off x="2235200"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1529" name="Oval 54"/>
          <p:cNvSpPr>
            <a:spLocks noChangeAspect="1" noChangeArrowheads="1"/>
          </p:cNvSpPr>
          <p:nvPr/>
        </p:nvSpPr>
        <p:spPr bwMode="auto">
          <a:xfrm>
            <a:off x="22129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30" name="Rectangle 55"/>
          <p:cNvSpPr>
            <a:spLocks noChangeAspect="1" noChangeArrowheads="1"/>
          </p:cNvSpPr>
          <p:nvPr/>
        </p:nvSpPr>
        <p:spPr bwMode="auto">
          <a:xfrm>
            <a:off x="2241550" y="1036638"/>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1531" name="Oval 56"/>
          <p:cNvSpPr>
            <a:spLocks noChangeAspect="1" noChangeArrowheads="1"/>
          </p:cNvSpPr>
          <p:nvPr/>
        </p:nvSpPr>
        <p:spPr bwMode="auto">
          <a:xfrm>
            <a:off x="2198688" y="2630488"/>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32" name="Rectangle 57"/>
          <p:cNvSpPr>
            <a:spLocks noChangeAspect="1" noChangeArrowheads="1"/>
          </p:cNvSpPr>
          <p:nvPr/>
        </p:nvSpPr>
        <p:spPr bwMode="auto">
          <a:xfrm>
            <a:off x="2230438"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1533" name="Oval 58"/>
          <p:cNvSpPr>
            <a:spLocks noChangeAspect="1" noChangeArrowheads="1"/>
          </p:cNvSpPr>
          <p:nvPr/>
        </p:nvSpPr>
        <p:spPr bwMode="auto">
          <a:xfrm>
            <a:off x="283527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34" name="Rectangle 59"/>
          <p:cNvSpPr>
            <a:spLocks noChangeAspect="1" noChangeArrowheads="1"/>
          </p:cNvSpPr>
          <p:nvPr/>
        </p:nvSpPr>
        <p:spPr bwMode="auto">
          <a:xfrm>
            <a:off x="2867025" y="2119313"/>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1535" name="Oval 60"/>
          <p:cNvSpPr>
            <a:spLocks noChangeAspect="1" noChangeArrowheads="1"/>
          </p:cNvSpPr>
          <p:nvPr/>
        </p:nvSpPr>
        <p:spPr bwMode="auto">
          <a:xfrm>
            <a:off x="284956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36" name="Rectangle 61"/>
          <p:cNvSpPr>
            <a:spLocks noChangeAspect="1" noChangeArrowheads="1"/>
          </p:cNvSpPr>
          <p:nvPr/>
        </p:nvSpPr>
        <p:spPr bwMode="auto">
          <a:xfrm>
            <a:off x="2884488"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1537" name="Freeform 63"/>
          <p:cNvSpPr>
            <a:spLocks noChangeAspect="1"/>
          </p:cNvSpPr>
          <p:nvPr/>
        </p:nvSpPr>
        <p:spPr bwMode="auto">
          <a:xfrm>
            <a:off x="1936750" y="1381125"/>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38" name="AutoShape 64"/>
          <p:cNvSpPr>
            <a:spLocks noChangeAspect="1" noChangeArrowheads="1"/>
          </p:cNvSpPr>
          <p:nvPr/>
        </p:nvSpPr>
        <p:spPr bwMode="auto">
          <a:xfrm>
            <a:off x="68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39" name="Text Box 65"/>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1540" name="Line 75"/>
          <p:cNvSpPr>
            <a:spLocks noChangeShapeType="1"/>
          </p:cNvSpPr>
          <p:nvPr/>
        </p:nvSpPr>
        <p:spPr bwMode="auto">
          <a:xfrm flipH="1" flipV="1">
            <a:off x="1416050" y="5167313"/>
            <a:ext cx="1181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1541" name="Line 76"/>
          <p:cNvSpPr>
            <a:spLocks noChangeShapeType="1"/>
          </p:cNvSpPr>
          <p:nvPr/>
        </p:nvSpPr>
        <p:spPr bwMode="auto">
          <a:xfrm flipH="1" flipV="1">
            <a:off x="2317750" y="4840288"/>
            <a:ext cx="309563" cy="190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1542" name="Text Box 77"/>
          <p:cNvSpPr txBox="1">
            <a:spLocks noChangeArrowheads="1"/>
          </p:cNvSpPr>
          <p:nvPr/>
        </p:nvSpPr>
        <p:spPr bwMode="auto">
          <a:xfrm>
            <a:off x="2727325" y="4878388"/>
            <a:ext cx="2205038" cy="45402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Nodes that lead to maximum gain</a:t>
            </a:r>
            <a:endParaRPr lang="en-US" altLang="zh-CN" sz="1300">
              <a:ea typeface="宋体" panose="02010600030101010101" pitchFamily="2" charset="-122"/>
            </a:endParaRPr>
          </a:p>
        </p:txBody>
      </p:sp>
      <p:sp>
        <p:nvSpPr>
          <p:cNvPr id="21543" name="Text Box 78"/>
          <p:cNvSpPr txBox="1">
            <a:spLocks noChangeArrowheads="1"/>
          </p:cNvSpPr>
          <p:nvPr/>
        </p:nvSpPr>
        <p:spPr bwMode="auto">
          <a:xfrm>
            <a:off x="2627313" y="5992813"/>
            <a:ext cx="2736850" cy="255587"/>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in the current pass</a:t>
            </a:r>
            <a:endParaRPr lang="en-US" altLang="zh-CN" sz="1300">
              <a:ea typeface="宋体" panose="02010600030101010101" pitchFamily="2" charset="-122"/>
            </a:endParaRPr>
          </a:p>
        </p:txBody>
      </p:sp>
      <p:sp>
        <p:nvSpPr>
          <p:cNvPr id="21544" name="Line 79"/>
          <p:cNvSpPr>
            <a:spLocks noChangeShapeType="1"/>
          </p:cNvSpPr>
          <p:nvPr/>
        </p:nvSpPr>
        <p:spPr bwMode="auto">
          <a:xfrm flipH="1">
            <a:off x="2006600" y="5753100"/>
            <a:ext cx="5905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1545" name="Line 80"/>
          <p:cNvSpPr>
            <a:spLocks noChangeShapeType="1"/>
          </p:cNvSpPr>
          <p:nvPr/>
        </p:nvSpPr>
        <p:spPr bwMode="auto">
          <a:xfrm flipH="1">
            <a:off x="1793875" y="6135688"/>
            <a:ext cx="80327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1546" name="Text Box 81"/>
          <p:cNvSpPr txBox="1">
            <a:spLocks noChangeArrowheads="1"/>
          </p:cNvSpPr>
          <p:nvPr/>
        </p:nvSpPr>
        <p:spPr bwMode="auto">
          <a:xfrm>
            <a:off x="2619375" y="5616575"/>
            <a:ext cx="2744788" cy="255588"/>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after node swapping</a:t>
            </a:r>
            <a:endParaRPr lang="en-US" altLang="zh-CN" sz="1300">
              <a:ea typeface="宋体" panose="02010600030101010101" pitchFamily="2" charset="-122"/>
            </a:endParaRPr>
          </a:p>
        </p:txBody>
      </p:sp>
      <p:sp>
        <p:nvSpPr>
          <p:cNvPr id="21547" name="Rectangle 82"/>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21548" name="Line 83"/>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49" name="Line 84"/>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0" name="Line 85"/>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1" name="Line 86"/>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2" name="Line 87"/>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3" name="Line 88"/>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4" name="Line 89"/>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5" name="Line 90"/>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6" name="Line 91"/>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7" name="Line 92"/>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8" name="Line 93"/>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59" name="Line 94"/>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60" name="Line 95"/>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1561" name="Oval 96"/>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62" name="Rectangle 97"/>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1563" name="Oval 98"/>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64" name="Rectangle 99"/>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1565" name="Oval 100"/>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66" name="Rectangle 101"/>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1567" name="Oval 102"/>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68" name="Rectangle 103"/>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1569" name="Oval 104"/>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70" name="Rectangle 105"/>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1571" name="Oval 106"/>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72" name="Rectangle 107"/>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1573" name="Oval 108"/>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74" name="Rectangle 109"/>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1575" name="Oval 110"/>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1576" name="Rectangle 111"/>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1577" name="Line 112"/>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78A4F128-FDC2-4167-A2D9-603DE53BA7F2}" type="slidenum">
              <a:rPr lang="en-US" altLang="de-DE" sz="1000">
                <a:solidFill>
                  <a:srgbClr val="C0C0C0"/>
                </a:solidFill>
              </a:rPr>
              <a:pPr/>
              <a:t>21</a:t>
            </a:fld>
            <a:endParaRPr lang="en-US" altLang="de-DE" sz="1000">
              <a:solidFill>
                <a:srgbClr val="C0C0C0"/>
              </a:solidFill>
            </a:endParaRPr>
          </a:p>
        </p:txBody>
      </p:sp>
      <p:sp>
        <p:nvSpPr>
          <p:cNvPr id="22531"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22532" name="Text Box 62"/>
          <p:cNvSpPr txBox="1">
            <a:spLocks noChangeAspect="1" noChangeArrowheads="1"/>
          </p:cNvSpPr>
          <p:nvPr/>
        </p:nvSpPr>
        <p:spPr bwMode="auto">
          <a:xfrm>
            <a:off x="21828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6</a:t>
            </a:r>
          </a:p>
          <a:p>
            <a:pPr algn="l" eaLnBrk="1" hangingPunct="1">
              <a:lnSpc>
                <a:spcPct val="100000"/>
              </a:lnSpc>
            </a:pPr>
            <a:r>
              <a:rPr lang="de-DE" altLang="de-DE" sz="1300"/>
              <a:t>Not fixed: </a:t>
            </a:r>
            <a:br>
              <a:rPr lang="de-DE" altLang="de-DE" sz="1300"/>
            </a:br>
            <a:r>
              <a:rPr lang="de-DE" altLang="de-DE" sz="1300"/>
              <a:t>1,2,4,6,7,8</a:t>
            </a:r>
            <a:endParaRPr lang="en-US" altLang="zh-CN" sz="1300">
              <a:ea typeface="宋体" panose="02010600030101010101" pitchFamily="2" charset="-122"/>
            </a:endParaRPr>
          </a:p>
        </p:txBody>
      </p:sp>
      <p:sp>
        <p:nvSpPr>
          <p:cNvPr id="22533" name="AutoShape 65"/>
          <p:cNvSpPr>
            <a:spLocks noChangeAspect="1" noChangeArrowheads="1"/>
          </p:cNvSpPr>
          <p:nvPr/>
        </p:nvSpPr>
        <p:spPr bwMode="auto">
          <a:xfrm>
            <a:off x="68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34" name="Text Box 66"/>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2535" name="Rectangle 67"/>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22536" name="Line 68"/>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37" name="Line 69"/>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38" name="Line 70"/>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39" name="Line 71"/>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0" name="Line 72"/>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1" name="Line 73"/>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2" name="Line 74"/>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3" name="Line 75"/>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4" name="Line 76"/>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5" name="Line 77"/>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6" name="Line 78"/>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7" name="Line 79"/>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8" name="Line 80"/>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49" name="Oval 81"/>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50" name="Rectangle 82"/>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2551" name="Oval 83"/>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52" name="Rectangle 84"/>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2553" name="Oval 85"/>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54" name="Rectangle 86"/>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2555" name="Oval 87"/>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56" name="Rectangle 88"/>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2557" name="Oval 89"/>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58" name="Rectangle 90"/>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2559" name="Oval 91"/>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60" name="Rectangle 92"/>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2561" name="Oval 93"/>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62" name="Rectangle 94"/>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2563" name="Oval 95"/>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64" name="Rectangle 96"/>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2565" name="Line 97"/>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66" name="Line 98"/>
          <p:cNvSpPr>
            <a:spLocks noChangeAspect="1" noChangeShapeType="1"/>
          </p:cNvSpPr>
          <p:nvPr/>
        </p:nvSpPr>
        <p:spPr bwMode="auto">
          <a:xfrm>
            <a:off x="3000375"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67" name="Line 99"/>
          <p:cNvSpPr>
            <a:spLocks noChangeAspect="1" noChangeShapeType="1"/>
          </p:cNvSpPr>
          <p:nvPr/>
        </p:nvSpPr>
        <p:spPr bwMode="auto">
          <a:xfrm>
            <a:off x="3005138"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68" name="Line 100"/>
          <p:cNvSpPr>
            <a:spLocks noChangeAspect="1" noChangeShapeType="1"/>
          </p:cNvSpPr>
          <p:nvPr/>
        </p:nvSpPr>
        <p:spPr bwMode="auto">
          <a:xfrm>
            <a:off x="2370138"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69" name="Line 101"/>
          <p:cNvSpPr>
            <a:spLocks noChangeAspect="1" noChangeShapeType="1"/>
          </p:cNvSpPr>
          <p:nvPr/>
        </p:nvSpPr>
        <p:spPr bwMode="auto">
          <a:xfrm>
            <a:off x="2370138"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0" name="Line 102"/>
          <p:cNvSpPr>
            <a:spLocks noChangeAspect="1" noChangeShapeType="1"/>
          </p:cNvSpPr>
          <p:nvPr/>
        </p:nvSpPr>
        <p:spPr bwMode="auto">
          <a:xfrm flipH="1">
            <a:off x="2414588" y="1701800"/>
            <a:ext cx="576262"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1" name="Line 103"/>
          <p:cNvSpPr>
            <a:spLocks noChangeAspect="1" noChangeShapeType="1"/>
          </p:cNvSpPr>
          <p:nvPr/>
        </p:nvSpPr>
        <p:spPr bwMode="auto">
          <a:xfrm flipH="1">
            <a:off x="2401888"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2" name="Line 104"/>
          <p:cNvSpPr>
            <a:spLocks noChangeAspect="1" noChangeShapeType="1"/>
          </p:cNvSpPr>
          <p:nvPr/>
        </p:nvSpPr>
        <p:spPr bwMode="auto">
          <a:xfrm flipH="1">
            <a:off x="2390775"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3" name="Line 105"/>
          <p:cNvSpPr>
            <a:spLocks noChangeAspect="1" noChangeShapeType="1"/>
          </p:cNvSpPr>
          <p:nvPr/>
        </p:nvSpPr>
        <p:spPr bwMode="auto">
          <a:xfrm>
            <a:off x="2305050" y="2203450"/>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4" name="Line 106"/>
          <p:cNvSpPr>
            <a:spLocks noChangeAspect="1" noChangeShapeType="1"/>
          </p:cNvSpPr>
          <p:nvPr/>
        </p:nvSpPr>
        <p:spPr bwMode="auto">
          <a:xfrm>
            <a:off x="2373313"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5" name="Line 107"/>
          <p:cNvSpPr>
            <a:spLocks noChangeAspect="1" noChangeShapeType="1"/>
          </p:cNvSpPr>
          <p:nvPr/>
        </p:nvSpPr>
        <p:spPr bwMode="auto">
          <a:xfrm>
            <a:off x="2432050"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6" name="Line 108"/>
          <p:cNvSpPr>
            <a:spLocks noChangeAspect="1" noChangeShapeType="1"/>
          </p:cNvSpPr>
          <p:nvPr/>
        </p:nvSpPr>
        <p:spPr bwMode="auto">
          <a:xfrm>
            <a:off x="2401888"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7" name="Line 109"/>
          <p:cNvSpPr>
            <a:spLocks noChangeAspect="1" noChangeShapeType="1"/>
          </p:cNvSpPr>
          <p:nvPr/>
        </p:nvSpPr>
        <p:spPr bwMode="auto">
          <a:xfrm>
            <a:off x="2406650"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8" name="Line 110"/>
          <p:cNvSpPr>
            <a:spLocks noChangeAspect="1" noChangeShapeType="1"/>
          </p:cNvSpPr>
          <p:nvPr/>
        </p:nvSpPr>
        <p:spPr bwMode="auto">
          <a:xfrm>
            <a:off x="2414588" y="1162050"/>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2579" name="Oval 111"/>
          <p:cNvSpPr>
            <a:spLocks noChangeAspect="1" noChangeArrowheads="1"/>
          </p:cNvSpPr>
          <p:nvPr/>
        </p:nvSpPr>
        <p:spPr bwMode="auto">
          <a:xfrm>
            <a:off x="2198688"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80" name="Rectangle 112"/>
          <p:cNvSpPr>
            <a:spLocks noChangeAspect="1" noChangeArrowheads="1"/>
          </p:cNvSpPr>
          <p:nvPr/>
        </p:nvSpPr>
        <p:spPr bwMode="auto">
          <a:xfrm>
            <a:off x="2228850" y="1570038"/>
            <a:ext cx="260350"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2581" name="Oval 113"/>
          <p:cNvSpPr>
            <a:spLocks noChangeAspect="1" noChangeArrowheads="1"/>
          </p:cNvSpPr>
          <p:nvPr/>
        </p:nvSpPr>
        <p:spPr bwMode="auto">
          <a:xfrm>
            <a:off x="28352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22582" name="Rectangle 114"/>
          <p:cNvSpPr>
            <a:spLocks noChangeAspect="1" noChangeArrowheads="1"/>
          </p:cNvSpPr>
          <p:nvPr/>
        </p:nvSpPr>
        <p:spPr bwMode="auto">
          <a:xfrm>
            <a:off x="2867025" y="1033463"/>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2583" name="Oval 115"/>
          <p:cNvSpPr>
            <a:spLocks noChangeAspect="1" noChangeArrowheads="1"/>
          </p:cNvSpPr>
          <p:nvPr/>
        </p:nvSpPr>
        <p:spPr bwMode="auto">
          <a:xfrm>
            <a:off x="2849563" y="1544638"/>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84" name="Rectangle 116"/>
          <p:cNvSpPr>
            <a:spLocks noChangeAspect="1" noChangeArrowheads="1"/>
          </p:cNvSpPr>
          <p:nvPr/>
        </p:nvSpPr>
        <p:spPr bwMode="auto">
          <a:xfrm>
            <a:off x="2867025"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2585" name="Oval 117"/>
          <p:cNvSpPr>
            <a:spLocks noChangeAspect="1" noChangeArrowheads="1"/>
          </p:cNvSpPr>
          <p:nvPr/>
        </p:nvSpPr>
        <p:spPr bwMode="auto">
          <a:xfrm>
            <a:off x="21986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86" name="Rectangle 118"/>
          <p:cNvSpPr>
            <a:spLocks noChangeAspect="1" noChangeArrowheads="1"/>
          </p:cNvSpPr>
          <p:nvPr/>
        </p:nvSpPr>
        <p:spPr bwMode="auto">
          <a:xfrm>
            <a:off x="2235200"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2587" name="Oval 119"/>
          <p:cNvSpPr>
            <a:spLocks noChangeAspect="1" noChangeArrowheads="1"/>
          </p:cNvSpPr>
          <p:nvPr/>
        </p:nvSpPr>
        <p:spPr bwMode="auto">
          <a:xfrm>
            <a:off x="22129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88" name="Rectangle 120"/>
          <p:cNvSpPr>
            <a:spLocks noChangeAspect="1" noChangeArrowheads="1"/>
          </p:cNvSpPr>
          <p:nvPr/>
        </p:nvSpPr>
        <p:spPr bwMode="auto">
          <a:xfrm>
            <a:off x="2241550" y="1036638"/>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2589" name="Oval 121"/>
          <p:cNvSpPr>
            <a:spLocks noChangeAspect="1" noChangeArrowheads="1"/>
          </p:cNvSpPr>
          <p:nvPr/>
        </p:nvSpPr>
        <p:spPr bwMode="auto">
          <a:xfrm>
            <a:off x="2198688" y="2630488"/>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90" name="Rectangle 122"/>
          <p:cNvSpPr>
            <a:spLocks noChangeAspect="1" noChangeArrowheads="1"/>
          </p:cNvSpPr>
          <p:nvPr/>
        </p:nvSpPr>
        <p:spPr bwMode="auto">
          <a:xfrm>
            <a:off x="2230438"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2591" name="Oval 123"/>
          <p:cNvSpPr>
            <a:spLocks noChangeAspect="1" noChangeArrowheads="1"/>
          </p:cNvSpPr>
          <p:nvPr/>
        </p:nvSpPr>
        <p:spPr bwMode="auto">
          <a:xfrm>
            <a:off x="283527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92" name="Rectangle 124"/>
          <p:cNvSpPr>
            <a:spLocks noChangeAspect="1" noChangeArrowheads="1"/>
          </p:cNvSpPr>
          <p:nvPr/>
        </p:nvSpPr>
        <p:spPr bwMode="auto">
          <a:xfrm>
            <a:off x="2867025" y="2119313"/>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2593" name="Oval 125"/>
          <p:cNvSpPr>
            <a:spLocks noChangeAspect="1" noChangeArrowheads="1"/>
          </p:cNvSpPr>
          <p:nvPr/>
        </p:nvSpPr>
        <p:spPr bwMode="auto">
          <a:xfrm>
            <a:off x="284956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2594" name="Rectangle 126"/>
          <p:cNvSpPr>
            <a:spLocks noChangeAspect="1" noChangeArrowheads="1"/>
          </p:cNvSpPr>
          <p:nvPr/>
        </p:nvSpPr>
        <p:spPr bwMode="auto">
          <a:xfrm>
            <a:off x="2884488"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2595" name="Freeform 127"/>
          <p:cNvSpPr>
            <a:spLocks noChangeAspect="1"/>
          </p:cNvSpPr>
          <p:nvPr/>
        </p:nvSpPr>
        <p:spPr bwMode="auto">
          <a:xfrm>
            <a:off x="1936750" y="1381125"/>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62A11455-72E7-45F4-8146-5C61D31EB0AD}" type="slidenum">
              <a:rPr lang="en-US" altLang="de-DE" sz="1000">
                <a:solidFill>
                  <a:srgbClr val="C0C0C0"/>
                </a:solidFill>
              </a:rPr>
              <a:pPr/>
              <a:t>22</a:t>
            </a:fld>
            <a:endParaRPr lang="en-US" altLang="de-DE" sz="1000">
              <a:solidFill>
                <a:srgbClr val="C0C0C0"/>
              </a:solidFill>
            </a:endParaRPr>
          </a:p>
        </p:txBody>
      </p:sp>
      <p:sp>
        <p:nvSpPr>
          <p:cNvPr id="23555"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23556" name="Text Box 62"/>
          <p:cNvSpPr txBox="1">
            <a:spLocks noChangeAspect="1" noChangeArrowheads="1"/>
          </p:cNvSpPr>
          <p:nvPr/>
        </p:nvSpPr>
        <p:spPr bwMode="auto">
          <a:xfrm>
            <a:off x="21828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6</a:t>
            </a:r>
          </a:p>
          <a:p>
            <a:pPr algn="l" eaLnBrk="1" hangingPunct="1">
              <a:lnSpc>
                <a:spcPct val="100000"/>
              </a:lnSpc>
            </a:pPr>
            <a:r>
              <a:rPr lang="de-DE" altLang="de-DE" sz="1300"/>
              <a:t>Not fixed: </a:t>
            </a:r>
            <a:br>
              <a:rPr lang="de-DE" altLang="de-DE" sz="1300"/>
            </a:br>
            <a:r>
              <a:rPr lang="de-DE" altLang="de-DE" sz="1300"/>
              <a:t>1,2,4,6,7,8</a:t>
            </a:r>
            <a:endParaRPr lang="en-US" altLang="zh-CN" sz="1300">
              <a:ea typeface="宋体" panose="02010600030101010101" pitchFamily="2" charset="-122"/>
            </a:endParaRPr>
          </a:p>
        </p:txBody>
      </p:sp>
      <p:sp>
        <p:nvSpPr>
          <p:cNvPr id="23557" name="AutoShape 95"/>
          <p:cNvSpPr>
            <a:spLocks noChangeAspect="1" noChangeArrowheads="1"/>
          </p:cNvSpPr>
          <p:nvPr/>
        </p:nvSpPr>
        <p:spPr bwMode="auto">
          <a:xfrm>
            <a:off x="68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58" name="Text Box 97"/>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3559" name="Text Box 98"/>
          <p:cNvSpPr txBox="1">
            <a:spLocks noChangeArrowheads="1"/>
          </p:cNvSpPr>
          <p:nvPr/>
        </p:nvSpPr>
        <p:spPr bwMode="auto">
          <a:xfrm>
            <a:off x="2589213" y="4667250"/>
            <a:ext cx="1700212"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endParaRPr lang="en-US" altLang="zh-CN" sz="1300">
              <a:ea typeface="宋体" panose="02010600030101010101" pitchFamily="2" charset="-122"/>
            </a:endParaRPr>
          </a:p>
        </p:txBody>
      </p:sp>
      <p:sp>
        <p:nvSpPr>
          <p:cNvPr id="23560" name="Rectangle 120"/>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23561" name="Line 121"/>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2" name="Line 122"/>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3" name="Line 123"/>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4" name="Line 124"/>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5" name="Line 125"/>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6" name="Line 126"/>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7" name="Line 127"/>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8" name="Line 128"/>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69" name="Line 129"/>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0" name="Line 130"/>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1" name="Line 131"/>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2" name="Line 132"/>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3" name="Line 133"/>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74" name="Oval 134"/>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75" name="Rectangle 135"/>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3576" name="Oval 136"/>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77" name="Rectangle 137"/>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3578" name="Oval 138"/>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79" name="Rectangle 139"/>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3580" name="Oval 140"/>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81" name="Rectangle 141"/>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3582" name="Oval 142"/>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83" name="Rectangle 143"/>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3584" name="Oval 144"/>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85" name="Rectangle 145"/>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3586" name="Oval 146"/>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87" name="Rectangle 147"/>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3588" name="Oval 148"/>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589" name="Rectangle 149"/>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3590" name="Line 150"/>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1" name="Line 151"/>
          <p:cNvSpPr>
            <a:spLocks noChangeAspect="1" noChangeShapeType="1"/>
          </p:cNvSpPr>
          <p:nvPr/>
        </p:nvSpPr>
        <p:spPr bwMode="auto">
          <a:xfrm>
            <a:off x="3000375"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2" name="Line 152"/>
          <p:cNvSpPr>
            <a:spLocks noChangeAspect="1" noChangeShapeType="1"/>
          </p:cNvSpPr>
          <p:nvPr/>
        </p:nvSpPr>
        <p:spPr bwMode="auto">
          <a:xfrm>
            <a:off x="3005138"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3" name="Line 153"/>
          <p:cNvSpPr>
            <a:spLocks noChangeAspect="1" noChangeShapeType="1"/>
          </p:cNvSpPr>
          <p:nvPr/>
        </p:nvSpPr>
        <p:spPr bwMode="auto">
          <a:xfrm>
            <a:off x="2370138"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4" name="Line 154"/>
          <p:cNvSpPr>
            <a:spLocks noChangeAspect="1" noChangeShapeType="1"/>
          </p:cNvSpPr>
          <p:nvPr/>
        </p:nvSpPr>
        <p:spPr bwMode="auto">
          <a:xfrm>
            <a:off x="2370138"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5" name="Line 155"/>
          <p:cNvSpPr>
            <a:spLocks noChangeAspect="1" noChangeShapeType="1"/>
          </p:cNvSpPr>
          <p:nvPr/>
        </p:nvSpPr>
        <p:spPr bwMode="auto">
          <a:xfrm flipH="1">
            <a:off x="2414588" y="1701800"/>
            <a:ext cx="576262"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6" name="Line 156"/>
          <p:cNvSpPr>
            <a:spLocks noChangeAspect="1" noChangeShapeType="1"/>
          </p:cNvSpPr>
          <p:nvPr/>
        </p:nvSpPr>
        <p:spPr bwMode="auto">
          <a:xfrm flipH="1">
            <a:off x="2401888"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7" name="Line 157"/>
          <p:cNvSpPr>
            <a:spLocks noChangeAspect="1" noChangeShapeType="1"/>
          </p:cNvSpPr>
          <p:nvPr/>
        </p:nvSpPr>
        <p:spPr bwMode="auto">
          <a:xfrm flipH="1">
            <a:off x="2390775"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8" name="Line 158"/>
          <p:cNvSpPr>
            <a:spLocks noChangeAspect="1" noChangeShapeType="1"/>
          </p:cNvSpPr>
          <p:nvPr/>
        </p:nvSpPr>
        <p:spPr bwMode="auto">
          <a:xfrm>
            <a:off x="2305050" y="2203450"/>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599" name="Line 159"/>
          <p:cNvSpPr>
            <a:spLocks noChangeAspect="1" noChangeShapeType="1"/>
          </p:cNvSpPr>
          <p:nvPr/>
        </p:nvSpPr>
        <p:spPr bwMode="auto">
          <a:xfrm>
            <a:off x="2373313"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600" name="Line 160"/>
          <p:cNvSpPr>
            <a:spLocks noChangeAspect="1" noChangeShapeType="1"/>
          </p:cNvSpPr>
          <p:nvPr/>
        </p:nvSpPr>
        <p:spPr bwMode="auto">
          <a:xfrm>
            <a:off x="2432050"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601" name="Line 161"/>
          <p:cNvSpPr>
            <a:spLocks noChangeAspect="1" noChangeShapeType="1"/>
          </p:cNvSpPr>
          <p:nvPr/>
        </p:nvSpPr>
        <p:spPr bwMode="auto">
          <a:xfrm>
            <a:off x="2401888"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602" name="Line 162"/>
          <p:cNvSpPr>
            <a:spLocks noChangeAspect="1" noChangeShapeType="1"/>
          </p:cNvSpPr>
          <p:nvPr/>
        </p:nvSpPr>
        <p:spPr bwMode="auto">
          <a:xfrm>
            <a:off x="2406650"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603" name="Line 163"/>
          <p:cNvSpPr>
            <a:spLocks noChangeAspect="1" noChangeShapeType="1"/>
          </p:cNvSpPr>
          <p:nvPr/>
        </p:nvSpPr>
        <p:spPr bwMode="auto">
          <a:xfrm>
            <a:off x="2414588" y="1162050"/>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3604" name="Oval 164"/>
          <p:cNvSpPr>
            <a:spLocks noChangeAspect="1" noChangeArrowheads="1"/>
          </p:cNvSpPr>
          <p:nvPr/>
        </p:nvSpPr>
        <p:spPr bwMode="auto">
          <a:xfrm>
            <a:off x="2198688"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05" name="Rectangle 165"/>
          <p:cNvSpPr>
            <a:spLocks noChangeAspect="1" noChangeArrowheads="1"/>
          </p:cNvSpPr>
          <p:nvPr/>
        </p:nvSpPr>
        <p:spPr bwMode="auto">
          <a:xfrm>
            <a:off x="2228850" y="1570038"/>
            <a:ext cx="260350"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3606" name="Oval 166"/>
          <p:cNvSpPr>
            <a:spLocks noChangeAspect="1" noChangeArrowheads="1"/>
          </p:cNvSpPr>
          <p:nvPr/>
        </p:nvSpPr>
        <p:spPr bwMode="auto">
          <a:xfrm>
            <a:off x="28352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23607" name="Rectangle 167"/>
          <p:cNvSpPr>
            <a:spLocks noChangeAspect="1" noChangeArrowheads="1"/>
          </p:cNvSpPr>
          <p:nvPr/>
        </p:nvSpPr>
        <p:spPr bwMode="auto">
          <a:xfrm>
            <a:off x="2867025" y="1033463"/>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3608" name="Oval 168"/>
          <p:cNvSpPr>
            <a:spLocks noChangeAspect="1" noChangeArrowheads="1"/>
          </p:cNvSpPr>
          <p:nvPr/>
        </p:nvSpPr>
        <p:spPr bwMode="auto">
          <a:xfrm>
            <a:off x="2849563" y="1544638"/>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09" name="Rectangle 169"/>
          <p:cNvSpPr>
            <a:spLocks noChangeAspect="1" noChangeArrowheads="1"/>
          </p:cNvSpPr>
          <p:nvPr/>
        </p:nvSpPr>
        <p:spPr bwMode="auto">
          <a:xfrm>
            <a:off x="2867025"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3610" name="Oval 170"/>
          <p:cNvSpPr>
            <a:spLocks noChangeAspect="1" noChangeArrowheads="1"/>
          </p:cNvSpPr>
          <p:nvPr/>
        </p:nvSpPr>
        <p:spPr bwMode="auto">
          <a:xfrm>
            <a:off x="21986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11" name="Rectangle 171"/>
          <p:cNvSpPr>
            <a:spLocks noChangeAspect="1" noChangeArrowheads="1"/>
          </p:cNvSpPr>
          <p:nvPr/>
        </p:nvSpPr>
        <p:spPr bwMode="auto">
          <a:xfrm>
            <a:off x="2235200"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3612" name="Oval 172"/>
          <p:cNvSpPr>
            <a:spLocks noChangeAspect="1" noChangeArrowheads="1"/>
          </p:cNvSpPr>
          <p:nvPr/>
        </p:nvSpPr>
        <p:spPr bwMode="auto">
          <a:xfrm>
            <a:off x="22129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13" name="Rectangle 173"/>
          <p:cNvSpPr>
            <a:spLocks noChangeAspect="1" noChangeArrowheads="1"/>
          </p:cNvSpPr>
          <p:nvPr/>
        </p:nvSpPr>
        <p:spPr bwMode="auto">
          <a:xfrm>
            <a:off x="2241550" y="1036638"/>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3614" name="Oval 174"/>
          <p:cNvSpPr>
            <a:spLocks noChangeAspect="1" noChangeArrowheads="1"/>
          </p:cNvSpPr>
          <p:nvPr/>
        </p:nvSpPr>
        <p:spPr bwMode="auto">
          <a:xfrm>
            <a:off x="2198688" y="2630488"/>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15" name="Rectangle 175"/>
          <p:cNvSpPr>
            <a:spLocks noChangeAspect="1" noChangeArrowheads="1"/>
          </p:cNvSpPr>
          <p:nvPr/>
        </p:nvSpPr>
        <p:spPr bwMode="auto">
          <a:xfrm>
            <a:off x="2230438"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3616" name="Oval 176"/>
          <p:cNvSpPr>
            <a:spLocks noChangeAspect="1" noChangeArrowheads="1"/>
          </p:cNvSpPr>
          <p:nvPr/>
        </p:nvSpPr>
        <p:spPr bwMode="auto">
          <a:xfrm>
            <a:off x="283527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17" name="Rectangle 177"/>
          <p:cNvSpPr>
            <a:spLocks noChangeAspect="1" noChangeArrowheads="1"/>
          </p:cNvSpPr>
          <p:nvPr/>
        </p:nvSpPr>
        <p:spPr bwMode="auto">
          <a:xfrm>
            <a:off x="2867025" y="2119313"/>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3618" name="Oval 178"/>
          <p:cNvSpPr>
            <a:spLocks noChangeAspect="1" noChangeArrowheads="1"/>
          </p:cNvSpPr>
          <p:nvPr/>
        </p:nvSpPr>
        <p:spPr bwMode="auto">
          <a:xfrm>
            <a:off x="284956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3619" name="Rectangle 179"/>
          <p:cNvSpPr>
            <a:spLocks noChangeAspect="1" noChangeArrowheads="1"/>
          </p:cNvSpPr>
          <p:nvPr/>
        </p:nvSpPr>
        <p:spPr bwMode="auto">
          <a:xfrm>
            <a:off x="2884488"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3620" name="Freeform 180"/>
          <p:cNvSpPr>
            <a:spLocks noChangeAspect="1"/>
          </p:cNvSpPr>
          <p:nvPr/>
        </p:nvSpPr>
        <p:spPr bwMode="auto">
          <a:xfrm>
            <a:off x="1936750" y="1381125"/>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6472CEC-5CE6-4135-9D39-C6F35B1D3773}" type="slidenum">
              <a:rPr lang="en-US" altLang="de-DE" sz="1000">
                <a:solidFill>
                  <a:srgbClr val="C0C0C0"/>
                </a:solidFill>
              </a:rPr>
              <a:pPr/>
              <a:t>23</a:t>
            </a:fld>
            <a:endParaRPr lang="en-US" altLang="de-DE" sz="1000">
              <a:solidFill>
                <a:srgbClr val="C0C0C0"/>
              </a:solidFill>
            </a:endParaRPr>
          </a:p>
        </p:txBody>
      </p:sp>
      <p:sp>
        <p:nvSpPr>
          <p:cNvPr id="24579"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24580" name="Text Box 62"/>
          <p:cNvSpPr txBox="1">
            <a:spLocks noChangeAspect="1" noChangeArrowheads="1"/>
          </p:cNvSpPr>
          <p:nvPr/>
        </p:nvSpPr>
        <p:spPr bwMode="auto">
          <a:xfrm>
            <a:off x="21828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6</a:t>
            </a:r>
          </a:p>
          <a:p>
            <a:pPr algn="l" eaLnBrk="1" hangingPunct="1">
              <a:lnSpc>
                <a:spcPct val="100000"/>
              </a:lnSpc>
            </a:pPr>
            <a:r>
              <a:rPr lang="de-DE" altLang="de-DE" sz="1300"/>
              <a:t>Not fixed: </a:t>
            </a:r>
            <a:br>
              <a:rPr lang="de-DE" altLang="de-DE" sz="1300"/>
            </a:br>
            <a:r>
              <a:rPr lang="de-DE" altLang="de-DE" sz="1300"/>
              <a:t>1,2,4,6,7,8</a:t>
            </a:r>
            <a:endParaRPr lang="en-US" altLang="zh-CN" sz="1300">
              <a:ea typeface="宋体" panose="02010600030101010101" pitchFamily="2" charset="-122"/>
            </a:endParaRPr>
          </a:p>
        </p:txBody>
      </p:sp>
      <p:sp>
        <p:nvSpPr>
          <p:cNvPr id="630847" name="Line 63"/>
          <p:cNvSpPr>
            <a:spLocks noChangeAspect="1" noChangeShapeType="1"/>
          </p:cNvSpPr>
          <p:nvPr/>
        </p:nvSpPr>
        <p:spPr bwMode="auto">
          <a:xfrm>
            <a:off x="47371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48" name="Line 64"/>
          <p:cNvSpPr>
            <a:spLocks noChangeAspect="1" noChangeShapeType="1"/>
          </p:cNvSpPr>
          <p:nvPr/>
        </p:nvSpPr>
        <p:spPr bwMode="auto">
          <a:xfrm>
            <a:off x="47418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49" name="Line 65"/>
          <p:cNvSpPr>
            <a:spLocks noChangeAspect="1" noChangeShapeType="1"/>
          </p:cNvSpPr>
          <p:nvPr/>
        </p:nvSpPr>
        <p:spPr bwMode="auto">
          <a:xfrm>
            <a:off x="41068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0" name="Line 66"/>
          <p:cNvSpPr>
            <a:spLocks noChangeAspect="1" noChangeShapeType="1"/>
          </p:cNvSpPr>
          <p:nvPr/>
        </p:nvSpPr>
        <p:spPr bwMode="auto">
          <a:xfrm>
            <a:off x="41068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1" name="Line 67"/>
          <p:cNvSpPr>
            <a:spLocks noChangeAspect="1" noChangeShapeType="1"/>
          </p:cNvSpPr>
          <p:nvPr/>
        </p:nvSpPr>
        <p:spPr bwMode="auto">
          <a:xfrm flipH="1">
            <a:off x="4154488"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2" name="Line 68"/>
          <p:cNvSpPr>
            <a:spLocks noChangeAspect="1" noChangeShapeType="1"/>
          </p:cNvSpPr>
          <p:nvPr/>
        </p:nvSpPr>
        <p:spPr bwMode="auto">
          <a:xfrm flipH="1">
            <a:off x="4138613"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3" name="Line 69"/>
          <p:cNvSpPr>
            <a:spLocks noChangeAspect="1" noChangeShapeType="1"/>
          </p:cNvSpPr>
          <p:nvPr/>
        </p:nvSpPr>
        <p:spPr bwMode="auto">
          <a:xfrm flipH="1">
            <a:off x="41290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4" name="Line 70"/>
          <p:cNvSpPr>
            <a:spLocks noChangeAspect="1" noChangeShapeType="1"/>
          </p:cNvSpPr>
          <p:nvPr/>
        </p:nvSpPr>
        <p:spPr bwMode="auto">
          <a:xfrm>
            <a:off x="4044950" y="2203450"/>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5" name="Line 71"/>
          <p:cNvSpPr>
            <a:spLocks noChangeAspect="1" noChangeShapeType="1"/>
          </p:cNvSpPr>
          <p:nvPr/>
        </p:nvSpPr>
        <p:spPr bwMode="auto">
          <a:xfrm>
            <a:off x="4111625" y="1152525"/>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6" name="Line 72"/>
          <p:cNvSpPr>
            <a:spLocks noChangeAspect="1" noChangeShapeType="1"/>
          </p:cNvSpPr>
          <p:nvPr/>
        </p:nvSpPr>
        <p:spPr bwMode="auto">
          <a:xfrm>
            <a:off x="4168775"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7" name="Line 73"/>
          <p:cNvSpPr>
            <a:spLocks noChangeAspect="1" noChangeShapeType="1"/>
          </p:cNvSpPr>
          <p:nvPr/>
        </p:nvSpPr>
        <p:spPr bwMode="auto">
          <a:xfrm>
            <a:off x="4140200"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8" name="Line 74"/>
          <p:cNvSpPr>
            <a:spLocks noChangeAspect="1" noChangeShapeType="1"/>
          </p:cNvSpPr>
          <p:nvPr/>
        </p:nvSpPr>
        <p:spPr bwMode="auto">
          <a:xfrm>
            <a:off x="41449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59" name="Line 75"/>
          <p:cNvSpPr>
            <a:spLocks noChangeAspect="1" noChangeShapeType="1"/>
          </p:cNvSpPr>
          <p:nvPr/>
        </p:nvSpPr>
        <p:spPr bwMode="auto">
          <a:xfrm>
            <a:off x="4154488" y="1162050"/>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630860" name="Oval 76"/>
          <p:cNvSpPr>
            <a:spLocks noChangeAspect="1" noChangeArrowheads="1"/>
          </p:cNvSpPr>
          <p:nvPr/>
        </p:nvSpPr>
        <p:spPr bwMode="auto">
          <a:xfrm>
            <a:off x="39354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61" name="Rectangle 77"/>
          <p:cNvSpPr>
            <a:spLocks noChangeAspect="1" noChangeArrowheads="1"/>
          </p:cNvSpPr>
          <p:nvPr/>
        </p:nvSpPr>
        <p:spPr bwMode="auto">
          <a:xfrm>
            <a:off x="3965575" y="1570038"/>
            <a:ext cx="260350"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630862" name="Oval 78"/>
          <p:cNvSpPr>
            <a:spLocks noChangeAspect="1" noChangeArrowheads="1"/>
          </p:cNvSpPr>
          <p:nvPr/>
        </p:nvSpPr>
        <p:spPr bwMode="auto">
          <a:xfrm>
            <a:off x="4573588"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63" name="Rectangle 79"/>
          <p:cNvSpPr>
            <a:spLocks noChangeAspect="1" noChangeArrowheads="1"/>
          </p:cNvSpPr>
          <p:nvPr/>
        </p:nvSpPr>
        <p:spPr bwMode="auto">
          <a:xfrm>
            <a:off x="4605338" y="103346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630864" name="Oval 80"/>
          <p:cNvSpPr>
            <a:spLocks noChangeAspect="1" noChangeArrowheads="1"/>
          </p:cNvSpPr>
          <p:nvPr/>
        </p:nvSpPr>
        <p:spPr bwMode="auto">
          <a:xfrm>
            <a:off x="4587875" y="1544638"/>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65" name="Rectangle 81"/>
          <p:cNvSpPr>
            <a:spLocks noChangeAspect="1" noChangeArrowheads="1"/>
          </p:cNvSpPr>
          <p:nvPr/>
        </p:nvSpPr>
        <p:spPr bwMode="auto">
          <a:xfrm>
            <a:off x="4605338"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630866" name="Oval 82"/>
          <p:cNvSpPr>
            <a:spLocks noChangeAspect="1" noChangeArrowheads="1"/>
          </p:cNvSpPr>
          <p:nvPr/>
        </p:nvSpPr>
        <p:spPr bwMode="auto">
          <a:xfrm>
            <a:off x="3935413" y="2087563"/>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67" name="Rectangle 83"/>
          <p:cNvSpPr>
            <a:spLocks noChangeAspect="1" noChangeArrowheads="1"/>
          </p:cNvSpPr>
          <p:nvPr/>
        </p:nvSpPr>
        <p:spPr bwMode="auto">
          <a:xfrm>
            <a:off x="39735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630868" name="Oval 84"/>
          <p:cNvSpPr>
            <a:spLocks noChangeAspect="1" noChangeArrowheads="1"/>
          </p:cNvSpPr>
          <p:nvPr/>
        </p:nvSpPr>
        <p:spPr bwMode="auto">
          <a:xfrm>
            <a:off x="3951288"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69" name="Rectangle 85"/>
          <p:cNvSpPr>
            <a:spLocks noChangeAspect="1" noChangeArrowheads="1"/>
          </p:cNvSpPr>
          <p:nvPr/>
        </p:nvSpPr>
        <p:spPr bwMode="auto">
          <a:xfrm>
            <a:off x="3979863" y="10366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630870" name="Oval 86"/>
          <p:cNvSpPr>
            <a:spLocks noChangeAspect="1" noChangeArrowheads="1"/>
          </p:cNvSpPr>
          <p:nvPr/>
        </p:nvSpPr>
        <p:spPr bwMode="auto">
          <a:xfrm>
            <a:off x="393541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71" name="Rectangle 87"/>
          <p:cNvSpPr>
            <a:spLocks noChangeAspect="1" noChangeArrowheads="1"/>
          </p:cNvSpPr>
          <p:nvPr/>
        </p:nvSpPr>
        <p:spPr bwMode="auto">
          <a:xfrm>
            <a:off x="3967163" y="2662238"/>
            <a:ext cx="261937"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630872" name="Oval 88"/>
          <p:cNvSpPr>
            <a:spLocks noChangeAspect="1" noChangeArrowheads="1"/>
          </p:cNvSpPr>
          <p:nvPr/>
        </p:nvSpPr>
        <p:spPr bwMode="auto">
          <a:xfrm>
            <a:off x="45735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73" name="Rectangle 89"/>
          <p:cNvSpPr>
            <a:spLocks noChangeAspect="1" noChangeArrowheads="1"/>
          </p:cNvSpPr>
          <p:nvPr/>
        </p:nvSpPr>
        <p:spPr bwMode="auto">
          <a:xfrm>
            <a:off x="46053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630874" name="Oval 90"/>
          <p:cNvSpPr>
            <a:spLocks noChangeAspect="1" noChangeArrowheads="1"/>
          </p:cNvSpPr>
          <p:nvPr/>
        </p:nvSpPr>
        <p:spPr bwMode="auto">
          <a:xfrm>
            <a:off x="45878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75" name="Rectangle 91"/>
          <p:cNvSpPr>
            <a:spLocks noChangeAspect="1" noChangeArrowheads="1"/>
          </p:cNvSpPr>
          <p:nvPr/>
        </p:nvSpPr>
        <p:spPr bwMode="auto">
          <a:xfrm>
            <a:off x="46212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630878" name="Line 94"/>
          <p:cNvSpPr>
            <a:spLocks noChangeAspect="1" noChangeShapeType="1"/>
          </p:cNvSpPr>
          <p:nvPr/>
        </p:nvSpPr>
        <p:spPr bwMode="auto">
          <a:xfrm>
            <a:off x="3836988" y="1978025"/>
            <a:ext cx="119538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11" name="AutoShape 95"/>
          <p:cNvSpPr>
            <a:spLocks noChangeAspect="1" noChangeArrowheads="1"/>
          </p:cNvSpPr>
          <p:nvPr/>
        </p:nvSpPr>
        <p:spPr bwMode="auto">
          <a:xfrm>
            <a:off x="68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630880" name="AutoShape 96"/>
          <p:cNvSpPr>
            <a:spLocks noChangeAspect="1" noChangeArrowheads="1"/>
          </p:cNvSpPr>
          <p:nvPr/>
        </p:nvSpPr>
        <p:spPr bwMode="auto">
          <a:xfrm>
            <a:off x="2589213" y="4151313"/>
            <a:ext cx="1630362" cy="327025"/>
          </a:xfrm>
          <a:prstGeom prst="curvedUpArrow">
            <a:avLst>
              <a:gd name="adj1" fmla="val 99709"/>
              <a:gd name="adj2" fmla="val 199417"/>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13" name="Text Box 97"/>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4614" name="Text Box 98"/>
          <p:cNvSpPr txBox="1">
            <a:spLocks noChangeArrowheads="1"/>
          </p:cNvSpPr>
          <p:nvPr/>
        </p:nvSpPr>
        <p:spPr bwMode="auto">
          <a:xfrm>
            <a:off x="2589213" y="4667250"/>
            <a:ext cx="1700212"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 3+2-0 = 5</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(4,6)</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2</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i="1" baseline="-25000">
                <a:ea typeface="宋体" panose="02010600030101010101" pitchFamily="2" charset="-122"/>
              </a:rPr>
              <a:t> </a:t>
            </a:r>
            <a:r>
              <a:rPr lang="en-US" altLang="zh-CN" sz="1300">
                <a:ea typeface="宋体" panose="02010600030101010101" pitchFamily="2" charset="-122"/>
              </a:rPr>
              <a:t>=8</a:t>
            </a:r>
          </a:p>
        </p:txBody>
      </p:sp>
      <p:sp>
        <p:nvSpPr>
          <p:cNvPr id="24615" name="Line 99"/>
          <p:cNvSpPr>
            <a:spLocks noChangeShapeType="1"/>
          </p:cNvSpPr>
          <p:nvPr/>
        </p:nvSpPr>
        <p:spPr bwMode="auto">
          <a:xfrm flipH="1" flipV="1">
            <a:off x="3348038" y="5167313"/>
            <a:ext cx="11811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4616" name="Line 100"/>
          <p:cNvSpPr>
            <a:spLocks noChangeShapeType="1"/>
          </p:cNvSpPr>
          <p:nvPr/>
        </p:nvSpPr>
        <p:spPr bwMode="auto">
          <a:xfrm flipH="1" flipV="1">
            <a:off x="4249738" y="4840288"/>
            <a:ext cx="309562" cy="1905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4617" name="Text Box 101"/>
          <p:cNvSpPr txBox="1">
            <a:spLocks noChangeArrowheads="1"/>
          </p:cNvSpPr>
          <p:nvPr/>
        </p:nvSpPr>
        <p:spPr bwMode="auto">
          <a:xfrm>
            <a:off x="4659313" y="4878388"/>
            <a:ext cx="2205037" cy="454025"/>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Nodes that lead to maximum gain</a:t>
            </a:r>
            <a:endParaRPr lang="en-US" altLang="zh-CN" sz="1300">
              <a:ea typeface="宋体" panose="02010600030101010101" pitchFamily="2" charset="-122"/>
            </a:endParaRPr>
          </a:p>
        </p:txBody>
      </p:sp>
      <p:sp>
        <p:nvSpPr>
          <p:cNvPr id="24618" name="Text Box 102"/>
          <p:cNvSpPr txBox="1">
            <a:spLocks noChangeArrowheads="1"/>
          </p:cNvSpPr>
          <p:nvPr/>
        </p:nvSpPr>
        <p:spPr bwMode="auto">
          <a:xfrm>
            <a:off x="4559300" y="5992813"/>
            <a:ext cx="2736850" cy="255587"/>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in the current pass</a:t>
            </a:r>
            <a:endParaRPr lang="en-US" altLang="zh-CN" sz="1300">
              <a:ea typeface="宋体" panose="02010600030101010101" pitchFamily="2" charset="-122"/>
            </a:endParaRPr>
          </a:p>
        </p:txBody>
      </p:sp>
      <p:sp>
        <p:nvSpPr>
          <p:cNvPr id="24619" name="Line 103"/>
          <p:cNvSpPr>
            <a:spLocks noChangeShapeType="1"/>
          </p:cNvSpPr>
          <p:nvPr/>
        </p:nvSpPr>
        <p:spPr bwMode="auto">
          <a:xfrm flipH="1">
            <a:off x="3938588" y="5753100"/>
            <a:ext cx="5905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4620" name="Line 104"/>
          <p:cNvSpPr>
            <a:spLocks noChangeShapeType="1"/>
          </p:cNvSpPr>
          <p:nvPr/>
        </p:nvSpPr>
        <p:spPr bwMode="auto">
          <a:xfrm flipH="1">
            <a:off x="3951288" y="6135688"/>
            <a:ext cx="57785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4621" name="Text Box 105"/>
          <p:cNvSpPr txBox="1">
            <a:spLocks noChangeArrowheads="1"/>
          </p:cNvSpPr>
          <p:nvPr/>
        </p:nvSpPr>
        <p:spPr bwMode="auto">
          <a:xfrm>
            <a:off x="4551363" y="5616575"/>
            <a:ext cx="2744787" cy="255588"/>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after node swapping</a:t>
            </a:r>
            <a:endParaRPr lang="en-US" altLang="zh-CN" sz="1300">
              <a:ea typeface="宋体" panose="02010600030101010101" pitchFamily="2" charset="-122"/>
            </a:endParaRPr>
          </a:p>
        </p:txBody>
      </p:sp>
      <p:sp>
        <p:nvSpPr>
          <p:cNvPr id="24622" name="Rectangle 106"/>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24623" name="Line 107"/>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24" name="Line 108"/>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25" name="Line 109"/>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26" name="Line 110"/>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27" name="Line 111"/>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28" name="Line 112"/>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29" name="Line 113"/>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0" name="Line 114"/>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1" name="Line 115"/>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2" name="Line 116"/>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3" name="Line 117"/>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4" name="Line 118"/>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5" name="Line 119"/>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36" name="Oval 120"/>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7" name="Rectangle 121"/>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4638" name="Oval 122"/>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39" name="Rectangle 123"/>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4640" name="Oval 124"/>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41" name="Rectangle 125"/>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4642" name="Oval 126"/>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43" name="Rectangle 127"/>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4644" name="Oval 128"/>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45" name="Rectangle 129"/>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4646" name="Oval 130"/>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47" name="Rectangle 131"/>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4648" name="Oval 132"/>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49" name="Rectangle 133"/>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4650" name="Oval 134"/>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51" name="Rectangle 135"/>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4652" name="Line 136"/>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3" name="Line 137"/>
          <p:cNvSpPr>
            <a:spLocks noChangeAspect="1" noChangeShapeType="1"/>
          </p:cNvSpPr>
          <p:nvPr/>
        </p:nvSpPr>
        <p:spPr bwMode="auto">
          <a:xfrm>
            <a:off x="3000375"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4" name="Line 138"/>
          <p:cNvSpPr>
            <a:spLocks noChangeAspect="1" noChangeShapeType="1"/>
          </p:cNvSpPr>
          <p:nvPr/>
        </p:nvSpPr>
        <p:spPr bwMode="auto">
          <a:xfrm>
            <a:off x="3005138"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5" name="Line 139"/>
          <p:cNvSpPr>
            <a:spLocks noChangeAspect="1" noChangeShapeType="1"/>
          </p:cNvSpPr>
          <p:nvPr/>
        </p:nvSpPr>
        <p:spPr bwMode="auto">
          <a:xfrm>
            <a:off x="2370138"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6" name="Line 140"/>
          <p:cNvSpPr>
            <a:spLocks noChangeAspect="1" noChangeShapeType="1"/>
          </p:cNvSpPr>
          <p:nvPr/>
        </p:nvSpPr>
        <p:spPr bwMode="auto">
          <a:xfrm>
            <a:off x="2370138"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7" name="Line 141"/>
          <p:cNvSpPr>
            <a:spLocks noChangeAspect="1" noChangeShapeType="1"/>
          </p:cNvSpPr>
          <p:nvPr/>
        </p:nvSpPr>
        <p:spPr bwMode="auto">
          <a:xfrm flipH="1">
            <a:off x="2414588" y="1701800"/>
            <a:ext cx="576262"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8" name="Line 142"/>
          <p:cNvSpPr>
            <a:spLocks noChangeAspect="1" noChangeShapeType="1"/>
          </p:cNvSpPr>
          <p:nvPr/>
        </p:nvSpPr>
        <p:spPr bwMode="auto">
          <a:xfrm flipH="1">
            <a:off x="2401888"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59" name="Line 143"/>
          <p:cNvSpPr>
            <a:spLocks noChangeAspect="1" noChangeShapeType="1"/>
          </p:cNvSpPr>
          <p:nvPr/>
        </p:nvSpPr>
        <p:spPr bwMode="auto">
          <a:xfrm flipH="1">
            <a:off x="2390775"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0" name="Line 144"/>
          <p:cNvSpPr>
            <a:spLocks noChangeAspect="1" noChangeShapeType="1"/>
          </p:cNvSpPr>
          <p:nvPr/>
        </p:nvSpPr>
        <p:spPr bwMode="auto">
          <a:xfrm>
            <a:off x="2305050" y="2203450"/>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1" name="Line 145"/>
          <p:cNvSpPr>
            <a:spLocks noChangeAspect="1" noChangeShapeType="1"/>
          </p:cNvSpPr>
          <p:nvPr/>
        </p:nvSpPr>
        <p:spPr bwMode="auto">
          <a:xfrm>
            <a:off x="2373313"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2" name="Line 146"/>
          <p:cNvSpPr>
            <a:spLocks noChangeAspect="1" noChangeShapeType="1"/>
          </p:cNvSpPr>
          <p:nvPr/>
        </p:nvSpPr>
        <p:spPr bwMode="auto">
          <a:xfrm>
            <a:off x="2432050"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3" name="Line 147"/>
          <p:cNvSpPr>
            <a:spLocks noChangeAspect="1" noChangeShapeType="1"/>
          </p:cNvSpPr>
          <p:nvPr/>
        </p:nvSpPr>
        <p:spPr bwMode="auto">
          <a:xfrm>
            <a:off x="2401888"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4" name="Line 148"/>
          <p:cNvSpPr>
            <a:spLocks noChangeAspect="1" noChangeShapeType="1"/>
          </p:cNvSpPr>
          <p:nvPr/>
        </p:nvSpPr>
        <p:spPr bwMode="auto">
          <a:xfrm>
            <a:off x="2406650"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5" name="Line 149"/>
          <p:cNvSpPr>
            <a:spLocks noChangeAspect="1" noChangeShapeType="1"/>
          </p:cNvSpPr>
          <p:nvPr/>
        </p:nvSpPr>
        <p:spPr bwMode="auto">
          <a:xfrm>
            <a:off x="2414588" y="1162050"/>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4666" name="Oval 150"/>
          <p:cNvSpPr>
            <a:spLocks noChangeAspect="1" noChangeArrowheads="1"/>
          </p:cNvSpPr>
          <p:nvPr/>
        </p:nvSpPr>
        <p:spPr bwMode="auto">
          <a:xfrm>
            <a:off x="2198688"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67" name="Rectangle 151"/>
          <p:cNvSpPr>
            <a:spLocks noChangeAspect="1" noChangeArrowheads="1"/>
          </p:cNvSpPr>
          <p:nvPr/>
        </p:nvSpPr>
        <p:spPr bwMode="auto">
          <a:xfrm>
            <a:off x="2228850" y="1570038"/>
            <a:ext cx="260350"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4668" name="Oval 152"/>
          <p:cNvSpPr>
            <a:spLocks noChangeAspect="1" noChangeArrowheads="1"/>
          </p:cNvSpPr>
          <p:nvPr/>
        </p:nvSpPr>
        <p:spPr bwMode="auto">
          <a:xfrm>
            <a:off x="28352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24669" name="Rectangle 153"/>
          <p:cNvSpPr>
            <a:spLocks noChangeAspect="1" noChangeArrowheads="1"/>
          </p:cNvSpPr>
          <p:nvPr/>
        </p:nvSpPr>
        <p:spPr bwMode="auto">
          <a:xfrm>
            <a:off x="2867025" y="1033463"/>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4670" name="Oval 154"/>
          <p:cNvSpPr>
            <a:spLocks noChangeAspect="1" noChangeArrowheads="1"/>
          </p:cNvSpPr>
          <p:nvPr/>
        </p:nvSpPr>
        <p:spPr bwMode="auto">
          <a:xfrm>
            <a:off x="2849563" y="1544638"/>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71" name="Rectangle 155"/>
          <p:cNvSpPr>
            <a:spLocks noChangeAspect="1" noChangeArrowheads="1"/>
          </p:cNvSpPr>
          <p:nvPr/>
        </p:nvSpPr>
        <p:spPr bwMode="auto">
          <a:xfrm>
            <a:off x="2867025"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4672" name="Oval 156"/>
          <p:cNvSpPr>
            <a:spLocks noChangeAspect="1" noChangeArrowheads="1"/>
          </p:cNvSpPr>
          <p:nvPr/>
        </p:nvSpPr>
        <p:spPr bwMode="auto">
          <a:xfrm>
            <a:off x="21986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73" name="Rectangle 157"/>
          <p:cNvSpPr>
            <a:spLocks noChangeAspect="1" noChangeArrowheads="1"/>
          </p:cNvSpPr>
          <p:nvPr/>
        </p:nvSpPr>
        <p:spPr bwMode="auto">
          <a:xfrm>
            <a:off x="2235200"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4674" name="Oval 158"/>
          <p:cNvSpPr>
            <a:spLocks noChangeAspect="1" noChangeArrowheads="1"/>
          </p:cNvSpPr>
          <p:nvPr/>
        </p:nvSpPr>
        <p:spPr bwMode="auto">
          <a:xfrm>
            <a:off x="22129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75" name="Rectangle 159"/>
          <p:cNvSpPr>
            <a:spLocks noChangeAspect="1" noChangeArrowheads="1"/>
          </p:cNvSpPr>
          <p:nvPr/>
        </p:nvSpPr>
        <p:spPr bwMode="auto">
          <a:xfrm>
            <a:off x="2241550" y="1036638"/>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4676" name="Oval 160"/>
          <p:cNvSpPr>
            <a:spLocks noChangeAspect="1" noChangeArrowheads="1"/>
          </p:cNvSpPr>
          <p:nvPr/>
        </p:nvSpPr>
        <p:spPr bwMode="auto">
          <a:xfrm>
            <a:off x="2198688" y="2630488"/>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77" name="Rectangle 161"/>
          <p:cNvSpPr>
            <a:spLocks noChangeAspect="1" noChangeArrowheads="1"/>
          </p:cNvSpPr>
          <p:nvPr/>
        </p:nvSpPr>
        <p:spPr bwMode="auto">
          <a:xfrm>
            <a:off x="2230438"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4678" name="Oval 162"/>
          <p:cNvSpPr>
            <a:spLocks noChangeAspect="1" noChangeArrowheads="1"/>
          </p:cNvSpPr>
          <p:nvPr/>
        </p:nvSpPr>
        <p:spPr bwMode="auto">
          <a:xfrm>
            <a:off x="283527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79" name="Rectangle 163"/>
          <p:cNvSpPr>
            <a:spLocks noChangeAspect="1" noChangeArrowheads="1"/>
          </p:cNvSpPr>
          <p:nvPr/>
        </p:nvSpPr>
        <p:spPr bwMode="auto">
          <a:xfrm>
            <a:off x="2867025" y="2119313"/>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4680" name="Oval 164"/>
          <p:cNvSpPr>
            <a:spLocks noChangeAspect="1" noChangeArrowheads="1"/>
          </p:cNvSpPr>
          <p:nvPr/>
        </p:nvSpPr>
        <p:spPr bwMode="auto">
          <a:xfrm>
            <a:off x="284956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4681" name="Rectangle 165"/>
          <p:cNvSpPr>
            <a:spLocks noChangeAspect="1" noChangeArrowheads="1"/>
          </p:cNvSpPr>
          <p:nvPr/>
        </p:nvSpPr>
        <p:spPr bwMode="auto">
          <a:xfrm>
            <a:off x="2884488"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4682" name="Freeform 166"/>
          <p:cNvSpPr>
            <a:spLocks noChangeAspect="1"/>
          </p:cNvSpPr>
          <p:nvPr/>
        </p:nvSpPr>
        <p:spPr bwMode="auto">
          <a:xfrm>
            <a:off x="1936750" y="1381125"/>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30880"/>
                                        </p:tgtEl>
                                        <p:attrNameLst>
                                          <p:attrName>style.visibility</p:attrName>
                                        </p:attrNameLst>
                                      </p:cBhvr>
                                      <p:to>
                                        <p:strVal val="visible"/>
                                      </p:to>
                                    </p:set>
                                    <p:animEffect transition="in" filter="dissolve">
                                      <p:cBhvr>
                                        <p:cTn id="7" dur="500"/>
                                        <p:tgtEl>
                                          <p:spTgt spid="630880"/>
                                        </p:tgtEl>
                                      </p:cBhvr>
                                    </p:animEffect>
                                  </p:childTnLst>
                                </p:cTn>
                              </p:par>
                              <p:par>
                                <p:cTn id="8" presetID="9" presetClass="entr" presetSubtype="0" fill="hold" nodeType="withEffect">
                                  <p:stCondLst>
                                    <p:cond delay="0"/>
                                  </p:stCondLst>
                                  <p:childTnLst>
                                    <p:set>
                                      <p:cBhvr>
                                        <p:cTn id="9" dur="1" fill="hold">
                                          <p:stCondLst>
                                            <p:cond delay="0"/>
                                          </p:stCondLst>
                                        </p:cTn>
                                        <p:tgtEl>
                                          <p:spTgt spid="630847"/>
                                        </p:tgtEl>
                                        <p:attrNameLst>
                                          <p:attrName>style.visibility</p:attrName>
                                        </p:attrNameLst>
                                      </p:cBhvr>
                                      <p:to>
                                        <p:strVal val="visible"/>
                                      </p:to>
                                    </p:set>
                                    <p:animEffect transition="in" filter="dissolve">
                                      <p:cBhvr>
                                        <p:cTn id="10" dur="500"/>
                                        <p:tgtEl>
                                          <p:spTgt spid="630847"/>
                                        </p:tgtEl>
                                      </p:cBhvr>
                                    </p:animEffect>
                                  </p:childTnLst>
                                </p:cTn>
                              </p:par>
                              <p:par>
                                <p:cTn id="11" presetID="9" presetClass="entr" presetSubtype="0" fill="hold" nodeType="withEffect">
                                  <p:stCondLst>
                                    <p:cond delay="0"/>
                                  </p:stCondLst>
                                  <p:childTnLst>
                                    <p:set>
                                      <p:cBhvr>
                                        <p:cTn id="12" dur="1" fill="hold">
                                          <p:stCondLst>
                                            <p:cond delay="0"/>
                                          </p:stCondLst>
                                        </p:cTn>
                                        <p:tgtEl>
                                          <p:spTgt spid="630848"/>
                                        </p:tgtEl>
                                        <p:attrNameLst>
                                          <p:attrName>style.visibility</p:attrName>
                                        </p:attrNameLst>
                                      </p:cBhvr>
                                      <p:to>
                                        <p:strVal val="visible"/>
                                      </p:to>
                                    </p:set>
                                    <p:animEffect transition="in" filter="dissolve">
                                      <p:cBhvr>
                                        <p:cTn id="13" dur="500"/>
                                        <p:tgtEl>
                                          <p:spTgt spid="630848"/>
                                        </p:tgtEl>
                                      </p:cBhvr>
                                    </p:animEffect>
                                  </p:childTnLst>
                                </p:cTn>
                              </p:par>
                              <p:par>
                                <p:cTn id="14" presetID="9" presetClass="entr" presetSubtype="0" fill="hold" nodeType="withEffect">
                                  <p:stCondLst>
                                    <p:cond delay="0"/>
                                  </p:stCondLst>
                                  <p:childTnLst>
                                    <p:set>
                                      <p:cBhvr>
                                        <p:cTn id="15" dur="1" fill="hold">
                                          <p:stCondLst>
                                            <p:cond delay="0"/>
                                          </p:stCondLst>
                                        </p:cTn>
                                        <p:tgtEl>
                                          <p:spTgt spid="630849"/>
                                        </p:tgtEl>
                                        <p:attrNameLst>
                                          <p:attrName>style.visibility</p:attrName>
                                        </p:attrNameLst>
                                      </p:cBhvr>
                                      <p:to>
                                        <p:strVal val="visible"/>
                                      </p:to>
                                    </p:set>
                                    <p:animEffect transition="in" filter="dissolve">
                                      <p:cBhvr>
                                        <p:cTn id="16" dur="500"/>
                                        <p:tgtEl>
                                          <p:spTgt spid="630849"/>
                                        </p:tgtEl>
                                      </p:cBhvr>
                                    </p:animEffect>
                                  </p:childTnLst>
                                </p:cTn>
                              </p:par>
                              <p:par>
                                <p:cTn id="17" presetID="9" presetClass="entr" presetSubtype="0" fill="hold" nodeType="withEffect">
                                  <p:stCondLst>
                                    <p:cond delay="0"/>
                                  </p:stCondLst>
                                  <p:childTnLst>
                                    <p:set>
                                      <p:cBhvr>
                                        <p:cTn id="18" dur="1" fill="hold">
                                          <p:stCondLst>
                                            <p:cond delay="0"/>
                                          </p:stCondLst>
                                        </p:cTn>
                                        <p:tgtEl>
                                          <p:spTgt spid="630850"/>
                                        </p:tgtEl>
                                        <p:attrNameLst>
                                          <p:attrName>style.visibility</p:attrName>
                                        </p:attrNameLst>
                                      </p:cBhvr>
                                      <p:to>
                                        <p:strVal val="visible"/>
                                      </p:to>
                                    </p:set>
                                    <p:animEffect transition="in" filter="dissolve">
                                      <p:cBhvr>
                                        <p:cTn id="19" dur="500"/>
                                        <p:tgtEl>
                                          <p:spTgt spid="630850"/>
                                        </p:tgtEl>
                                      </p:cBhvr>
                                    </p:animEffect>
                                  </p:childTnLst>
                                </p:cTn>
                              </p:par>
                              <p:par>
                                <p:cTn id="20" presetID="9" presetClass="entr" presetSubtype="0" fill="hold" nodeType="withEffect">
                                  <p:stCondLst>
                                    <p:cond delay="0"/>
                                  </p:stCondLst>
                                  <p:childTnLst>
                                    <p:set>
                                      <p:cBhvr>
                                        <p:cTn id="21" dur="1" fill="hold">
                                          <p:stCondLst>
                                            <p:cond delay="0"/>
                                          </p:stCondLst>
                                        </p:cTn>
                                        <p:tgtEl>
                                          <p:spTgt spid="630851"/>
                                        </p:tgtEl>
                                        <p:attrNameLst>
                                          <p:attrName>style.visibility</p:attrName>
                                        </p:attrNameLst>
                                      </p:cBhvr>
                                      <p:to>
                                        <p:strVal val="visible"/>
                                      </p:to>
                                    </p:set>
                                    <p:animEffect transition="in" filter="dissolve">
                                      <p:cBhvr>
                                        <p:cTn id="22" dur="500"/>
                                        <p:tgtEl>
                                          <p:spTgt spid="630851"/>
                                        </p:tgtEl>
                                      </p:cBhvr>
                                    </p:animEffect>
                                  </p:childTnLst>
                                </p:cTn>
                              </p:par>
                              <p:par>
                                <p:cTn id="23" presetID="9" presetClass="entr" presetSubtype="0" fill="hold" nodeType="withEffect">
                                  <p:stCondLst>
                                    <p:cond delay="0"/>
                                  </p:stCondLst>
                                  <p:childTnLst>
                                    <p:set>
                                      <p:cBhvr>
                                        <p:cTn id="24" dur="1" fill="hold">
                                          <p:stCondLst>
                                            <p:cond delay="0"/>
                                          </p:stCondLst>
                                        </p:cTn>
                                        <p:tgtEl>
                                          <p:spTgt spid="630852"/>
                                        </p:tgtEl>
                                        <p:attrNameLst>
                                          <p:attrName>style.visibility</p:attrName>
                                        </p:attrNameLst>
                                      </p:cBhvr>
                                      <p:to>
                                        <p:strVal val="visible"/>
                                      </p:to>
                                    </p:set>
                                    <p:animEffect transition="in" filter="dissolve">
                                      <p:cBhvr>
                                        <p:cTn id="25" dur="500"/>
                                        <p:tgtEl>
                                          <p:spTgt spid="630852"/>
                                        </p:tgtEl>
                                      </p:cBhvr>
                                    </p:animEffect>
                                  </p:childTnLst>
                                </p:cTn>
                              </p:par>
                              <p:par>
                                <p:cTn id="26" presetID="9" presetClass="entr" presetSubtype="0" fill="hold" nodeType="withEffect">
                                  <p:stCondLst>
                                    <p:cond delay="0"/>
                                  </p:stCondLst>
                                  <p:childTnLst>
                                    <p:set>
                                      <p:cBhvr>
                                        <p:cTn id="27" dur="1" fill="hold">
                                          <p:stCondLst>
                                            <p:cond delay="0"/>
                                          </p:stCondLst>
                                        </p:cTn>
                                        <p:tgtEl>
                                          <p:spTgt spid="630853"/>
                                        </p:tgtEl>
                                        <p:attrNameLst>
                                          <p:attrName>style.visibility</p:attrName>
                                        </p:attrNameLst>
                                      </p:cBhvr>
                                      <p:to>
                                        <p:strVal val="visible"/>
                                      </p:to>
                                    </p:set>
                                    <p:animEffect transition="in" filter="dissolve">
                                      <p:cBhvr>
                                        <p:cTn id="28" dur="500"/>
                                        <p:tgtEl>
                                          <p:spTgt spid="630853"/>
                                        </p:tgtEl>
                                      </p:cBhvr>
                                    </p:animEffect>
                                  </p:childTnLst>
                                </p:cTn>
                              </p:par>
                              <p:par>
                                <p:cTn id="29" presetID="9" presetClass="entr" presetSubtype="0" fill="hold" nodeType="withEffect">
                                  <p:stCondLst>
                                    <p:cond delay="0"/>
                                  </p:stCondLst>
                                  <p:childTnLst>
                                    <p:set>
                                      <p:cBhvr>
                                        <p:cTn id="30" dur="1" fill="hold">
                                          <p:stCondLst>
                                            <p:cond delay="0"/>
                                          </p:stCondLst>
                                        </p:cTn>
                                        <p:tgtEl>
                                          <p:spTgt spid="630854"/>
                                        </p:tgtEl>
                                        <p:attrNameLst>
                                          <p:attrName>style.visibility</p:attrName>
                                        </p:attrNameLst>
                                      </p:cBhvr>
                                      <p:to>
                                        <p:strVal val="visible"/>
                                      </p:to>
                                    </p:set>
                                    <p:animEffect transition="in" filter="dissolve">
                                      <p:cBhvr>
                                        <p:cTn id="31" dur="500"/>
                                        <p:tgtEl>
                                          <p:spTgt spid="630854"/>
                                        </p:tgtEl>
                                      </p:cBhvr>
                                    </p:animEffect>
                                  </p:childTnLst>
                                </p:cTn>
                              </p:par>
                              <p:par>
                                <p:cTn id="32" presetID="9" presetClass="entr" presetSubtype="0" fill="hold" nodeType="withEffect">
                                  <p:stCondLst>
                                    <p:cond delay="0"/>
                                  </p:stCondLst>
                                  <p:childTnLst>
                                    <p:set>
                                      <p:cBhvr>
                                        <p:cTn id="33" dur="1" fill="hold">
                                          <p:stCondLst>
                                            <p:cond delay="0"/>
                                          </p:stCondLst>
                                        </p:cTn>
                                        <p:tgtEl>
                                          <p:spTgt spid="630855"/>
                                        </p:tgtEl>
                                        <p:attrNameLst>
                                          <p:attrName>style.visibility</p:attrName>
                                        </p:attrNameLst>
                                      </p:cBhvr>
                                      <p:to>
                                        <p:strVal val="visible"/>
                                      </p:to>
                                    </p:set>
                                    <p:animEffect transition="in" filter="dissolve">
                                      <p:cBhvr>
                                        <p:cTn id="34" dur="500"/>
                                        <p:tgtEl>
                                          <p:spTgt spid="630855"/>
                                        </p:tgtEl>
                                      </p:cBhvr>
                                    </p:animEffect>
                                  </p:childTnLst>
                                </p:cTn>
                              </p:par>
                              <p:par>
                                <p:cTn id="35" presetID="9" presetClass="entr" presetSubtype="0" fill="hold" nodeType="withEffect">
                                  <p:stCondLst>
                                    <p:cond delay="0"/>
                                  </p:stCondLst>
                                  <p:childTnLst>
                                    <p:set>
                                      <p:cBhvr>
                                        <p:cTn id="36" dur="1" fill="hold">
                                          <p:stCondLst>
                                            <p:cond delay="0"/>
                                          </p:stCondLst>
                                        </p:cTn>
                                        <p:tgtEl>
                                          <p:spTgt spid="630856"/>
                                        </p:tgtEl>
                                        <p:attrNameLst>
                                          <p:attrName>style.visibility</p:attrName>
                                        </p:attrNameLst>
                                      </p:cBhvr>
                                      <p:to>
                                        <p:strVal val="visible"/>
                                      </p:to>
                                    </p:set>
                                    <p:animEffect transition="in" filter="dissolve">
                                      <p:cBhvr>
                                        <p:cTn id="37" dur="500"/>
                                        <p:tgtEl>
                                          <p:spTgt spid="630856"/>
                                        </p:tgtEl>
                                      </p:cBhvr>
                                    </p:animEffect>
                                  </p:childTnLst>
                                </p:cTn>
                              </p:par>
                              <p:par>
                                <p:cTn id="38" presetID="9" presetClass="entr" presetSubtype="0" fill="hold" nodeType="withEffect">
                                  <p:stCondLst>
                                    <p:cond delay="0"/>
                                  </p:stCondLst>
                                  <p:childTnLst>
                                    <p:set>
                                      <p:cBhvr>
                                        <p:cTn id="39" dur="1" fill="hold">
                                          <p:stCondLst>
                                            <p:cond delay="0"/>
                                          </p:stCondLst>
                                        </p:cTn>
                                        <p:tgtEl>
                                          <p:spTgt spid="630857"/>
                                        </p:tgtEl>
                                        <p:attrNameLst>
                                          <p:attrName>style.visibility</p:attrName>
                                        </p:attrNameLst>
                                      </p:cBhvr>
                                      <p:to>
                                        <p:strVal val="visible"/>
                                      </p:to>
                                    </p:set>
                                    <p:animEffect transition="in" filter="dissolve">
                                      <p:cBhvr>
                                        <p:cTn id="40" dur="500"/>
                                        <p:tgtEl>
                                          <p:spTgt spid="630857"/>
                                        </p:tgtEl>
                                      </p:cBhvr>
                                    </p:animEffect>
                                  </p:childTnLst>
                                </p:cTn>
                              </p:par>
                              <p:par>
                                <p:cTn id="41" presetID="9" presetClass="entr" presetSubtype="0" fill="hold" nodeType="withEffect">
                                  <p:stCondLst>
                                    <p:cond delay="0"/>
                                  </p:stCondLst>
                                  <p:childTnLst>
                                    <p:set>
                                      <p:cBhvr>
                                        <p:cTn id="42" dur="1" fill="hold">
                                          <p:stCondLst>
                                            <p:cond delay="0"/>
                                          </p:stCondLst>
                                        </p:cTn>
                                        <p:tgtEl>
                                          <p:spTgt spid="630858"/>
                                        </p:tgtEl>
                                        <p:attrNameLst>
                                          <p:attrName>style.visibility</p:attrName>
                                        </p:attrNameLst>
                                      </p:cBhvr>
                                      <p:to>
                                        <p:strVal val="visible"/>
                                      </p:to>
                                    </p:set>
                                    <p:animEffect transition="in" filter="dissolve">
                                      <p:cBhvr>
                                        <p:cTn id="43" dur="500"/>
                                        <p:tgtEl>
                                          <p:spTgt spid="630858"/>
                                        </p:tgtEl>
                                      </p:cBhvr>
                                    </p:animEffect>
                                  </p:childTnLst>
                                </p:cTn>
                              </p:par>
                              <p:par>
                                <p:cTn id="44" presetID="9" presetClass="entr" presetSubtype="0" fill="hold" nodeType="withEffect">
                                  <p:stCondLst>
                                    <p:cond delay="0"/>
                                  </p:stCondLst>
                                  <p:childTnLst>
                                    <p:set>
                                      <p:cBhvr>
                                        <p:cTn id="45" dur="1" fill="hold">
                                          <p:stCondLst>
                                            <p:cond delay="0"/>
                                          </p:stCondLst>
                                        </p:cTn>
                                        <p:tgtEl>
                                          <p:spTgt spid="630859"/>
                                        </p:tgtEl>
                                        <p:attrNameLst>
                                          <p:attrName>style.visibility</p:attrName>
                                        </p:attrNameLst>
                                      </p:cBhvr>
                                      <p:to>
                                        <p:strVal val="visible"/>
                                      </p:to>
                                    </p:set>
                                    <p:animEffect transition="in" filter="dissolve">
                                      <p:cBhvr>
                                        <p:cTn id="46" dur="500"/>
                                        <p:tgtEl>
                                          <p:spTgt spid="630859"/>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630860"/>
                                        </p:tgtEl>
                                        <p:attrNameLst>
                                          <p:attrName>style.visibility</p:attrName>
                                        </p:attrNameLst>
                                      </p:cBhvr>
                                      <p:to>
                                        <p:strVal val="visible"/>
                                      </p:to>
                                    </p:set>
                                    <p:animEffect transition="in" filter="dissolve">
                                      <p:cBhvr>
                                        <p:cTn id="49" dur="500"/>
                                        <p:tgtEl>
                                          <p:spTgt spid="630860"/>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630861"/>
                                        </p:tgtEl>
                                        <p:attrNameLst>
                                          <p:attrName>style.visibility</p:attrName>
                                        </p:attrNameLst>
                                      </p:cBhvr>
                                      <p:to>
                                        <p:strVal val="visible"/>
                                      </p:to>
                                    </p:set>
                                    <p:animEffect transition="in" filter="dissolve">
                                      <p:cBhvr>
                                        <p:cTn id="52" dur="500"/>
                                        <p:tgtEl>
                                          <p:spTgt spid="630861"/>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630862"/>
                                        </p:tgtEl>
                                        <p:attrNameLst>
                                          <p:attrName>style.visibility</p:attrName>
                                        </p:attrNameLst>
                                      </p:cBhvr>
                                      <p:to>
                                        <p:strVal val="visible"/>
                                      </p:to>
                                    </p:set>
                                    <p:animEffect transition="in" filter="dissolve">
                                      <p:cBhvr>
                                        <p:cTn id="55" dur="500"/>
                                        <p:tgtEl>
                                          <p:spTgt spid="630862"/>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630863"/>
                                        </p:tgtEl>
                                        <p:attrNameLst>
                                          <p:attrName>style.visibility</p:attrName>
                                        </p:attrNameLst>
                                      </p:cBhvr>
                                      <p:to>
                                        <p:strVal val="visible"/>
                                      </p:to>
                                    </p:set>
                                    <p:animEffect transition="in" filter="dissolve">
                                      <p:cBhvr>
                                        <p:cTn id="58" dur="500"/>
                                        <p:tgtEl>
                                          <p:spTgt spid="630863"/>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630864"/>
                                        </p:tgtEl>
                                        <p:attrNameLst>
                                          <p:attrName>style.visibility</p:attrName>
                                        </p:attrNameLst>
                                      </p:cBhvr>
                                      <p:to>
                                        <p:strVal val="visible"/>
                                      </p:to>
                                    </p:set>
                                    <p:animEffect transition="in" filter="dissolve">
                                      <p:cBhvr>
                                        <p:cTn id="61" dur="500"/>
                                        <p:tgtEl>
                                          <p:spTgt spid="630864"/>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630865"/>
                                        </p:tgtEl>
                                        <p:attrNameLst>
                                          <p:attrName>style.visibility</p:attrName>
                                        </p:attrNameLst>
                                      </p:cBhvr>
                                      <p:to>
                                        <p:strVal val="visible"/>
                                      </p:to>
                                    </p:set>
                                    <p:animEffect transition="in" filter="dissolve">
                                      <p:cBhvr>
                                        <p:cTn id="64" dur="500"/>
                                        <p:tgtEl>
                                          <p:spTgt spid="630865"/>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630866"/>
                                        </p:tgtEl>
                                        <p:attrNameLst>
                                          <p:attrName>style.visibility</p:attrName>
                                        </p:attrNameLst>
                                      </p:cBhvr>
                                      <p:to>
                                        <p:strVal val="visible"/>
                                      </p:to>
                                    </p:set>
                                    <p:animEffect transition="in" filter="dissolve">
                                      <p:cBhvr>
                                        <p:cTn id="67" dur="500"/>
                                        <p:tgtEl>
                                          <p:spTgt spid="630866"/>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630867"/>
                                        </p:tgtEl>
                                        <p:attrNameLst>
                                          <p:attrName>style.visibility</p:attrName>
                                        </p:attrNameLst>
                                      </p:cBhvr>
                                      <p:to>
                                        <p:strVal val="visible"/>
                                      </p:to>
                                    </p:set>
                                    <p:animEffect transition="in" filter="dissolve">
                                      <p:cBhvr>
                                        <p:cTn id="70" dur="500"/>
                                        <p:tgtEl>
                                          <p:spTgt spid="630867"/>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630868"/>
                                        </p:tgtEl>
                                        <p:attrNameLst>
                                          <p:attrName>style.visibility</p:attrName>
                                        </p:attrNameLst>
                                      </p:cBhvr>
                                      <p:to>
                                        <p:strVal val="visible"/>
                                      </p:to>
                                    </p:set>
                                    <p:animEffect transition="in" filter="dissolve">
                                      <p:cBhvr>
                                        <p:cTn id="73" dur="500"/>
                                        <p:tgtEl>
                                          <p:spTgt spid="630868"/>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630869"/>
                                        </p:tgtEl>
                                        <p:attrNameLst>
                                          <p:attrName>style.visibility</p:attrName>
                                        </p:attrNameLst>
                                      </p:cBhvr>
                                      <p:to>
                                        <p:strVal val="visible"/>
                                      </p:to>
                                    </p:set>
                                    <p:animEffect transition="in" filter="dissolve">
                                      <p:cBhvr>
                                        <p:cTn id="76" dur="500"/>
                                        <p:tgtEl>
                                          <p:spTgt spid="630869"/>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630870"/>
                                        </p:tgtEl>
                                        <p:attrNameLst>
                                          <p:attrName>style.visibility</p:attrName>
                                        </p:attrNameLst>
                                      </p:cBhvr>
                                      <p:to>
                                        <p:strVal val="visible"/>
                                      </p:to>
                                    </p:set>
                                    <p:animEffect transition="in" filter="dissolve">
                                      <p:cBhvr>
                                        <p:cTn id="79" dur="500"/>
                                        <p:tgtEl>
                                          <p:spTgt spid="630870"/>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630871"/>
                                        </p:tgtEl>
                                        <p:attrNameLst>
                                          <p:attrName>style.visibility</p:attrName>
                                        </p:attrNameLst>
                                      </p:cBhvr>
                                      <p:to>
                                        <p:strVal val="visible"/>
                                      </p:to>
                                    </p:set>
                                    <p:animEffect transition="in" filter="dissolve">
                                      <p:cBhvr>
                                        <p:cTn id="82" dur="500"/>
                                        <p:tgtEl>
                                          <p:spTgt spid="630871"/>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630872"/>
                                        </p:tgtEl>
                                        <p:attrNameLst>
                                          <p:attrName>style.visibility</p:attrName>
                                        </p:attrNameLst>
                                      </p:cBhvr>
                                      <p:to>
                                        <p:strVal val="visible"/>
                                      </p:to>
                                    </p:set>
                                    <p:animEffect transition="in" filter="dissolve">
                                      <p:cBhvr>
                                        <p:cTn id="85" dur="500"/>
                                        <p:tgtEl>
                                          <p:spTgt spid="630872"/>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630873"/>
                                        </p:tgtEl>
                                        <p:attrNameLst>
                                          <p:attrName>style.visibility</p:attrName>
                                        </p:attrNameLst>
                                      </p:cBhvr>
                                      <p:to>
                                        <p:strVal val="visible"/>
                                      </p:to>
                                    </p:set>
                                    <p:animEffect transition="in" filter="dissolve">
                                      <p:cBhvr>
                                        <p:cTn id="88" dur="500"/>
                                        <p:tgtEl>
                                          <p:spTgt spid="630873"/>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630874"/>
                                        </p:tgtEl>
                                        <p:attrNameLst>
                                          <p:attrName>style.visibility</p:attrName>
                                        </p:attrNameLst>
                                      </p:cBhvr>
                                      <p:to>
                                        <p:strVal val="visible"/>
                                      </p:to>
                                    </p:set>
                                    <p:animEffect transition="in" filter="dissolve">
                                      <p:cBhvr>
                                        <p:cTn id="91" dur="500"/>
                                        <p:tgtEl>
                                          <p:spTgt spid="630874"/>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630875"/>
                                        </p:tgtEl>
                                        <p:attrNameLst>
                                          <p:attrName>style.visibility</p:attrName>
                                        </p:attrNameLst>
                                      </p:cBhvr>
                                      <p:to>
                                        <p:strVal val="visible"/>
                                      </p:to>
                                    </p:set>
                                    <p:animEffect transition="in" filter="dissolve">
                                      <p:cBhvr>
                                        <p:cTn id="94" dur="500"/>
                                        <p:tgtEl>
                                          <p:spTgt spid="630875"/>
                                        </p:tgtEl>
                                      </p:cBhvr>
                                    </p:animEffect>
                                  </p:childTnLst>
                                </p:cTn>
                              </p:par>
                              <p:par>
                                <p:cTn id="95" presetID="9" presetClass="entr" presetSubtype="0" fill="hold" nodeType="withEffect">
                                  <p:stCondLst>
                                    <p:cond delay="0"/>
                                  </p:stCondLst>
                                  <p:childTnLst>
                                    <p:set>
                                      <p:cBhvr>
                                        <p:cTn id="96" dur="1" fill="hold">
                                          <p:stCondLst>
                                            <p:cond delay="0"/>
                                          </p:stCondLst>
                                        </p:cTn>
                                        <p:tgtEl>
                                          <p:spTgt spid="630878"/>
                                        </p:tgtEl>
                                        <p:attrNameLst>
                                          <p:attrName>style.visibility</p:attrName>
                                        </p:attrNameLst>
                                      </p:cBhvr>
                                      <p:to>
                                        <p:strVal val="visible"/>
                                      </p:to>
                                    </p:set>
                                    <p:animEffect transition="in" filter="dissolve">
                                      <p:cBhvr>
                                        <p:cTn id="97" dur="500"/>
                                        <p:tgtEl>
                                          <p:spTgt spid="6308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860" grpId="0" animBg="1"/>
      <p:bldP spid="630861" grpId="0"/>
      <p:bldP spid="630862" grpId="0" animBg="1"/>
      <p:bldP spid="630863" grpId="0"/>
      <p:bldP spid="630864" grpId="0" animBg="1"/>
      <p:bldP spid="630865" grpId="0"/>
      <p:bldP spid="630866" grpId="0" animBg="1"/>
      <p:bldP spid="630867" grpId="0"/>
      <p:bldP spid="630868" grpId="0" animBg="1"/>
      <p:bldP spid="630869" grpId="0"/>
      <p:bldP spid="630870" grpId="0" animBg="1"/>
      <p:bldP spid="630871" grpId="0"/>
      <p:bldP spid="630872" grpId="0" animBg="1"/>
      <p:bldP spid="630873" grpId="0"/>
      <p:bldP spid="630874" grpId="0" animBg="1"/>
      <p:bldP spid="630875" grpId="0"/>
      <p:bldP spid="63088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F3E69BAB-52D2-4235-8DEC-4BD1A724560E}" type="slidenum">
              <a:rPr lang="en-US" altLang="de-DE" sz="1000">
                <a:solidFill>
                  <a:srgbClr val="C0C0C0"/>
                </a:solidFill>
              </a:rPr>
              <a:pPr/>
              <a:t>24</a:t>
            </a:fld>
            <a:endParaRPr lang="en-US" altLang="de-DE" sz="1000">
              <a:solidFill>
                <a:srgbClr val="C0C0C0"/>
              </a:solidFill>
            </a:endParaRPr>
          </a:p>
        </p:txBody>
      </p:sp>
      <p:sp>
        <p:nvSpPr>
          <p:cNvPr id="25603"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25604" name="Text Box 62"/>
          <p:cNvSpPr txBox="1">
            <a:spLocks noChangeAspect="1" noChangeArrowheads="1"/>
          </p:cNvSpPr>
          <p:nvPr/>
        </p:nvSpPr>
        <p:spPr bwMode="auto">
          <a:xfrm>
            <a:off x="21828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6</a:t>
            </a:r>
          </a:p>
          <a:p>
            <a:pPr algn="l" eaLnBrk="1" hangingPunct="1">
              <a:lnSpc>
                <a:spcPct val="100000"/>
              </a:lnSpc>
            </a:pPr>
            <a:r>
              <a:rPr lang="de-DE" altLang="de-DE" sz="1300"/>
              <a:t>Not fixed: </a:t>
            </a:r>
            <a:br>
              <a:rPr lang="de-DE" altLang="de-DE" sz="1300"/>
            </a:br>
            <a:r>
              <a:rPr lang="de-DE" altLang="de-DE" sz="1300"/>
              <a:t>1,2,4,6,7,8</a:t>
            </a:r>
            <a:endParaRPr lang="en-US" altLang="zh-CN" sz="1300">
              <a:ea typeface="宋体" panose="02010600030101010101" pitchFamily="2" charset="-122"/>
            </a:endParaRPr>
          </a:p>
        </p:txBody>
      </p:sp>
      <p:sp>
        <p:nvSpPr>
          <p:cNvPr id="494684" name="Text Box 92"/>
          <p:cNvSpPr txBox="1">
            <a:spLocks noChangeAspect="1" noChangeArrowheads="1"/>
          </p:cNvSpPr>
          <p:nvPr/>
        </p:nvSpPr>
        <p:spPr bwMode="auto">
          <a:xfrm>
            <a:off x="39227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1</a:t>
            </a:r>
          </a:p>
          <a:p>
            <a:pPr algn="l" eaLnBrk="1" hangingPunct="1">
              <a:lnSpc>
                <a:spcPct val="100000"/>
              </a:lnSpc>
            </a:pPr>
            <a:r>
              <a:rPr lang="de-DE" altLang="de-DE" sz="1300"/>
              <a:t>Not fixed: </a:t>
            </a:r>
            <a:br>
              <a:rPr lang="de-DE" altLang="de-DE" sz="1300"/>
            </a:br>
            <a:r>
              <a:rPr lang="de-DE" altLang="de-DE" sz="1300"/>
              <a:t>1,2,7,8</a:t>
            </a:r>
            <a:endParaRPr lang="en-US" altLang="zh-CN" sz="1300">
              <a:ea typeface="宋体" panose="02010600030101010101" pitchFamily="2" charset="-122"/>
            </a:endParaRPr>
          </a:p>
        </p:txBody>
      </p:sp>
      <p:sp>
        <p:nvSpPr>
          <p:cNvPr id="494685" name="Line 93"/>
          <p:cNvSpPr>
            <a:spLocks noChangeAspect="1" noChangeShapeType="1"/>
          </p:cNvSpPr>
          <p:nvPr/>
        </p:nvSpPr>
        <p:spPr bwMode="auto">
          <a:xfrm>
            <a:off x="6477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86" name="Line 94"/>
          <p:cNvSpPr>
            <a:spLocks noChangeAspect="1" noChangeShapeType="1"/>
          </p:cNvSpPr>
          <p:nvPr/>
        </p:nvSpPr>
        <p:spPr bwMode="auto">
          <a:xfrm>
            <a:off x="6481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87" name="Line 95"/>
          <p:cNvSpPr>
            <a:spLocks noChangeAspect="1" noChangeShapeType="1"/>
          </p:cNvSpPr>
          <p:nvPr/>
        </p:nvSpPr>
        <p:spPr bwMode="auto">
          <a:xfrm>
            <a:off x="5846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88" name="Line 96"/>
          <p:cNvSpPr>
            <a:spLocks noChangeAspect="1" noChangeShapeType="1"/>
          </p:cNvSpPr>
          <p:nvPr/>
        </p:nvSpPr>
        <p:spPr bwMode="auto">
          <a:xfrm>
            <a:off x="5846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89" name="Line 97"/>
          <p:cNvSpPr>
            <a:spLocks noChangeAspect="1" noChangeShapeType="1"/>
          </p:cNvSpPr>
          <p:nvPr/>
        </p:nvSpPr>
        <p:spPr bwMode="auto">
          <a:xfrm flipH="1">
            <a:off x="5892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0" name="Line 98"/>
          <p:cNvSpPr>
            <a:spLocks noChangeAspect="1" noChangeShapeType="1"/>
          </p:cNvSpPr>
          <p:nvPr/>
        </p:nvSpPr>
        <p:spPr bwMode="auto">
          <a:xfrm flipH="1">
            <a:off x="5878513"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1" name="Line 99"/>
          <p:cNvSpPr>
            <a:spLocks noChangeAspect="1" noChangeShapeType="1"/>
          </p:cNvSpPr>
          <p:nvPr/>
        </p:nvSpPr>
        <p:spPr bwMode="auto">
          <a:xfrm flipH="1">
            <a:off x="5868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2" name="Line 100"/>
          <p:cNvSpPr>
            <a:spLocks noChangeAspect="1" noChangeShapeType="1"/>
          </p:cNvSpPr>
          <p:nvPr/>
        </p:nvSpPr>
        <p:spPr bwMode="auto">
          <a:xfrm>
            <a:off x="5783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3" name="Line 101"/>
          <p:cNvSpPr>
            <a:spLocks noChangeAspect="1" noChangeShapeType="1"/>
          </p:cNvSpPr>
          <p:nvPr/>
        </p:nvSpPr>
        <p:spPr bwMode="auto">
          <a:xfrm>
            <a:off x="5849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4" name="Line 102"/>
          <p:cNvSpPr>
            <a:spLocks noChangeAspect="1" noChangeShapeType="1"/>
          </p:cNvSpPr>
          <p:nvPr/>
        </p:nvSpPr>
        <p:spPr bwMode="auto">
          <a:xfrm>
            <a:off x="5908675"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5" name="Line 103"/>
          <p:cNvSpPr>
            <a:spLocks noChangeAspect="1" noChangeShapeType="1"/>
          </p:cNvSpPr>
          <p:nvPr/>
        </p:nvSpPr>
        <p:spPr bwMode="auto">
          <a:xfrm>
            <a:off x="5878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6" name="Line 104"/>
          <p:cNvSpPr>
            <a:spLocks noChangeAspect="1" noChangeShapeType="1"/>
          </p:cNvSpPr>
          <p:nvPr/>
        </p:nvSpPr>
        <p:spPr bwMode="auto">
          <a:xfrm>
            <a:off x="5883275"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7" name="Line 105"/>
          <p:cNvSpPr>
            <a:spLocks noChangeAspect="1" noChangeShapeType="1"/>
          </p:cNvSpPr>
          <p:nvPr/>
        </p:nvSpPr>
        <p:spPr bwMode="auto">
          <a:xfrm>
            <a:off x="5892800" y="1162050"/>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4698" name="Oval 106"/>
          <p:cNvSpPr>
            <a:spLocks noChangeAspect="1" noChangeArrowheads="1"/>
          </p:cNvSpPr>
          <p:nvPr/>
        </p:nvSpPr>
        <p:spPr bwMode="auto">
          <a:xfrm>
            <a:off x="5675313"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699" name="Rectangle 107"/>
          <p:cNvSpPr>
            <a:spLocks noChangeAspect="1" noChangeArrowheads="1"/>
          </p:cNvSpPr>
          <p:nvPr/>
        </p:nvSpPr>
        <p:spPr bwMode="auto">
          <a:xfrm>
            <a:off x="5705475" y="1570038"/>
            <a:ext cx="260350"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494700" name="Oval 108"/>
          <p:cNvSpPr>
            <a:spLocks noChangeAspect="1" noChangeArrowheads="1"/>
          </p:cNvSpPr>
          <p:nvPr/>
        </p:nvSpPr>
        <p:spPr bwMode="auto">
          <a:xfrm>
            <a:off x="6311900" y="100012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01" name="Rectangle 109"/>
          <p:cNvSpPr>
            <a:spLocks noChangeAspect="1" noChangeArrowheads="1"/>
          </p:cNvSpPr>
          <p:nvPr/>
        </p:nvSpPr>
        <p:spPr bwMode="auto">
          <a:xfrm>
            <a:off x="6343650" y="103346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494702" name="Oval 110"/>
          <p:cNvSpPr>
            <a:spLocks noChangeAspect="1" noChangeArrowheads="1"/>
          </p:cNvSpPr>
          <p:nvPr/>
        </p:nvSpPr>
        <p:spPr bwMode="auto">
          <a:xfrm>
            <a:off x="6327775" y="1544638"/>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03" name="Rectangle 111"/>
          <p:cNvSpPr>
            <a:spLocks noChangeAspect="1" noChangeArrowheads="1"/>
          </p:cNvSpPr>
          <p:nvPr/>
        </p:nvSpPr>
        <p:spPr bwMode="auto">
          <a:xfrm>
            <a:off x="6343650"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494704" name="Oval 112"/>
          <p:cNvSpPr>
            <a:spLocks noChangeAspect="1" noChangeArrowheads="1"/>
          </p:cNvSpPr>
          <p:nvPr/>
        </p:nvSpPr>
        <p:spPr bwMode="auto">
          <a:xfrm>
            <a:off x="5675313"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05" name="Rectangle 113"/>
          <p:cNvSpPr>
            <a:spLocks noChangeAspect="1" noChangeArrowheads="1"/>
          </p:cNvSpPr>
          <p:nvPr/>
        </p:nvSpPr>
        <p:spPr bwMode="auto">
          <a:xfrm>
            <a:off x="5711825"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494706" name="Oval 114"/>
          <p:cNvSpPr>
            <a:spLocks noChangeAspect="1" noChangeArrowheads="1"/>
          </p:cNvSpPr>
          <p:nvPr/>
        </p:nvSpPr>
        <p:spPr bwMode="auto">
          <a:xfrm>
            <a:off x="5688013" y="1000125"/>
            <a:ext cx="327025"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07" name="Rectangle 115"/>
          <p:cNvSpPr>
            <a:spLocks noChangeAspect="1" noChangeArrowheads="1"/>
          </p:cNvSpPr>
          <p:nvPr/>
        </p:nvSpPr>
        <p:spPr bwMode="auto">
          <a:xfrm>
            <a:off x="5719763" y="1038225"/>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1</a:t>
            </a:r>
            <a:endParaRPr lang="en-US" altLang="zh-CN" sz="1500" b="1">
              <a:solidFill>
                <a:schemeClr val="bg1"/>
              </a:solidFill>
              <a:ea typeface="宋体" panose="02010600030101010101" pitchFamily="2" charset="-122"/>
            </a:endParaRPr>
          </a:p>
        </p:txBody>
      </p:sp>
      <p:sp>
        <p:nvSpPr>
          <p:cNvPr id="494708" name="Oval 116"/>
          <p:cNvSpPr>
            <a:spLocks noChangeAspect="1" noChangeArrowheads="1"/>
          </p:cNvSpPr>
          <p:nvPr/>
        </p:nvSpPr>
        <p:spPr bwMode="auto">
          <a:xfrm>
            <a:off x="5675313" y="263048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09" name="Rectangle 117"/>
          <p:cNvSpPr>
            <a:spLocks noChangeAspect="1" noChangeArrowheads="1"/>
          </p:cNvSpPr>
          <p:nvPr/>
        </p:nvSpPr>
        <p:spPr bwMode="auto">
          <a:xfrm>
            <a:off x="5707063"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494710" name="Oval 118"/>
          <p:cNvSpPr>
            <a:spLocks noChangeAspect="1" noChangeArrowheads="1"/>
          </p:cNvSpPr>
          <p:nvPr/>
        </p:nvSpPr>
        <p:spPr bwMode="auto">
          <a:xfrm>
            <a:off x="6311900"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11" name="Rectangle 119"/>
          <p:cNvSpPr>
            <a:spLocks noChangeAspect="1" noChangeArrowheads="1"/>
          </p:cNvSpPr>
          <p:nvPr/>
        </p:nvSpPr>
        <p:spPr bwMode="auto">
          <a:xfrm>
            <a:off x="6343650" y="211931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7</a:t>
            </a:r>
            <a:endParaRPr lang="en-US" altLang="zh-CN" sz="1500" b="1">
              <a:ea typeface="宋体" panose="02010600030101010101" pitchFamily="2" charset="-122"/>
            </a:endParaRPr>
          </a:p>
        </p:txBody>
      </p:sp>
      <p:sp>
        <p:nvSpPr>
          <p:cNvPr id="494712" name="Oval 120"/>
          <p:cNvSpPr>
            <a:spLocks noChangeAspect="1" noChangeArrowheads="1"/>
          </p:cNvSpPr>
          <p:nvPr/>
        </p:nvSpPr>
        <p:spPr bwMode="auto">
          <a:xfrm>
            <a:off x="6327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13" name="Rectangle 121"/>
          <p:cNvSpPr>
            <a:spLocks noChangeAspect="1" noChangeArrowheads="1"/>
          </p:cNvSpPr>
          <p:nvPr/>
        </p:nvSpPr>
        <p:spPr bwMode="auto">
          <a:xfrm>
            <a:off x="6361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494714" name="Text Box 122"/>
          <p:cNvSpPr txBox="1">
            <a:spLocks noChangeAspect="1" noChangeArrowheads="1"/>
          </p:cNvSpPr>
          <p:nvPr/>
        </p:nvSpPr>
        <p:spPr bwMode="auto">
          <a:xfrm>
            <a:off x="568166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7</a:t>
            </a:r>
          </a:p>
          <a:p>
            <a:pPr algn="l" eaLnBrk="1" hangingPunct="1">
              <a:lnSpc>
                <a:spcPct val="100000"/>
              </a:lnSpc>
            </a:pPr>
            <a:r>
              <a:rPr lang="de-DE" altLang="de-DE" sz="1300"/>
              <a:t>Not fixed: </a:t>
            </a:r>
            <a:br>
              <a:rPr lang="de-DE" altLang="de-DE" sz="1300"/>
            </a:br>
            <a:r>
              <a:rPr lang="de-DE" altLang="de-DE" sz="1300"/>
              <a:t>2,8</a:t>
            </a:r>
            <a:endParaRPr lang="en-US" altLang="zh-CN" sz="1300">
              <a:ea typeface="宋体" panose="02010600030101010101" pitchFamily="2" charset="-122"/>
            </a:endParaRPr>
          </a:p>
        </p:txBody>
      </p:sp>
      <p:sp>
        <p:nvSpPr>
          <p:cNvPr id="494718" name="Freeform 126"/>
          <p:cNvSpPr>
            <a:spLocks noChangeAspect="1"/>
          </p:cNvSpPr>
          <p:nvPr/>
        </p:nvSpPr>
        <p:spPr bwMode="auto">
          <a:xfrm>
            <a:off x="5521325" y="892175"/>
            <a:ext cx="1139825" cy="1720850"/>
          </a:xfrm>
          <a:custGeom>
            <a:avLst/>
            <a:gdLst>
              <a:gd name="T0" fmla="*/ 705333 w 1191"/>
              <a:gd name="T1" fmla="*/ 0 h 1796"/>
              <a:gd name="T2" fmla="*/ 597188 w 1191"/>
              <a:gd name="T3" fmla="*/ 325773 h 1796"/>
              <a:gd name="T4" fmla="*/ 379942 w 1191"/>
              <a:gd name="T5" fmla="*/ 543275 h 1796"/>
              <a:gd name="T6" fmla="*/ 54551 w 1191"/>
              <a:gd name="T7" fmla="*/ 651547 h 1796"/>
              <a:gd name="T8" fmla="*/ 54551 w 1191"/>
              <a:gd name="T9" fmla="*/ 1086550 h 1796"/>
              <a:gd name="T10" fmla="*/ 379942 w 1191"/>
              <a:gd name="T11" fmla="*/ 1086550 h 1796"/>
              <a:gd name="T12" fmla="*/ 814434 w 1191"/>
              <a:gd name="T13" fmla="*/ 1629825 h 1796"/>
              <a:gd name="T14" fmla="*/ 1139825 w 1191"/>
              <a:gd name="T15" fmla="*/ 1629825 h 17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91" h="1796">
                <a:moveTo>
                  <a:pt x="737" y="0"/>
                </a:moveTo>
                <a:cubicBezTo>
                  <a:pt x="709" y="123"/>
                  <a:pt x="681" y="246"/>
                  <a:pt x="624" y="340"/>
                </a:cubicBezTo>
                <a:cubicBezTo>
                  <a:pt x="567" y="434"/>
                  <a:pt x="491" y="510"/>
                  <a:pt x="397" y="567"/>
                </a:cubicBezTo>
                <a:cubicBezTo>
                  <a:pt x="303" y="624"/>
                  <a:pt x="114" y="586"/>
                  <a:pt x="57" y="680"/>
                </a:cubicBezTo>
                <a:cubicBezTo>
                  <a:pt x="0" y="774"/>
                  <a:pt x="0" y="1059"/>
                  <a:pt x="57" y="1134"/>
                </a:cubicBezTo>
                <a:cubicBezTo>
                  <a:pt x="114" y="1209"/>
                  <a:pt x="265" y="1040"/>
                  <a:pt x="397" y="1134"/>
                </a:cubicBezTo>
                <a:cubicBezTo>
                  <a:pt x="529" y="1228"/>
                  <a:pt x="719" y="1606"/>
                  <a:pt x="851" y="1701"/>
                </a:cubicBezTo>
                <a:cubicBezTo>
                  <a:pt x="983" y="1796"/>
                  <a:pt x="1087" y="1748"/>
                  <a:pt x="1191" y="1701"/>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37" name="AutoShape 127"/>
          <p:cNvSpPr>
            <a:spLocks noChangeAspect="1" noChangeArrowheads="1"/>
          </p:cNvSpPr>
          <p:nvPr/>
        </p:nvSpPr>
        <p:spPr bwMode="auto">
          <a:xfrm>
            <a:off x="68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38" name="AutoShape 128"/>
          <p:cNvSpPr>
            <a:spLocks noChangeAspect="1" noChangeArrowheads="1"/>
          </p:cNvSpPr>
          <p:nvPr/>
        </p:nvSpPr>
        <p:spPr bwMode="auto">
          <a:xfrm>
            <a:off x="2589213" y="4151313"/>
            <a:ext cx="1630362" cy="327025"/>
          </a:xfrm>
          <a:prstGeom prst="curvedUpArrow">
            <a:avLst>
              <a:gd name="adj1" fmla="val 99709"/>
              <a:gd name="adj2" fmla="val 199417"/>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4721" name="AutoShape 129"/>
          <p:cNvSpPr>
            <a:spLocks noChangeAspect="1" noChangeArrowheads="1"/>
          </p:cNvSpPr>
          <p:nvPr/>
        </p:nvSpPr>
        <p:spPr bwMode="auto">
          <a:xfrm>
            <a:off x="449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40" name="Text Box 130"/>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5641" name="Text Box 131"/>
          <p:cNvSpPr txBox="1">
            <a:spLocks noChangeArrowheads="1"/>
          </p:cNvSpPr>
          <p:nvPr/>
        </p:nvSpPr>
        <p:spPr bwMode="auto">
          <a:xfrm>
            <a:off x="2589213" y="4667250"/>
            <a:ext cx="1700212"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 3+2-0 = 5</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(4,6)</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2</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i="1" baseline="-25000">
                <a:ea typeface="宋体" panose="02010600030101010101" pitchFamily="2" charset="-122"/>
              </a:rPr>
              <a:t> </a:t>
            </a:r>
            <a:r>
              <a:rPr lang="en-US" altLang="zh-CN" sz="1300">
                <a:ea typeface="宋体" panose="02010600030101010101" pitchFamily="2" charset="-122"/>
              </a:rPr>
              <a:t>=8</a:t>
            </a:r>
          </a:p>
        </p:txBody>
      </p:sp>
      <p:sp>
        <p:nvSpPr>
          <p:cNvPr id="494724" name="Text Box 132"/>
          <p:cNvSpPr txBox="1">
            <a:spLocks noChangeArrowheads="1"/>
          </p:cNvSpPr>
          <p:nvPr/>
        </p:nvSpPr>
        <p:spPr bwMode="auto">
          <a:xfrm>
            <a:off x="4495800" y="4667250"/>
            <a:ext cx="1658938"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(1) = -3</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(7)=-3</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-3	</a:t>
            </a:r>
            <a:r>
              <a:rPr lang="en-US" altLang="zh-CN" sz="1300" i="1">
                <a:ea typeface="宋体" panose="02010600030101010101" pitchFamily="2" charset="-122"/>
              </a:rPr>
              <a:t>D</a:t>
            </a:r>
            <a:r>
              <a:rPr lang="en-US" altLang="zh-CN" sz="1300">
                <a:ea typeface="宋体" panose="02010600030101010101" pitchFamily="2" charset="-122"/>
              </a:rPr>
              <a:t>(8)=-3</a:t>
            </a:r>
            <a:br>
              <a:rPr lang="en-US" altLang="zh-CN" sz="1300">
                <a:ea typeface="宋体" panose="02010600030101010101" pitchFamily="2" charset="-122"/>
              </a:rPr>
            </a:br>
            <a:r>
              <a:rPr lang="en-US" altLang="zh-CN" sz="1300">
                <a:ea typeface="宋体" panose="02010600030101010101" pitchFamily="2" charset="-122"/>
              </a:rPr>
              <a:t>       </a:t>
            </a:r>
            <a:br>
              <a:rPr lang="en-US" altLang="zh-CN" sz="1300" b="1">
                <a:ea typeface="宋体" panose="02010600030101010101" pitchFamily="2" charset="-122"/>
              </a:rPr>
            </a:b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 -3-3-0 = -6</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(1,7)</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i="1">
                <a:ea typeface="宋体" panose="02010600030101010101" pitchFamily="2" charset="-122"/>
              </a:rPr>
              <a:t> </a:t>
            </a:r>
            <a:r>
              <a:rPr lang="en-US" altLang="zh-CN" sz="1300">
                <a:ea typeface="宋体" panose="02010600030101010101" pitchFamily="2" charset="-122"/>
              </a:rPr>
              <a:t>= 2</a:t>
            </a:r>
          </a:p>
        </p:txBody>
      </p:sp>
      <p:sp>
        <p:nvSpPr>
          <p:cNvPr id="494728" name="Text Box 136"/>
          <p:cNvSpPr txBox="1">
            <a:spLocks noChangeArrowheads="1"/>
          </p:cNvSpPr>
          <p:nvPr/>
        </p:nvSpPr>
        <p:spPr bwMode="auto">
          <a:xfrm>
            <a:off x="6430963" y="5992813"/>
            <a:ext cx="2462212" cy="255587"/>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in the current pass</a:t>
            </a:r>
            <a:endParaRPr lang="en-US" altLang="zh-CN" sz="1300">
              <a:ea typeface="宋体" panose="02010600030101010101" pitchFamily="2" charset="-122"/>
            </a:endParaRPr>
          </a:p>
        </p:txBody>
      </p:sp>
      <p:grpSp>
        <p:nvGrpSpPr>
          <p:cNvPr id="494732" name="Group 140"/>
          <p:cNvGrpSpPr>
            <a:grpSpLocks/>
          </p:cNvGrpSpPr>
          <p:nvPr/>
        </p:nvGrpSpPr>
        <p:grpSpPr bwMode="auto">
          <a:xfrm>
            <a:off x="5264150" y="4840288"/>
            <a:ext cx="3471863" cy="1295400"/>
            <a:chOff x="3316" y="3049"/>
            <a:chExt cx="2187" cy="816"/>
          </a:xfrm>
        </p:grpSpPr>
        <p:sp>
          <p:nvSpPr>
            <p:cNvPr id="25737" name="Line 133"/>
            <p:cNvSpPr>
              <a:spLocks noChangeShapeType="1"/>
            </p:cNvSpPr>
            <p:nvPr/>
          </p:nvSpPr>
          <p:spPr bwMode="auto">
            <a:xfrm flipH="1" flipV="1">
              <a:off x="3316" y="3049"/>
              <a:ext cx="716" cy="20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5738" name="Line 134"/>
            <p:cNvSpPr>
              <a:spLocks noChangeShapeType="1"/>
            </p:cNvSpPr>
            <p:nvPr/>
          </p:nvSpPr>
          <p:spPr bwMode="auto">
            <a:xfrm flipH="1" flipV="1">
              <a:off x="3856" y="3049"/>
              <a:ext cx="195" cy="12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5739" name="Text Box 135"/>
            <p:cNvSpPr txBox="1">
              <a:spLocks noChangeArrowheads="1"/>
            </p:cNvSpPr>
            <p:nvPr/>
          </p:nvSpPr>
          <p:spPr bwMode="auto">
            <a:xfrm>
              <a:off x="4114" y="3073"/>
              <a:ext cx="1389" cy="286"/>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Nodes that lead to maximum gain</a:t>
              </a:r>
              <a:endParaRPr lang="en-US" altLang="zh-CN" sz="1300">
                <a:ea typeface="宋体" panose="02010600030101010101" pitchFamily="2" charset="-122"/>
              </a:endParaRPr>
            </a:p>
          </p:txBody>
        </p:sp>
        <p:sp>
          <p:nvSpPr>
            <p:cNvPr id="25740" name="Line 137"/>
            <p:cNvSpPr>
              <a:spLocks noChangeShapeType="1"/>
            </p:cNvSpPr>
            <p:nvPr/>
          </p:nvSpPr>
          <p:spPr bwMode="auto">
            <a:xfrm flipH="1">
              <a:off x="3762" y="3624"/>
              <a:ext cx="27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25741" name="Line 138"/>
            <p:cNvSpPr>
              <a:spLocks noChangeShapeType="1"/>
            </p:cNvSpPr>
            <p:nvPr/>
          </p:nvSpPr>
          <p:spPr bwMode="auto">
            <a:xfrm flipH="1">
              <a:off x="3758" y="3865"/>
              <a:ext cx="274"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grpSp>
      <p:sp>
        <p:nvSpPr>
          <p:cNvPr id="494731" name="Text Box 139"/>
          <p:cNvSpPr txBox="1">
            <a:spLocks noChangeArrowheads="1"/>
          </p:cNvSpPr>
          <p:nvPr/>
        </p:nvSpPr>
        <p:spPr bwMode="auto">
          <a:xfrm>
            <a:off x="6423025" y="5616575"/>
            <a:ext cx="2312988" cy="255588"/>
          </a:xfrm>
          <a:prstGeom prst="rect">
            <a:avLst/>
          </a:prstGeom>
          <a:noFill/>
          <a:ln>
            <a:noFill/>
          </a:ln>
          <a:effectLst/>
          <a:extLst>
            <a:ext uri="{909E8E84-426E-40DD-AFC4-6F175D3DCCD1}">
              <a14:hiddenFill xmlns:a14="http://schemas.microsoft.com/office/drawing/2010/main">
                <a:solidFill>
                  <a:srgbClr val="CCCCFF"/>
                </a:solidFill>
              </a14:hiddenFill>
            </a:ext>
            <a:ext uri="{91240B29-F687-4F45-9708-019B960494DF}">
              <a14:hiddenLine xmlns:a14="http://schemas.microsoft.com/office/drawing/2010/main" w="9525" algn="ctr">
                <a:solidFill>
                  <a:srgbClr val="CCCC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6226" tIns="19057" rIns="76226" bIns="38113" anchor="ctr">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pPr>
            <a:r>
              <a:rPr lang="de-DE" altLang="de-DE" sz="1300"/>
              <a:t>Gain after node swapping</a:t>
            </a:r>
            <a:endParaRPr lang="en-US" altLang="zh-CN" sz="1300">
              <a:ea typeface="宋体" panose="02010600030101010101" pitchFamily="2" charset="-122"/>
            </a:endParaRPr>
          </a:p>
        </p:txBody>
      </p:sp>
      <p:sp>
        <p:nvSpPr>
          <p:cNvPr id="25646" name="Rectangle 141"/>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25647" name="Line 142"/>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8" name="Line 143"/>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49" name="Line 144"/>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0" name="Line 145"/>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1" name="Line 146"/>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2" name="Line 147"/>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3" name="Line 148"/>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4" name="Line 149"/>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5" name="Line 150"/>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6" name="Line 151"/>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7" name="Line 152"/>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8" name="Line 153"/>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59" name="Line 154"/>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60" name="Oval 155"/>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61" name="Rectangle 156"/>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5662" name="Oval 157"/>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63" name="Rectangle 158"/>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5664" name="Oval 159"/>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65" name="Rectangle 160"/>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5666" name="Oval 161"/>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67" name="Rectangle 162"/>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5668" name="Oval 163"/>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69" name="Rectangle 164"/>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5670" name="Oval 165"/>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71" name="Rectangle 166"/>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5672" name="Oval 167"/>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73" name="Rectangle 168"/>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5674" name="Oval 169"/>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75" name="Rectangle 170"/>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5676" name="Line 171"/>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77" name="Line 172"/>
          <p:cNvSpPr>
            <a:spLocks noChangeAspect="1" noChangeShapeType="1"/>
          </p:cNvSpPr>
          <p:nvPr/>
        </p:nvSpPr>
        <p:spPr bwMode="auto">
          <a:xfrm>
            <a:off x="3000375"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78" name="Line 173"/>
          <p:cNvSpPr>
            <a:spLocks noChangeAspect="1" noChangeShapeType="1"/>
          </p:cNvSpPr>
          <p:nvPr/>
        </p:nvSpPr>
        <p:spPr bwMode="auto">
          <a:xfrm>
            <a:off x="3005138"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79" name="Line 174"/>
          <p:cNvSpPr>
            <a:spLocks noChangeAspect="1" noChangeShapeType="1"/>
          </p:cNvSpPr>
          <p:nvPr/>
        </p:nvSpPr>
        <p:spPr bwMode="auto">
          <a:xfrm>
            <a:off x="2370138"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0" name="Line 175"/>
          <p:cNvSpPr>
            <a:spLocks noChangeAspect="1" noChangeShapeType="1"/>
          </p:cNvSpPr>
          <p:nvPr/>
        </p:nvSpPr>
        <p:spPr bwMode="auto">
          <a:xfrm>
            <a:off x="2370138"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1" name="Line 176"/>
          <p:cNvSpPr>
            <a:spLocks noChangeAspect="1" noChangeShapeType="1"/>
          </p:cNvSpPr>
          <p:nvPr/>
        </p:nvSpPr>
        <p:spPr bwMode="auto">
          <a:xfrm flipH="1">
            <a:off x="2414588" y="1701800"/>
            <a:ext cx="576262"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2" name="Line 177"/>
          <p:cNvSpPr>
            <a:spLocks noChangeAspect="1" noChangeShapeType="1"/>
          </p:cNvSpPr>
          <p:nvPr/>
        </p:nvSpPr>
        <p:spPr bwMode="auto">
          <a:xfrm flipH="1">
            <a:off x="2401888"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3" name="Line 178"/>
          <p:cNvSpPr>
            <a:spLocks noChangeAspect="1" noChangeShapeType="1"/>
          </p:cNvSpPr>
          <p:nvPr/>
        </p:nvSpPr>
        <p:spPr bwMode="auto">
          <a:xfrm flipH="1">
            <a:off x="2390775"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4" name="Line 179"/>
          <p:cNvSpPr>
            <a:spLocks noChangeAspect="1" noChangeShapeType="1"/>
          </p:cNvSpPr>
          <p:nvPr/>
        </p:nvSpPr>
        <p:spPr bwMode="auto">
          <a:xfrm>
            <a:off x="2305050" y="2203450"/>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5" name="Line 180"/>
          <p:cNvSpPr>
            <a:spLocks noChangeAspect="1" noChangeShapeType="1"/>
          </p:cNvSpPr>
          <p:nvPr/>
        </p:nvSpPr>
        <p:spPr bwMode="auto">
          <a:xfrm>
            <a:off x="2373313"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6" name="Line 181"/>
          <p:cNvSpPr>
            <a:spLocks noChangeAspect="1" noChangeShapeType="1"/>
          </p:cNvSpPr>
          <p:nvPr/>
        </p:nvSpPr>
        <p:spPr bwMode="auto">
          <a:xfrm>
            <a:off x="2432050"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7" name="Line 182"/>
          <p:cNvSpPr>
            <a:spLocks noChangeAspect="1" noChangeShapeType="1"/>
          </p:cNvSpPr>
          <p:nvPr/>
        </p:nvSpPr>
        <p:spPr bwMode="auto">
          <a:xfrm>
            <a:off x="2401888"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8" name="Line 183"/>
          <p:cNvSpPr>
            <a:spLocks noChangeAspect="1" noChangeShapeType="1"/>
          </p:cNvSpPr>
          <p:nvPr/>
        </p:nvSpPr>
        <p:spPr bwMode="auto">
          <a:xfrm>
            <a:off x="2406650"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89" name="Line 184"/>
          <p:cNvSpPr>
            <a:spLocks noChangeAspect="1" noChangeShapeType="1"/>
          </p:cNvSpPr>
          <p:nvPr/>
        </p:nvSpPr>
        <p:spPr bwMode="auto">
          <a:xfrm>
            <a:off x="2414588" y="1162050"/>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690" name="Oval 185"/>
          <p:cNvSpPr>
            <a:spLocks noChangeAspect="1" noChangeArrowheads="1"/>
          </p:cNvSpPr>
          <p:nvPr/>
        </p:nvSpPr>
        <p:spPr bwMode="auto">
          <a:xfrm>
            <a:off x="2198688"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91" name="Rectangle 186"/>
          <p:cNvSpPr>
            <a:spLocks noChangeAspect="1" noChangeArrowheads="1"/>
          </p:cNvSpPr>
          <p:nvPr/>
        </p:nvSpPr>
        <p:spPr bwMode="auto">
          <a:xfrm>
            <a:off x="2228850" y="1570038"/>
            <a:ext cx="260350"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5692" name="Oval 187"/>
          <p:cNvSpPr>
            <a:spLocks noChangeAspect="1" noChangeArrowheads="1"/>
          </p:cNvSpPr>
          <p:nvPr/>
        </p:nvSpPr>
        <p:spPr bwMode="auto">
          <a:xfrm>
            <a:off x="28352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25693" name="Rectangle 188"/>
          <p:cNvSpPr>
            <a:spLocks noChangeAspect="1" noChangeArrowheads="1"/>
          </p:cNvSpPr>
          <p:nvPr/>
        </p:nvSpPr>
        <p:spPr bwMode="auto">
          <a:xfrm>
            <a:off x="2867025" y="1033463"/>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5694" name="Oval 189"/>
          <p:cNvSpPr>
            <a:spLocks noChangeAspect="1" noChangeArrowheads="1"/>
          </p:cNvSpPr>
          <p:nvPr/>
        </p:nvSpPr>
        <p:spPr bwMode="auto">
          <a:xfrm>
            <a:off x="2849563" y="1544638"/>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95" name="Rectangle 190"/>
          <p:cNvSpPr>
            <a:spLocks noChangeAspect="1" noChangeArrowheads="1"/>
          </p:cNvSpPr>
          <p:nvPr/>
        </p:nvSpPr>
        <p:spPr bwMode="auto">
          <a:xfrm>
            <a:off x="2867025"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5696" name="Oval 191"/>
          <p:cNvSpPr>
            <a:spLocks noChangeAspect="1" noChangeArrowheads="1"/>
          </p:cNvSpPr>
          <p:nvPr/>
        </p:nvSpPr>
        <p:spPr bwMode="auto">
          <a:xfrm>
            <a:off x="21986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97" name="Rectangle 192"/>
          <p:cNvSpPr>
            <a:spLocks noChangeAspect="1" noChangeArrowheads="1"/>
          </p:cNvSpPr>
          <p:nvPr/>
        </p:nvSpPr>
        <p:spPr bwMode="auto">
          <a:xfrm>
            <a:off x="2235200"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5698" name="Oval 193"/>
          <p:cNvSpPr>
            <a:spLocks noChangeAspect="1" noChangeArrowheads="1"/>
          </p:cNvSpPr>
          <p:nvPr/>
        </p:nvSpPr>
        <p:spPr bwMode="auto">
          <a:xfrm>
            <a:off x="22129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699" name="Rectangle 194"/>
          <p:cNvSpPr>
            <a:spLocks noChangeAspect="1" noChangeArrowheads="1"/>
          </p:cNvSpPr>
          <p:nvPr/>
        </p:nvSpPr>
        <p:spPr bwMode="auto">
          <a:xfrm>
            <a:off x="2241550" y="1036638"/>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5700" name="Oval 195"/>
          <p:cNvSpPr>
            <a:spLocks noChangeAspect="1" noChangeArrowheads="1"/>
          </p:cNvSpPr>
          <p:nvPr/>
        </p:nvSpPr>
        <p:spPr bwMode="auto">
          <a:xfrm>
            <a:off x="2198688" y="2630488"/>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01" name="Rectangle 196"/>
          <p:cNvSpPr>
            <a:spLocks noChangeAspect="1" noChangeArrowheads="1"/>
          </p:cNvSpPr>
          <p:nvPr/>
        </p:nvSpPr>
        <p:spPr bwMode="auto">
          <a:xfrm>
            <a:off x="2230438"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5702" name="Oval 197"/>
          <p:cNvSpPr>
            <a:spLocks noChangeAspect="1" noChangeArrowheads="1"/>
          </p:cNvSpPr>
          <p:nvPr/>
        </p:nvSpPr>
        <p:spPr bwMode="auto">
          <a:xfrm>
            <a:off x="283527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03" name="Rectangle 198"/>
          <p:cNvSpPr>
            <a:spLocks noChangeAspect="1" noChangeArrowheads="1"/>
          </p:cNvSpPr>
          <p:nvPr/>
        </p:nvSpPr>
        <p:spPr bwMode="auto">
          <a:xfrm>
            <a:off x="2867025" y="2119313"/>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5704" name="Oval 199"/>
          <p:cNvSpPr>
            <a:spLocks noChangeAspect="1" noChangeArrowheads="1"/>
          </p:cNvSpPr>
          <p:nvPr/>
        </p:nvSpPr>
        <p:spPr bwMode="auto">
          <a:xfrm>
            <a:off x="284956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05" name="Rectangle 200"/>
          <p:cNvSpPr>
            <a:spLocks noChangeAspect="1" noChangeArrowheads="1"/>
          </p:cNvSpPr>
          <p:nvPr/>
        </p:nvSpPr>
        <p:spPr bwMode="auto">
          <a:xfrm>
            <a:off x="2884488"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5706" name="Freeform 201"/>
          <p:cNvSpPr>
            <a:spLocks noChangeAspect="1"/>
          </p:cNvSpPr>
          <p:nvPr/>
        </p:nvSpPr>
        <p:spPr bwMode="auto">
          <a:xfrm>
            <a:off x="1936750" y="1381125"/>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07" name="Line 202"/>
          <p:cNvSpPr>
            <a:spLocks noChangeAspect="1" noChangeShapeType="1"/>
          </p:cNvSpPr>
          <p:nvPr/>
        </p:nvSpPr>
        <p:spPr bwMode="auto">
          <a:xfrm>
            <a:off x="47371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08" name="Line 203"/>
          <p:cNvSpPr>
            <a:spLocks noChangeAspect="1" noChangeShapeType="1"/>
          </p:cNvSpPr>
          <p:nvPr/>
        </p:nvSpPr>
        <p:spPr bwMode="auto">
          <a:xfrm>
            <a:off x="47418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09" name="Line 204"/>
          <p:cNvSpPr>
            <a:spLocks noChangeAspect="1" noChangeShapeType="1"/>
          </p:cNvSpPr>
          <p:nvPr/>
        </p:nvSpPr>
        <p:spPr bwMode="auto">
          <a:xfrm>
            <a:off x="41068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0" name="Line 205"/>
          <p:cNvSpPr>
            <a:spLocks noChangeAspect="1" noChangeShapeType="1"/>
          </p:cNvSpPr>
          <p:nvPr/>
        </p:nvSpPr>
        <p:spPr bwMode="auto">
          <a:xfrm>
            <a:off x="41068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1" name="Line 206"/>
          <p:cNvSpPr>
            <a:spLocks noChangeAspect="1" noChangeShapeType="1"/>
          </p:cNvSpPr>
          <p:nvPr/>
        </p:nvSpPr>
        <p:spPr bwMode="auto">
          <a:xfrm flipH="1">
            <a:off x="4154488"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2" name="Line 207"/>
          <p:cNvSpPr>
            <a:spLocks noChangeAspect="1" noChangeShapeType="1"/>
          </p:cNvSpPr>
          <p:nvPr/>
        </p:nvSpPr>
        <p:spPr bwMode="auto">
          <a:xfrm flipH="1">
            <a:off x="4138613"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3" name="Line 208"/>
          <p:cNvSpPr>
            <a:spLocks noChangeAspect="1" noChangeShapeType="1"/>
          </p:cNvSpPr>
          <p:nvPr/>
        </p:nvSpPr>
        <p:spPr bwMode="auto">
          <a:xfrm flipH="1">
            <a:off x="41290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4" name="Line 209"/>
          <p:cNvSpPr>
            <a:spLocks noChangeAspect="1" noChangeShapeType="1"/>
          </p:cNvSpPr>
          <p:nvPr/>
        </p:nvSpPr>
        <p:spPr bwMode="auto">
          <a:xfrm>
            <a:off x="4044950" y="2203450"/>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5" name="Line 210"/>
          <p:cNvSpPr>
            <a:spLocks noChangeAspect="1" noChangeShapeType="1"/>
          </p:cNvSpPr>
          <p:nvPr/>
        </p:nvSpPr>
        <p:spPr bwMode="auto">
          <a:xfrm>
            <a:off x="4111625" y="1152525"/>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6" name="Line 211"/>
          <p:cNvSpPr>
            <a:spLocks noChangeAspect="1" noChangeShapeType="1"/>
          </p:cNvSpPr>
          <p:nvPr/>
        </p:nvSpPr>
        <p:spPr bwMode="auto">
          <a:xfrm>
            <a:off x="4168775"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7" name="Line 212"/>
          <p:cNvSpPr>
            <a:spLocks noChangeAspect="1" noChangeShapeType="1"/>
          </p:cNvSpPr>
          <p:nvPr/>
        </p:nvSpPr>
        <p:spPr bwMode="auto">
          <a:xfrm>
            <a:off x="4140200"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8" name="Line 213"/>
          <p:cNvSpPr>
            <a:spLocks noChangeAspect="1" noChangeShapeType="1"/>
          </p:cNvSpPr>
          <p:nvPr/>
        </p:nvSpPr>
        <p:spPr bwMode="auto">
          <a:xfrm>
            <a:off x="41449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19" name="Line 214"/>
          <p:cNvSpPr>
            <a:spLocks noChangeAspect="1" noChangeShapeType="1"/>
          </p:cNvSpPr>
          <p:nvPr/>
        </p:nvSpPr>
        <p:spPr bwMode="auto">
          <a:xfrm>
            <a:off x="4154488" y="1162050"/>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5720" name="Oval 215"/>
          <p:cNvSpPr>
            <a:spLocks noChangeAspect="1" noChangeArrowheads="1"/>
          </p:cNvSpPr>
          <p:nvPr/>
        </p:nvSpPr>
        <p:spPr bwMode="auto">
          <a:xfrm>
            <a:off x="39354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21" name="Rectangle 216"/>
          <p:cNvSpPr>
            <a:spLocks noChangeAspect="1" noChangeArrowheads="1"/>
          </p:cNvSpPr>
          <p:nvPr/>
        </p:nvSpPr>
        <p:spPr bwMode="auto">
          <a:xfrm>
            <a:off x="3965575" y="1570038"/>
            <a:ext cx="260350"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5722" name="Oval 217"/>
          <p:cNvSpPr>
            <a:spLocks noChangeAspect="1" noChangeArrowheads="1"/>
          </p:cNvSpPr>
          <p:nvPr/>
        </p:nvSpPr>
        <p:spPr bwMode="auto">
          <a:xfrm>
            <a:off x="4573588"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23" name="Rectangle 218"/>
          <p:cNvSpPr>
            <a:spLocks noChangeAspect="1" noChangeArrowheads="1"/>
          </p:cNvSpPr>
          <p:nvPr/>
        </p:nvSpPr>
        <p:spPr bwMode="auto">
          <a:xfrm>
            <a:off x="4605338" y="103346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5724" name="Oval 219"/>
          <p:cNvSpPr>
            <a:spLocks noChangeAspect="1" noChangeArrowheads="1"/>
          </p:cNvSpPr>
          <p:nvPr/>
        </p:nvSpPr>
        <p:spPr bwMode="auto">
          <a:xfrm>
            <a:off x="4587875" y="1544638"/>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25" name="Rectangle 220"/>
          <p:cNvSpPr>
            <a:spLocks noChangeAspect="1" noChangeArrowheads="1"/>
          </p:cNvSpPr>
          <p:nvPr/>
        </p:nvSpPr>
        <p:spPr bwMode="auto">
          <a:xfrm>
            <a:off x="4605338"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25726" name="Oval 221"/>
          <p:cNvSpPr>
            <a:spLocks noChangeAspect="1" noChangeArrowheads="1"/>
          </p:cNvSpPr>
          <p:nvPr/>
        </p:nvSpPr>
        <p:spPr bwMode="auto">
          <a:xfrm>
            <a:off x="3935413" y="2087563"/>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27" name="Rectangle 222"/>
          <p:cNvSpPr>
            <a:spLocks noChangeAspect="1" noChangeArrowheads="1"/>
          </p:cNvSpPr>
          <p:nvPr/>
        </p:nvSpPr>
        <p:spPr bwMode="auto">
          <a:xfrm>
            <a:off x="39735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5728" name="Oval 223"/>
          <p:cNvSpPr>
            <a:spLocks noChangeAspect="1" noChangeArrowheads="1"/>
          </p:cNvSpPr>
          <p:nvPr/>
        </p:nvSpPr>
        <p:spPr bwMode="auto">
          <a:xfrm>
            <a:off x="3951288"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29" name="Rectangle 224"/>
          <p:cNvSpPr>
            <a:spLocks noChangeAspect="1" noChangeArrowheads="1"/>
          </p:cNvSpPr>
          <p:nvPr/>
        </p:nvSpPr>
        <p:spPr bwMode="auto">
          <a:xfrm>
            <a:off x="3979863" y="10366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5730" name="Oval 225"/>
          <p:cNvSpPr>
            <a:spLocks noChangeAspect="1" noChangeArrowheads="1"/>
          </p:cNvSpPr>
          <p:nvPr/>
        </p:nvSpPr>
        <p:spPr bwMode="auto">
          <a:xfrm>
            <a:off x="393541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31" name="Rectangle 226"/>
          <p:cNvSpPr>
            <a:spLocks noChangeAspect="1" noChangeArrowheads="1"/>
          </p:cNvSpPr>
          <p:nvPr/>
        </p:nvSpPr>
        <p:spPr bwMode="auto">
          <a:xfrm>
            <a:off x="3967163" y="2662238"/>
            <a:ext cx="261937"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25732" name="Oval 227"/>
          <p:cNvSpPr>
            <a:spLocks noChangeAspect="1" noChangeArrowheads="1"/>
          </p:cNvSpPr>
          <p:nvPr/>
        </p:nvSpPr>
        <p:spPr bwMode="auto">
          <a:xfrm>
            <a:off x="45735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33" name="Rectangle 228"/>
          <p:cNvSpPr>
            <a:spLocks noChangeAspect="1" noChangeArrowheads="1"/>
          </p:cNvSpPr>
          <p:nvPr/>
        </p:nvSpPr>
        <p:spPr bwMode="auto">
          <a:xfrm>
            <a:off x="46053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5734" name="Oval 229"/>
          <p:cNvSpPr>
            <a:spLocks noChangeAspect="1" noChangeArrowheads="1"/>
          </p:cNvSpPr>
          <p:nvPr/>
        </p:nvSpPr>
        <p:spPr bwMode="auto">
          <a:xfrm>
            <a:off x="45878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5735" name="Rectangle 230"/>
          <p:cNvSpPr>
            <a:spLocks noChangeAspect="1" noChangeArrowheads="1"/>
          </p:cNvSpPr>
          <p:nvPr/>
        </p:nvSpPr>
        <p:spPr bwMode="auto">
          <a:xfrm>
            <a:off x="46212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5736" name="Line 231"/>
          <p:cNvSpPr>
            <a:spLocks noChangeAspect="1" noChangeShapeType="1"/>
          </p:cNvSpPr>
          <p:nvPr/>
        </p:nvSpPr>
        <p:spPr bwMode="auto">
          <a:xfrm>
            <a:off x="3836988" y="1978025"/>
            <a:ext cx="119538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4684"/>
                                        </p:tgtEl>
                                        <p:attrNameLst>
                                          <p:attrName>style.visibility</p:attrName>
                                        </p:attrNameLst>
                                      </p:cBhvr>
                                      <p:to>
                                        <p:strVal val="visible"/>
                                      </p:to>
                                    </p:set>
                                    <p:animEffect transition="in" filter="dissolve">
                                      <p:cBhvr>
                                        <p:cTn id="7" dur="500"/>
                                        <p:tgtEl>
                                          <p:spTgt spid="4946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4724"/>
                                        </p:tgtEl>
                                        <p:attrNameLst>
                                          <p:attrName>style.visibility</p:attrName>
                                        </p:attrNameLst>
                                      </p:cBhvr>
                                      <p:to>
                                        <p:strVal val="visible"/>
                                      </p:to>
                                    </p:set>
                                    <p:animEffect transition="in" filter="dissolve">
                                      <p:cBhvr>
                                        <p:cTn id="12" dur="500"/>
                                        <p:tgtEl>
                                          <p:spTgt spid="49472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94732"/>
                                        </p:tgtEl>
                                        <p:attrNameLst>
                                          <p:attrName>style.visibility</p:attrName>
                                        </p:attrNameLst>
                                      </p:cBhvr>
                                      <p:to>
                                        <p:strVal val="visible"/>
                                      </p:to>
                                    </p:set>
                                    <p:animEffect transition="in" filter="dissolve">
                                      <p:cBhvr>
                                        <p:cTn id="17" dur="500"/>
                                        <p:tgtEl>
                                          <p:spTgt spid="494732"/>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494731"/>
                                        </p:tgtEl>
                                        <p:attrNameLst>
                                          <p:attrName>style.visibility</p:attrName>
                                        </p:attrNameLst>
                                      </p:cBhvr>
                                      <p:to>
                                        <p:strVal val="visible"/>
                                      </p:to>
                                    </p:set>
                                    <p:animEffect transition="in" filter="dissolve">
                                      <p:cBhvr>
                                        <p:cTn id="20" dur="500"/>
                                        <p:tgtEl>
                                          <p:spTgt spid="494731"/>
                                        </p:tgtEl>
                                      </p:cBhvr>
                                    </p:animEffect>
                                  </p:childTnLst>
                                </p:cTn>
                              </p:par>
                              <p:par>
                                <p:cTn id="21" presetID="9" presetClass="entr" presetSubtype="0" fill="hold" grpId="0" nodeType="withEffect">
                                  <p:stCondLst>
                                    <p:cond delay="0"/>
                                  </p:stCondLst>
                                  <p:childTnLst>
                                    <p:set>
                                      <p:cBhvr>
                                        <p:cTn id="22" dur="1" fill="hold">
                                          <p:stCondLst>
                                            <p:cond delay="0"/>
                                          </p:stCondLst>
                                        </p:cTn>
                                        <p:tgtEl>
                                          <p:spTgt spid="494728"/>
                                        </p:tgtEl>
                                        <p:attrNameLst>
                                          <p:attrName>style.visibility</p:attrName>
                                        </p:attrNameLst>
                                      </p:cBhvr>
                                      <p:to>
                                        <p:strVal val="visible"/>
                                      </p:to>
                                    </p:set>
                                    <p:animEffect transition="in" filter="dissolve">
                                      <p:cBhvr>
                                        <p:cTn id="23" dur="500"/>
                                        <p:tgtEl>
                                          <p:spTgt spid="49472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494721"/>
                                        </p:tgtEl>
                                        <p:attrNameLst>
                                          <p:attrName>style.visibility</p:attrName>
                                        </p:attrNameLst>
                                      </p:cBhvr>
                                      <p:to>
                                        <p:strVal val="visible"/>
                                      </p:to>
                                    </p:set>
                                    <p:animEffect transition="in" filter="dissolve">
                                      <p:cBhvr>
                                        <p:cTn id="28" dur="500"/>
                                        <p:tgtEl>
                                          <p:spTgt spid="494721"/>
                                        </p:tgtEl>
                                      </p:cBhvr>
                                    </p:animEffect>
                                  </p:childTnLst>
                                </p:cTn>
                              </p:par>
                              <p:par>
                                <p:cTn id="29" presetID="9" presetClass="entr" presetSubtype="0" fill="hold" nodeType="withEffect">
                                  <p:stCondLst>
                                    <p:cond delay="0"/>
                                  </p:stCondLst>
                                  <p:childTnLst>
                                    <p:set>
                                      <p:cBhvr>
                                        <p:cTn id="30" dur="1" fill="hold">
                                          <p:stCondLst>
                                            <p:cond delay="0"/>
                                          </p:stCondLst>
                                        </p:cTn>
                                        <p:tgtEl>
                                          <p:spTgt spid="494685"/>
                                        </p:tgtEl>
                                        <p:attrNameLst>
                                          <p:attrName>style.visibility</p:attrName>
                                        </p:attrNameLst>
                                      </p:cBhvr>
                                      <p:to>
                                        <p:strVal val="visible"/>
                                      </p:to>
                                    </p:set>
                                    <p:animEffect transition="in" filter="dissolve">
                                      <p:cBhvr>
                                        <p:cTn id="31" dur="500"/>
                                        <p:tgtEl>
                                          <p:spTgt spid="494685"/>
                                        </p:tgtEl>
                                      </p:cBhvr>
                                    </p:animEffect>
                                  </p:childTnLst>
                                </p:cTn>
                              </p:par>
                              <p:par>
                                <p:cTn id="32" presetID="9" presetClass="entr" presetSubtype="0" fill="hold" nodeType="withEffect">
                                  <p:stCondLst>
                                    <p:cond delay="0"/>
                                  </p:stCondLst>
                                  <p:childTnLst>
                                    <p:set>
                                      <p:cBhvr>
                                        <p:cTn id="33" dur="1" fill="hold">
                                          <p:stCondLst>
                                            <p:cond delay="0"/>
                                          </p:stCondLst>
                                        </p:cTn>
                                        <p:tgtEl>
                                          <p:spTgt spid="494686"/>
                                        </p:tgtEl>
                                        <p:attrNameLst>
                                          <p:attrName>style.visibility</p:attrName>
                                        </p:attrNameLst>
                                      </p:cBhvr>
                                      <p:to>
                                        <p:strVal val="visible"/>
                                      </p:to>
                                    </p:set>
                                    <p:animEffect transition="in" filter="dissolve">
                                      <p:cBhvr>
                                        <p:cTn id="34" dur="500"/>
                                        <p:tgtEl>
                                          <p:spTgt spid="494686"/>
                                        </p:tgtEl>
                                      </p:cBhvr>
                                    </p:animEffect>
                                  </p:childTnLst>
                                </p:cTn>
                              </p:par>
                              <p:par>
                                <p:cTn id="35" presetID="9" presetClass="entr" presetSubtype="0" fill="hold" nodeType="withEffect">
                                  <p:stCondLst>
                                    <p:cond delay="0"/>
                                  </p:stCondLst>
                                  <p:childTnLst>
                                    <p:set>
                                      <p:cBhvr>
                                        <p:cTn id="36" dur="1" fill="hold">
                                          <p:stCondLst>
                                            <p:cond delay="0"/>
                                          </p:stCondLst>
                                        </p:cTn>
                                        <p:tgtEl>
                                          <p:spTgt spid="494687"/>
                                        </p:tgtEl>
                                        <p:attrNameLst>
                                          <p:attrName>style.visibility</p:attrName>
                                        </p:attrNameLst>
                                      </p:cBhvr>
                                      <p:to>
                                        <p:strVal val="visible"/>
                                      </p:to>
                                    </p:set>
                                    <p:animEffect transition="in" filter="dissolve">
                                      <p:cBhvr>
                                        <p:cTn id="37" dur="500"/>
                                        <p:tgtEl>
                                          <p:spTgt spid="494687"/>
                                        </p:tgtEl>
                                      </p:cBhvr>
                                    </p:animEffect>
                                  </p:childTnLst>
                                </p:cTn>
                              </p:par>
                              <p:par>
                                <p:cTn id="38" presetID="9" presetClass="entr" presetSubtype="0" fill="hold" nodeType="withEffect">
                                  <p:stCondLst>
                                    <p:cond delay="0"/>
                                  </p:stCondLst>
                                  <p:childTnLst>
                                    <p:set>
                                      <p:cBhvr>
                                        <p:cTn id="39" dur="1" fill="hold">
                                          <p:stCondLst>
                                            <p:cond delay="0"/>
                                          </p:stCondLst>
                                        </p:cTn>
                                        <p:tgtEl>
                                          <p:spTgt spid="494688"/>
                                        </p:tgtEl>
                                        <p:attrNameLst>
                                          <p:attrName>style.visibility</p:attrName>
                                        </p:attrNameLst>
                                      </p:cBhvr>
                                      <p:to>
                                        <p:strVal val="visible"/>
                                      </p:to>
                                    </p:set>
                                    <p:animEffect transition="in" filter="dissolve">
                                      <p:cBhvr>
                                        <p:cTn id="40" dur="500"/>
                                        <p:tgtEl>
                                          <p:spTgt spid="494688"/>
                                        </p:tgtEl>
                                      </p:cBhvr>
                                    </p:animEffect>
                                  </p:childTnLst>
                                </p:cTn>
                              </p:par>
                              <p:par>
                                <p:cTn id="41" presetID="9" presetClass="entr" presetSubtype="0" fill="hold" nodeType="withEffect">
                                  <p:stCondLst>
                                    <p:cond delay="0"/>
                                  </p:stCondLst>
                                  <p:childTnLst>
                                    <p:set>
                                      <p:cBhvr>
                                        <p:cTn id="42" dur="1" fill="hold">
                                          <p:stCondLst>
                                            <p:cond delay="0"/>
                                          </p:stCondLst>
                                        </p:cTn>
                                        <p:tgtEl>
                                          <p:spTgt spid="494689"/>
                                        </p:tgtEl>
                                        <p:attrNameLst>
                                          <p:attrName>style.visibility</p:attrName>
                                        </p:attrNameLst>
                                      </p:cBhvr>
                                      <p:to>
                                        <p:strVal val="visible"/>
                                      </p:to>
                                    </p:set>
                                    <p:animEffect transition="in" filter="dissolve">
                                      <p:cBhvr>
                                        <p:cTn id="43" dur="500"/>
                                        <p:tgtEl>
                                          <p:spTgt spid="494689"/>
                                        </p:tgtEl>
                                      </p:cBhvr>
                                    </p:animEffect>
                                  </p:childTnLst>
                                </p:cTn>
                              </p:par>
                              <p:par>
                                <p:cTn id="44" presetID="9" presetClass="entr" presetSubtype="0" fill="hold" nodeType="withEffect">
                                  <p:stCondLst>
                                    <p:cond delay="0"/>
                                  </p:stCondLst>
                                  <p:childTnLst>
                                    <p:set>
                                      <p:cBhvr>
                                        <p:cTn id="45" dur="1" fill="hold">
                                          <p:stCondLst>
                                            <p:cond delay="0"/>
                                          </p:stCondLst>
                                        </p:cTn>
                                        <p:tgtEl>
                                          <p:spTgt spid="494690"/>
                                        </p:tgtEl>
                                        <p:attrNameLst>
                                          <p:attrName>style.visibility</p:attrName>
                                        </p:attrNameLst>
                                      </p:cBhvr>
                                      <p:to>
                                        <p:strVal val="visible"/>
                                      </p:to>
                                    </p:set>
                                    <p:animEffect transition="in" filter="dissolve">
                                      <p:cBhvr>
                                        <p:cTn id="46" dur="500"/>
                                        <p:tgtEl>
                                          <p:spTgt spid="494690"/>
                                        </p:tgtEl>
                                      </p:cBhvr>
                                    </p:animEffect>
                                  </p:childTnLst>
                                </p:cTn>
                              </p:par>
                              <p:par>
                                <p:cTn id="47" presetID="9" presetClass="entr" presetSubtype="0" fill="hold" nodeType="withEffect">
                                  <p:stCondLst>
                                    <p:cond delay="0"/>
                                  </p:stCondLst>
                                  <p:childTnLst>
                                    <p:set>
                                      <p:cBhvr>
                                        <p:cTn id="48" dur="1" fill="hold">
                                          <p:stCondLst>
                                            <p:cond delay="0"/>
                                          </p:stCondLst>
                                        </p:cTn>
                                        <p:tgtEl>
                                          <p:spTgt spid="494691"/>
                                        </p:tgtEl>
                                        <p:attrNameLst>
                                          <p:attrName>style.visibility</p:attrName>
                                        </p:attrNameLst>
                                      </p:cBhvr>
                                      <p:to>
                                        <p:strVal val="visible"/>
                                      </p:to>
                                    </p:set>
                                    <p:animEffect transition="in" filter="dissolve">
                                      <p:cBhvr>
                                        <p:cTn id="49" dur="500"/>
                                        <p:tgtEl>
                                          <p:spTgt spid="494691"/>
                                        </p:tgtEl>
                                      </p:cBhvr>
                                    </p:animEffect>
                                  </p:childTnLst>
                                </p:cTn>
                              </p:par>
                              <p:par>
                                <p:cTn id="50" presetID="9" presetClass="entr" presetSubtype="0" fill="hold" nodeType="withEffect">
                                  <p:stCondLst>
                                    <p:cond delay="0"/>
                                  </p:stCondLst>
                                  <p:childTnLst>
                                    <p:set>
                                      <p:cBhvr>
                                        <p:cTn id="51" dur="1" fill="hold">
                                          <p:stCondLst>
                                            <p:cond delay="0"/>
                                          </p:stCondLst>
                                        </p:cTn>
                                        <p:tgtEl>
                                          <p:spTgt spid="494692"/>
                                        </p:tgtEl>
                                        <p:attrNameLst>
                                          <p:attrName>style.visibility</p:attrName>
                                        </p:attrNameLst>
                                      </p:cBhvr>
                                      <p:to>
                                        <p:strVal val="visible"/>
                                      </p:to>
                                    </p:set>
                                    <p:animEffect transition="in" filter="dissolve">
                                      <p:cBhvr>
                                        <p:cTn id="52" dur="500"/>
                                        <p:tgtEl>
                                          <p:spTgt spid="494692"/>
                                        </p:tgtEl>
                                      </p:cBhvr>
                                    </p:animEffect>
                                  </p:childTnLst>
                                </p:cTn>
                              </p:par>
                              <p:par>
                                <p:cTn id="53" presetID="9" presetClass="entr" presetSubtype="0" fill="hold" nodeType="withEffect">
                                  <p:stCondLst>
                                    <p:cond delay="0"/>
                                  </p:stCondLst>
                                  <p:childTnLst>
                                    <p:set>
                                      <p:cBhvr>
                                        <p:cTn id="54" dur="1" fill="hold">
                                          <p:stCondLst>
                                            <p:cond delay="0"/>
                                          </p:stCondLst>
                                        </p:cTn>
                                        <p:tgtEl>
                                          <p:spTgt spid="494693"/>
                                        </p:tgtEl>
                                        <p:attrNameLst>
                                          <p:attrName>style.visibility</p:attrName>
                                        </p:attrNameLst>
                                      </p:cBhvr>
                                      <p:to>
                                        <p:strVal val="visible"/>
                                      </p:to>
                                    </p:set>
                                    <p:animEffect transition="in" filter="dissolve">
                                      <p:cBhvr>
                                        <p:cTn id="55" dur="500"/>
                                        <p:tgtEl>
                                          <p:spTgt spid="494693"/>
                                        </p:tgtEl>
                                      </p:cBhvr>
                                    </p:animEffect>
                                  </p:childTnLst>
                                </p:cTn>
                              </p:par>
                              <p:par>
                                <p:cTn id="56" presetID="9" presetClass="entr" presetSubtype="0" fill="hold" nodeType="withEffect">
                                  <p:stCondLst>
                                    <p:cond delay="0"/>
                                  </p:stCondLst>
                                  <p:childTnLst>
                                    <p:set>
                                      <p:cBhvr>
                                        <p:cTn id="57" dur="1" fill="hold">
                                          <p:stCondLst>
                                            <p:cond delay="0"/>
                                          </p:stCondLst>
                                        </p:cTn>
                                        <p:tgtEl>
                                          <p:spTgt spid="494694"/>
                                        </p:tgtEl>
                                        <p:attrNameLst>
                                          <p:attrName>style.visibility</p:attrName>
                                        </p:attrNameLst>
                                      </p:cBhvr>
                                      <p:to>
                                        <p:strVal val="visible"/>
                                      </p:to>
                                    </p:set>
                                    <p:animEffect transition="in" filter="dissolve">
                                      <p:cBhvr>
                                        <p:cTn id="58" dur="500"/>
                                        <p:tgtEl>
                                          <p:spTgt spid="494694"/>
                                        </p:tgtEl>
                                      </p:cBhvr>
                                    </p:animEffect>
                                  </p:childTnLst>
                                </p:cTn>
                              </p:par>
                              <p:par>
                                <p:cTn id="59" presetID="9" presetClass="entr" presetSubtype="0" fill="hold" nodeType="withEffect">
                                  <p:stCondLst>
                                    <p:cond delay="0"/>
                                  </p:stCondLst>
                                  <p:childTnLst>
                                    <p:set>
                                      <p:cBhvr>
                                        <p:cTn id="60" dur="1" fill="hold">
                                          <p:stCondLst>
                                            <p:cond delay="0"/>
                                          </p:stCondLst>
                                        </p:cTn>
                                        <p:tgtEl>
                                          <p:spTgt spid="494695"/>
                                        </p:tgtEl>
                                        <p:attrNameLst>
                                          <p:attrName>style.visibility</p:attrName>
                                        </p:attrNameLst>
                                      </p:cBhvr>
                                      <p:to>
                                        <p:strVal val="visible"/>
                                      </p:to>
                                    </p:set>
                                    <p:animEffect transition="in" filter="dissolve">
                                      <p:cBhvr>
                                        <p:cTn id="61" dur="500"/>
                                        <p:tgtEl>
                                          <p:spTgt spid="494695"/>
                                        </p:tgtEl>
                                      </p:cBhvr>
                                    </p:animEffect>
                                  </p:childTnLst>
                                </p:cTn>
                              </p:par>
                              <p:par>
                                <p:cTn id="62" presetID="9" presetClass="entr" presetSubtype="0" fill="hold" nodeType="withEffect">
                                  <p:stCondLst>
                                    <p:cond delay="0"/>
                                  </p:stCondLst>
                                  <p:childTnLst>
                                    <p:set>
                                      <p:cBhvr>
                                        <p:cTn id="63" dur="1" fill="hold">
                                          <p:stCondLst>
                                            <p:cond delay="0"/>
                                          </p:stCondLst>
                                        </p:cTn>
                                        <p:tgtEl>
                                          <p:spTgt spid="494696"/>
                                        </p:tgtEl>
                                        <p:attrNameLst>
                                          <p:attrName>style.visibility</p:attrName>
                                        </p:attrNameLst>
                                      </p:cBhvr>
                                      <p:to>
                                        <p:strVal val="visible"/>
                                      </p:to>
                                    </p:set>
                                    <p:animEffect transition="in" filter="dissolve">
                                      <p:cBhvr>
                                        <p:cTn id="64" dur="500"/>
                                        <p:tgtEl>
                                          <p:spTgt spid="494696"/>
                                        </p:tgtEl>
                                      </p:cBhvr>
                                    </p:animEffect>
                                  </p:childTnLst>
                                </p:cTn>
                              </p:par>
                              <p:par>
                                <p:cTn id="65" presetID="9" presetClass="entr" presetSubtype="0" fill="hold" nodeType="withEffect">
                                  <p:stCondLst>
                                    <p:cond delay="0"/>
                                  </p:stCondLst>
                                  <p:childTnLst>
                                    <p:set>
                                      <p:cBhvr>
                                        <p:cTn id="66" dur="1" fill="hold">
                                          <p:stCondLst>
                                            <p:cond delay="0"/>
                                          </p:stCondLst>
                                        </p:cTn>
                                        <p:tgtEl>
                                          <p:spTgt spid="494697"/>
                                        </p:tgtEl>
                                        <p:attrNameLst>
                                          <p:attrName>style.visibility</p:attrName>
                                        </p:attrNameLst>
                                      </p:cBhvr>
                                      <p:to>
                                        <p:strVal val="visible"/>
                                      </p:to>
                                    </p:set>
                                    <p:animEffect transition="in" filter="dissolve">
                                      <p:cBhvr>
                                        <p:cTn id="67" dur="500"/>
                                        <p:tgtEl>
                                          <p:spTgt spid="494697"/>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494698"/>
                                        </p:tgtEl>
                                        <p:attrNameLst>
                                          <p:attrName>style.visibility</p:attrName>
                                        </p:attrNameLst>
                                      </p:cBhvr>
                                      <p:to>
                                        <p:strVal val="visible"/>
                                      </p:to>
                                    </p:set>
                                    <p:animEffect transition="in" filter="dissolve">
                                      <p:cBhvr>
                                        <p:cTn id="70" dur="500"/>
                                        <p:tgtEl>
                                          <p:spTgt spid="494698"/>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494699"/>
                                        </p:tgtEl>
                                        <p:attrNameLst>
                                          <p:attrName>style.visibility</p:attrName>
                                        </p:attrNameLst>
                                      </p:cBhvr>
                                      <p:to>
                                        <p:strVal val="visible"/>
                                      </p:to>
                                    </p:set>
                                    <p:animEffect transition="in" filter="dissolve">
                                      <p:cBhvr>
                                        <p:cTn id="73" dur="500"/>
                                        <p:tgtEl>
                                          <p:spTgt spid="494699"/>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494700"/>
                                        </p:tgtEl>
                                        <p:attrNameLst>
                                          <p:attrName>style.visibility</p:attrName>
                                        </p:attrNameLst>
                                      </p:cBhvr>
                                      <p:to>
                                        <p:strVal val="visible"/>
                                      </p:to>
                                    </p:set>
                                    <p:animEffect transition="in" filter="dissolve">
                                      <p:cBhvr>
                                        <p:cTn id="76" dur="500"/>
                                        <p:tgtEl>
                                          <p:spTgt spid="494700"/>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494701"/>
                                        </p:tgtEl>
                                        <p:attrNameLst>
                                          <p:attrName>style.visibility</p:attrName>
                                        </p:attrNameLst>
                                      </p:cBhvr>
                                      <p:to>
                                        <p:strVal val="visible"/>
                                      </p:to>
                                    </p:set>
                                    <p:animEffect transition="in" filter="dissolve">
                                      <p:cBhvr>
                                        <p:cTn id="79" dur="500"/>
                                        <p:tgtEl>
                                          <p:spTgt spid="494701"/>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494702"/>
                                        </p:tgtEl>
                                        <p:attrNameLst>
                                          <p:attrName>style.visibility</p:attrName>
                                        </p:attrNameLst>
                                      </p:cBhvr>
                                      <p:to>
                                        <p:strVal val="visible"/>
                                      </p:to>
                                    </p:set>
                                    <p:animEffect transition="in" filter="dissolve">
                                      <p:cBhvr>
                                        <p:cTn id="82" dur="500"/>
                                        <p:tgtEl>
                                          <p:spTgt spid="494702"/>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494703"/>
                                        </p:tgtEl>
                                        <p:attrNameLst>
                                          <p:attrName>style.visibility</p:attrName>
                                        </p:attrNameLst>
                                      </p:cBhvr>
                                      <p:to>
                                        <p:strVal val="visible"/>
                                      </p:to>
                                    </p:set>
                                    <p:animEffect transition="in" filter="dissolve">
                                      <p:cBhvr>
                                        <p:cTn id="85" dur="500"/>
                                        <p:tgtEl>
                                          <p:spTgt spid="494703"/>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494704"/>
                                        </p:tgtEl>
                                        <p:attrNameLst>
                                          <p:attrName>style.visibility</p:attrName>
                                        </p:attrNameLst>
                                      </p:cBhvr>
                                      <p:to>
                                        <p:strVal val="visible"/>
                                      </p:to>
                                    </p:set>
                                    <p:animEffect transition="in" filter="dissolve">
                                      <p:cBhvr>
                                        <p:cTn id="88" dur="500"/>
                                        <p:tgtEl>
                                          <p:spTgt spid="494704"/>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494705"/>
                                        </p:tgtEl>
                                        <p:attrNameLst>
                                          <p:attrName>style.visibility</p:attrName>
                                        </p:attrNameLst>
                                      </p:cBhvr>
                                      <p:to>
                                        <p:strVal val="visible"/>
                                      </p:to>
                                    </p:set>
                                    <p:animEffect transition="in" filter="dissolve">
                                      <p:cBhvr>
                                        <p:cTn id="91" dur="500"/>
                                        <p:tgtEl>
                                          <p:spTgt spid="494705"/>
                                        </p:tgtEl>
                                      </p:cBhvr>
                                    </p:animEffect>
                                  </p:childTnLst>
                                </p:cTn>
                              </p:par>
                              <p:par>
                                <p:cTn id="92" presetID="9" presetClass="entr" presetSubtype="0" fill="hold" grpId="0" nodeType="withEffect">
                                  <p:stCondLst>
                                    <p:cond delay="0"/>
                                  </p:stCondLst>
                                  <p:childTnLst>
                                    <p:set>
                                      <p:cBhvr>
                                        <p:cTn id="93" dur="1" fill="hold">
                                          <p:stCondLst>
                                            <p:cond delay="0"/>
                                          </p:stCondLst>
                                        </p:cTn>
                                        <p:tgtEl>
                                          <p:spTgt spid="494706"/>
                                        </p:tgtEl>
                                        <p:attrNameLst>
                                          <p:attrName>style.visibility</p:attrName>
                                        </p:attrNameLst>
                                      </p:cBhvr>
                                      <p:to>
                                        <p:strVal val="visible"/>
                                      </p:to>
                                    </p:set>
                                    <p:animEffect transition="in" filter="dissolve">
                                      <p:cBhvr>
                                        <p:cTn id="94" dur="500"/>
                                        <p:tgtEl>
                                          <p:spTgt spid="494706"/>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494707"/>
                                        </p:tgtEl>
                                        <p:attrNameLst>
                                          <p:attrName>style.visibility</p:attrName>
                                        </p:attrNameLst>
                                      </p:cBhvr>
                                      <p:to>
                                        <p:strVal val="visible"/>
                                      </p:to>
                                    </p:set>
                                    <p:animEffect transition="in" filter="dissolve">
                                      <p:cBhvr>
                                        <p:cTn id="97" dur="500"/>
                                        <p:tgtEl>
                                          <p:spTgt spid="494707"/>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494708"/>
                                        </p:tgtEl>
                                        <p:attrNameLst>
                                          <p:attrName>style.visibility</p:attrName>
                                        </p:attrNameLst>
                                      </p:cBhvr>
                                      <p:to>
                                        <p:strVal val="visible"/>
                                      </p:to>
                                    </p:set>
                                    <p:animEffect transition="in" filter="dissolve">
                                      <p:cBhvr>
                                        <p:cTn id="100" dur="500"/>
                                        <p:tgtEl>
                                          <p:spTgt spid="494708"/>
                                        </p:tgtEl>
                                      </p:cBhvr>
                                    </p:animEffect>
                                  </p:childTnLst>
                                </p:cTn>
                              </p:par>
                              <p:par>
                                <p:cTn id="101" presetID="9" presetClass="entr" presetSubtype="0" fill="hold" grpId="0" nodeType="withEffect">
                                  <p:stCondLst>
                                    <p:cond delay="0"/>
                                  </p:stCondLst>
                                  <p:childTnLst>
                                    <p:set>
                                      <p:cBhvr>
                                        <p:cTn id="102" dur="1" fill="hold">
                                          <p:stCondLst>
                                            <p:cond delay="0"/>
                                          </p:stCondLst>
                                        </p:cTn>
                                        <p:tgtEl>
                                          <p:spTgt spid="494709"/>
                                        </p:tgtEl>
                                        <p:attrNameLst>
                                          <p:attrName>style.visibility</p:attrName>
                                        </p:attrNameLst>
                                      </p:cBhvr>
                                      <p:to>
                                        <p:strVal val="visible"/>
                                      </p:to>
                                    </p:set>
                                    <p:animEffect transition="in" filter="dissolve">
                                      <p:cBhvr>
                                        <p:cTn id="103" dur="500"/>
                                        <p:tgtEl>
                                          <p:spTgt spid="494709"/>
                                        </p:tgtEl>
                                      </p:cBhvr>
                                    </p:animEffect>
                                  </p:childTnLst>
                                </p:cTn>
                              </p:par>
                              <p:par>
                                <p:cTn id="104" presetID="9" presetClass="entr" presetSubtype="0" fill="hold" grpId="0" nodeType="withEffect">
                                  <p:stCondLst>
                                    <p:cond delay="0"/>
                                  </p:stCondLst>
                                  <p:childTnLst>
                                    <p:set>
                                      <p:cBhvr>
                                        <p:cTn id="105" dur="1" fill="hold">
                                          <p:stCondLst>
                                            <p:cond delay="0"/>
                                          </p:stCondLst>
                                        </p:cTn>
                                        <p:tgtEl>
                                          <p:spTgt spid="494710"/>
                                        </p:tgtEl>
                                        <p:attrNameLst>
                                          <p:attrName>style.visibility</p:attrName>
                                        </p:attrNameLst>
                                      </p:cBhvr>
                                      <p:to>
                                        <p:strVal val="visible"/>
                                      </p:to>
                                    </p:set>
                                    <p:animEffect transition="in" filter="dissolve">
                                      <p:cBhvr>
                                        <p:cTn id="106" dur="500"/>
                                        <p:tgtEl>
                                          <p:spTgt spid="494710"/>
                                        </p:tgtEl>
                                      </p:cBhvr>
                                    </p:animEffect>
                                  </p:childTnLst>
                                </p:cTn>
                              </p:par>
                              <p:par>
                                <p:cTn id="107" presetID="9" presetClass="entr" presetSubtype="0" fill="hold" grpId="0" nodeType="withEffect">
                                  <p:stCondLst>
                                    <p:cond delay="0"/>
                                  </p:stCondLst>
                                  <p:childTnLst>
                                    <p:set>
                                      <p:cBhvr>
                                        <p:cTn id="108" dur="1" fill="hold">
                                          <p:stCondLst>
                                            <p:cond delay="0"/>
                                          </p:stCondLst>
                                        </p:cTn>
                                        <p:tgtEl>
                                          <p:spTgt spid="494711"/>
                                        </p:tgtEl>
                                        <p:attrNameLst>
                                          <p:attrName>style.visibility</p:attrName>
                                        </p:attrNameLst>
                                      </p:cBhvr>
                                      <p:to>
                                        <p:strVal val="visible"/>
                                      </p:to>
                                    </p:set>
                                    <p:animEffect transition="in" filter="dissolve">
                                      <p:cBhvr>
                                        <p:cTn id="109" dur="500"/>
                                        <p:tgtEl>
                                          <p:spTgt spid="494711"/>
                                        </p:tgtEl>
                                      </p:cBhvr>
                                    </p:animEffect>
                                  </p:childTnLst>
                                </p:cTn>
                              </p:par>
                              <p:par>
                                <p:cTn id="110" presetID="9" presetClass="entr" presetSubtype="0" fill="hold" grpId="0" nodeType="withEffect">
                                  <p:stCondLst>
                                    <p:cond delay="0"/>
                                  </p:stCondLst>
                                  <p:childTnLst>
                                    <p:set>
                                      <p:cBhvr>
                                        <p:cTn id="111" dur="1" fill="hold">
                                          <p:stCondLst>
                                            <p:cond delay="0"/>
                                          </p:stCondLst>
                                        </p:cTn>
                                        <p:tgtEl>
                                          <p:spTgt spid="494712"/>
                                        </p:tgtEl>
                                        <p:attrNameLst>
                                          <p:attrName>style.visibility</p:attrName>
                                        </p:attrNameLst>
                                      </p:cBhvr>
                                      <p:to>
                                        <p:strVal val="visible"/>
                                      </p:to>
                                    </p:set>
                                    <p:animEffect transition="in" filter="dissolve">
                                      <p:cBhvr>
                                        <p:cTn id="112" dur="500"/>
                                        <p:tgtEl>
                                          <p:spTgt spid="494712"/>
                                        </p:tgtEl>
                                      </p:cBhvr>
                                    </p:animEffect>
                                  </p:childTnLst>
                                </p:cTn>
                              </p:par>
                              <p:par>
                                <p:cTn id="113" presetID="9" presetClass="entr" presetSubtype="0" fill="hold" grpId="0" nodeType="withEffect">
                                  <p:stCondLst>
                                    <p:cond delay="0"/>
                                  </p:stCondLst>
                                  <p:childTnLst>
                                    <p:set>
                                      <p:cBhvr>
                                        <p:cTn id="114" dur="1" fill="hold">
                                          <p:stCondLst>
                                            <p:cond delay="0"/>
                                          </p:stCondLst>
                                        </p:cTn>
                                        <p:tgtEl>
                                          <p:spTgt spid="494713"/>
                                        </p:tgtEl>
                                        <p:attrNameLst>
                                          <p:attrName>style.visibility</p:attrName>
                                        </p:attrNameLst>
                                      </p:cBhvr>
                                      <p:to>
                                        <p:strVal val="visible"/>
                                      </p:to>
                                    </p:set>
                                    <p:animEffect transition="in" filter="dissolve">
                                      <p:cBhvr>
                                        <p:cTn id="115" dur="500"/>
                                        <p:tgtEl>
                                          <p:spTgt spid="494713"/>
                                        </p:tgtEl>
                                      </p:cBhvr>
                                    </p:animEffect>
                                  </p:childTnLst>
                                </p:cTn>
                              </p:par>
                              <p:par>
                                <p:cTn id="116" presetID="9" presetClass="entr" presetSubtype="0" fill="hold" nodeType="withEffect">
                                  <p:stCondLst>
                                    <p:cond delay="0"/>
                                  </p:stCondLst>
                                  <p:childTnLst>
                                    <p:set>
                                      <p:cBhvr>
                                        <p:cTn id="117" dur="1" fill="hold">
                                          <p:stCondLst>
                                            <p:cond delay="0"/>
                                          </p:stCondLst>
                                        </p:cTn>
                                        <p:tgtEl>
                                          <p:spTgt spid="494718"/>
                                        </p:tgtEl>
                                        <p:attrNameLst>
                                          <p:attrName>style.visibility</p:attrName>
                                        </p:attrNameLst>
                                      </p:cBhvr>
                                      <p:to>
                                        <p:strVal val="visible"/>
                                      </p:to>
                                    </p:set>
                                    <p:animEffect transition="in" filter="dissolve">
                                      <p:cBhvr>
                                        <p:cTn id="118" dur="500"/>
                                        <p:tgtEl>
                                          <p:spTgt spid="494718"/>
                                        </p:tgtEl>
                                      </p:cBhvr>
                                    </p:animEffec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9" presetClass="entr" presetSubtype="0" fill="hold" grpId="0" nodeType="clickEffect">
                                  <p:stCondLst>
                                    <p:cond delay="0"/>
                                  </p:stCondLst>
                                  <p:childTnLst>
                                    <p:set>
                                      <p:cBhvr>
                                        <p:cTn id="122" dur="1" fill="hold">
                                          <p:stCondLst>
                                            <p:cond delay="0"/>
                                          </p:stCondLst>
                                        </p:cTn>
                                        <p:tgtEl>
                                          <p:spTgt spid="494714"/>
                                        </p:tgtEl>
                                        <p:attrNameLst>
                                          <p:attrName>style.visibility</p:attrName>
                                        </p:attrNameLst>
                                      </p:cBhvr>
                                      <p:to>
                                        <p:strVal val="visible"/>
                                      </p:to>
                                    </p:set>
                                    <p:animEffect transition="in" filter="dissolve">
                                      <p:cBhvr>
                                        <p:cTn id="123" dur="500"/>
                                        <p:tgtEl>
                                          <p:spTgt spid="4947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684" grpId="0" animBg="1"/>
      <p:bldP spid="494698" grpId="0" animBg="1"/>
      <p:bldP spid="494699" grpId="0"/>
      <p:bldP spid="494700" grpId="0" animBg="1"/>
      <p:bldP spid="494701" grpId="0"/>
      <p:bldP spid="494702" grpId="0" animBg="1"/>
      <p:bldP spid="494703" grpId="0"/>
      <p:bldP spid="494704" grpId="0" animBg="1"/>
      <p:bldP spid="494705" grpId="0"/>
      <p:bldP spid="494706" grpId="0" animBg="1"/>
      <p:bldP spid="494707" grpId="0"/>
      <p:bldP spid="494708" grpId="0" animBg="1"/>
      <p:bldP spid="494709" grpId="0"/>
      <p:bldP spid="494710" grpId="0" animBg="1"/>
      <p:bldP spid="494711" grpId="0"/>
      <p:bldP spid="494712" grpId="0" animBg="1"/>
      <p:bldP spid="494713" grpId="0"/>
      <p:bldP spid="494714" grpId="0" animBg="1"/>
      <p:bldP spid="494721" grpId="0" animBg="1"/>
      <p:bldP spid="494724" grpId="0" animBg="1"/>
      <p:bldP spid="494728" grpId="0"/>
      <p:bldP spid="4947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4A5FDD7-F40B-4E7D-9F6E-75A4E2D42644}" type="slidenum">
              <a:rPr lang="en-US" altLang="de-DE" sz="1000">
                <a:solidFill>
                  <a:srgbClr val="C0C0C0"/>
                </a:solidFill>
              </a:rPr>
              <a:pPr/>
              <a:t>25</a:t>
            </a:fld>
            <a:endParaRPr lang="en-US" altLang="de-DE" sz="1000">
              <a:solidFill>
                <a:srgbClr val="C0C0C0"/>
              </a:solidFill>
            </a:endParaRPr>
          </a:p>
        </p:txBody>
      </p:sp>
      <p:sp>
        <p:nvSpPr>
          <p:cNvPr id="26627" name="Text Box 32"/>
          <p:cNvSpPr txBox="1">
            <a:spLocks noChangeAspect="1" noChangeArrowheads="1"/>
          </p:cNvSpPr>
          <p:nvPr/>
        </p:nvSpPr>
        <p:spPr bwMode="auto">
          <a:xfrm>
            <a:off x="455613" y="3333750"/>
            <a:ext cx="1252537"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t>1,2,3,4,5,6,7,8</a:t>
            </a:r>
            <a:endParaRPr lang="en-US" altLang="zh-CN" sz="1300">
              <a:ea typeface="宋体" panose="02010600030101010101" pitchFamily="2" charset="-122"/>
            </a:endParaRPr>
          </a:p>
        </p:txBody>
      </p:sp>
      <p:sp>
        <p:nvSpPr>
          <p:cNvPr id="496673" name="Line 33"/>
          <p:cNvSpPr>
            <a:spLocks noChangeAspect="1" noChangeShapeType="1"/>
          </p:cNvSpPr>
          <p:nvPr/>
        </p:nvSpPr>
        <p:spPr bwMode="auto">
          <a:xfrm>
            <a:off x="8215313"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74" name="Line 34"/>
          <p:cNvSpPr>
            <a:spLocks noChangeAspect="1" noChangeShapeType="1"/>
          </p:cNvSpPr>
          <p:nvPr/>
        </p:nvSpPr>
        <p:spPr bwMode="auto">
          <a:xfrm>
            <a:off x="8220075"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75" name="Line 35"/>
          <p:cNvSpPr>
            <a:spLocks noChangeAspect="1" noChangeShapeType="1"/>
          </p:cNvSpPr>
          <p:nvPr/>
        </p:nvSpPr>
        <p:spPr bwMode="auto">
          <a:xfrm>
            <a:off x="7585075"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76" name="Line 36"/>
          <p:cNvSpPr>
            <a:spLocks noChangeAspect="1" noChangeShapeType="1"/>
          </p:cNvSpPr>
          <p:nvPr/>
        </p:nvSpPr>
        <p:spPr bwMode="auto">
          <a:xfrm>
            <a:off x="7585075"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77" name="Line 37"/>
          <p:cNvSpPr>
            <a:spLocks noChangeAspect="1" noChangeShapeType="1"/>
          </p:cNvSpPr>
          <p:nvPr/>
        </p:nvSpPr>
        <p:spPr bwMode="auto">
          <a:xfrm flipH="1">
            <a:off x="7631113"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78" name="Line 38"/>
          <p:cNvSpPr>
            <a:spLocks noChangeAspect="1" noChangeShapeType="1"/>
          </p:cNvSpPr>
          <p:nvPr/>
        </p:nvSpPr>
        <p:spPr bwMode="auto">
          <a:xfrm flipH="1">
            <a:off x="7616825"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79" name="Line 39"/>
          <p:cNvSpPr>
            <a:spLocks noChangeAspect="1" noChangeShapeType="1"/>
          </p:cNvSpPr>
          <p:nvPr/>
        </p:nvSpPr>
        <p:spPr bwMode="auto">
          <a:xfrm flipH="1">
            <a:off x="7605713"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0" name="Line 40"/>
          <p:cNvSpPr>
            <a:spLocks noChangeAspect="1" noChangeShapeType="1"/>
          </p:cNvSpPr>
          <p:nvPr/>
        </p:nvSpPr>
        <p:spPr bwMode="auto">
          <a:xfrm>
            <a:off x="7521575" y="2203450"/>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1" name="Line 41"/>
          <p:cNvSpPr>
            <a:spLocks noChangeAspect="1" noChangeShapeType="1"/>
          </p:cNvSpPr>
          <p:nvPr/>
        </p:nvSpPr>
        <p:spPr bwMode="auto">
          <a:xfrm>
            <a:off x="7588250" y="1152525"/>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2" name="Line 42"/>
          <p:cNvSpPr>
            <a:spLocks noChangeAspect="1" noChangeShapeType="1"/>
          </p:cNvSpPr>
          <p:nvPr/>
        </p:nvSpPr>
        <p:spPr bwMode="auto">
          <a:xfrm>
            <a:off x="7646988" y="1693863"/>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3" name="Line 43"/>
          <p:cNvSpPr>
            <a:spLocks noChangeAspect="1" noChangeShapeType="1"/>
          </p:cNvSpPr>
          <p:nvPr/>
        </p:nvSpPr>
        <p:spPr bwMode="auto">
          <a:xfrm>
            <a:off x="7618413" y="2238375"/>
            <a:ext cx="6492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4" name="Line 44"/>
          <p:cNvSpPr>
            <a:spLocks noChangeAspect="1" noChangeShapeType="1"/>
          </p:cNvSpPr>
          <p:nvPr/>
        </p:nvSpPr>
        <p:spPr bwMode="auto">
          <a:xfrm>
            <a:off x="7621588" y="27971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5" name="Line 45"/>
          <p:cNvSpPr>
            <a:spLocks noChangeAspect="1" noChangeShapeType="1"/>
          </p:cNvSpPr>
          <p:nvPr/>
        </p:nvSpPr>
        <p:spPr bwMode="auto">
          <a:xfrm>
            <a:off x="7631113" y="1162050"/>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96686" name="Oval 46"/>
          <p:cNvSpPr>
            <a:spLocks noChangeAspect="1" noChangeArrowheads="1"/>
          </p:cNvSpPr>
          <p:nvPr/>
        </p:nvSpPr>
        <p:spPr bwMode="auto">
          <a:xfrm>
            <a:off x="741362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87" name="Rectangle 47"/>
          <p:cNvSpPr>
            <a:spLocks noChangeAspect="1" noChangeArrowheads="1"/>
          </p:cNvSpPr>
          <p:nvPr/>
        </p:nvSpPr>
        <p:spPr bwMode="auto">
          <a:xfrm>
            <a:off x="7443788"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2</a:t>
            </a:r>
            <a:endParaRPr lang="en-US" altLang="zh-CN" sz="1500" b="1">
              <a:solidFill>
                <a:schemeClr val="bg1"/>
              </a:solidFill>
              <a:ea typeface="宋体" panose="02010600030101010101" pitchFamily="2" charset="-122"/>
            </a:endParaRPr>
          </a:p>
        </p:txBody>
      </p:sp>
      <p:sp>
        <p:nvSpPr>
          <p:cNvPr id="496688" name="Oval 48"/>
          <p:cNvSpPr>
            <a:spLocks noChangeAspect="1" noChangeArrowheads="1"/>
          </p:cNvSpPr>
          <p:nvPr/>
        </p:nvSpPr>
        <p:spPr bwMode="auto">
          <a:xfrm>
            <a:off x="8050213"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89" name="Rectangle 49"/>
          <p:cNvSpPr>
            <a:spLocks noChangeAspect="1" noChangeArrowheads="1"/>
          </p:cNvSpPr>
          <p:nvPr/>
        </p:nvSpPr>
        <p:spPr bwMode="auto">
          <a:xfrm>
            <a:off x="8081963" y="103346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496690" name="Oval 50"/>
          <p:cNvSpPr>
            <a:spLocks noChangeAspect="1" noChangeArrowheads="1"/>
          </p:cNvSpPr>
          <p:nvPr/>
        </p:nvSpPr>
        <p:spPr bwMode="auto">
          <a:xfrm>
            <a:off x="8064500"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91" name="Rectangle 51"/>
          <p:cNvSpPr>
            <a:spLocks noChangeAspect="1" noChangeArrowheads="1"/>
          </p:cNvSpPr>
          <p:nvPr/>
        </p:nvSpPr>
        <p:spPr bwMode="auto">
          <a:xfrm>
            <a:off x="8081963"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496692" name="Oval 52"/>
          <p:cNvSpPr>
            <a:spLocks noChangeAspect="1" noChangeArrowheads="1"/>
          </p:cNvSpPr>
          <p:nvPr/>
        </p:nvSpPr>
        <p:spPr bwMode="auto">
          <a:xfrm>
            <a:off x="741362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93" name="Rectangle 53"/>
          <p:cNvSpPr>
            <a:spLocks noChangeAspect="1" noChangeArrowheads="1"/>
          </p:cNvSpPr>
          <p:nvPr/>
        </p:nvSpPr>
        <p:spPr bwMode="auto">
          <a:xfrm>
            <a:off x="7450138"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496694" name="Oval 54"/>
          <p:cNvSpPr>
            <a:spLocks noChangeAspect="1" noChangeArrowheads="1"/>
          </p:cNvSpPr>
          <p:nvPr/>
        </p:nvSpPr>
        <p:spPr bwMode="auto">
          <a:xfrm>
            <a:off x="7427913" y="1000125"/>
            <a:ext cx="327025"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95" name="Rectangle 55"/>
          <p:cNvSpPr>
            <a:spLocks noChangeAspect="1" noChangeArrowheads="1"/>
          </p:cNvSpPr>
          <p:nvPr/>
        </p:nvSpPr>
        <p:spPr bwMode="auto">
          <a:xfrm>
            <a:off x="7456488" y="103822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1</a:t>
            </a:r>
            <a:endParaRPr lang="en-US" altLang="zh-CN" sz="1500" b="1">
              <a:solidFill>
                <a:schemeClr val="bg1"/>
              </a:solidFill>
              <a:ea typeface="宋体" panose="02010600030101010101" pitchFamily="2" charset="-122"/>
            </a:endParaRPr>
          </a:p>
        </p:txBody>
      </p:sp>
      <p:sp>
        <p:nvSpPr>
          <p:cNvPr id="496696" name="Oval 56"/>
          <p:cNvSpPr>
            <a:spLocks noChangeAspect="1" noChangeArrowheads="1"/>
          </p:cNvSpPr>
          <p:nvPr/>
        </p:nvSpPr>
        <p:spPr bwMode="auto">
          <a:xfrm>
            <a:off x="741362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97" name="Rectangle 57"/>
          <p:cNvSpPr>
            <a:spLocks noChangeAspect="1" noChangeArrowheads="1"/>
          </p:cNvSpPr>
          <p:nvPr/>
        </p:nvSpPr>
        <p:spPr bwMode="auto">
          <a:xfrm>
            <a:off x="7445375"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496698" name="Oval 58"/>
          <p:cNvSpPr>
            <a:spLocks noChangeAspect="1" noChangeArrowheads="1"/>
          </p:cNvSpPr>
          <p:nvPr/>
        </p:nvSpPr>
        <p:spPr bwMode="auto">
          <a:xfrm>
            <a:off x="8050213" y="2087563"/>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699" name="Rectangle 59"/>
          <p:cNvSpPr>
            <a:spLocks noChangeAspect="1" noChangeArrowheads="1"/>
          </p:cNvSpPr>
          <p:nvPr/>
        </p:nvSpPr>
        <p:spPr bwMode="auto">
          <a:xfrm>
            <a:off x="8081963" y="211931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7</a:t>
            </a:r>
            <a:endParaRPr lang="en-US" altLang="zh-CN" sz="1500" b="1">
              <a:ea typeface="宋体" panose="02010600030101010101" pitchFamily="2" charset="-122"/>
            </a:endParaRPr>
          </a:p>
        </p:txBody>
      </p:sp>
      <p:sp>
        <p:nvSpPr>
          <p:cNvPr id="496700" name="Oval 60"/>
          <p:cNvSpPr>
            <a:spLocks noChangeAspect="1" noChangeArrowheads="1"/>
          </p:cNvSpPr>
          <p:nvPr/>
        </p:nvSpPr>
        <p:spPr bwMode="auto">
          <a:xfrm>
            <a:off x="8064500"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701" name="Rectangle 61"/>
          <p:cNvSpPr>
            <a:spLocks noChangeAspect="1" noChangeArrowheads="1"/>
          </p:cNvSpPr>
          <p:nvPr/>
        </p:nvSpPr>
        <p:spPr bwMode="auto">
          <a:xfrm>
            <a:off x="8099425"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8</a:t>
            </a:r>
            <a:endParaRPr lang="en-US" altLang="zh-CN" sz="1500" b="1">
              <a:ea typeface="宋体" panose="02010600030101010101" pitchFamily="2" charset="-122"/>
            </a:endParaRPr>
          </a:p>
        </p:txBody>
      </p:sp>
      <p:sp>
        <p:nvSpPr>
          <p:cNvPr id="496702" name="Text Box 62"/>
          <p:cNvSpPr txBox="1">
            <a:spLocks noChangeAspect="1" noChangeArrowheads="1"/>
          </p:cNvSpPr>
          <p:nvPr/>
        </p:nvSpPr>
        <p:spPr bwMode="auto">
          <a:xfrm>
            <a:off x="73136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9</a:t>
            </a:r>
          </a:p>
          <a:p>
            <a:pPr algn="l" eaLnBrk="1" hangingPunct="1">
              <a:lnSpc>
                <a:spcPct val="100000"/>
              </a:lnSpc>
            </a:pPr>
            <a:r>
              <a:rPr lang="de-DE" altLang="de-DE" sz="1300"/>
              <a:t>Not fixed: </a:t>
            </a:r>
            <a:br>
              <a:rPr lang="de-DE" altLang="de-DE" sz="1300"/>
            </a:br>
            <a:r>
              <a:rPr lang="de-DE" altLang="de-DE" sz="1300">
                <a:cs typeface="Times New Roman" panose="02020603050405020304" pitchFamily="18" charset="0"/>
              </a:rPr>
              <a:t>–</a:t>
            </a:r>
          </a:p>
        </p:txBody>
      </p:sp>
      <p:sp>
        <p:nvSpPr>
          <p:cNvPr id="26658" name="Text Box 92"/>
          <p:cNvSpPr txBox="1">
            <a:spLocks noChangeAspect="1" noChangeArrowheads="1"/>
          </p:cNvSpPr>
          <p:nvPr/>
        </p:nvSpPr>
        <p:spPr bwMode="auto">
          <a:xfrm>
            <a:off x="21828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6</a:t>
            </a:r>
          </a:p>
          <a:p>
            <a:pPr algn="l" eaLnBrk="1" hangingPunct="1">
              <a:lnSpc>
                <a:spcPct val="100000"/>
              </a:lnSpc>
            </a:pPr>
            <a:r>
              <a:rPr lang="de-DE" altLang="de-DE" sz="1300"/>
              <a:t>Not fixed: </a:t>
            </a:r>
            <a:br>
              <a:rPr lang="de-DE" altLang="de-DE" sz="1300"/>
            </a:br>
            <a:r>
              <a:rPr lang="de-DE" altLang="de-DE" sz="1300"/>
              <a:t>1,2,4,6,7,8</a:t>
            </a:r>
            <a:endParaRPr lang="en-US" altLang="zh-CN" sz="1300">
              <a:ea typeface="宋体" panose="02010600030101010101" pitchFamily="2" charset="-122"/>
            </a:endParaRPr>
          </a:p>
        </p:txBody>
      </p:sp>
      <p:sp>
        <p:nvSpPr>
          <p:cNvPr id="26659" name="Text Box 122"/>
          <p:cNvSpPr txBox="1">
            <a:spLocks noChangeAspect="1" noChangeArrowheads="1"/>
          </p:cNvSpPr>
          <p:nvPr/>
        </p:nvSpPr>
        <p:spPr bwMode="auto">
          <a:xfrm>
            <a:off x="392271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1</a:t>
            </a:r>
          </a:p>
          <a:p>
            <a:pPr algn="l" eaLnBrk="1" hangingPunct="1">
              <a:lnSpc>
                <a:spcPct val="100000"/>
              </a:lnSpc>
            </a:pPr>
            <a:r>
              <a:rPr lang="de-DE" altLang="de-DE" sz="1300"/>
              <a:t>Not fixed: </a:t>
            </a:r>
            <a:br>
              <a:rPr lang="de-DE" altLang="de-DE" sz="1300"/>
            </a:br>
            <a:r>
              <a:rPr lang="de-DE" altLang="de-DE" sz="1300"/>
              <a:t>1,2,7,8</a:t>
            </a:r>
            <a:endParaRPr lang="en-US" altLang="zh-CN" sz="1300">
              <a:ea typeface="宋体" panose="02010600030101010101" pitchFamily="2" charset="-122"/>
            </a:endParaRPr>
          </a:p>
        </p:txBody>
      </p:sp>
      <p:sp>
        <p:nvSpPr>
          <p:cNvPr id="26660" name="Text Box 152"/>
          <p:cNvSpPr txBox="1">
            <a:spLocks noChangeAspect="1" noChangeArrowheads="1"/>
          </p:cNvSpPr>
          <p:nvPr/>
        </p:nvSpPr>
        <p:spPr bwMode="auto">
          <a:xfrm>
            <a:off x="5681663" y="3333750"/>
            <a:ext cx="984250" cy="690563"/>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spAutoFit/>
          </a:bodyP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300"/>
              <a:t>Cut cost: 7</a:t>
            </a:r>
          </a:p>
          <a:p>
            <a:pPr algn="l" eaLnBrk="1" hangingPunct="1">
              <a:lnSpc>
                <a:spcPct val="100000"/>
              </a:lnSpc>
            </a:pPr>
            <a:r>
              <a:rPr lang="de-DE" altLang="de-DE" sz="1300"/>
              <a:t>Not fixed: </a:t>
            </a:r>
            <a:br>
              <a:rPr lang="de-DE" altLang="de-DE" sz="1300"/>
            </a:br>
            <a:r>
              <a:rPr lang="de-DE" altLang="de-DE" sz="1300"/>
              <a:t>2,8</a:t>
            </a:r>
            <a:endParaRPr lang="en-US" altLang="zh-CN" sz="1300">
              <a:ea typeface="宋体" panose="02010600030101010101" pitchFamily="2" charset="-122"/>
            </a:endParaRPr>
          </a:p>
        </p:txBody>
      </p:sp>
      <p:sp>
        <p:nvSpPr>
          <p:cNvPr id="496797" name="Line 157"/>
          <p:cNvSpPr>
            <a:spLocks noChangeAspect="1" noChangeShapeType="1"/>
          </p:cNvSpPr>
          <p:nvPr/>
        </p:nvSpPr>
        <p:spPr bwMode="auto">
          <a:xfrm>
            <a:off x="7899400" y="865188"/>
            <a:ext cx="0" cy="2065337"/>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62" name="AutoShape 158"/>
          <p:cNvSpPr>
            <a:spLocks noChangeAspect="1" noChangeArrowheads="1"/>
          </p:cNvSpPr>
          <p:nvPr/>
        </p:nvSpPr>
        <p:spPr bwMode="auto">
          <a:xfrm>
            <a:off x="68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3" name="AutoShape 159"/>
          <p:cNvSpPr>
            <a:spLocks noChangeAspect="1" noChangeArrowheads="1"/>
          </p:cNvSpPr>
          <p:nvPr/>
        </p:nvSpPr>
        <p:spPr bwMode="auto">
          <a:xfrm>
            <a:off x="2589213" y="4151313"/>
            <a:ext cx="1630362" cy="327025"/>
          </a:xfrm>
          <a:prstGeom prst="curvedUpArrow">
            <a:avLst>
              <a:gd name="adj1" fmla="val 99709"/>
              <a:gd name="adj2" fmla="val 199417"/>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4" name="AutoShape 160"/>
          <p:cNvSpPr>
            <a:spLocks noChangeAspect="1" noChangeArrowheads="1"/>
          </p:cNvSpPr>
          <p:nvPr/>
        </p:nvSpPr>
        <p:spPr bwMode="auto">
          <a:xfrm>
            <a:off x="4495800" y="4151313"/>
            <a:ext cx="1630363" cy="327025"/>
          </a:xfrm>
          <a:prstGeom prst="curvedUpArrow">
            <a:avLst>
              <a:gd name="adj1" fmla="val 99709"/>
              <a:gd name="adj2" fmla="val 199418"/>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6801" name="AutoShape 161"/>
          <p:cNvSpPr>
            <a:spLocks noChangeAspect="1" noChangeArrowheads="1"/>
          </p:cNvSpPr>
          <p:nvPr/>
        </p:nvSpPr>
        <p:spPr bwMode="auto">
          <a:xfrm>
            <a:off x="6400800" y="4151313"/>
            <a:ext cx="1628775" cy="327025"/>
          </a:xfrm>
          <a:prstGeom prst="curvedUpArrow">
            <a:avLst>
              <a:gd name="adj1" fmla="val 99612"/>
              <a:gd name="adj2" fmla="val 199223"/>
              <a:gd name="adj3" fmla="val 33333"/>
            </a:avLst>
          </a:prstGeom>
          <a:gradFill rotWithShape="1">
            <a:gsLst>
              <a:gs pos="0">
                <a:srgbClr val="CCCCFF"/>
              </a:gs>
              <a:gs pos="100000">
                <a:schemeClr val="bg1"/>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66" name="Text Box 162"/>
          <p:cNvSpPr txBox="1">
            <a:spLocks noChangeArrowheads="1"/>
          </p:cNvSpPr>
          <p:nvPr/>
        </p:nvSpPr>
        <p:spPr bwMode="auto">
          <a:xfrm>
            <a:off x="684213" y="4667250"/>
            <a:ext cx="1684337"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6667" name="Text Box 163"/>
          <p:cNvSpPr txBox="1">
            <a:spLocks noChangeArrowheads="1"/>
          </p:cNvSpPr>
          <p:nvPr/>
        </p:nvSpPr>
        <p:spPr bwMode="auto">
          <a:xfrm>
            <a:off x="2589213" y="4667250"/>
            <a:ext cx="1700212"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 3+2-0 = 5</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(4,6)</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2</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i="1" baseline="-25000">
                <a:ea typeface="宋体" panose="02010600030101010101" pitchFamily="2" charset="-122"/>
              </a:rPr>
              <a:t> </a:t>
            </a:r>
            <a:r>
              <a:rPr lang="en-US" altLang="zh-CN" sz="1300">
                <a:ea typeface="宋体" panose="02010600030101010101" pitchFamily="2" charset="-122"/>
              </a:rPr>
              <a:t>=8</a:t>
            </a:r>
          </a:p>
        </p:txBody>
      </p:sp>
      <p:sp>
        <p:nvSpPr>
          <p:cNvPr id="26668" name="Text Box 164"/>
          <p:cNvSpPr txBox="1">
            <a:spLocks noChangeArrowheads="1"/>
          </p:cNvSpPr>
          <p:nvPr/>
        </p:nvSpPr>
        <p:spPr bwMode="auto">
          <a:xfrm>
            <a:off x="4495800" y="4667250"/>
            <a:ext cx="1658938"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(1) = -3</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(7)=-3</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-3	</a:t>
            </a:r>
            <a:r>
              <a:rPr lang="en-US" altLang="zh-CN" sz="1300" i="1">
                <a:ea typeface="宋体" panose="02010600030101010101" pitchFamily="2" charset="-122"/>
              </a:rPr>
              <a:t>D</a:t>
            </a:r>
            <a:r>
              <a:rPr lang="en-US" altLang="zh-CN" sz="1300">
                <a:ea typeface="宋体" panose="02010600030101010101" pitchFamily="2" charset="-122"/>
              </a:rPr>
              <a:t>(8)=-3</a:t>
            </a:r>
            <a:br>
              <a:rPr lang="en-US" altLang="zh-CN" sz="1300">
                <a:ea typeface="宋体" panose="02010600030101010101" pitchFamily="2" charset="-122"/>
              </a:rPr>
            </a:br>
            <a:r>
              <a:rPr lang="en-US" altLang="zh-CN" sz="1300">
                <a:ea typeface="宋体" panose="02010600030101010101" pitchFamily="2" charset="-122"/>
              </a:rPr>
              <a:t>       </a:t>
            </a:r>
            <a:br>
              <a:rPr lang="en-US" altLang="zh-CN" sz="1300" b="1">
                <a:ea typeface="宋体" panose="02010600030101010101" pitchFamily="2" charset="-122"/>
              </a:rPr>
            </a:b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 -3-3-0 = -6</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(1,7)</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i="1">
                <a:ea typeface="宋体" panose="02010600030101010101" pitchFamily="2" charset="-122"/>
              </a:rPr>
              <a:t> </a:t>
            </a:r>
            <a:r>
              <a:rPr lang="en-US" altLang="zh-CN" sz="1300">
                <a:ea typeface="宋体" panose="02010600030101010101" pitchFamily="2" charset="-122"/>
              </a:rPr>
              <a:t>= 2</a:t>
            </a:r>
          </a:p>
        </p:txBody>
      </p:sp>
      <p:sp>
        <p:nvSpPr>
          <p:cNvPr id="26669" name="Text Box 165"/>
          <p:cNvSpPr txBox="1">
            <a:spLocks noChangeArrowheads="1"/>
          </p:cNvSpPr>
          <p:nvPr/>
        </p:nvSpPr>
        <p:spPr bwMode="auto">
          <a:xfrm>
            <a:off x="6400800" y="4667250"/>
            <a:ext cx="1676400" cy="1658938"/>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(2) = -1</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p>
          <a:p>
            <a:pPr algn="l" eaLnBrk="1" hangingPunct="1">
              <a:lnSpc>
                <a:spcPct val="100000"/>
              </a:lnSpc>
            </a:pPr>
            <a:endParaRPr lang="en-US" altLang="zh-CN" sz="1300">
              <a:ea typeface="宋体" panose="02010600030101010101" pitchFamily="2" charset="-122"/>
            </a:endParaRPr>
          </a:p>
          <a:p>
            <a:pPr algn="l" eaLnBrk="1" hangingPunct="1">
              <a:lnSpc>
                <a:spcPct val="100000"/>
              </a:lnSpc>
            </a:pPr>
            <a:endParaRPr lang="en-US" altLang="zh-CN" sz="1300">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-1-1-0 = -2</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(2,8)</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4</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0</a:t>
            </a:r>
          </a:p>
          <a:p>
            <a:pPr algn="l" eaLnBrk="1" hangingPunct="1">
              <a:lnSpc>
                <a:spcPct val="100000"/>
              </a:lnSpc>
            </a:pPr>
            <a:r>
              <a:rPr lang="en-US" altLang="zh-CN" sz="1300" i="1">
                <a:ea typeface="宋体" panose="02010600030101010101" pitchFamily="2" charset="-122"/>
              </a:rPr>
              <a:t> </a:t>
            </a:r>
          </a:p>
        </p:txBody>
      </p:sp>
      <p:sp>
        <p:nvSpPr>
          <p:cNvPr id="26670" name="Rectangle 166"/>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26671" name="Line 167"/>
          <p:cNvSpPr>
            <a:spLocks noChangeAspect="1" noChangeShapeType="1"/>
          </p:cNvSpPr>
          <p:nvPr/>
        </p:nvSpPr>
        <p:spPr bwMode="auto">
          <a:xfrm>
            <a:off x="1270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2" name="Line 168"/>
          <p:cNvSpPr>
            <a:spLocks noChangeAspect="1" noChangeShapeType="1"/>
          </p:cNvSpPr>
          <p:nvPr/>
        </p:nvSpPr>
        <p:spPr bwMode="auto">
          <a:xfrm>
            <a:off x="1274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3" name="Line 169"/>
          <p:cNvSpPr>
            <a:spLocks noChangeAspect="1" noChangeShapeType="1"/>
          </p:cNvSpPr>
          <p:nvPr/>
        </p:nvSpPr>
        <p:spPr bwMode="auto">
          <a:xfrm>
            <a:off x="639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4" name="Line 170"/>
          <p:cNvSpPr>
            <a:spLocks noChangeAspect="1" noChangeShapeType="1"/>
          </p:cNvSpPr>
          <p:nvPr/>
        </p:nvSpPr>
        <p:spPr bwMode="auto">
          <a:xfrm>
            <a:off x="639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5" name="Line 171"/>
          <p:cNvSpPr>
            <a:spLocks noChangeAspect="1" noChangeShapeType="1"/>
          </p:cNvSpPr>
          <p:nvPr/>
        </p:nvSpPr>
        <p:spPr bwMode="auto">
          <a:xfrm flipH="1">
            <a:off x="685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6" name="Line 172"/>
          <p:cNvSpPr>
            <a:spLocks noChangeAspect="1" noChangeShapeType="1"/>
          </p:cNvSpPr>
          <p:nvPr/>
        </p:nvSpPr>
        <p:spPr bwMode="auto">
          <a:xfrm flipH="1">
            <a:off x="671513" y="2266950"/>
            <a:ext cx="576262"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7" name="Line 173"/>
          <p:cNvSpPr>
            <a:spLocks noChangeAspect="1" noChangeShapeType="1"/>
          </p:cNvSpPr>
          <p:nvPr/>
        </p:nvSpPr>
        <p:spPr bwMode="auto">
          <a:xfrm flipH="1">
            <a:off x="661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8" name="Line 174"/>
          <p:cNvSpPr>
            <a:spLocks noChangeAspect="1" noChangeShapeType="1"/>
          </p:cNvSpPr>
          <p:nvPr/>
        </p:nvSpPr>
        <p:spPr bwMode="auto">
          <a:xfrm>
            <a:off x="576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79" name="Line 175"/>
          <p:cNvSpPr>
            <a:spLocks noChangeAspect="1" noChangeShapeType="1"/>
          </p:cNvSpPr>
          <p:nvPr/>
        </p:nvSpPr>
        <p:spPr bwMode="auto">
          <a:xfrm>
            <a:off x="642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80" name="Line 176"/>
          <p:cNvSpPr>
            <a:spLocks noChangeAspect="1" noChangeShapeType="1"/>
          </p:cNvSpPr>
          <p:nvPr/>
        </p:nvSpPr>
        <p:spPr bwMode="auto">
          <a:xfrm>
            <a:off x="703263" y="169386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81" name="Line 177"/>
          <p:cNvSpPr>
            <a:spLocks noChangeAspect="1" noChangeShapeType="1"/>
          </p:cNvSpPr>
          <p:nvPr/>
        </p:nvSpPr>
        <p:spPr bwMode="auto">
          <a:xfrm>
            <a:off x="671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82" name="Line 178"/>
          <p:cNvSpPr>
            <a:spLocks noChangeAspect="1" noChangeShapeType="1"/>
          </p:cNvSpPr>
          <p:nvPr/>
        </p:nvSpPr>
        <p:spPr bwMode="auto">
          <a:xfrm>
            <a:off x="6778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83" name="Line 179"/>
          <p:cNvSpPr>
            <a:spLocks noChangeAspect="1" noChangeShapeType="1"/>
          </p:cNvSpPr>
          <p:nvPr/>
        </p:nvSpPr>
        <p:spPr bwMode="auto">
          <a:xfrm>
            <a:off x="685800" y="1162050"/>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684" name="Oval 180"/>
          <p:cNvSpPr>
            <a:spLocks noChangeAspect="1" noChangeArrowheads="1"/>
          </p:cNvSpPr>
          <p:nvPr/>
        </p:nvSpPr>
        <p:spPr bwMode="auto">
          <a:xfrm>
            <a:off x="4683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85" name="Rectangle 181"/>
          <p:cNvSpPr>
            <a:spLocks noChangeAspect="1" noChangeArrowheads="1"/>
          </p:cNvSpPr>
          <p:nvPr/>
        </p:nvSpPr>
        <p:spPr bwMode="auto">
          <a:xfrm>
            <a:off x="498475" y="1570038"/>
            <a:ext cx="261938"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6686" name="Oval 182"/>
          <p:cNvSpPr>
            <a:spLocks noChangeAspect="1" noChangeArrowheads="1"/>
          </p:cNvSpPr>
          <p:nvPr/>
        </p:nvSpPr>
        <p:spPr bwMode="auto">
          <a:xfrm>
            <a:off x="1106488" y="10001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87" name="Rectangle 183"/>
          <p:cNvSpPr>
            <a:spLocks noChangeAspect="1" noChangeArrowheads="1"/>
          </p:cNvSpPr>
          <p:nvPr/>
        </p:nvSpPr>
        <p:spPr bwMode="auto">
          <a:xfrm>
            <a:off x="1138238" y="1031875"/>
            <a:ext cx="260350" cy="261938"/>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5</a:t>
            </a:r>
            <a:endParaRPr lang="en-US" altLang="zh-CN" sz="1500" b="1">
              <a:solidFill>
                <a:schemeClr val="bg1"/>
              </a:solidFill>
              <a:ea typeface="宋体" panose="02010600030101010101" pitchFamily="2" charset="-122"/>
            </a:endParaRPr>
          </a:p>
        </p:txBody>
      </p:sp>
      <p:sp>
        <p:nvSpPr>
          <p:cNvPr id="26688" name="Oval 184"/>
          <p:cNvSpPr>
            <a:spLocks noChangeAspect="1" noChangeArrowheads="1"/>
          </p:cNvSpPr>
          <p:nvPr/>
        </p:nvSpPr>
        <p:spPr bwMode="auto">
          <a:xfrm>
            <a:off x="1120775" y="1544638"/>
            <a:ext cx="325438"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89" name="Rectangle 185"/>
          <p:cNvSpPr>
            <a:spLocks noChangeAspect="1" noChangeArrowheads="1"/>
          </p:cNvSpPr>
          <p:nvPr/>
        </p:nvSpPr>
        <p:spPr bwMode="auto">
          <a:xfrm>
            <a:off x="1138238" y="156845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6690" name="Oval 186"/>
          <p:cNvSpPr>
            <a:spLocks noChangeAspect="1" noChangeArrowheads="1"/>
          </p:cNvSpPr>
          <p:nvPr/>
        </p:nvSpPr>
        <p:spPr bwMode="auto">
          <a:xfrm>
            <a:off x="468313"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91" name="Rectangle 187"/>
          <p:cNvSpPr>
            <a:spLocks noChangeAspect="1" noChangeArrowheads="1"/>
          </p:cNvSpPr>
          <p:nvPr/>
        </p:nvSpPr>
        <p:spPr bwMode="auto">
          <a:xfrm>
            <a:off x="5064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3</a:t>
            </a:r>
            <a:endParaRPr lang="en-US" altLang="zh-CN" sz="1500" b="1">
              <a:ea typeface="宋体" panose="02010600030101010101" pitchFamily="2" charset="-122"/>
            </a:endParaRPr>
          </a:p>
        </p:txBody>
      </p:sp>
      <p:sp>
        <p:nvSpPr>
          <p:cNvPr id="26692" name="Oval 188"/>
          <p:cNvSpPr>
            <a:spLocks noChangeAspect="1" noChangeArrowheads="1"/>
          </p:cNvSpPr>
          <p:nvPr/>
        </p:nvSpPr>
        <p:spPr bwMode="auto">
          <a:xfrm>
            <a:off x="484188" y="1000125"/>
            <a:ext cx="323850"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93" name="Rectangle 189"/>
          <p:cNvSpPr>
            <a:spLocks noChangeAspect="1" noChangeArrowheads="1"/>
          </p:cNvSpPr>
          <p:nvPr/>
        </p:nvSpPr>
        <p:spPr bwMode="auto">
          <a:xfrm>
            <a:off x="512763" y="1036638"/>
            <a:ext cx="258762"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6694" name="Oval 190"/>
          <p:cNvSpPr>
            <a:spLocks noChangeAspect="1" noChangeArrowheads="1"/>
          </p:cNvSpPr>
          <p:nvPr/>
        </p:nvSpPr>
        <p:spPr bwMode="auto">
          <a:xfrm>
            <a:off x="468313" y="26304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95" name="Rectangle 191"/>
          <p:cNvSpPr>
            <a:spLocks noChangeAspect="1" noChangeArrowheads="1"/>
          </p:cNvSpPr>
          <p:nvPr/>
        </p:nvSpPr>
        <p:spPr bwMode="auto">
          <a:xfrm>
            <a:off x="500063" y="2662238"/>
            <a:ext cx="261937"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6696" name="Oval 192"/>
          <p:cNvSpPr>
            <a:spLocks noChangeAspect="1" noChangeArrowheads="1"/>
          </p:cNvSpPr>
          <p:nvPr/>
        </p:nvSpPr>
        <p:spPr bwMode="auto">
          <a:xfrm>
            <a:off x="11064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97" name="Rectangle 193"/>
          <p:cNvSpPr>
            <a:spLocks noChangeAspect="1" noChangeArrowheads="1"/>
          </p:cNvSpPr>
          <p:nvPr/>
        </p:nvSpPr>
        <p:spPr bwMode="auto">
          <a:xfrm>
            <a:off x="11382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6698" name="Oval 194"/>
          <p:cNvSpPr>
            <a:spLocks noChangeAspect="1" noChangeArrowheads="1"/>
          </p:cNvSpPr>
          <p:nvPr/>
        </p:nvSpPr>
        <p:spPr bwMode="auto">
          <a:xfrm>
            <a:off x="1120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699" name="Rectangle 195"/>
          <p:cNvSpPr>
            <a:spLocks noChangeAspect="1" noChangeArrowheads="1"/>
          </p:cNvSpPr>
          <p:nvPr/>
        </p:nvSpPr>
        <p:spPr bwMode="auto">
          <a:xfrm>
            <a:off x="1154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6700" name="Line 196"/>
          <p:cNvSpPr>
            <a:spLocks noChangeAspect="1" noChangeShapeType="1"/>
          </p:cNvSpPr>
          <p:nvPr/>
        </p:nvSpPr>
        <p:spPr bwMode="auto">
          <a:xfrm>
            <a:off x="968375" y="892175"/>
            <a:ext cx="0" cy="20637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1" name="Line 197"/>
          <p:cNvSpPr>
            <a:spLocks noChangeAspect="1" noChangeShapeType="1"/>
          </p:cNvSpPr>
          <p:nvPr/>
        </p:nvSpPr>
        <p:spPr bwMode="auto">
          <a:xfrm>
            <a:off x="3000375"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2" name="Line 198"/>
          <p:cNvSpPr>
            <a:spLocks noChangeAspect="1" noChangeShapeType="1"/>
          </p:cNvSpPr>
          <p:nvPr/>
        </p:nvSpPr>
        <p:spPr bwMode="auto">
          <a:xfrm>
            <a:off x="3005138"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3" name="Line 199"/>
          <p:cNvSpPr>
            <a:spLocks noChangeAspect="1" noChangeShapeType="1"/>
          </p:cNvSpPr>
          <p:nvPr/>
        </p:nvSpPr>
        <p:spPr bwMode="auto">
          <a:xfrm>
            <a:off x="2370138"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4" name="Line 200"/>
          <p:cNvSpPr>
            <a:spLocks noChangeAspect="1" noChangeShapeType="1"/>
          </p:cNvSpPr>
          <p:nvPr/>
        </p:nvSpPr>
        <p:spPr bwMode="auto">
          <a:xfrm>
            <a:off x="2370138"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5" name="Line 201"/>
          <p:cNvSpPr>
            <a:spLocks noChangeAspect="1" noChangeShapeType="1"/>
          </p:cNvSpPr>
          <p:nvPr/>
        </p:nvSpPr>
        <p:spPr bwMode="auto">
          <a:xfrm flipH="1">
            <a:off x="2414588" y="1701800"/>
            <a:ext cx="576262"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6" name="Line 202"/>
          <p:cNvSpPr>
            <a:spLocks noChangeAspect="1" noChangeShapeType="1"/>
          </p:cNvSpPr>
          <p:nvPr/>
        </p:nvSpPr>
        <p:spPr bwMode="auto">
          <a:xfrm flipH="1">
            <a:off x="2401888"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7" name="Line 203"/>
          <p:cNvSpPr>
            <a:spLocks noChangeAspect="1" noChangeShapeType="1"/>
          </p:cNvSpPr>
          <p:nvPr/>
        </p:nvSpPr>
        <p:spPr bwMode="auto">
          <a:xfrm flipH="1">
            <a:off x="2390775"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8" name="Line 204"/>
          <p:cNvSpPr>
            <a:spLocks noChangeAspect="1" noChangeShapeType="1"/>
          </p:cNvSpPr>
          <p:nvPr/>
        </p:nvSpPr>
        <p:spPr bwMode="auto">
          <a:xfrm>
            <a:off x="2305050" y="2203450"/>
            <a:ext cx="627063"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09" name="Line 205"/>
          <p:cNvSpPr>
            <a:spLocks noChangeAspect="1" noChangeShapeType="1"/>
          </p:cNvSpPr>
          <p:nvPr/>
        </p:nvSpPr>
        <p:spPr bwMode="auto">
          <a:xfrm>
            <a:off x="2373313"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10" name="Line 206"/>
          <p:cNvSpPr>
            <a:spLocks noChangeAspect="1" noChangeShapeType="1"/>
          </p:cNvSpPr>
          <p:nvPr/>
        </p:nvSpPr>
        <p:spPr bwMode="auto">
          <a:xfrm>
            <a:off x="2432050"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11" name="Line 207"/>
          <p:cNvSpPr>
            <a:spLocks noChangeAspect="1" noChangeShapeType="1"/>
          </p:cNvSpPr>
          <p:nvPr/>
        </p:nvSpPr>
        <p:spPr bwMode="auto">
          <a:xfrm>
            <a:off x="2401888"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12" name="Line 208"/>
          <p:cNvSpPr>
            <a:spLocks noChangeAspect="1" noChangeShapeType="1"/>
          </p:cNvSpPr>
          <p:nvPr/>
        </p:nvSpPr>
        <p:spPr bwMode="auto">
          <a:xfrm>
            <a:off x="2406650"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13" name="Line 209"/>
          <p:cNvSpPr>
            <a:spLocks noChangeAspect="1" noChangeShapeType="1"/>
          </p:cNvSpPr>
          <p:nvPr/>
        </p:nvSpPr>
        <p:spPr bwMode="auto">
          <a:xfrm>
            <a:off x="2414588" y="1162050"/>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14" name="Oval 210"/>
          <p:cNvSpPr>
            <a:spLocks noChangeAspect="1" noChangeArrowheads="1"/>
          </p:cNvSpPr>
          <p:nvPr/>
        </p:nvSpPr>
        <p:spPr bwMode="auto">
          <a:xfrm>
            <a:off x="2198688"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15" name="Rectangle 211"/>
          <p:cNvSpPr>
            <a:spLocks noChangeAspect="1" noChangeArrowheads="1"/>
          </p:cNvSpPr>
          <p:nvPr/>
        </p:nvSpPr>
        <p:spPr bwMode="auto">
          <a:xfrm>
            <a:off x="2228850" y="1570038"/>
            <a:ext cx="260350" cy="2587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6716" name="Oval 212"/>
          <p:cNvSpPr>
            <a:spLocks noChangeAspect="1" noChangeArrowheads="1"/>
          </p:cNvSpPr>
          <p:nvPr/>
        </p:nvSpPr>
        <p:spPr bwMode="auto">
          <a:xfrm>
            <a:off x="28352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500"/>
          </a:p>
        </p:txBody>
      </p:sp>
      <p:sp>
        <p:nvSpPr>
          <p:cNvPr id="26717" name="Rectangle 213"/>
          <p:cNvSpPr>
            <a:spLocks noChangeAspect="1" noChangeArrowheads="1"/>
          </p:cNvSpPr>
          <p:nvPr/>
        </p:nvSpPr>
        <p:spPr bwMode="auto">
          <a:xfrm>
            <a:off x="2867025" y="1033463"/>
            <a:ext cx="260350" cy="260350"/>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6718" name="Oval 214"/>
          <p:cNvSpPr>
            <a:spLocks noChangeAspect="1" noChangeArrowheads="1"/>
          </p:cNvSpPr>
          <p:nvPr/>
        </p:nvSpPr>
        <p:spPr bwMode="auto">
          <a:xfrm>
            <a:off x="2849563" y="1544638"/>
            <a:ext cx="327025" cy="32385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19" name="Rectangle 215"/>
          <p:cNvSpPr>
            <a:spLocks noChangeAspect="1" noChangeArrowheads="1"/>
          </p:cNvSpPr>
          <p:nvPr/>
        </p:nvSpPr>
        <p:spPr bwMode="auto">
          <a:xfrm>
            <a:off x="2867025"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6</a:t>
            </a:r>
            <a:endParaRPr lang="en-US" altLang="zh-CN" sz="1500" b="1">
              <a:solidFill>
                <a:schemeClr val="bg1"/>
              </a:solidFill>
              <a:ea typeface="宋体" panose="02010600030101010101" pitchFamily="2" charset="-122"/>
            </a:endParaRPr>
          </a:p>
        </p:txBody>
      </p:sp>
      <p:sp>
        <p:nvSpPr>
          <p:cNvPr id="26720" name="Oval 216"/>
          <p:cNvSpPr>
            <a:spLocks noChangeAspect="1" noChangeArrowheads="1"/>
          </p:cNvSpPr>
          <p:nvPr/>
        </p:nvSpPr>
        <p:spPr bwMode="auto">
          <a:xfrm>
            <a:off x="21986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21" name="Rectangle 217"/>
          <p:cNvSpPr>
            <a:spLocks noChangeAspect="1" noChangeArrowheads="1"/>
          </p:cNvSpPr>
          <p:nvPr/>
        </p:nvSpPr>
        <p:spPr bwMode="auto">
          <a:xfrm>
            <a:off x="2235200"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6722" name="Oval 218"/>
          <p:cNvSpPr>
            <a:spLocks noChangeAspect="1" noChangeArrowheads="1"/>
          </p:cNvSpPr>
          <p:nvPr/>
        </p:nvSpPr>
        <p:spPr bwMode="auto">
          <a:xfrm>
            <a:off x="2212975" y="1000125"/>
            <a:ext cx="325438"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23" name="Rectangle 219"/>
          <p:cNvSpPr>
            <a:spLocks noChangeAspect="1" noChangeArrowheads="1"/>
          </p:cNvSpPr>
          <p:nvPr/>
        </p:nvSpPr>
        <p:spPr bwMode="auto">
          <a:xfrm>
            <a:off x="2241550" y="1036638"/>
            <a:ext cx="258763" cy="2603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6724" name="Oval 220"/>
          <p:cNvSpPr>
            <a:spLocks noChangeAspect="1" noChangeArrowheads="1"/>
          </p:cNvSpPr>
          <p:nvPr/>
        </p:nvSpPr>
        <p:spPr bwMode="auto">
          <a:xfrm>
            <a:off x="2198688" y="2630488"/>
            <a:ext cx="325437"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25" name="Rectangle 221"/>
          <p:cNvSpPr>
            <a:spLocks noChangeAspect="1" noChangeArrowheads="1"/>
          </p:cNvSpPr>
          <p:nvPr/>
        </p:nvSpPr>
        <p:spPr bwMode="auto">
          <a:xfrm>
            <a:off x="2230438"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4</a:t>
            </a:r>
            <a:endParaRPr lang="en-US" altLang="zh-CN" sz="1500" b="1">
              <a:ea typeface="宋体" panose="02010600030101010101" pitchFamily="2" charset="-122"/>
            </a:endParaRPr>
          </a:p>
        </p:txBody>
      </p:sp>
      <p:sp>
        <p:nvSpPr>
          <p:cNvPr id="26726" name="Oval 222"/>
          <p:cNvSpPr>
            <a:spLocks noChangeAspect="1" noChangeArrowheads="1"/>
          </p:cNvSpPr>
          <p:nvPr/>
        </p:nvSpPr>
        <p:spPr bwMode="auto">
          <a:xfrm>
            <a:off x="2835275" y="2087563"/>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27" name="Rectangle 223"/>
          <p:cNvSpPr>
            <a:spLocks noChangeAspect="1" noChangeArrowheads="1"/>
          </p:cNvSpPr>
          <p:nvPr/>
        </p:nvSpPr>
        <p:spPr bwMode="auto">
          <a:xfrm>
            <a:off x="2867025" y="2119313"/>
            <a:ext cx="260350" cy="261937"/>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6728" name="Oval 224"/>
          <p:cNvSpPr>
            <a:spLocks noChangeAspect="1" noChangeArrowheads="1"/>
          </p:cNvSpPr>
          <p:nvPr/>
        </p:nvSpPr>
        <p:spPr bwMode="auto">
          <a:xfrm>
            <a:off x="284956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29" name="Rectangle 225"/>
          <p:cNvSpPr>
            <a:spLocks noChangeAspect="1" noChangeArrowheads="1"/>
          </p:cNvSpPr>
          <p:nvPr/>
        </p:nvSpPr>
        <p:spPr bwMode="auto">
          <a:xfrm>
            <a:off x="2884488"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6730" name="Freeform 226"/>
          <p:cNvSpPr>
            <a:spLocks noChangeAspect="1"/>
          </p:cNvSpPr>
          <p:nvPr/>
        </p:nvSpPr>
        <p:spPr bwMode="auto">
          <a:xfrm>
            <a:off x="1936750" y="1381125"/>
            <a:ext cx="1247775" cy="1574800"/>
          </a:xfrm>
          <a:custGeom>
            <a:avLst/>
            <a:gdLst>
              <a:gd name="T0" fmla="*/ 1247775 w 1304"/>
              <a:gd name="T1" fmla="*/ 54601 h 1644"/>
              <a:gd name="T2" fmla="*/ 922435 w 1304"/>
              <a:gd name="T3" fmla="*/ 54601 h 1644"/>
              <a:gd name="T4" fmla="*/ 705223 w 1304"/>
              <a:gd name="T5" fmla="*/ 380289 h 1644"/>
              <a:gd name="T6" fmla="*/ 488010 w 1304"/>
              <a:gd name="T7" fmla="*/ 597734 h 1644"/>
              <a:gd name="T8" fmla="*/ 162670 w 1304"/>
              <a:gd name="T9" fmla="*/ 597734 h 1644"/>
              <a:gd name="T10" fmla="*/ 54542 w 1304"/>
              <a:gd name="T11" fmla="*/ 1031666 h 1644"/>
              <a:gd name="T12" fmla="*/ 488010 w 1304"/>
              <a:gd name="T13" fmla="*/ 1140868 h 1644"/>
              <a:gd name="T14" fmla="*/ 813350 w 1304"/>
              <a:gd name="T15" fmla="*/ 1574800 h 16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304" h="1644">
                <a:moveTo>
                  <a:pt x="1304" y="57"/>
                </a:moveTo>
                <a:cubicBezTo>
                  <a:pt x="1181" y="28"/>
                  <a:pt x="1058" y="0"/>
                  <a:pt x="964" y="57"/>
                </a:cubicBezTo>
                <a:cubicBezTo>
                  <a:pt x="870" y="114"/>
                  <a:pt x="813" y="302"/>
                  <a:pt x="737" y="397"/>
                </a:cubicBezTo>
                <a:cubicBezTo>
                  <a:pt x="661" y="492"/>
                  <a:pt x="604" y="586"/>
                  <a:pt x="510" y="624"/>
                </a:cubicBezTo>
                <a:cubicBezTo>
                  <a:pt x="416" y="662"/>
                  <a:pt x="245" y="549"/>
                  <a:pt x="170" y="624"/>
                </a:cubicBezTo>
                <a:cubicBezTo>
                  <a:pt x="95" y="699"/>
                  <a:pt x="0" y="983"/>
                  <a:pt x="57" y="1077"/>
                </a:cubicBezTo>
                <a:cubicBezTo>
                  <a:pt x="114" y="1171"/>
                  <a:pt x="378" y="1097"/>
                  <a:pt x="510" y="1191"/>
                </a:cubicBezTo>
                <a:cubicBezTo>
                  <a:pt x="642" y="1285"/>
                  <a:pt x="746" y="1464"/>
                  <a:pt x="850" y="1644"/>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1" name="Line 227"/>
          <p:cNvSpPr>
            <a:spLocks noChangeAspect="1" noChangeShapeType="1"/>
          </p:cNvSpPr>
          <p:nvPr/>
        </p:nvSpPr>
        <p:spPr bwMode="auto">
          <a:xfrm>
            <a:off x="47371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2" name="Line 228"/>
          <p:cNvSpPr>
            <a:spLocks noChangeAspect="1" noChangeShapeType="1"/>
          </p:cNvSpPr>
          <p:nvPr/>
        </p:nvSpPr>
        <p:spPr bwMode="auto">
          <a:xfrm>
            <a:off x="47418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3" name="Line 229"/>
          <p:cNvSpPr>
            <a:spLocks noChangeAspect="1" noChangeShapeType="1"/>
          </p:cNvSpPr>
          <p:nvPr/>
        </p:nvSpPr>
        <p:spPr bwMode="auto">
          <a:xfrm>
            <a:off x="41068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4" name="Line 230"/>
          <p:cNvSpPr>
            <a:spLocks noChangeAspect="1" noChangeShapeType="1"/>
          </p:cNvSpPr>
          <p:nvPr/>
        </p:nvSpPr>
        <p:spPr bwMode="auto">
          <a:xfrm>
            <a:off x="41068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5" name="Line 231"/>
          <p:cNvSpPr>
            <a:spLocks noChangeAspect="1" noChangeShapeType="1"/>
          </p:cNvSpPr>
          <p:nvPr/>
        </p:nvSpPr>
        <p:spPr bwMode="auto">
          <a:xfrm flipH="1">
            <a:off x="4154488"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6" name="Line 232"/>
          <p:cNvSpPr>
            <a:spLocks noChangeAspect="1" noChangeShapeType="1"/>
          </p:cNvSpPr>
          <p:nvPr/>
        </p:nvSpPr>
        <p:spPr bwMode="auto">
          <a:xfrm flipH="1">
            <a:off x="4138613"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7" name="Line 233"/>
          <p:cNvSpPr>
            <a:spLocks noChangeAspect="1" noChangeShapeType="1"/>
          </p:cNvSpPr>
          <p:nvPr/>
        </p:nvSpPr>
        <p:spPr bwMode="auto">
          <a:xfrm flipH="1">
            <a:off x="41290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8" name="Line 234"/>
          <p:cNvSpPr>
            <a:spLocks noChangeAspect="1" noChangeShapeType="1"/>
          </p:cNvSpPr>
          <p:nvPr/>
        </p:nvSpPr>
        <p:spPr bwMode="auto">
          <a:xfrm>
            <a:off x="4044950" y="2203450"/>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39" name="Line 235"/>
          <p:cNvSpPr>
            <a:spLocks noChangeAspect="1" noChangeShapeType="1"/>
          </p:cNvSpPr>
          <p:nvPr/>
        </p:nvSpPr>
        <p:spPr bwMode="auto">
          <a:xfrm>
            <a:off x="4111625" y="1152525"/>
            <a:ext cx="625475"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40" name="Line 236"/>
          <p:cNvSpPr>
            <a:spLocks noChangeAspect="1" noChangeShapeType="1"/>
          </p:cNvSpPr>
          <p:nvPr/>
        </p:nvSpPr>
        <p:spPr bwMode="auto">
          <a:xfrm>
            <a:off x="4168775"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41" name="Line 237"/>
          <p:cNvSpPr>
            <a:spLocks noChangeAspect="1" noChangeShapeType="1"/>
          </p:cNvSpPr>
          <p:nvPr/>
        </p:nvSpPr>
        <p:spPr bwMode="auto">
          <a:xfrm>
            <a:off x="4140200" y="22383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42" name="Line 238"/>
          <p:cNvSpPr>
            <a:spLocks noChangeAspect="1" noChangeShapeType="1"/>
          </p:cNvSpPr>
          <p:nvPr/>
        </p:nvSpPr>
        <p:spPr bwMode="auto">
          <a:xfrm>
            <a:off x="4144963" y="2797175"/>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43" name="Line 239"/>
          <p:cNvSpPr>
            <a:spLocks noChangeAspect="1" noChangeShapeType="1"/>
          </p:cNvSpPr>
          <p:nvPr/>
        </p:nvSpPr>
        <p:spPr bwMode="auto">
          <a:xfrm>
            <a:off x="4154488" y="1162050"/>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44" name="Oval 240"/>
          <p:cNvSpPr>
            <a:spLocks noChangeAspect="1" noChangeArrowheads="1"/>
          </p:cNvSpPr>
          <p:nvPr/>
        </p:nvSpPr>
        <p:spPr bwMode="auto">
          <a:xfrm>
            <a:off x="3935413" y="1544638"/>
            <a:ext cx="327025"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45" name="Rectangle 241"/>
          <p:cNvSpPr>
            <a:spLocks noChangeAspect="1" noChangeArrowheads="1"/>
          </p:cNvSpPr>
          <p:nvPr/>
        </p:nvSpPr>
        <p:spPr bwMode="auto">
          <a:xfrm>
            <a:off x="3965575" y="1570038"/>
            <a:ext cx="260350"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6746" name="Oval 242"/>
          <p:cNvSpPr>
            <a:spLocks noChangeAspect="1" noChangeArrowheads="1"/>
          </p:cNvSpPr>
          <p:nvPr/>
        </p:nvSpPr>
        <p:spPr bwMode="auto">
          <a:xfrm>
            <a:off x="4573588"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47" name="Rectangle 243"/>
          <p:cNvSpPr>
            <a:spLocks noChangeAspect="1" noChangeArrowheads="1"/>
          </p:cNvSpPr>
          <p:nvPr/>
        </p:nvSpPr>
        <p:spPr bwMode="auto">
          <a:xfrm>
            <a:off x="4605338" y="103346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6748" name="Oval 244"/>
          <p:cNvSpPr>
            <a:spLocks noChangeAspect="1" noChangeArrowheads="1"/>
          </p:cNvSpPr>
          <p:nvPr/>
        </p:nvSpPr>
        <p:spPr bwMode="auto">
          <a:xfrm>
            <a:off x="4587875" y="1544638"/>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49" name="Rectangle 245"/>
          <p:cNvSpPr>
            <a:spLocks noChangeAspect="1" noChangeArrowheads="1"/>
          </p:cNvSpPr>
          <p:nvPr/>
        </p:nvSpPr>
        <p:spPr bwMode="auto">
          <a:xfrm>
            <a:off x="4605338"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26750" name="Oval 246"/>
          <p:cNvSpPr>
            <a:spLocks noChangeAspect="1" noChangeArrowheads="1"/>
          </p:cNvSpPr>
          <p:nvPr/>
        </p:nvSpPr>
        <p:spPr bwMode="auto">
          <a:xfrm>
            <a:off x="3935413" y="2087563"/>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51" name="Rectangle 247"/>
          <p:cNvSpPr>
            <a:spLocks noChangeAspect="1" noChangeArrowheads="1"/>
          </p:cNvSpPr>
          <p:nvPr/>
        </p:nvSpPr>
        <p:spPr bwMode="auto">
          <a:xfrm>
            <a:off x="3973513"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6752" name="Oval 248"/>
          <p:cNvSpPr>
            <a:spLocks noChangeAspect="1" noChangeArrowheads="1"/>
          </p:cNvSpPr>
          <p:nvPr/>
        </p:nvSpPr>
        <p:spPr bwMode="auto">
          <a:xfrm>
            <a:off x="3951288" y="1000125"/>
            <a:ext cx="325437"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53" name="Rectangle 249"/>
          <p:cNvSpPr>
            <a:spLocks noChangeAspect="1" noChangeArrowheads="1"/>
          </p:cNvSpPr>
          <p:nvPr/>
        </p:nvSpPr>
        <p:spPr bwMode="auto">
          <a:xfrm>
            <a:off x="3979863" y="10366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6754" name="Oval 250"/>
          <p:cNvSpPr>
            <a:spLocks noChangeAspect="1" noChangeArrowheads="1"/>
          </p:cNvSpPr>
          <p:nvPr/>
        </p:nvSpPr>
        <p:spPr bwMode="auto">
          <a:xfrm>
            <a:off x="3935413" y="2630488"/>
            <a:ext cx="327025"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55" name="Rectangle 251"/>
          <p:cNvSpPr>
            <a:spLocks noChangeAspect="1" noChangeArrowheads="1"/>
          </p:cNvSpPr>
          <p:nvPr/>
        </p:nvSpPr>
        <p:spPr bwMode="auto">
          <a:xfrm>
            <a:off x="3967163" y="2662238"/>
            <a:ext cx="261937"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26756" name="Oval 252"/>
          <p:cNvSpPr>
            <a:spLocks noChangeAspect="1" noChangeArrowheads="1"/>
          </p:cNvSpPr>
          <p:nvPr/>
        </p:nvSpPr>
        <p:spPr bwMode="auto">
          <a:xfrm>
            <a:off x="4573588"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57" name="Rectangle 253"/>
          <p:cNvSpPr>
            <a:spLocks noChangeAspect="1" noChangeArrowheads="1"/>
          </p:cNvSpPr>
          <p:nvPr/>
        </p:nvSpPr>
        <p:spPr bwMode="auto">
          <a:xfrm>
            <a:off x="4605338" y="2119313"/>
            <a:ext cx="260350" cy="26193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6758" name="Oval 254"/>
          <p:cNvSpPr>
            <a:spLocks noChangeAspect="1" noChangeArrowheads="1"/>
          </p:cNvSpPr>
          <p:nvPr/>
        </p:nvSpPr>
        <p:spPr bwMode="auto">
          <a:xfrm>
            <a:off x="45878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59" name="Rectangle 255"/>
          <p:cNvSpPr>
            <a:spLocks noChangeAspect="1" noChangeArrowheads="1"/>
          </p:cNvSpPr>
          <p:nvPr/>
        </p:nvSpPr>
        <p:spPr bwMode="auto">
          <a:xfrm>
            <a:off x="46212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6760" name="Line 256"/>
          <p:cNvSpPr>
            <a:spLocks noChangeAspect="1" noChangeShapeType="1"/>
          </p:cNvSpPr>
          <p:nvPr/>
        </p:nvSpPr>
        <p:spPr bwMode="auto">
          <a:xfrm>
            <a:off x="3836988" y="1978025"/>
            <a:ext cx="119538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1" name="Line 257"/>
          <p:cNvSpPr>
            <a:spLocks noChangeAspect="1" noChangeShapeType="1"/>
          </p:cNvSpPr>
          <p:nvPr/>
        </p:nvSpPr>
        <p:spPr bwMode="auto">
          <a:xfrm>
            <a:off x="6477000" y="219551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2" name="Line 258"/>
          <p:cNvSpPr>
            <a:spLocks noChangeAspect="1" noChangeShapeType="1"/>
          </p:cNvSpPr>
          <p:nvPr/>
        </p:nvSpPr>
        <p:spPr bwMode="auto">
          <a:xfrm>
            <a:off x="6481763" y="1131888"/>
            <a:ext cx="0" cy="544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3" name="Line 259"/>
          <p:cNvSpPr>
            <a:spLocks noChangeAspect="1" noChangeShapeType="1"/>
          </p:cNvSpPr>
          <p:nvPr/>
        </p:nvSpPr>
        <p:spPr bwMode="auto">
          <a:xfrm>
            <a:off x="5846763" y="2201863"/>
            <a:ext cx="0" cy="652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4" name="Line 260"/>
          <p:cNvSpPr>
            <a:spLocks noChangeAspect="1" noChangeShapeType="1"/>
          </p:cNvSpPr>
          <p:nvPr/>
        </p:nvSpPr>
        <p:spPr bwMode="auto">
          <a:xfrm>
            <a:off x="5846763" y="1149350"/>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5" name="Line 261"/>
          <p:cNvSpPr>
            <a:spLocks noChangeAspect="1" noChangeShapeType="1"/>
          </p:cNvSpPr>
          <p:nvPr/>
        </p:nvSpPr>
        <p:spPr bwMode="auto">
          <a:xfrm flipH="1">
            <a:off x="5892800" y="17018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6" name="Line 262"/>
          <p:cNvSpPr>
            <a:spLocks noChangeAspect="1" noChangeShapeType="1"/>
          </p:cNvSpPr>
          <p:nvPr/>
        </p:nvSpPr>
        <p:spPr bwMode="auto">
          <a:xfrm flipH="1">
            <a:off x="5878513" y="2266950"/>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7" name="Line 263"/>
          <p:cNvSpPr>
            <a:spLocks noChangeAspect="1" noChangeShapeType="1"/>
          </p:cNvSpPr>
          <p:nvPr/>
        </p:nvSpPr>
        <p:spPr bwMode="auto">
          <a:xfrm flipH="1">
            <a:off x="5868988" y="1189038"/>
            <a:ext cx="574675" cy="493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8" name="Line 264"/>
          <p:cNvSpPr>
            <a:spLocks noChangeAspect="1" noChangeShapeType="1"/>
          </p:cNvSpPr>
          <p:nvPr/>
        </p:nvSpPr>
        <p:spPr bwMode="auto">
          <a:xfrm>
            <a:off x="5783263" y="2203450"/>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69" name="Line 265"/>
          <p:cNvSpPr>
            <a:spLocks noChangeAspect="1" noChangeShapeType="1"/>
          </p:cNvSpPr>
          <p:nvPr/>
        </p:nvSpPr>
        <p:spPr bwMode="auto">
          <a:xfrm>
            <a:off x="5849938" y="1152525"/>
            <a:ext cx="627062"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70" name="Line 266"/>
          <p:cNvSpPr>
            <a:spLocks noChangeAspect="1" noChangeShapeType="1"/>
          </p:cNvSpPr>
          <p:nvPr/>
        </p:nvSpPr>
        <p:spPr bwMode="auto">
          <a:xfrm>
            <a:off x="5908675" y="1693863"/>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71" name="Line 267"/>
          <p:cNvSpPr>
            <a:spLocks noChangeAspect="1" noChangeShapeType="1"/>
          </p:cNvSpPr>
          <p:nvPr/>
        </p:nvSpPr>
        <p:spPr bwMode="auto">
          <a:xfrm>
            <a:off x="5878513" y="2238375"/>
            <a:ext cx="6524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72" name="Line 268"/>
          <p:cNvSpPr>
            <a:spLocks noChangeAspect="1" noChangeShapeType="1"/>
          </p:cNvSpPr>
          <p:nvPr/>
        </p:nvSpPr>
        <p:spPr bwMode="auto">
          <a:xfrm>
            <a:off x="5883275" y="279717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73" name="Line 269"/>
          <p:cNvSpPr>
            <a:spLocks noChangeAspect="1" noChangeShapeType="1"/>
          </p:cNvSpPr>
          <p:nvPr/>
        </p:nvSpPr>
        <p:spPr bwMode="auto">
          <a:xfrm>
            <a:off x="5892800" y="1162050"/>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6774" name="Oval 270"/>
          <p:cNvSpPr>
            <a:spLocks noChangeAspect="1" noChangeArrowheads="1"/>
          </p:cNvSpPr>
          <p:nvPr/>
        </p:nvSpPr>
        <p:spPr bwMode="auto">
          <a:xfrm>
            <a:off x="5675313" y="1544638"/>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75" name="Rectangle 271"/>
          <p:cNvSpPr>
            <a:spLocks noChangeAspect="1" noChangeArrowheads="1"/>
          </p:cNvSpPr>
          <p:nvPr/>
        </p:nvSpPr>
        <p:spPr bwMode="auto">
          <a:xfrm>
            <a:off x="5705475" y="1570038"/>
            <a:ext cx="260350" cy="2587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6776" name="Oval 272"/>
          <p:cNvSpPr>
            <a:spLocks noChangeAspect="1" noChangeArrowheads="1"/>
          </p:cNvSpPr>
          <p:nvPr/>
        </p:nvSpPr>
        <p:spPr bwMode="auto">
          <a:xfrm>
            <a:off x="6311900" y="1000125"/>
            <a:ext cx="327025" cy="32543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77" name="Rectangle 273"/>
          <p:cNvSpPr>
            <a:spLocks noChangeAspect="1" noChangeArrowheads="1"/>
          </p:cNvSpPr>
          <p:nvPr/>
        </p:nvSpPr>
        <p:spPr bwMode="auto">
          <a:xfrm>
            <a:off x="6343650" y="103346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6778" name="Oval 274"/>
          <p:cNvSpPr>
            <a:spLocks noChangeAspect="1" noChangeArrowheads="1"/>
          </p:cNvSpPr>
          <p:nvPr/>
        </p:nvSpPr>
        <p:spPr bwMode="auto">
          <a:xfrm>
            <a:off x="6327775" y="1544638"/>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79" name="Rectangle 275"/>
          <p:cNvSpPr>
            <a:spLocks noChangeAspect="1" noChangeArrowheads="1"/>
          </p:cNvSpPr>
          <p:nvPr/>
        </p:nvSpPr>
        <p:spPr bwMode="auto">
          <a:xfrm>
            <a:off x="6343650" y="15684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26780" name="Oval 276"/>
          <p:cNvSpPr>
            <a:spLocks noChangeAspect="1" noChangeArrowheads="1"/>
          </p:cNvSpPr>
          <p:nvPr/>
        </p:nvSpPr>
        <p:spPr bwMode="auto">
          <a:xfrm>
            <a:off x="5675313" y="2087563"/>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81" name="Rectangle 277"/>
          <p:cNvSpPr>
            <a:spLocks noChangeAspect="1" noChangeArrowheads="1"/>
          </p:cNvSpPr>
          <p:nvPr/>
        </p:nvSpPr>
        <p:spPr bwMode="auto">
          <a:xfrm>
            <a:off x="5711825" y="21193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6782" name="Oval 278"/>
          <p:cNvSpPr>
            <a:spLocks noChangeAspect="1" noChangeArrowheads="1"/>
          </p:cNvSpPr>
          <p:nvPr/>
        </p:nvSpPr>
        <p:spPr bwMode="auto">
          <a:xfrm>
            <a:off x="5688013" y="1000125"/>
            <a:ext cx="327025"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83" name="Rectangle 279"/>
          <p:cNvSpPr>
            <a:spLocks noChangeAspect="1" noChangeArrowheads="1"/>
          </p:cNvSpPr>
          <p:nvPr/>
        </p:nvSpPr>
        <p:spPr bwMode="auto">
          <a:xfrm>
            <a:off x="5719763" y="1038225"/>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1</a:t>
            </a:r>
            <a:endParaRPr lang="en-US" altLang="zh-CN" sz="1500" b="1">
              <a:solidFill>
                <a:schemeClr val="bg1"/>
              </a:solidFill>
              <a:ea typeface="宋体" panose="02010600030101010101" pitchFamily="2" charset="-122"/>
            </a:endParaRPr>
          </a:p>
        </p:txBody>
      </p:sp>
      <p:sp>
        <p:nvSpPr>
          <p:cNvPr id="26784" name="Oval 280"/>
          <p:cNvSpPr>
            <a:spLocks noChangeAspect="1" noChangeArrowheads="1"/>
          </p:cNvSpPr>
          <p:nvPr/>
        </p:nvSpPr>
        <p:spPr bwMode="auto">
          <a:xfrm>
            <a:off x="5675313" y="2630488"/>
            <a:ext cx="325437"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85" name="Rectangle 281"/>
          <p:cNvSpPr>
            <a:spLocks noChangeAspect="1" noChangeArrowheads="1"/>
          </p:cNvSpPr>
          <p:nvPr/>
        </p:nvSpPr>
        <p:spPr bwMode="auto">
          <a:xfrm>
            <a:off x="5707063" y="2662238"/>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26786" name="Oval 282"/>
          <p:cNvSpPr>
            <a:spLocks noChangeAspect="1" noChangeArrowheads="1"/>
          </p:cNvSpPr>
          <p:nvPr/>
        </p:nvSpPr>
        <p:spPr bwMode="auto">
          <a:xfrm>
            <a:off x="6311900" y="2087563"/>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87" name="Rectangle 283"/>
          <p:cNvSpPr>
            <a:spLocks noChangeAspect="1" noChangeArrowheads="1"/>
          </p:cNvSpPr>
          <p:nvPr/>
        </p:nvSpPr>
        <p:spPr bwMode="auto">
          <a:xfrm>
            <a:off x="6343650" y="2119313"/>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7</a:t>
            </a:r>
            <a:endParaRPr lang="en-US" altLang="zh-CN" sz="1500" b="1">
              <a:ea typeface="宋体" panose="02010600030101010101" pitchFamily="2" charset="-122"/>
            </a:endParaRPr>
          </a:p>
        </p:txBody>
      </p:sp>
      <p:sp>
        <p:nvSpPr>
          <p:cNvPr id="26788" name="Oval 284"/>
          <p:cNvSpPr>
            <a:spLocks noChangeAspect="1" noChangeArrowheads="1"/>
          </p:cNvSpPr>
          <p:nvPr/>
        </p:nvSpPr>
        <p:spPr bwMode="auto">
          <a:xfrm>
            <a:off x="6327775" y="2630488"/>
            <a:ext cx="325438" cy="32543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6789" name="Rectangle 285"/>
          <p:cNvSpPr>
            <a:spLocks noChangeAspect="1" noChangeArrowheads="1"/>
          </p:cNvSpPr>
          <p:nvPr/>
        </p:nvSpPr>
        <p:spPr bwMode="auto">
          <a:xfrm>
            <a:off x="6361113" y="267335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6790" name="Freeform 286"/>
          <p:cNvSpPr>
            <a:spLocks noChangeAspect="1"/>
          </p:cNvSpPr>
          <p:nvPr/>
        </p:nvSpPr>
        <p:spPr bwMode="auto">
          <a:xfrm>
            <a:off x="5521325" y="892175"/>
            <a:ext cx="1139825" cy="1720850"/>
          </a:xfrm>
          <a:custGeom>
            <a:avLst/>
            <a:gdLst>
              <a:gd name="T0" fmla="*/ 705333 w 1191"/>
              <a:gd name="T1" fmla="*/ 0 h 1796"/>
              <a:gd name="T2" fmla="*/ 597188 w 1191"/>
              <a:gd name="T3" fmla="*/ 325773 h 1796"/>
              <a:gd name="T4" fmla="*/ 379942 w 1191"/>
              <a:gd name="T5" fmla="*/ 543275 h 1796"/>
              <a:gd name="T6" fmla="*/ 54551 w 1191"/>
              <a:gd name="T7" fmla="*/ 651547 h 1796"/>
              <a:gd name="T8" fmla="*/ 54551 w 1191"/>
              <a:gd name="T9" fmla="*/ 1086550 h 1796"/>
              <a:gd name="T10" fmla="*/ 379942 w 1191"/>
              <a:gd name="T11" fmla="*/ 1086550 h 1796"/>
              <a:gd name="T12" fmla="*/ 814434 w 1191"/>
              <a:gd name="T13" fmla="*/ 1629825 h 1796"/>
              <a:gd name="T14" fmla="*/ 1139825 w 1191"/>
              <a:gd name="T15" fmla="*/ 1629825 h 179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191" h="1796">
                <a:moveTo>
                  <a:pt x="737" y="0"/>
                </a:moveTo>
                <a:cubicBezTo>
                  <a:pt x="709" y="123"/>
                  <a:pt x="681" y="246"/>
                  <a:pt x="624" y="340"/>
                </a:cubicBezTo>
                <a:cubicBezTo>
                  <a:pt x="567" y="434"/>
                  <a:pt x="491" y="510"/>
                  <a:pt x="397" y="567"/>
                </a:cubicBezTo>
                <a:cubicBezTo>
                  <a:pt x="303" y="624"/>
                  <a:pt x="114" y="586"/>
                  <a:pt x="57" y="680"/>
                </a:cubicBezTo>
                <a:cubicBezTo>
                  <a:pt x="0" y="774"/>
                  <a:pt x="0" y="1059"/>
                  <a:pt x="57" y="1134"/>
                </a:cubicBezTo>
                <a:cubicBezTo>
                  <a:pt x="114" y="1209"/>
                  <a:pt x="265" y="1040"/>
                  <a:pt x="397" y="1134"/>
                </a:cubicBezTo>
                <a:cubicBezTo>
                  <a:pt x="529" y="1228"/>
                  <a:pt x="719" y="1606"/>
                  <a:pt x="851" y="1701"/>
                </a:cubicBezTo>
                <a:cubicBezTo>
                  <a:pt x="983" y="1796"/>
                  <a:pt x="1087" y="1748"/>
                  <a:pt x="1191" y="1701"/>
                </a:cubicBezTo>
              </a:path>
            </a:pathLst>
          </a:custGeom>
          <a:noFill/>
          <a:ln w="38100" cap="flat" cmpd="sng">
            <a:solidFill>
              <a:schemeClr val="tx1"/>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167" name="Text Box 317"/>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defRPr sz="1700">
                <a:solidFill>
                  <a:schemeClr val="tx1"/>
                </a:solidFill>
                <a:latin typeface="Arial" panose="020B0604020202020204" pitchFamily="34" charset="0"/>
              </a:defRPr>
            </a:lvl1pPr>
            <a:lvl2pPr marL="742950" indent="-285750" defTabSz="871538">
              <a:defRPr sz="1700">
                <a:solidFill>
                  <a:schemeClr val="tx1"/>
                </a:solidFill>
                <a:latin typeface="Arial" panose="020B0604020202020204" pitchFamily="34" charset="0"/>
              </a:defRPr>
            </a:lvl2pPr>
            <a:lvl3pPr marL="1143000" indent="-228600" defTabSz="871538">
              <a:defRPr sz="1700">
                <a:solidFill>
                  <a:schemeClr val="tx1"/>
                </a:solidFill>
                <a:latin typeface="Arial" panose="020B0604020202020204" pitchFamily="34" charset="0"/>
              </a:defRPr>
            </a:lvl3pPr>
            <a:lvl4pPr marL="1600200" indent="-228600" defTabSz="871538">
              <a:defRPr sz="1700">
                <a:solidFill>
                  <a:schemeClr val="tx1"/>
                </a:solidFill>
                <a:latin typeface="Arial" panose="020B0604020202020204" pitchFamily="34" charset="0"/>
              </a:defRPr>
            </a:lvl4pPr>
            <a:lvl5pPr marL="2057400" indent="-228600" defTabSz="871538">
              <a:defRPr sz="1700">
                <a:solidFill>
                  <a:schemeClr val="tx1"/>
                </a:solidFill>
                <a:latin typeface="Arial" panose="020B0604020202020204" pitchFamily="34" charset="0"/>
              </a:defRPr>
            </a:lvl5pPr>
            <a:lvl6pPr marL="25146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800" dirty="0">
                <a:solidFill>
                  <a:srgbClr val="C0C0C0"/>
                </a:solidFill>
              </a:rPr>
              <a:t>© 2022 Springer Verlag</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96673"/>
                                        </p:tgtEl>
                                        <p:attrNameLst>
                                          <p:attrName>style.visibility</p:attrName>
                                        </p:attrNameLst>
                                      </p:cBhvr>
                                      <p:to>
                                        <p:strVal val="visible"/>
                                      </p:to>
                                    </p:set>
                                    <p:animEffect transition="in" filter="dissolve">
                                      <p:cBhvr>
                                        <p:cTn id="7" dur="500"/>
                                        <p:tgtEl>
                                          <p:spTgt spid="496673"/>
                                        </p:tgtEl>
                                      </p:cBhvr>
                                    </p:animEffect>
                                  </p:childTnLst>
                                </p:cTn>
                              </p:par>
                              <p:par>
                                <p:cTn id="8" presetID="9" presetClass="entr" presetSubtype="0" fill="hold" nodeType="withEffect">
                                  <p:stCondLst>
                                    <p:cond delay="0"/>
                                  </p:stCondLst>
                                  <p:childTnLst>
                                    <p:set>
                                      <p:cBhvr>
                                        <p:cTn id="9" dur="1" fill="hold">
                                          <p:stCondLst>
                                            <p:cond delay="0"/>
                                          </p:stCondLst>
                                        </p:cTn>
                                        <p:tgtEl>
                                          <p:spTgt spid="496674"/>
                                        </p:tgtEl>
                                        <p:attrNameLst>
                                          <p:attrName>style.visibility</p:attrName>
                                        </p:attrNameLst>
                                      </p:cBhvr>
                                      <p:to>
                                        <p:strVal val="visible"/>
                                      </p:to>
                                    </p:set>
                                    <p:animEffect transition="in" filter="dissolve">
                                      <p:cBhvr>
                                        <p:cTn id="10" dur="500"/>
                                        <p:tgtEl>
                                          <p:spTgt spid="496674"/>
                                        </p:tgtEl>
                                      </p:cBhvr>
                                    </p:animEffect>
                                  </p:childTnLst>
                                </p:cTn>
                              </p:par>
                              <p:par>
                                <p:cTn id="11" presetID="9" presetClass="entr" presetSubtype="0" fill="hold" nodeType="withEffect">
                                  <p:stCondLst>
                                    <p:cond delay="0"/>
                                  </p:stCondLst>
                                  <p:childTnLst>
                                    <p:set>
                                      <p:cBhvr>
                                        <p:cTn id="12" dur="1" fill="hold">
                                          <p:stCondLst>
                                            <p:cond delay="0"/>
                                          </p:stCondLst>
                                        </p:cTn>
                                        <p:tgtEl>
                                          <p:spTgt spid="496675"/>
                                        </p:tgtEl>
                                        <p:attrNameLst>
                                          <p:attrName>style.visibility</p:attrName>
                                        </p:attrNameLst>
                                      </p:cBhvr>
                                      <p:to>
                                        <p:strVal val="visible"/>
                                      </p:to>
                                    </p:set>
                                    <p:animEffect transition="in" filter="dissolve">
                                      <p:cBhvr>
                                        <p:cTn id="13" dur="500"/>
                                        <p:tgtEl>
                                          <p:spTgt spid="496675"/>
                                        </p:tgtEl>
                                      </p:cBhvr>
                                    </p:animEffect>
                                  </p:childTnLst>
                                </p:cTn>
                              </p:par>
                              <p:par>
                                <p:cTn id="14" presetID="9" presetClass="entr" presetSubtype="0" fill="hold" nodeType="withEffect">
                                  <p:stCondLst>
                                    <p:cond delay="0"/>
                                  </p:stCondLst>
                                  <p:childTnLst>
                                    <p:set>
                                      <p:cBhvr>
                                        <p:cTn id="15" dur="1" fill="hold">
                                          <p:stCondLst>
                                            <p:cond delay="0"/>
                                          </p:stCondLst>
                                        </p:cTn>
                                        <p:tgtEl>
                                          <p:spTgt spid="496676"/>
                                        </p:tgtEl>
                                        <p:attrNameLst>
                                          <p:attrName>style.visibility</p:attrName>
                                        </p:attrNameLst>
                                      </p:cBhvr>
                                      <p:to>
                                        <p:strVal val="visible"/>
                                      </p:to>
                                    </p:set>
                                    <p:animEffect transition="in" filter="dissolve">
                                      <p:cBhvr>
                                        <p:cTn id="16" dur="500"/>
                                        <p:tgtEl>
                                          <p:spTgt spid="496676"/>
                                        </p:tgtEl>
                                      </p:cBhvr>
                                    </p:animEffect>
                                  </p:childTnLst>
                                </p:cTn>
                              </p:par>
                              <p:par>
                                <p:cTn id="17" presetID="9" presetClass="entr" presetSubtype="0" fill="hold" nodeType="withEffect">
                                  <p:stCondLst>
                                    <p:cond delay="0"/>
                                  </p:stCondLst>
                                  <p:childTnLst>
                                    <p:set>
                                      <p:cBhvr>
                                        <p:cTn id="18" dur="1" fill="hold">
                                          <p:stCondLst>
                                            <p:cond delay="0"/>
                                          </p:stCondLst>
                                        </p:cTn>
                                        <p:tgtEl>
                                          <p:spTgt spid="496677"/>
                                        </p:tgtEl>
                                        <p:attrNameLst>
                                          <p:attrName>style.visibility</p:attrName>
                                        </p:attrNameLst>
                                      </p:cBhvr>
                                      <p:to>
                                        <p:strVal val="visible"/>
                                      </p:to>
                                    </p:set>
                                    <p:animEffect transition="in" filter="dissolve">
                                      <p:cBhvr>
                                        <p:cTn id="19" dur="500"/>
                                        <p:tgtEl>
                                          <p:spTgt spid="496677"/>
                                        </p:tgtEl>
                                      </p:cBhvr>
                                    </p:animEffect>
                                  </p:childTnLst>
                                </p:cTn>
                              </p:par>
                              <p:par>
                                <p:cTn id="20" presetID="9" presetClass="entr" presetSubtype="0" fill="hold" nodeType="withEffect">
                                  <p:stCondLst>
                                    <p:cond delay="0"/>
                                  </p:stCondLst>
                                  <p:childTnLst>
                                    <p:set>
                                      <p:cBhvr>
                                        <p:cTn id="21" dur="1" fill="hold">
                                          <p:stCondLst>
                                            <p:cond delay="0"/>
                                          </p:stCondLst>
                                        </p:cTn>
                                        <p:tgtEl>
                                          <p:spTgt spid="496678"/>
                                        </p:tgtEl>
                                        <p:attrNameLst>
                                          <p:attrName>style.visibility</p:attrName>
                                        </p:attrNameLst>
                                      </p:cBhvr>
                                      <p:to>
                                        <p:strVal val="visible"/>
                                      </p:to>
                                    </p:set>
                                    <p:animEffect transition="in" filter="dissolve">
                                      <p:cBhvr>
                                        <p:cTn id="22" dur="500"/>
                                        <p:tgtEl>
                                          <p:spTgt spid="496678"/>
                                        </p:tgtEl>
                                      </p:cBhvr>
                                    </p:animEffect>
                                  </p:childTnLst>
                                </p:cTn>
                              </p:par>
                              <p:par>
                                <p:cTn id="23" presetID="9" presetClass="entr" presetSubtype="0" fill="hold" nodeType="withEffect">
                                  <p:stCondLst>
                                    <p:cond delay="0"/>
                                  </p:stCondLst>
                                  <p:childTnLst>
                                    <p:set>
                                      <p:cBhvr>
                                        <p:cTn id="24" dur="1" fill="hold">
                                          <p:stCondLst>
                                            <p:cond delay="0"/>
                                          </p:stCondLst>
                                        </p:cTn>
                                        <p:tgtEl>
                                          <p:spTgt spid="496679"/>
                                        </p:tgtEl>
                                        <p:attrNameLst>
                                          <p:attrName>style.visibility</p:attrName>
                                        </p:attrNameLst>
                                      </p:cBhvr>
                                      <p:to>
                                        <p:strVal val="visible"/>
                                      </p:to>
                                    </p:set>
                                    <p:animEffect transition="in" filter="dissolve">
                                      <p:cBhvr>
                                        <p:cTn id="25" dur="500"/>
                                        <p:tgtEl>
                                          <p:spTgt spid="496679"/>
                                        </p:tgtEl>
                                      </p:cBhvr>
                                    </p:animEffect>
                                  </p:childTnLst>
                                </p:cTn>
                              </p:par>
                              <p:par>
                                <p:cTn id="26" presetID="9" presetClass="entr" presetSubtype="0" fill="hold" nodeType="withEffect">
                                  <p:stCondLst>
                                    <p:cond delay="0"/>
                                  </p:stCondLst>
                                  <p:childTnLst>
                                    <p:set>
                                      <p:cBhvr>
                                        <p:cTn id="27" dur="1" fill="hold">
                                          <p:stCondLst>
                                            <p:cond delay="0"/>
                                          </p:stCondLst>
                                        </p:cTn>
                                        <p:tgtEl>
                                          <p:spTgt spid="496680"/>
                                        </p:tgtEl>
                                        <p:attrNameLst>
                                          <p:attrName>style.visibility</p:attrName>
                                        </p:attrNameLst>
                                      </p:cBhvr>
                                      <p:to>
                                        <p:strVal val="visible"/>
                                      </p:to>
                                    </p:set>
                                    <p:animEffect transition="in" filter="dissolve">
                                      <p:cBhvr>
                                        <p:cTn id="28" dur="500"/>
                                        <p:tgtEl>
                                          <p:spTgt spid="496680"/>
                                        </p:tgtEl>
                                      </p:cBhvr>
                                    </p:animEffect>
                                  </p:childTnLst>
                                </p:cTn>
                              </p:par>
                              <p:par>
                                <p:cTn id="29" presetID="9" presetClass="entr" presetSubtype="0" fill="hold" nodeType="withEffect">
                                  <p:stCondLst>
                                    <p:cond delay="0"/>
                                  </p:stCondLst>
                                  <p:childTnLst>
                                    <p:set>
                                      <p:cBhvr>
                                        <p:cTn id="30" dur="1" fill="hold">
                                          <p:stCondLst>
                                            <p:cond delay="0"/>
                                          </p:stCondLst>
                                        </p:cTn>
                                        <p:tgtEl>
                                          <p:spTgt spid="496681"/>
                                        </p:tgtEl>
                                        <p:attrNameLst>
                                          <p:attrName>style.visibility</p:attrName>
                                        </p:attrNameLst>
                                      </p:cBhvr>
                                      <p:to>
                                        <p:strVal val="visible"/>
                                      </p:to>
                                    </p:set>
                                    <p:animEffect transition="in" filter="dissolve">
                                      <p:cBhvr>
                                        <p:cTn id="31" dur="500"/>
                                        <p:tgtEl>
                                          <p:spTgt spid="496681"/>
                                        </p:tgtEl>
                                      </p:cBhvr>
                                    </p:animEffect>
                                  </p:childTnLst>
                                </p:cTn>
                              </p:par>
                              <p:par>
                                <p:cTn id="32" presetID="9" presetClass="entr" presetSubtype="0" fill="hold" nodeType="withEffect">
                                  <p:stCondLst>
                                    <p:cond delay="0"/>
                                  </p:stCondLst>
                                  <p:childTnLst>
                                    <p:set>
                                      <p:cBhvr>
                                        <p:cTn id="33" dur="1" fill="hold">
                                          <p:stCondLst>
                                            <p:cond delay="0"/>
                                          </p:stCondLst>
                                        </p:cTn>
                                        <p:tgtEl>
                                          <p:spTgt spid="496682"/>
                                        </p:tgtEl>
                                        <p:attrNameLst>
                                          <p:attrName>style.visibility</p:attrName>
                                        </p:attrNameLst>
                                      </p:cBhvr>
                                      <p:to>
                                        <p:strVal val="visible"/>
                                      </p:to>
                                    </p:set>
                                    <p:animEffect transition="in" filter="dissolve">
                                      <p:cBhvr>
                                        <p:cTn id="34" dur="500"/>
                                        <p:tgtEl>
                                          <p:spTgt spid="496682"/>
                                        </p:tgtEl>
                                      </p:cBhvr>
                                    </p:animEffect>
                                  </p:childTnLst>
                                </p:cTn>
                              </p:par>
                              <p:par>
                                <p:cTn id="35" presetID="9" presetClass="entr" presetSubtype="0" fill="hold" nodeType="withEffect">
                                  <p:stCondLst>
                                    <p:cond delay="0"/>
                                  </p:stCondLst>
                                  <p:childTnLst>
                                    <p:set>
                                      <p:cBhvr>
                                        <p:cTn id="36" dur="1" fill="hold">
                                          <p:stCondLst>
                                            <p:cond delay="0"/>
                                          </p:stCondLst>
                                        </p:cTn>
                                        <p:tgtEl>
                                          <p:spTgt spid="496683"/>
                                        </p:tgtEl>
                                        <p:attrNameLst>
                                          <p:attrName>style.visibility</p:attrName>
                                        </p:attrNameLst>
                                      </p:cBhvr>
                                      <p:to>
                                        <p:strVal val="visible"/>
                                      </p:to>
                                    </p:set>
                                    <p:animEffect transition="in" filter="dissolve">
                                      <p:cBhvr>
                                        <p:cTn id="37" dur="500"/>
                                        <p:tgtEl>
                                          <p:spTgt spid="496683"/>
                                        </p:tgtEl>
                                      </p:cBhvr>
                                    </p:animEffect>
                                  </p:childTnLst>
                                </p:cTn>
                              </p:par>
                              <p:par>
                                <p:cTn id="38" presetID="9" presetClass="entr" presetSubtype="0" fill="hold" nodeType="withEffect">
                                  <p:stCondLst>
                                    <p:cond delay="0"/>
                                  </p:stCondLst>
                                  <p:childTnLst>
                                    <p:set>
                                      <p:cBhvr>
                                        <p:cTn id="39" dur="1" fill="hold">
                                          <p:stCondLst>
                                            <p:cond delay="0"/>
                                          </p:stCondLst>
                                        </p:cTn>
                                        <p:tgtEl>
                                          <p:spTgt spid="496684"/>
                                        </p:tgtEl>
                                        <p:attrNameLst>
                                          <p:attrName>style.visibility</p:attrName>
                                        </p:attrNameLst>
                                      </p:cBhvr>
                                      <p:to>
                                        <p:strVal val="visible"/>
                                      </p:to>
                                    </p:set>
                                    <p:animEffect transition="in" filter="dissolve">
                                      <p:cBhvr>
                                        <p:cTn id="40" dur="500"/>
                                        <p:tgtEl>
                                          <p:spTgt spid="496684"/>
                                        </p:tgtEl>
                                      </p:cBhvr>
                                    </p:animEffect>
                                  </p:childTnLst>
                                </p:cTn>
                              </p:par>
                              <p:par>
                                <p:cTn id="41" presetID="9" presetClass="entr" presetSubtype="0" fill="hold" nodeType="withEffect">
                                  <p:stCondLst>
                                    <p:cond delay="0"/>
                                  </p:stCondLst>
                                  <p:childTnLst>
                                    <p:set>
                                      <p:cBhvr>
                                        <p:cTn id="42" dur="1" fill="hold">
                                          <p:stCondLst>
                                            <p:cond delay="0"/>
                                          </p:stCondLst>
                                        </p:cTn>
                                        <p:tgtEl>
                                          <p:spTgt spid="496685"/>
                                        </p:tgtEl>
                                        <p:attrNameLst>
                                          <p:attrName>style.visibility</p:attrName>
                                        </p:attrNameLst>
                                      </p:cBhvr>
                                      <p:to>
                                        <p:strVal val="visible"/>
                                      </p:to>
                                    </p:set>
                                    <p:animEffect transition="in" filter="dissolve">
                                      <p:cBhvr>
                                        <p:cTn id="43" dur="500"/>
                                        <p:tgtEl>
                                          <p:spTgt spid="496685"/>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96686"/>
                                        </p:tgtEl>
                                        <p:attrNameLst>
                                          <p:attrName>style.visibility</p:attrName>
                                        </p:attrNameLst>
                                      </p:cBhvr>
                                      <p:to>
                                        <p:strVal val="visible"/>
                                      </p:to>
                                    </p:set>
                                    <p:animEffect transition="in" filter="dissolve">
                                      <p:cBhvr>
                                        <p:cTn id="46" dur="500"/>
                                        <p:tgtEl>
                                          <p:spTgt spid="496686"/>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96687"/>
                                        </p:tgtEl>
                                        <p:attrNameLst>
                                          <p:attrName>style.visibility</p:attrName>
                                        </p:attrNameLst>
                                      </p:cBhvr>
                                      <p:to>
                                        <p:strVal val="visible"/>
                                      </p:to>
                                    </p:set>
                                    <p:animEffect transition="in" filter="dissolve">
                                      <p:cBhvr>
                                        <p:cTn id="49" dur="500"/>
                                        <p:tgtEl>
                                          <p:spTgt spid="496687"/>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496688"/>
                                        </p:tgtEl>
                                        <p:attrNameLst>
                                          <p:attrName>style.visibility</p:attrName>
                                        </p:attrNameLst>
                                      </p:cBhvr>
                                      <p:to>
                                        <p:strVal val="visible"/>
                                      </p:to>
                                    </p:set>
                                    <p:animEffect transition="in" filter="dissolve">
                                      <p:cBhvr>
                                        <p:cTn id="52" dur="500"/>
                                        <p:tgtEl>
                                          <p:spTgt spid="496688"/>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496689"/>
                                        </p:tgtEl>
                                        <p:attrNameLst>
                                          <p:attrName>style.visibility</p:attrName>
                                        </p:attrNameLst>
                                      </p:cBhvr>
                                      <p:to>
                                        <p:strVal val="visible"/>
                                      </p:to>
                                    </p:set>
                                    <p:animEffect transition="in" filter="dissolve">
                                      <p:cBhvr>
                                        <p:cTn id="55" dur="500"/>
                                        <p:tgtEl>
                                          <p:spTgt spid="496689"/>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496690"/>
                                        </p:tgtEl>
                                        <p:attrNameLst>
                                          <p:attrName>style.visibility</p:attrName>
                                        </p:attrNameLst>
                                      </p:cBhvr>
                                      <p:to>
                                        <p:strVal val="visible"/>
                                      </p:to>
                                    </p:set>
                                    <p:animEffect transition="in" filter="dissolve">
                                      <p:cBhvr>
                                        <p:cTn id="58" dur="500"/>
                                        <p:tgtEl>
                                          <p:spTgt spid="496690"/>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496691"/>
                                        </p:tgtEl>
                                        <p:attrNameLst>
                                          <p:attrName>style.visibility</p:attrName>
                                        </p:attrNameLst>
                                      </p:cBhvr>
                                      <p:to>
                                        <p:strVal val="visible"/>
                                      </p:to>
                                    </p:set>
                                    <p:animEffect transition="in" filter="dissolve">
                                      <p:cBhvr>
                                        <p:cTn id="61" dur="500"/>
                                        <p:tgtEl>
                                          <p:spTgt spid="496691"/>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496692"/>
                                        </p:tgtEl>
                                        <p:attrNameLst>
                                          <p:attrName>style.visibility</p:attrName>
                                        </p:attrNameLst>
                                      </p:cBhvr>
                                      <p:to>
                                        <p:strVal val="visible"/>
                                      </p:to>
                                    </p:set>
                                    <p:animEffect transition="in" filter="dissolve">
                                      <p:cBhvr>
                                        <p:cTn id="64" dur="500"/>
                                        <p:tgtEl>
                                          <p:spTgt spid="496692"/>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496693"/>
                                        </p:tgtEl>
                                        <p:attrNameLst>
                                          <p:attrName>style.visibility</p:attrName>
                                        </p:attrNameLst>
                                      </p:cBhvr>
                                      <p:to>
                                        <p:strVal val="visible"/>
                                      </p:to>
                                    </p:set>
                                    <p:animEffect transition="in" filter="dissolve">
                                      <p:cBhvr>
                                        <p:cTn id="67" dur="500"/>
                                        <p:tgtEl>
                                          <p:spTgt spid="496693"/>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496694"/>
                                        </p:tgtEl>
                                        <p:attrNameLst>
                                          <p:attrName>style.visibility</p:attrName>
                                        </p:attrNameLst>
                                      </p:cBhvr>
                                      <p:to>
                                        <p:strVal val="visible"/>
                                      </p:to>
                                    </p:set>
                                    <p:animEffect transition="in" filter="dissolve">
                                      <p:cBhvr>
                                        <p:cTn id="70" dur="500"/>
                                        <p:tgtEl>
                                          <p:spTgt spid="496694"/>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496695"/>
                                        </p:tgtEl>
                                        <p:attrNameLst>
                                          <p:attrName>style.visibility</p:attrName>
                                        </p:attrNameLst>
                                      </p:cBhvr>
                                      <p:to>
                                        <p:strVal val="visible"/>
                                      </p:to>
                                    </p:set>
                                    <p:animEffect transition="in" filter="dissolve">
                                      <p:cBhvr>
                                        <p:cTn id="73" dur="500"/>
                                        <p:tgtEl>
                                          <p:spTgt spid="496695"/>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496696"/>
                                        </p:tgtEl>
                                        <p:attrNameLst>
                                          <p:attrName>style.visibility</p:attrName>
                                        </p:attrNameLst>
                                      </p:cBhvr>
                                      <p:to>
                                        <p:strVal val="visible"/>
                                      </p:to>
                                    </p:set>
                                    <p:animEffect transition="in" filter="dissolve">
                                      <p:cBhvr>
                                        <p:cTn id="76" dur="500"/>
                                        <p:tgtEl>
                                          <p:spTgt spid="496696"/>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496697"/>
                                        </p:tgtEl>
                                        <p:attrNameLst>
                                          <p:attrName>style.visibility</p:attrName>
                                        </p:attrNameLst>
                                      </p:cBhvr>
                                      <p:to>
                                        <p:strVal val="visible"/>
                                      </p:to>
                                    </p:set>
                                    <p:animEffect transition="in" filter="dissolve">
                                      <p:cBhvr>
                                        <p:cTn id="79" dur="500"/>
                                        <p:tgtEl>
                                          <p:spTgt spid="496697"/>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496698"/>
                                        </p:tgtEl>
                                        <p:attrNameLst>
                                          <p:attrName>style.visibility</p:attrName>
                                        </p:attrNameLst>
                                      </p:cBhvr>
                                      <p:to>
                                        <p:strVal val="visible"/>
                                      </p:to>
                                    </p:set>
                                    <p:animEffect transition="in" filter="dissolve">
                                      <p:cBhvr>
                                        <p:cTn id="82" dur="500"/>
                                        <p:tgtEl>
                                          <p:spTgt spid="496698"/>
                                        </p:tgtEl>
                                      </p:cBhvr>
                                    </p:animEffect>
                                  </p:childTnLst>
                                </p:cTn>
                              </p:par>
                              <p:par>
                                <p:cTn id="83" presetID="9" presetClass="entr" presetSubtype="0" fill="hold" grpId="0" nodeType="withEffect">
                                  <p:stCondLst>
                                    <p:cond delay="0"/>
                                  </p:stCondLst>
                                  <p:childTnLst>
                                    <p:set>
                                      <p:cBhvr>
                                        <p:cTn id="84" dur="1" fill="hold">
                                          <p:stCondLst>
                                            <p:cond delay="0"/>
                                          </p:stCondLst>
                                        </p:cTn>
                                        <p:tgtEl>
                                          <p:spTgt spid="496699"/>
                                        </p:tgtEl>
                                        <p:attrNameLst>
                                          <p:attrName>style.visibility</p:attrName>
                                        </p:attrNameLst>
                                      </p:cBhvr>
                                      <p:to>
                                        <p:strVal val="visible"/>
                                      </p:to>
                                    </p:set>
                                    <p:animEffect transition="in" filter="dissolve">
                                      <p:cBhvr>
                                        <p:cTn id="85" dur="500"/>
                                        <p:tgtEl>
                                          <p:spTgt spid="496699"/>
                                        </p:tgtEl>
                                      </p:cBhvr>
                                    </p:animEffect>
                                  </p:childTnLst>
                                </p:cTn>
                              </p:par>
                              <p:par>
                                <p:cTn id="86" presetID="9" presetClass="entr" presetSubtype="0" fill="hold" grpId="0" nodeType="withEffect">
                                  <p:stCondLst>
                                    <p:cond delay="0"/>
                                  </p:stCondLst>
                                  <p:childTnLst>
                                    <p:set>
                                      <p:cBhvr>
                                        <p:cTn id="87" dur="1" fill="hold">
                                          <p:stCondLst>
                                            <p:cond delay="0"/>
                                          </p:stCondLst>
                                        </p:cTn>
                                        <p:tgtEl>
                                          <p:spTgt spid="496700"/>
                                        </p:tgtEl>
                                        <p:attrNameLst>
                                          <p:attrName>style.visibility</p:attrName>
                                        </p:attrNameLst>
                                      </p:cBhvr>
                                      <p:to>
                                        <p:strVal val="visible"/>
                                      </p:to>
                                    </p:set>
                                    <p:animEffect transition="in" filter="dissolve">
                                      <p:cBhvr>
                                        <p:cTn id="88" dur="500"/>
                                        <p:tgtEl>
                                          <p:spTgt spid="496700"/>
                                        </p:tgtEl>
                                      </p:cBhvr>
                                    </p:animEffect>
                                  </p:childTnLst>
                                </p:cTn>
                              </p:par>
                              <p:par>
                                <p:cTn id="89" presetID="9" presetClass="entr" presetSubtype="0" fill="hold" grpId="0" nodeType="withEffect">
                                  <p:stCondLst>
                                    <p:cond delay="0"/>
                                  </p:stCondLst>
                                  <p:childTnLst>
                                    <p:set>
                                      <p:cBhvr>
                                        <p:cTn id="90" dur="1" fill="hold">
                                          <p:stCondLst>
                                            <p:cond delay="0"/>
                                          </p:stCondLst>
                                        </p:cTn>
                                        <p:tgtEl>
                                          <p:spTgt spid="496701"/>
                                        </p:tgtEl>
                                        <p:attrNameLst>
                                          <p:attrName>style.visibility</p:attrName>
                                        </p:attrNameLst>
                                      </p:cBhvr>
                                      <p:to>
                                        <p:strVal val="visible"/>
                                      </p:to>
                                    </p:set>
                                    <p:animEffect transition="in" filter="dissolve">
                                      <p:cBhvr>
                                        <p:cTn id="91" dur="500"/>
                                        <p:tgtEl>
                                          <p:spTgt spid="496701"/>
                                        </p:tgtEl>
                                      </p:cBhvr>
                                    </p:animEffect>
                                  </p:childTnLst>
                                </p:cTn>
                              </p:par>
                              <p:par>
                                <p:cTn id="92" presetID="9" presetClass="entr" presetSubtype="0" fill="hold" nodeType="withEffect">
                                  <p:stCondLst>
                                    <p:cond delay="0"/>
                                  </p:stCondLst>
                                  <p:childTnLst>
                                    <p:set>
                                      <p:cBhvr>
                                        <p:cTn id="93" dur="1" fill="hold">
                                          <p:stCondLst>
                                            <p:cond delay="0"/>
                                          </p:stCondLst>
                                        </p:cTn>
                                        <p:tgtEl>
                                          <p:spTgt spid="496797"/>
                                        </p:tgtEl>
                                        <p:attrNameLst>
                                          <p:attrName>style.visibility</p:attrName>
                                        </p:attrNameLst>
                                      </p:cBhvr>
                                      <p:to>
                                        <p:strVal val="visible"/>
                                      </p:to>
                                    </p:set>
                                    <p:animEffect transition="in" filter="dissolve">
                                      <p:cBhvr>
                                        <p:cTn id="94" dur="500"/>
                                        <p:tgtEl>
                                          <p:spTgt spid="496797"/>
                                        </p:tgtEl>
                                      </p:cBhvr>
                                    </p:animEffect>
                                  </p:childTnLst>
                                </p:cTn>
                              </p:par>
                              <p:par>
                                <p:cTn id="95" presetID="9" presetClass="entr" presetSubtype="0" fill="hold" grpId="0" nodeType="withEffect">
                                  <p:stCondLst>
                                    <p:cond delay="0"/>
                                  </p:stCondLst>
                                  <p:childTnLst>
                                    <p:set>
                                      <p:cBhvr>
                                        <p:cTn id="96" dur="1" fill="hold">
                                          <p:stCondLst>
                                            <p:cond delay="0"/>
                                          </p:stCondLst>
                                        </p:cTn>
                                        <p:tgtEl>
                                          <p:spTgt spid="496801"/>
                                        </p:tgtEl>
                                        <p:attrNameLst>
                                          <p:attrName>style.visibility</p:attrName>
                                        </p:attrNameLst>
                                      </p:cBhvr>
                                      <p:to>
                                        <p:strVal val="visible"/>
                                      </p:to>
                                    </p:set>
                                    <p:animEffect transition="in" filter="dissolve">
                                      <p:cBhvr>
                                        <p:cTn id="97" dur="500"/>
                                        <p:tgtEl>
                                          <p:spTgt spid="496801"/>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9" presetClass="entr" presetSubtype="0" fill="hold" grpId="0" nodeType="clickEffect">
                                  <p:stCondLst>
                                    <p:cond delay="0"/>
                                  </p:stCondLst>
                                  <p:childTnLst>
                                    <p:set>
                                      <p:cBhvr>
                                        <p:cTn id="101" dur="1" fill="hold">
                                          <p:stCondLst>
                                            <p:cond delay="0"/>
                                          </p:stCondLst>
                                        </p:cTn>
                                        <p:tgtEl>
                                          <p:spTgt spid="496702"/>
                                        </p:tgtEl>
                                        <p:attrNameLst>
                                          <p:attrName>style.visibility</p:attrName>
                                        </p:attrNameLst>
                                      </p:cBhvr>
                                      <p:to>
                                        <p:strVal val="visible"/>
                                      </p:to>
                                    </p:set>
                                    <p:animEffect transition="in" filter="dissolve">
                                      <p:cBhvr>
                                        <p:cTn id="102" dur="500"/>
                                        <p:tgtEl>
                                          <p:spTgt spid="4967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86" grpId="0" animBg="1"/>
      <p:bldP spid="496687" grpId="0"/>
      <p:bldP spid="496688" grpId="0" animBg="1"/>
      <p:bldP spid="496689" grpId="0"/>
      <p:bldP spid="496690" grpId="0" animBg="1"/>
      <p:bldP spid="496691" grpId="0"/>
      <p:bldP spid="496692" grpId="0" animBg="1"/>
      <p:bldP spid="496693" grpId="0"/>
      <p:bldP spid="496694" grpId="0" animBg="1"/>
      <p:bldP spid="496695" grpId="0"/>
      <p:bldP spid="496696" grpId="0" animBg="1"/>
      <p:bldP spid="496697" grpId="0"/>
      <p:bldP spid="496698" grpId="0" animBg="1"/>
      <p:bldP spid="496699" grpId="0"/>
      <p:bldP spid="496700" grpId="0" animBg="1"/>
      <p:bldP spid="496701" grpId="0"/>
      <p:bldP spid="496702" grpId="0" animBg="1"/>
      <p:bldP spid="49680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A015AFB6-7F84-451A-B44E-1912DD02FC2D}" type="slidenum">
              <a:rPr lang="en-US" altLang="de-DE" sz="1000">
                <a:solidFill>
                  <a:srgbClr val="C0C0C0"/>
                </a:solidFill>
              </a:rPr>
              <a:pPr/>
              <a:t>26</a:t>
            </a:fld>
            <a:endParaRPr lang="en-US" altLang="de-DE" sz="1000">
              <a:solidFill>
                <a:srgbClr val="C0C0C0"/>
              </a:solidFill>
            </a:endParaRPr>
          </a:p>
        </p:txBody>
      </p:sp>
      <p:sp>
        <p:nvSpPr>
          <p:cNvPr id="498691" name="Text Box 3"/>
          <p:cNvSpPr txBox="1">
            <a:spLocks noChangeArrowheads="1"/>
          </p:cNvSpPr>
          <p:nvPr/>
        </p:nvSpPr>
        <p:spPr bwMode="auto">
          <a:xfrm>
            <a:off x="684213" y="373380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Maximum positive gain </a:t>
            </a:r>
            <a:r>
              <a:rPr lang="en-US" altLang="zh-CN" sz="1500" i="1">
                <a:ea typeface="宋体" panose="02010600030101010101" pitchFamily="2" charset="-122"/>
              </a:rPr>
              <a:t>G</a:t>
            </a:r>
            <a:r>
              <a:rPr lang="en-US" altLang="zh-CN" sz="1500" i="1" baseline="-25000">
                <a:ea typeface="宋体" panose="02010600030101010101" pitchFamily="2" charset="-122"/>
              </a:rPr>
              <a:t>m </a:t>
            </a:r>
            <a:r>
              <a:rPr lang="en-US" altLang="zh-CN" sz="1500">
                <a:ea typeface="宋体" panose="02010600030101010101" pitchFamily="2" charset="-122"/>
              </a:rPr>
              <a:t>= 8 with </a:t>
            </a:r>
            <a:r>
              <a:rPr lang="en-US" altLang="zh-CN" sz="1500" i="1">
                <a:ea typeface="宋体" panose="02010600030101010101" pitchFamily="2" charset="-122"/>
              </a:rPr>
              <a:t>m </a:t>
            </a:r>
            <a:r>
              <a:rPr lang="en-US" altLang="zh-CN" sz="1500">
                <a:ea typeface="宋体" panose="02010600030101010101" pitchFamily="2" charset="-122"/>
              </a:rPr>
              <a:t>= 2.</a:t>
            </a:r>
          </a:p>
        </p:txBody>
      </p:sp>
      <p:sp>
        <p:nvSpPr>
          <p:cNvPr id="27652" name="Text Box 4"/>
          <p:cNvSpPr txBox="1">
            <a:spLocks noChangeArrowheads="1"/>
          </p:cNvSpPr>
          <p:nvPr/>
        </p:nvSpPr>
        <p:spPr bwMode="auto">
          <a:xfrm>
            <a:off x="684213" y="1598613"/>
            <a:ext cx="1684337"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7653" name="Text Box 5"/>
          <p:cNvSpPr txBox="1">
            <a:spLocks noChangeArrowheads="1"/>
          </p:cNvSpPr>
          <p:nvPr/>
        </p:nvSpPr>
        <p:spPr bwMode="auto">
          <a:xfrm>
            <a:off x="2589213" y="1598613"/>
            <a:ext cx="1700212"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 3+2-0 = 5</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(4,6)</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2</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i="1" baseline="-25000">
                <a:ea typeface="宋体" panose="02010600030101010101" pitchFamily="2" charset="-122"/>
              </a:rPr>
              <a:t> </a:t>
            </a:r>
            <a:r>
              <a:rPr lang="en-US" altLang="zh-CN" sz="1300">
                <a:ea typeface="宋体" panose="02010600030101010101" pitchFamily="2" charset="-122"/>
              </a:rPr>
              <a:t>=8</a:t>
            </a:r>
          </a:p>
        </p:txBody>
      </p:sp>
      <p:sp>
        <p:nvSpPr>
          <p:cNvPr id="27654" name="Text Box 6"/>
          <p:cNvSpPr txBox="1">
            <a:spLocks noChangeArrowheads="1"/>
          </p:cNvSpPr>
          <p:nvPr/>
        </p:nvSpPr>
        <p:spPr bwMode="auto">
          <a:xfrm>
            <a:off x="4495800" y="1598613"/>
            <a:ext cx="1658938"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(1) = -3</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(7)=-3</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-3	</a:t>
            </a:r>
            <a:r>
              <a:rPr lang="en-US" altLang="zh-CN" sz="1300" i="1">
                <a:ea typeface="宋体" panose="02010600030101010101" pitchFamily="2" charset="-122"/>
              </a:rPr>
              <a:t>D</a:t>
            </a:r>
            <a:r>
              <a:rPr lang="en-US" altLang="zh-CN" sz="1300">
                <a:ea typeface="宋体" panose="02010600030101010101" pitchFamily="2" charset="-122"/>
              </a:rPr>
              <a:t>(8)=-3</a:t>
            </a:r>
            <a:br>
              <a:rPr lang="en-US" altLang="zh-CN" sz="1300">
                <a:ea typeface="宋体" panose="02010600030101010101" pitchFamily="2" charset="-122"/>
              </a:rPr>
            </a:br>
            <a:r>
              <a:rPr lang="en-US" altLang="zh-CN" sz="1300">
                <a:ea typeface="宋体" panose="02010600030101010101" pitchFamily="2" charset="-122"/>
              </a:rPr>
              <a:t>       </a:t>
            </a:r>
            <a:br>
              <a:rPr lang="en-US" altLang="zh-CN" sz="1300" b="1">
                <a:ea typeface="宋体" panose="02010600030101010101" pitchFamily="2" charset="-122"/>
              </a:rPr>
            </a:b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 -3-3-0 = -6</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(1,7)</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i="1">
                <a:ea typeface="宋体" panose="02010600030101010101" pitchFamily="2" charset="-122"/>
              </a:rPr>
              <a:t> </a:t>
            </a:r>
            <a:r>
              <a:rPr lang="en-US" altLang="zh-CN" sz="1300">
                <a:ea typeface="宋体" panose="02010600030101010101" pitchFamily="2" charset="-122"/>
              </a:rPr>
              <a:t>= 2</a:t>
            </a:r>
          </a:p>
        </p:txBody>
      </p:sp>
      <p:sp>
        <p:nvSpPr>
          <p:cNvPr id="27655" name="Text Box 7"/>
          <p:cNvSpPr txBox="1">
            <a:spLocks noChangeArrowheads="1"/>
          </p:cNvSpPr>
          <p:nvPr/>
        </p:nvSpPr>
        <p:spPr bwMode="auto">
          <a:xfrm>
            <a:off x="6400800" y="1598613"/>
            <a:ext cx="1676400"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(2) = -1</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p>
          <a:p>
            <a:pPr algn="l" eaLnBrk="1" hangingPunct="1">
              <a:lnSpc>
                <a:spcPct val="100000"/>
              </a:lnSpc>
            </a:pPr>
            <a:endParaRPr lang="en-US" altLang="zh-CN" sz="1300">
              <a:ea typeface="宋体" panose="02010600030101010101" pitchFamily="2" charset="-122"/>
            </a:endParaRPr>
          </a:p>
          <a:p>
            <a:pPr algn="l" eaLnBrk="1" hangingPunct="1">
              <a:lnSpc>
                <a:spcPct val="100000"/>
              </a:lnSpc>
            </a:pPr>
            <a:endParaRPr lang="en-US" altLang="zh-CN" sz="1300">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-1-1-0 = -2</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(2,8)</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4</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0</a:t>
            </a:r>
          </a:p>
          <a:p>
            <a:pPr algn="l" eaLnBrk="1" hangingPunct="1">
              <a:lnSpc>
                <a:spcPct val="100000"/>
              </a:lnSpc>
            </a:pPr>
            <a:r>
              <a:rPr lang="en-US" altLang="zh-CN" sz="1300" i="1">
                <a:ea typeface="宋体" panose="02010600030101010101" pitchFamily="2" charset="-122"/>
              </a:rPr>
              <a:t> </a:t>
            </a:r>
          </a:p>
        </p:txBody>
      </p:sp>
      <p:sp>
        <p:nvSpPr>
          <p:cNvPr id="498696" name="AutoShape 8"/>
          <p:cNvSpPr>
            <a:spLocks noChangeArrowheads="1"/>
          </p:cNvSpPr>
          <p:nvPr/>
        </p:nvSpPr>
        <p:spPr bwMode="auto">
          <a:xfrm>
            <a:off x="3046413" y="3351213"/>
            <a:ext cx="611187" cy="382587"/>
          </a:xfrm>
          <a:prstGeom prst="upArrow">
            <a:avLst>
              <a:gd name="adj1" fmla="val 50000"/>
              <a:gd name="adj2" fmla="val 25000"/>
            </a:avLst>
          </a:prstGeom>
          <a:gradFill rotWithShape="1">
            <a:gsLst>
              <a:gs pos="0">
                <a:srgbClr val="CCCCFF"/>
              </a:gs>
              <a:gs pos="100000">
                <a:srgbClr val="DDDDDD"/>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98697" name="Oval 9"/>
          <p:cNvSpPr>
            <a:spLocks noChangeArrowheads="1"/>
          </p:cNvSpPr>
          <p:nvPr/>
        </p:nvSpPr>
        <p:spPr bwMode="auto">
          <a:xfrm>
            <a:off x="2500313" y="2874963"/>
            <a:ext cx="1601787" cy="458787"/>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7658" name="Rectangle 10"/>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8691"/>
                                        </p:tgtEl>
                                        <p:attrNameLst>
                                          <p:attrName>style.visibility</p:attrName>
                                        </p:attrNameLst>
                                      </p:cBhvr>
                                      <p:to>
                                        <p:strVal val="visible"/>
                                      </p:to>
                                    </p:set>
                                    <p:animEffect transition="in" filter="dissolve">
                                      <p:cBhvr>
                                        <p:cTn id="7" dur="500"/>
                                        <p:tgtEl>
                                          <p:spTgt spid="49869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98696"/>
                                        </p:tgtEl>
                                        <p:attrNameLst>
                                          <p:attrName>style.visibility</p:attrName>
                                        </p:attrNameLst>
                                      </p:cBhvr>
                                      <p:to>
                                        <p:strVal val="visible"/>
                                      </p:to>
                                    </p:set>
                                    <p:animEffect transition="in" filter="dissolve">
                                      <p:cBhvr>
                                        <p:cTn id="10" dur="500"/>
                                        <p:tgtEl>
                                          <p:spTgt spid="49869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98697"/>
                                        </p:tgtEl>
                                        <p:attrNameLst>
                                          <p:attrName>style.visibility</p:attrName>
                                        </p:attrNameLst>
                                      </p:cBhvr>
                                      <p:to>
                                        <p:strVal val="visible"/>
                                      </p:to>
                                    </p:set>
                                    <p:animEffect transition="in" filter="dissolve">
                                      <p:cBhvr>
                                        <p:cTn id="13" dur="500"/>
                                        <p:tgtEl>
                                          <p:spTgt spid="498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8691" grpId="0" animBg="1"/>
      <p:bldP spid="498696" grpId="0" animBg="1"/>
      <p:bldP spid="49869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32B4AC5-C356-4AEE-B21F-5CD174CC743C}" type="slidenum">
              <a:rPr lang="en-US" altLang="de-DE" sz="1000">
                <a:solidFill>
                  <a:srgbClr val="C0C0C0"/>
                </a:solidFill>
              </a:rPr>
              <a:pPr/>
              <a:t>27</a:t>
            </a:fld>
            <a:endParaRPr lang="en-US" altLang="de-DE" sz="1000">
              <a:solidFill>
                <a:srgbClr val="C0C0C0"/>
              </a:solidFill>
            </a:endParaRPr>
          </a:p>
        </p:txBody>
      </p:sp>
      <p:sp>
        <p:nvSpPr>
          <p:cNvPr id="28675" name="Text Box 4"/>
          <p:cNvSpPr txBox="1">
            <a:spLocks noChangeArrowheads="1"/>
          </p:cNvSpPr>
          <p:nvPr/>
        </p:nvSpPr>
        <p:spPr bwMode="auto">
          <a:xfrm>
            <a:off x="684213" y="1598613"/>
            <a:ext cx="1684337"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8676" name="Text Box 5"/>
          <p:cNvSpPr txBox="1">
            <a:spLocks noChangeArrowheads="1"/>
          </p:cNvSpPr>
          <p:nvPr/>
        </p:nvSpPr>
        <p:spPr bwMode="auto">
          <a:xfrm>
            <a:off x="2589213" y="1598613"/>
            <a:ext cx="1700212"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 3+2-0 = 5</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(4,6)</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2</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i="1" baseline="-25000">
                <a:ea typeface="宋体" panose="02010600030101010101" pitchFamily="2" charset="-122"/>
              </a:rPr>
              <a:t> </a:t>
            </a:r>
            <a:r>
              <a:rPr lang="en-US" altLang="zh-CN" sz="1300">
                <a:ea typeface="宋体" panose="02010600030101010101" pitchFamily="2" charset="-122"/>
              </a:rPr>
              <a:t>=8</a:t>
            </a:r>
          </a:p>
        </p:txBody>
      </p:sp>
      <p:sp>
        <p:nvSpPr>
          <p:cNvPr id="28677" name="Text Box 6"/>
          <p:cNvSpPr txBox="1">
            <a:spLocks noChangeArrowheads="1"/>
          </p:cNvSpPr>
          <p:nvPr/>
        </p:nvSpPr>
        <p:spPr bwMode="auto">
          <a:xfrm>
            <a:off x="4495800" y="1598613"/>
            <a:ext cx="1658938"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(1) = -3</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(7)=-3</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-3	</a:t>
            </a:r>
            <a:r>
              <a:rPr lang="en-US" altLang="zh-CN" sz="1300" i="1">
                <a:ea typeface="宋体" panose="02010600030101010101" pitchFamily="2" charset="-122"/>
              </a:rPr>
              <a:t>D</a:t>
            </a:r>
            <a:r>
              <a:rPr lang="en-US" altLang="zh-CN" sz="1300">
                <a:ea typeface="宋体" panose="02010600030101010101" pitchFamily="2" charset="-122"/>
              </a:rPr>
              <a:t>(8)=-3</a:t>
            </a:r>
            <a:br>
              <a:rPr lang="en-US" altLang="zh-CN" sz="1300">
                <a:ea typeface="宋体" panose="02010600030101010101" pitchFamily="2" charset="-122"/>
              </a:rPr>
            </a:br>
            <a:r>
              <a:rPr lang="en-US" altLang="zh-CN" sz="1300">
                <a:ea typeface="宋体" panose="02010600030101010101" pitchFamily="2" charset="-122"/>
              </a:rPr>
              <a:t>       </a:t>
            </a:r>
            <a:br>
              <a:rPr lang="en-US" altLang="zh-CN" sz="1300" b="1">
                <a:ea typeface="宋体" panose="02010600030101010101" pitchFamily="2" charset="-122"/>
              </a:rPr>
            </a:b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 -3-3-0 = -6</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(1,7)</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i="1">
                <a:ea typeface="宋体" panose="02010600030101010101" pitchFamily="2" charset="-122"/>
              </a:rPr>
              <a:t> </a:t>
            </a:r>
            <a:r>
              <a:rPr lang="en-US" altLang="zh-CN" sz="1300">
                <a:ea typeface="宋体" panose="02010600030101010101" pitchFamily="2" charset="-122"/>
              </a:rPr>
              <a:t>= 2</a:t>
            </a:r>
          </a:p>
        </p:txBody>
      </p:sp>
      <p:sp>
        <p:nvSpPr>
          <p:cNvPr id="28678" name="Text Box 7"/>
          <p:cNvSpPr txBox="1">
            <a:spLocks noChangeArrowheads="1"/>
          </p:cNvSpPr>
          <p:nvPr/>
        </p:nvSpPr>
        <p:spPr bwMode="auto">
          <a:xfrm>
            <a:off x="6400800" y="1598613"/>
            <a:ext cx="1676400"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(2) = -1</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p>
          <a:p>
            <a:pPr algn="l" eaLnBrk="1" hangingPunct="1">
              <a:lnSpc>
                <a:spcPct val="100000"/>
              </a:lnSpc>
            </a:pPr>
            <a:endParaRPr lang="en-US" altLang="zh-CN" sz="1300">
              <a:ea typeface="宋体" panose="02010600030101010101" pitchFamily="2" charset="-122"/>
            </a:endParaRPr>
          </a:p>
          <a:p>
            <a:pPr algn="l" eaLnBrk="1" hangingPunct="1">
              <a:lnSpc>
                <a:spcPct val="100000"/>
              </a:lnSpc>
            </a:pPr>
            <a:endParaRPr lang="en-US" altLang="zh-CN" sz="1300">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-1-1-0 = -2</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(2,8)</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4</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0</a:t>
            </a:r>
          </a:p>
          <a:p>
            <a:pPr algn="l" eaLnBrk="1" hangingPunct="1">
              <a:lnSpc>
                <a:spcPct val="100000"/>
              </a:lnSpc>
            </a:pPr>
            <a:r>
              <a:rPr lang="en-US" altLang="zh-CN" sz="1300" i="1">
                <a:ea typeface="宋体" panose="02010600030101010101" pitchFamily="2" charset="-122"/>
              </a:rPr>
              <a:t> </a:t>
            </a:r>
          </a:p>
        </p:txBody>
      </p:sp>
      <p:sp>
        <p:nvSpPr>
          <p:cNvPr id="28679" name="Text Box 8"/>
          <p:cNvSpPr txBox="1">
            <a:spLocks noChangeArrowheads="1"/>
          </p:cNvSpPr>
          <p:nvPr/>
        </p:nvSpPr>
        <p:spPr bwMode="auto">
          <a:xfrm>
            <a:off x="684213" y="4495800"/>
            <a:ext cx="4268787" cy="6731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Since </a:t>
            </a:r>
            <a:r>
              <a:rPr lang="en-US" altLang="zh-CN" sz="1500" i="1">
                <a:ea typeface="宋体" panose="02010600030101010101" pitchFamily="2" charset="-122"/>
              </a:rPr>
              <a:t>G</a:t>
            </a:r>
            <a:r>
              <a:rPr lang="en-US" altLang="zh-CN" sz="1500" i="1" baseline="-25000">
                <a:ea typeface="宋体" panose="02010600030101010101" pitchFamily="2" charset="-122"/>
              </a:rPr>
              <a:t>m</a:t>
            </a:r>
            <a:r>
              <a:rPr lang="en-US" altLang="zh-CN" sz="1500" i="1">
                <a:ea typeface="宋体" panose="02010600030101010101" pitchFamily="2" charset="-122"/>
              </a:rPr>
              <a:t> </a:t>
            </a:r>
            <a:r>
              <a:rPr lang="en-US" altLang="zh-CN" sz="1500">
                <a:ea typeface="宋体" panose="02010600030101010101" pitchFamily="2" charset="-122"/>
              </a:rPr>
              <a:t>&gt; 0,</a:t>
            </a:r>
            <a:r>
              <a:rPr lang="en-US" altLang="zh-CN" sz="1500" i="1">
                <a:ea typeface="宋体" panose="02010600030101010101" pitchFamily="2" charset="-122"/>
              </a:rPr>
              <a:t> </a:t>
            </a:r>
            <a:r>
              <a:rPr lang="en-US" altLang="zh-CN" sz="1500">
                <a:ea typeface="宋体" panose="02010600030101010101" pitchFamily="2" charset="-122"/>
              </a:rPr>
              <a:t>the first</a:t>
            </a:r>
            <a:r>
              <a:rPr lang="en-US" altLang="zh-CN" sz="1500" i="1">
                <a:ea typeface="宋体" panose="02010600030101010101" pitchFamily="2" charset="-122"/>
              </a:rPr>
              <a:t> m</a:t>
            </a:r>
            <a:r>
              <a:rPr lang="en-US" altLang="zh-CN" sz="1500">
                <a:ea typeface="宋体" panose="02010600030101010101" pitchFamily="2" charset="-122"/>
              </a:rPr>
              <a:t> = 2 swaps </a:t>
            </a:r>
            <a:br>
              <a:rPr lang="en-US" altLang="zh-CN" sz="1500">
                <a:ea typeface="宋体" panose="02010600030101010101" pitchFamily="2" charset="-122"/>
              </a:rPr>
            </a:br>
            <a:r>
              <a:rPr lang="en-US" altLang="zh-CN" sz="1500">
                <a:ea typeface="宋体" panose="02010600030101010101" pitchFamily="2" charset="-122"/>
              </a:rPr>
              <a:t>(3,5) and (4,6) are executed.</a:t>
            </a:r>
          </a:p>
        </p:txBody>
      </p:sp>
      <p:sp>
        <p:nvSpPr>
          <p:cNvPr id="28680" name="Line 11"/>
          <p:cNvSpPr>
            <a:spLocks noChangeAspect="1" noChangeShapeType="1"/>
          </p:cNvSpPr>
          <p:nvPr/>
        </p:nvSpPr>
        <p:spPr bwMode="auto">
          <a:xfrm>
            <a:off x="6845300" y="55657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1" name="Line 12"/>
          <p:cNvSpPr>
            <a:spLocks noChangeAspect="1" noChangeShapeType="1"/>
          </p:cNvSpPr>
          <p:nvPr/>
        </p:nvSpPr>
        <p:spPr bwMode="auto">
          <a:xfrm>
            <a:off x="6850063" y="450215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2" name="Line 13"/>
          <p:cNvSpPr>
            <a:spLocks noChangeAspect="1" noChangeShapeType="1"/>
          </p:cNvSpPr>
          <p:nvPr/>
        </p:nvSpPr>
        <p:spPr bwMode="auto">
          <a:xfrm>
            <a:off x="6215063" y="55721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3" name="Line 14"/>
          <p:cNvSpPr>
            <a:spLocks noChangeAspect="1" noChangeShapeType="1"/>
          </p:cNvSpPr>
          <p:nvPr/>
        </p:nvSpPr>
        <p:spPr bwMode="auto">
          <a:xfrm>
            <a:off x="6215063" y="451961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4" name="Line 15"/>
          <p:cNvSpPr>
            <a:spLocks noChangeAspect="1" noChangeShapeType="1"/>
          </p:cNvSpPr>
          <p:nvPr/>
        </p:nvSpPr>
        <p:spPr bwMode="auto">
          <a:xfrm flipH="1">
            <a:off x="6261100" y="5070475"/>
            <a:ext cx="576263"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5" name="Line 16"/>
          <p:cNvSpPr>
            <a:spLocks noChangeAspect="1" noChangeShapeType="1"/>
          </p:cNvSpPr>
          <p:nvPr/>
        </p:nvSpPr>
        <p:spPr bwMode="auto">
          <a:xfrm flipH="1">
            <a:off x="6246813" y="5637213"/>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6" name="Line 17"/>
          <p:cNvSpPr>
            <a:spLocks noChangeAspect="1" noChangeShapeType="1"/>
          </p:cNvSpPr>
          <p:nvPr/>
        </p:nvSpPr>
        <p:spPr bwMode="auto">
          <a:xfrm flipH="1">
            <a:off x="6237288" y="45593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7" name="Line 18"/>
          <p:cNvSpPr>
            <a:spLocks noChangeAspect="1" noChangeShapeType="1"/>
          </p:cNvSpPr>
          <p:nvPr/>
        </p:nvSpPr>
        <p:spPr bwMode="auto">
          <a:xfrm>
            <a:off x="6153150" y="5573713"/>
            <a:ext cx="623888"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8" name="Line 19"/>
          <p:cNvSpPr>
            <a:spLocks noChangeAspect="1" noChangeShapeType="1"/>
          </p:cNvSpPr>
          <p:nvPr/>
        </p:nvSpPr>
        <p:spPr bwMode="auto">
          <a:xfrm>
            <a:off x="6219825" y="4522788"/>
            <a:ext cx="625475"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9" name="Line 20"/>
          <p:cNvSpPr>
            <a:spLocks noChangeAspect="1" noChangeShapeType="1"/>
          </p:cNvSpPr>
          <p:nvPr/>
        </p:nvSpPr>
        <p:spPr bwMode="auto">
          <a:xfrm>
            <a:off x="6276975" y="506412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0" name="Line 21"/>
          <p:cNvSpPr>
            <a:spLocks noChangeAspect="1" noChangeShapeType="1"/>
          </p:cNvSpPr>
          <p:nvPr/>
        </p:nvSpPr>
        <p:spPr bwMode="auto">
          <a:xfrm>
            <a:off x="6248400" y="560863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1" name="Line 22"/>
          <p:cNvSpPr>
            <a:spLocks noChangeAspect="1" noChangeShapeType="1"/>
          </p:cNvSpPr>
          <p:nvPr/>
        </p:nvSpPr>
        <p:spPr bwMode="auto">
          <a:xfrm>
            <a:off x="6251575" y="6167438"/>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2" name="Line 23"/>
          <p:cNvSpPr>
            <a:spLocks noChangeAspect="1" noChangeShapeType="1"/>
          </p:cNvSpPr>
          <p:nvPr/>
        </p:nvSpPr>
        <p:spPr bwMode="auto">
          <a:xfrm>
            <a:off x="6261100" y="453231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3" name="Oval 24"/>
          <p:cNvSpPr>
            <a:spLocks noChangeAspect="1" noChangeArrowheads="1"/>
          </p:cNvSpPr>
          <p:nvPr/>
        </p:nvSpPr>
        <p:spPr bwMode="auto">
          <a:xfrm>
            <a:off x="6043613" y="4914900"/>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4" name="Rectangle 25"/>
          <p:cNvSpPr>
            <a:spLocks noChangeAspect="1" noChangeArrowheads="1"/>
          </p:cNvSpPr>
          <p:nvPr/>
        </p:nvSpPr>
        <p:spPr bwMode="auto">
          <a:xfrm>
            <a:off x="6073775" y="4940300"/>
            <a:ext cx="260350"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8695" name="Oval 26"/>
          <p:cNvSpPr>
            <a:spLocks noChangeAspect="1" noChangeArrowheads="1"/>
          </p:cNvSpPr>
          <p:nvPr/>
        </p:nvSpPr>
        <p:spPr bwMode="auto">
          <a:xfrm>
            <a:off x="6680200" y="4370388"/>
            <a:ext cx="325438"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6" name="Rectangle 27"/>
          <p:cNvSpPr>
            <a:spLocks noChangeAspect="1" noChangeArrowheads="1"/>
          </p:cNvSpPr>
          <p:nvPr/>
        </p:nvSpPr>
        <p:spPr bwMode="auto">
          <a:xfrm>
            <a:off x="6711950" y="4403725"/>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8697" name="Oval 28"/>
          <p:cNvSpPr>
            <a:spLocks noChangeAspect="1" noChangeArrowheads="1"/>
          </p:cNvSpPr>
          <p:nvPr/>
        </p:nvSpPr>
        <p:spPr bwMode="auto">
          <a:xfrm>
            <a:off x="6696075" y="4914900"/>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8" name="Rectangle 29"/>
          <p:cNvSpPr>
            <a:spLocks noChangeAspect="1" noChangeArrowheads="1"/>
          </p:cNvSpPr>
          <p:nvPr/>
        </p:nvSpPr>
        <p:spPr bwMode="auto">
          <a:xfrm>
            <a:off x="6711950" y="49387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28699" name="Oval 30"/>
          <p:cNvSpPr>
            <a:spLocks noChangeAspect="1" noChangeArrowheads="1"/>
          </p:cNvSpPr>
          <p:nvPr/>
        </p:nvSpPr>
        <p:spPr bwMode="auto">
          <a:xfrm>
            <a:off x="6043613" y="54578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0" name="Rectangle 31"/>
          <p:cNvSpPr>
            <a:spLocks noChangeAspect="1" noChangeArrowheads="1"/>
          </p:cNvSpPr>
          <p:nvPr/>
        </p:nvSpPr>
        <p:spPr bwMode="auto">
          <a:xfrm>
            <a:off x="6080125" y="548957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8701" name="Oval 32"/>
          <p:cNvSpPr>
            <a:spLocks noChangeAspect="1" noChangeArrowheads="1"/>
          </p:cNvSpPr>
          <p:nvPr/>
        </p:nvSpPr>
        <p:spPr bwMode="auto">
          <a:xfrm>
            <a:off x="6057900" y="43703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2" name="Rectangle 33"/>
          <p:cNvSpPr>
            <a:spLocks noChangeAspect="1" noChangeArrowheads="1"/>
          </p:cNvSpPr>
          <p:nvPr/>
        </p:nvSpPr>
        <p:spPr bwMode="auto">
          <a:xfrm>
            <a:off x="6086475" y="440690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8703" name="Oval 34"/>
          <p:cNvSpPr>
            <a:spLocks noChangeAspect="1" noChangeArrowheads="1"/>
          </p:cNvSpPr>
          <p:nvPr/>
        </p:nvSpPr>
        <p:spPr bwMode="auto">
          <a:xfrm>
            <a:off x="6043613" y="6000750"/>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4" name="Rectangle 35"/>
          <p:cNvSpPr>
            <a:spLocks noChangeAspect="1" noChangeArrowheads="1"/>
          </p:cNvSpPr>
          <p:nvPr/>
        </p:nvSpPr>
        <p:spPr bwMode="auto">
          <a:xfrm>
            <a:off x="6075363" y="603250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28705" name="Oval 36"/>
          <p:cNvSpPr>
            <a:spLocks noChangeAspect="1" noChangeArrowheads="1"/>
          </p:cNvSpPr>
          <p:nvPr/>
        </p:nvSpPr>
        <p:spPr bwMode="auto">
          <a:xfrm>
            <a:off x="6680200" y="5457825"/>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6" name="Rectangle 37"/>
          <p:cNvSpPr>
            <a:spLocks noChangeAspect="1" noChangeArrowheads="1"/>
          </p:cNvSpPr>
          <p:nvPr/>
        </p:nvSpPr>
        <p:spPr bwMode="auto">
          <a:xfrm>
            <a:off x="6711950" y="548957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8707" name="Oval 38"/>
          <p:cNvSpPr>
            <a:spLocks noChangeAspect="1" noChangeArrowheads="1"/>
          </p:cNvSpPr>
          <p:nvPr/>
        </p:nvSpPr>
        <p:spPr bwMode="auto">
          <a:xfrm>
            <a:off x="6696075" y="600075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8" name="Rectangle 39"/>
          <p:cNvSpPr>
            <a:spLocks noChangeAspect="1" noChangeArrowheads="1"/>
          </p:cNvSpPr>
          <p:nvPr/>
        </p:nvSpPr>
        <p:spPr bwMode="auto">
          <a:xfrm>
            <a:off x="6729413" y="6042025"/>
            <a:ext cx="260350" cy="2619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8709" name="Line 40"/>
          <p:cNvSpPr>
            <a:spLocks noChangeAspect="1" noChangeShapeType="1"/>
          </p:cNvSpPr>
          <p:nvPr/>
        </p:nvSpPr>
        <p:spPr bwMode="auto">
          <a:xfrm>
            <a:off x="5943600" y="5348288"/>
            <a:ext cx="11953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710" name="AutoShape 41"/>
          <p:cNvSpPr>
            <a:spLocks noChangeArrowheads="1"/>
          </p:cNvSpPr>
          <p:nvPr/>
        </p:nvSpPr>
        <p:spPr bwMode="auto">
          <a:xfrm rot="5400000">
            <a:off x="4762500" y="4673600"/>
            <a:ext cx="609600" cy="381000"/>
          </a:xfrm>
          <a:prstGeom prst="upArrow">
            <a:avLst>
              <a:gd name="adj1" fmla="val 50000"/>
              <a:gd name="adj2" fmla="val 25000"/>
            </a:avLst>
          </a:prstGeom>
          <a:solidFill>
            <a:srgbClr val="DDDDDD"/>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11" name="Rectangle 42"/>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500779" name="Text Box 43"/>
          <p:cNvSpPr txBox="1">
            <a:spLocks noChangeArrowheads="1"/>
          </p:cNvSpPr>
          <p:nvPr/>
        </p:nvSpPr>
        <p:spPr bwMode="auto">
          <a:xfrm>
            <a:off x="684213" y="5564188"/>
            <a:ext cx="4268787" cy="6540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Since </a:t>
            </a:r>
            <a:r>
              <a:rPr lang="en-US" altLang="zh-CN" sz="1500" i="1">
                <a:ea typeface="宋体" panose="02010600030101010101" pitchFamily="2" charset="-122"/>
              </a:rPr>
              <a:t>G</a:t>
            </a:r>
            <a:r>
              <a:rPr lang="en-US" altLang="zh-CN" sz="1500" i="1" baseline="-25000">
                <a:ea typeface="宋体" panose="02010600030101010101" pitchFamily="2" charset="-122"/>
              </a:rPr>
              <a:t>m</a:t>
            </a:r>
            <a:r>
              <a:rPr lang="en-US" altLang="zh-CN" sz="1500" i="1">
                <a:ea typeface="宋体" panose="02010600030101010101" pitchFamily="2" charset="-122"/>
              </a:rPr>
              <a:t> </a:t>
            </a:r>
            <a:r>
              <a:rPr lang="en-US" altLang="zh-CN" sz="1500">
                <a:ea typeface="宋体" panose="02010600030101010101" pitchFamily="2" charset="-122"/>
              </a:rPr>
              <a:t>&gt; 0, more passes are needed until </a:t>
            </a:r>
            <a:br>
              <a:rPr lang="en-US" altLang="zh-CN" sz="1500">
                <a:ea typeface="宋体" panose="02010600030101010101" pitchFamily="2" charset="-122"/>
              </a:rPr>
            </a:br>
            <a:r>
              <a:rPr lang="en-US" altLang="zh-CN" sz="1500" i="1">
                <a:ea typeface="宋体" panose="02010600030101010101" pitchFamily="2" charset="-122"/>
              </a:rPr>
              <a:t>G</a:t>
            </a:r>
            <a:r>
              <a:rPr lang="en-US" altLang="zh-CN" sz="1500" i="1" baseline="-25000">
                <a:ea typeface="宋体" panose="02010600030101010101" pitchFamily="2" charset="-122"/>
              </a:rPr>
              <a:t>m</a:t>
            </a:r>
            <a:r>
              <a:rPr lang="en-US" altLang="zh-CN" sz="1500">
                <a:ea typeface="宋体" panose="02010600030101010101" pitchFamily="2" charset="-122"/>
              </a:rPr>
              <a:t> </a:t>
            </a:r>
            <a:r>
              <a:rPr lang="en-US" altLang="zh-CN" sz="1500">
                <a:ea typeface="宋体" panose="02010600030101010101" pitchFamily="2" charset="-122"/>
                <a:sym typeface="Symbol" panose="05050102010706020507" pitchFamily="18" charset="2"/>
              </a:rPr>
              <a:t></a:t>
            </a:r>
            <a:r>
              <a:rPr lang="en-US" altLang="zh-CN" sz="1500">
                <a:ea typeface="宋体" panose="02010600030101010101" pitchFamily="2" charset="-122"/>
              </a:rPr>
              <a:t>  0</a:t>
            </a:r>
            <a:r>
              <a:rPr lang="en-US" altLang="zh-CN" sz="1500" i="1">
                <a:ea typeface="宋体" panose="02010600030101010101" pitchFamily="2" charset="-122"/>
              </a:rPr>
              <a:t>.</a:t>
            </a:r>
            <a:endParaRPr lang="en-US" altLang="zh-CN" sz="1500">
              <a:ea typeface="宋体" panose="02010600030101010101" pitchFamily="2" charset="-122"/>
            </a:endParaRPr>
          </a:p>
        </p:txBody>
      </p:sp>
      <p:sp>
        <p:nvSpPr>
          <p:cNvPr id="28713" name="Text Box 47"/>
          <p:cNvSpPr txBox="1">
            <a:spLocks noChangeArrowheads="1"/>
          </p:cNvSpPr>
          <p:nvPr/>
        </p:nvSpPr>
        <p:spPr bwMode="auto">
          <a:xfrm>
            <a:off x="684213" y="373380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Maximum positive gain </a:t>
            </a:r>
            <a:r>
              <a:rPr lang="en-US" altLang="zh-CN" sz="1500" i="1">
                <a:ea typeface="宋体" panose="02010600030101010101" pitchFamily="2" charset="-122"/>
              </a:rPr>
              <a:t>G</a:t>
            </a:r>
            <a:r>
              <a:rPr lang="en-US" altLang="zh-CN" sz="1500" i="1" baseline="-25000">
                <a:ea typeface="宋体" panose="02010600030101010101" pitchFamily="2" charset="-122"/>
              </a:rPr>
              <a:t>m </a:t>
            </a:r>
            <a:r>
              <a:rPr lang="en-US" altLang="zh-CN" sz="1500">
                <a:ea typeface="宋体" panose="02010600030101010101" pitchFamily="2" charset="-122"/>
              </a:rPr>
              <a:t>= 8 with </a:t>
            </a:r>
            <a:r>
              <a:rPr lang="en-US" altLang="zh-CN" sz="1500" i="1">
                <a:ea typeface="宋体" panose="02010600030101010101" pitchFamily="2" charset="-122"/>
              </a:rPr>
              <a:t>m </a:t>
            </a:r>
            <a:r>
              <a:rPr lang="en-US" altLang="zh-CN" sz="1500">
                <a:ea typeface="宋体" panose="02010600030101010101" pitchFamily="2" charset="-122"/>
              </a:rPr>
              <a:t>= 2.</a:t>
            </a:r>
          </a:p>
        </p:txBody>
      </p:sp>
      <p:sp>
        <p:nvSpPr>
          <p:cNvPr id="28714" name="AutoShape 48"/>
          <p:cNvSpPr>
            <a:spLocks noChangeArrowheads="1"/>
          </p:cNvSpPr>
          <p:nvPr/>
        </p:nvSpPr>
        <p:spPr bwMode="auto">
          <a:xfrm>
            <a:off x="3046413" y="3351213"/>
            <a:ext cx="611187" cy="382587"/>
          </a:xfrm>
          <a:prstGeom prst="upArrow">
            <a:avLst>
              <a:gd name="adj1" fmla="val 50000"/>
              <a:gd name="adj2" fmla="val 25000"/>
            </a:avLst>
          </a:prstGeom>
          <a:gradFill rotWithShape="1">
            <a:gsLst>
              <a:gs pos="0">
                <a:srgbClr val="CCCCFF"/>
              </a:gs>
              <a:gs pos="100000">
                <a:srgbClr val="DDDDDD"/>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15" name="Oval 49"/>
          <p:cNvSpPr>
            <a:spLocks noChangeArrowheads="1"/>
          </p:cNvSpPr>
          <p:nvPr/>
        </p:nvSpPr>
        <p:spPr bwMode="auto">
          <a:xfrm>
            <a:off x="2500313" y="2874963"/>
            <a:ext cx="1601787" cy="458787"/>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0779"/>
                                        </p:tgtEl>
                                        <p:attrNameLst>
                                          <p:attrName>style.visibility</p:attrName>
                                        </p:attrNameLst>
                                      </p:cBhvr>
                                      <p:to>
                                        <p:strVal val="visible"/>
                                      </p:to>
                                    </p:set>
                                    <p:animEffect transition="in" filter="dissolve">
                                      <p:cBhvr>
                                        <p:cTn id="7" dur="500"/>
                                        <p:tgtEl>
                                          <p:spTgt spid="500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79"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32B4AC5-C356-4AEE-B21F-5CD174CC743C}" type="slidenum">
              <a:rPr lang="en-US" altLang="de-DE" sz="1000">
                <a:solidFill>
                  <a:srgbClr val="C0C0C0"/>
                </a:solidFill>
              </a:rPr>
              <a:pPr/>
              <a:t>28</a:t>
            </a:fld>
            <a:endParaRPr lang="en-US" altLang="de-DE" sz="1000">
              <a:solidFill>
                <a:srgbClr val="C0C0C0"/>
              </a:solidFill>
            </a:endParaRPr>
          </a:p>
        </p:txBody>
      </p:sp>
      <p:sp>
        <p:nvSpPr>
          <p:cNvPr id="28675" name="Text Box 4"/>
          <p:cNvSpPr txBox="1">
            <a:spLocks noChangeArrowheads="1"/>
          </p:cNvSpPr>
          <p:nvPr/>
        </p:nvSpPr>
        <p:spPr bwMode="auto">
          <a:xfrm>
            <a:off x="684213" y="1598613"/>
            <a:ext cx="1684337"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(5)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(3) = 2</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(7) = 1</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(4) = 1	</a:t>
            </a:r>
            <a:r>
              <a:rPr lang="en-US" altLang="zh-CN" sz="1300" i="1">
                <a:ea typeface="宋体" panose="02010600030101010101" pitchFamily="2" charset="-122"/>
              </a:rPr>
              <a:t>D</a:t>
            </a:r>
            <a:r>
              <a:rPr lang="en-US" altLang="zh-CN" sz="1300">
                <a:ea typeface="宋体" panose="02010600030101010101" pitchFamily="2" charset="-122"/>
              </a:rPr>
              <a:t>(8) = 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a:ea typeface="宋体" panose="02010600030101010101" pitchFamily="2" charset="-122"/>
              </a:rPr>
              <a:t> = 2+1-0 = 3</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(3,5)</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1</a:t>
            </a:r>
            <a:r>
              <a:rPr lang="en-US" altLang="zh-CN" sz="1300">
                <a:ea typeface="宋体" panose="02010600030101010101" pitchFamily="2" charset="-122"/>
              </a:rPr>
              <a:t> =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1 </a:t>
            </a:r>
            <a:r>
              <a:rPr lang="en-US" altLang="zh-CN" sz="1300">
                <a:ea typeface="宋体" panose="02010600030101010101" pitchFamily="2" charset="-122"/>
              </a:rPr>
              <a:t>=3</a:t>
            </a:r>
          </a:p>
          <a:p>
            <a:pPr algn="l" eaLnBrk="1" hangingPunct="1">
              <a:lnSpc>
                <a:spcPct val="100000"/>
              </a:lnSpc>
            </a:pPr>
            <a:endParaRPr lang="en-US" altLang="zh-CN" sz="1300">
              <a:ea typeface="宋体" panose="02010600030101010101" pitchFamily="2" charset="-122"/>
            </a:endParaRPr>
          </a:p>
        </p:txBody>
      </p:sp>
      <p:sp>
        <p:nvSpPr>
          <p:cNvPr id="28676" name="Text Box 5"/>
          <p:cNvSpPr txBox="1">
            <a:spLocks noChangeArrowheads="1"/>
          </p:cNvSpPr>
          <p:nvPr/>
        </p:nvSpPr>
        <p:spPr bwMode="auto">
          <a:xfrm>
            <a:off x="2589213" y="1598613"/>
            <a:ext cx="1700212"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(1) = -1	</a:t>
            </a:r>
            <a:r>
              <a:rPr lang="en-US" altLang="zh-CN" sz="1300" b="1" i="1">
                <a:ea typeface="宋体" panose="02010600030101010101" pitchFamily="2" charset="-122"/>
              </a:rPr>
              <a:t>D</a:t>
            </a:r>
            <a:r>
              <a:rPr lang="en-US" altLang="zh-CN" sz="1300" b="1">
                <a:ea typeface="宋体" panose="02010600030101010101" pitchFamily="2" charset="-122"/>
              </a:rPr>
              <a:t>(6) = 2</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-1	</a:t>
            </a:r>
            <a:r>
              <a:rPr lang="en-US" altLang="zh-CN" sz="1300" i="1">
                <a:ea typeface="宋体" panose="02010600030101010101" pitchFamily="2" charset="-122"/>
              </a:rPr>
              <a:t>D</a:t>
            </a:r>
            <a:r>
              <a:rPr lang="en-US" altLang="zh-CN" sz="1300">
                <a:ea typeface="宋体" panose="02010600030101010101" pitchFamily="2" charset="-122"/>
              </a:rPr>
              <a:t>(7)=-1</a:t>
            </a:r>
            <a:br>
              <a:rPr lang="en-US" altLang="zh-CN" sz="1300">
                <a:ea typeface="宋体" panose="02010600030101010101" pitchFamily="2" charset="-122"/>
              </a:rPr>
            </a:b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(4) = 3</a:t>
            </a: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 3+2-0 = 5</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(4,6)</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2</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1</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i="1" baseline="-25000">
                <a:ea typeface="宋体" panose="02010600030101010101" pitchFamily="2" charset="-122"/>
              </a:rPr>
              <a:t> </a:t>
            </a:r>
            <a:r>
              <a:rPr lang="en-US" altLang="zh-CN" sz="1300">
                <a:ea typeface="宋体" panose="02010600030101010101" pitchFamily="2" charset="-122"/>
              </a:rPr>
              <a:t>=8</a:t>
            </a:r>
          </a:p>
        </p:txBody>
      </p:sp>
      <p:sp>
        <p:nvSpPr>
          <p:cNvPr id="28677" name="Text Box 6"/>
          <p:cNvSpPr txBox="1">
            <a:spLocks noChangeArrowheads="1"/>
          </p:cNvSpPr>
          <p:nvPr/>
        </p:nvSpPr>
        <p:spPr bwMode="auto">
          <a:xfrm>
            <a:off x="4495800" y="1598613"/>
            <a:ext cx="1658938"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(1) = -3</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(7)=-3</a:t>
            </a:r>
            <a:br>
              <a:rPr lang="en-US" altLang="zh-CN" sz="1300">
                <a:ea typeface="宋体" panose="02010600030101010101" pitchFamily="2" charset="-122"/>
              </a:rPr>
            </a:br>
            <a:r>
              <a:rPr lang="en-US" altLang="zh-CN" sz="1300">
                <a:ea typeface="宋体" panose="02010600030101010101" pitchFamily="2" charset="-122"/>
              </a:rPr>
              <a:t> </a:t>
            </a:r>
            <a:r>
              <a:rPr lang="en-US" altLang="zh-CN" sz="1300" i="1">
                <a:ea typeface="宋体" panose="02010600030101010101" pitchFamily="2" charset="-122"/>
              </a:rPr>
              <a:t>D</a:t>
            </a:r>
            <a:r>
              <a:rPr lang="en-US" altLang="zh-CN" sz="1300">
                <a:ea typeface="宋体" panose="02010600030101010101" pitchFamily="2" charset="-122"/>
              </a:rPr>
              <a:t>(2) = -3	</a:t>
            </a:r>
            <a:r>
              <a:rPr lang="en-US" altLang="zh-CN" sz="1300" i="1">
                <a:ea typeface="宋体" panose="02010600030101010101" pitchFamily="2" charset="-122"/>
              </a:rPr>
              <a:t>D</a:t>
            </a:r>
            <a:r>
              <a:rPr lang="en-US" altLang="zh-CN" sz="1300">
                <a:ea typeface="宋体" panose="02010600030101010101" pitchFamily="2" charset="-122"/>
              </a:rPr>
              <a:t>(8)=-3</a:t>
            </a:r>
            <a:br>
              <a:rPr lang="en-US" altLang="zh-CN" sz="1300">
                <a:ea typeface="宋体" panose="02010600030101010101" pitchFamily="2" charset="-122"/>
              </a:rPr>
            </a:br>
            <a:r>
              <a:rPr lang="en-US" altLang="zh-CN" sz="1300">
                <a:ea typeface="宋体" panose="02010600030101010101" pitchFamily="2" charset="-122"/>
              </a:rPr>
              <a:t>       </a:t>
            </a:r>
            <a:br>
              <a:rPr lang="en-US" altLang="zh-CN" sz="1300" b="1">
                <a:ea typeface="宋体" panose="02010600030101010101" pitchFamily="2" charset="-122"/>
              </a:rPr>
            </a:br>
            <a:br>
              <a:rPr lang="en-US" altLang="zh-CN" sz="1300">
                <a:ea typeface="宋体" panose="02010600030101010101" pitchFamily="2" charset="-122"/>
              </a:rPr>
            </a:b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 -3-3-0 = -6</a:t>
            </a:r>
            <a:endParaRPr lang="en-US" altLang="zh-CN" sz="1300" i="1">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(1,7)</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G</a:t>
            </a:r>
            <a:r>
              <a:rPr lang="en-US" altLang="zh-CN" sz="1300" baseline="-25000">
                <a:ea typeface="宋体" panose="02010600030101010101" pitchFamily="2" charset="-122"/>
              </a:rPr>
              <a:t>2</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i="1">
                <a:ea typeface="宋体" panose="02010600030101010101" pitchFamily="2" charset="-122"/>
              </a:rPr>
              <a:t> </a:t>
            </a:r>
            <a:r>
              <a:rPr lang="en-US" altLang="zh-CN" sz="1300">
                <a:ea typeface="宋体" panose="02010600030101010101" pitchFamily="2" charset="-122"/>
              </a:rPr>
              <a:t>= 2</a:t>
            </a:r>
          </a:p>
        </p:txBody>
      </p:sp>
      <p:sp>
        <p:nvSpPr>
          <p:cNvPr id="28678" name="Text Box 7"/>
          <p:cNvSpPr txBox="1">
            <a:spLocks noChangeArrowheads="1"/>
          </p:cNvSpPr>
          <p:nvPr/>
        </p:nvSpPr>
        <p:spPr bwMode="auto">
          <a:xfrm>
            <a:off x="6400800" y="1598613"/>
            <a:ext cx="1676400" cy="1658937"/>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9057" tIns="11434" rIns="19057" bIns="1143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(2) = -1</a:t>
            </a:r>
            <a:r>
              <a:rPr lang="en-US" altLang="zh-CN" sz="1300">
                <a:ea typeface="宋体" panose="02010600030101010101" pitchFamily="2" charset="-122"/>
              </a:rPr>
              <a:t>       </a:t>
            </a:r>
            <a:r>
              <a:rPr lang="en-US" altLang="zh-CN" sz="1300" b="1" i="1">
                <a:ea typeface="宋体" panose="02010600030101010101" pitchFamily="2" charset="-122"/>
              </a:rPr>
              <a:t>D</a:t>
            </a:r>
            <a:r>
              <a:rPr lang="en-US" altLang="zh-CN" sz="1300" b="1">
                <a:ea typeface="宋体" panose="02010600030101010101" pitchFamily="2" charset="-122"/>
              </a:rPr>
              <a:t>(8)=-1</a:t>
            </a:r>
            <a:br>
              <a:rPr lang="en-US" altLang="zh-CN" sz="1300">
                <a:ea typeface="宋体" panose="02010600030101010101" pitchFamily="2" charset="-122"/>
              </a:rPr>
            </a:br>
            <a:r>
              <a:rPr lang="en-US" altLang="zh-CN" sz="1300">
                <a:ea typeface="宋体" panose="02010600030101010101" pitchFamily="2" charset="-122"/>
              </a:rPr>
              <a:t>       </a:t>
            </a:r>
          </a:p>
          <a:p>
            <a:pPr algn="l" eaLnBrk="1" hangingPunct="1">
              <a:lnSpc>
                <a:spcPct val="100000"/>
              </a:lnSpc>
            </a:pPr>
            <a:endParaRPr lang="en-US" altLang="zh-CN" sz="1300">
              <a:ea typeface="宋体" panose="02010600030101010101" pitchFamily="2" charset="-122"/>
            </a:endParaRPr>
          </a:p>
          <a:p>
            <a:pPr algn="l" eaLnBrk="1" hangingPunct="1">
              <a:lnSpc>
                <a:spcPct val="100000"/>
              </a:lnSpc>
            </a:pPr>
            <a:endParaRPr lang="en-US" altLang="zh-CN" sz="1300">
              <a:ea typeface="宋体" panose="02010600030101010101" pitchFamily="2" charset="-122"/>
            </a:endParaRPr>
          </a:p>
          <a:p>
            <a:pPr algn="l" eaLnBrk="1" hangingPunct="1">
              <a:lnSpc>
                <a:spcPct val="100000"/>
              </a:lnSpc>
            </a:pPr>
            <a:r>
              <a:rPr lang="en-US" altLang="zh-CN" sz="1300">
                <a:ea typeface="宋体" panose="02010600030101010101" pitchFamily="2" charset="-122"/>
              </a:rPr>
              <a:t>       </a:t>
            </a:r>
            <a:br>
              <a:rPr lang="en-US" altLang="zh-CN" sz="1300">
                <a:ea typeface="宋体" panose="02010600030101010101" pitchFamily="2" charset="-122"/>
              </a:rPr>
            </a:br>
            <a:r>
              <a:rPr lang="en-US" altLang="zh-CN" sz="1300">
                <a:ea typeface="宋体" panose="02010600030101010101" pitchFamily="2" charset="-122"/>
              </a:rPr>
              <a:t>  </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-1-1-0 = -2</a:t>
            </a:r>
          </a:p>
          <a:p>
            <a:pPr algn="l" eaLnBrk="1" hangingPunct="1">
              <a:lnSpc>
                <a:spcPct val="100000"/>
              </a:lnSpc>
            </a:pPr>
            <a:r>
              <a:rPr lang="en-US" altLang="zh-CN" sz="1300">
                <a:ea typeface="宋体" panose="02010600030101010101" pitchFamily="2" charset="-122"/>
              </a:rPr>
              <a:t>  </a:t>
            </a:r>
            <a:r>
              <a:rPr lang="en-US" altLang="zh-CN" sz="1300" b="1">
                <a:ea typeface="宋体" panose="02010600030101010101" pitchFamily="2" charset="-122"/>
              </a:rPr>
              <a:t>Swap (2,8)</a:t>
            </a:r>
            <a:r>
              <a:rPr lang="en-US" altLang="zh-CN" sz="1300">
                <a:ea typeface="宋体" panose="02010600030101010101" pitchFamily="2" charset="-122"/>
              </a:rPr>
              <a:t> </a:t>
            </a:r>
            <a:endParaRPr lang="en-US" altLang="zh-CN" sz="1300" b="1" i="1">
              <a:ea typeface="宋体" panose="02010600030101010101" pitchFamily="2" charset="-122"/>
            </a:endParaRPr>
          </a:p>
          <a:p>
            <a:pPr algn="l" eaLnBrk="1" hangingPunct="1">
              <a:lnSpc>
                <a:spcPct val="100000"/>
              </a:lnSpc>
            </a:pPr>
            <a:r>
              <a:rPr lang="en-US" altLang="zh-CN" sz="1300" i="1">
                <a:ea typeface="宋体" panose="02010600030101010101" pitchFamily="2" charset="-122"/>
              </a:rPr>
              <a:t>  G</a:t>
            </a:r>
            <a:r>
              <a:rPr lang="en-US" altLang="zh-CN" sz="1300" baseline="-25000">
                <a:ea typeface="宋体" panose="02010600030101010101" pitchFamily="2" charset="-122"/>
              </a:rPr>
              <a:t>4</a:t>
            </a:r>
            <a:r>
              <a:rPr lang="en-US" altLang="zh-CN" sz="1300">
                <a:ea typeface="宋体" panose="02010600030101010101" pitchFamily="2" charset="-122"/>
              </a:rPr>
              <a:t> = </a:t>
            </a:r>
            <a:r>
              <a:rPr lang="en-US" altLang="zh-CN" sz="1300" i="1">
                <a:ea typeface="宋体" panose="02010600030101010101" pitchFamily="2" charset="-122"/>
              </a:rPr>
              <a:t>G</a:t>
            </a:r>
            <a:r>
              <a:rPr lang="en-US" altLang="zh-CN" sz="1300" baseline="-25000">
                <a:ea typeface="宋体" panose="02010600030101010101" pitchFamily="2" charset="-122"/>
              </a:rPr>
              <a:t>3</a:t>
            </a:r>
            <a:r>
              <a:rPr lang="en-US" altLang="zh-CN" sz="1300">
                <a:ea typeface="宋体" panose="02010600030101010101" pitchFamily="2" charset="-122"/>
              </a:rPr>
              <a:t> </a:t>
            </a:r>
            <a:r>
              <a:rPr lang="en-US" altLang="zh-CN" sz="1300" i="1">
                <a:ea typeface="宋体" panose="02010600030101010101" pitchFamily="2" charset="-122"/>
              </a:rPr>
              <a:t>+</a:t>
            </a:r>
            <a:r>
              <a:rPr lang="en-US" altLang="zh-CN" sz="1300">
                <a:ea typeface="宋体" panose="02010600030101010101" pitchFamily="2" charset="-122"/>
                <a:sym typeface="Symbol" panose="05050102010706020507" pitchFamily="18" charset="2"/>
              </a:rPr>
              <a:t></a:t>
            </a:r>
            <a:r>
              <a:rPr lang="en-US" altLang="zh-CN" sz="1300" i="1">
                <a:ea typeface="宋体" panose="02010600030101010101" pitchFamily="2" charset="-122"/>
              </a:rPr>
              <a:t>g</a:t>
            </a:r>
            <a:r>
              <a:rPr lang="en-US" altLang="zh-CN" sz="1300" baseline="-25000">
                <a:ea typeface="宋体" panose="02010600030101010101" pitchFamily="2" charset="-122"/>
              </a:rPr>
              <a:t>4</a:t>
            </a:r>
            <a:r>
              <a:rPr lang="en-US" altLang="zh-CN" sz="1300">
                <a:ea typeface="宋体" panose="02010600030101010101" pitchFamily="2" charset="-122"/>
              </a:rPr>
              <a:t> = 0</a:t>
            </a:r>
          </a:p>
          <a:p>
            <a:pPr algn="l" eaLnBrk="1" hangingPunct="1">
              <a:lnSpc>
                <a:spcPct val="100000"/>
              </a:lnSpc>
            </a:pPr>
            <a:r>
              <a:rPr lang="en-US" altLang="zh-CN" sz="1300" i="1">
                <a:ea typeface="宋体" panose="02010600030101010101" pitchFamily="2" charset="-122"/>
              </a:rPr>
              <a:t> </a:t>
            </a:r>
          </a:p>
        </p:txBody>
      </p:sp>
      <p:sp>
        <p:nvSpPr>
          <p:cNvPr id="28679" name="Text Box 8"/>
          <p:cNvSpPr txBox="1">
            <a:spLocks noChangeArrowheads="1"/>
          </p:cNvSpPr>
          <p:nvPr/>
        </p:nvSpPr>
        <p:spPr bwMode="auto">
          <a:xfrm>
            <a:off x="684213" y="4495800"/>
            <a:ext cx="4268787" cy="67310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Since </a:t>
            </a:r>
            <a:r>
              <a:rPr lang="en-US" altLang="zh-CN" sz="1500" i="1">
                <a:ea typeface="宋体" panose="02010600030101010101" pitchFamily="2" charset="-122"/>
              </a:rPr>
              <a:t>G</a:t>
            </a:r>
            <a:r>
              <a:rPr lang="en-US" altLang="zh-CN" sz="1500" i="1" baseline="-25000">
                <a:ea typeface="宋体" panose="02010600030101010101" pitchFamily="2" charset="-122"/>
              </a:rPr>
              <a:t>m</a:t>
            </a:r>
            <a:r>
              <a:rPr lang="en-US" altLang="zh-CN" sz="1500" i="1">
                <a:ea typeface="宋体" panose="02010600030101010101" pitchFamily="2" charset="-122"/>
              </a:rPr>
              <a:t> </a:t>
            </a:r>
            <a:r>
              <a:rPr lang="en-US" altLang="zh-CN" sz="1500">
                <a:ea typeface="宋体" panose="02010600030101010101" pitchFamily="2" charset="-122"/>
              </a:rPr>
              <a:t>&gt; 0,</a:t>
            </a:r>
            <a:r>
              <a:rPr lang="en-US" altLang="zh-CN" sz="1500" i="1">
                <a:ea typeface="宋体" panose="02010600030101010101" pitchFamily="2" charset="-122"/>
              </a:rPr>
              <a:t> </a:t>
            </a:r>
            <a:r>
              <a:rPr lang="en-US" altLang="zh-CN" sz="1500">
                <a:ea typeface="宋体" panose="02010600030101010101" pitchFamily="2" charset="-122"/>
              </a:rPr>
              <a:t>the first</a:t>
            </a:r>
            <a:r>
              <a:rPr lang="en-US" altLang="zh-CN" sz="1500" i="1">
                <a:ea typeface="宋体" panose="02010600030101010101" pitchFamily="2" charset="-122"/>
              </a:rPr>
              <a:t> m</a:t>
            </a:r>
            <a:r>
              <a:rPr lang="en-US" altLang="zh-CN" sz="1500">
                <a:ea typeface="宋体" panose="02010600030101010101" pitchFamily="2" charset="-122"/>
              </a:rPr>
              <a:t> = 2 swaps </a:t>
            </a:r>
            <a:br>
              <a:rPr lang="en-US" altLang="zh-CN" sz="1500">
                <a:ea typeface="宋体" panose="02010600030101010101" pitchFamily="2" charset="-122"/>
              </a:rPr>
            </a:br>
            <a:r>
              <a:rPr lang="en-US" altLang="zh-CN" sz="1500">
                <a:ea typeface="宋体" panose="02010600030101010101" pitchFamily="2" charset="-122"/>
              </a:rPr>
              <a:t>(3,5) and (4,6) are executed.</a:t>
            </a:r>
          </a:p>
        </p:txBody>
      </p:sp>
      <p:sp>
        <p:nvSpPr>
          <p:cNvPr id="28680" name="Line 11"/>
          <p:cNvSpPr>
            <a:spLocks noChangeAspect="1" noChangeShapeType="1"/>
          </p:cNvSpPr>
          <p:nvPr/>
        </p:nvSpPr>
        <p:spPr bwMode="auto">
          <a:xfrm>
            <a:off x="6845300" y="556577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1" name="Line 12"/>
          <p:cNvSpPr>
            <a:spLocks noChangeAspect="1" noChangeShapeType="1"/>
          </p:cNvSpPr>
          <p:nvPr/>
        </p:nvSpPr>
        <p:spPr bwMode="auto">
          <a:xfrm>
            <a:off x="6850063" y="4502150"/>
            <a:ext cx="0" cy="5445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2" name="Line 13"/>
          <p:cNvSpPr>
            <a:spLocks noChangeAspect="1" noChangeShapeType="1"/>
          </p:cNvSpPr>
          <p:nvPr/>
        </p:nvSpPr>
        <p:spPr bwMode="auto">
          <a:xfrm>
            <a:off x="6215063" y="5572125"/>
            <a:ext cx="0" cy="6524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3" name="Line 14"/>
          <p:cNvSpPr>
            <a:spLocks noChangeAspect="1" noChangeShapeType="1"/>
          </p:cNvSpPr>
          <p:nvPr/>
        </p:nvSpPr>
        <p:spPr bwMode="auto">
          <a:xfrm>
            <a:off x="6215063" y="4519613"/>
            <a:ext cx="0" cy="542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4" name="Line 15"/>
          <p:cNvSpPr>
            <a:spLocks noChangeAspect="1" noChangeShapeType="1"/>
          </p:cNvSpPr>
          <p:nvPr/>
        </p:nvSpPr>
        <p:spPr bwMode="auto">
          <a:xfrm flipH="1">
            <a:off x="6261100" y="5070475"/>
            <a:ext cx="576263"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5" name="Line 16"/>
          <p:cNvSpPr>
            <a:spLocks noChangeAspect="1" noChangeShapeType="1"/>
          </p:cNvSpPr>
          <p:nvPr/>
        </p:nvSpPr>
        <p:spPr bwMode="auto">
          <a:xfrm flipH="1">
            <a:off x="6246813" y="5637213"/>
            <a:ext cx="574675" cy="495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6" name="Line 17"/>
          <p:cNvSpPr>
            <a:spLocks noChangeAspect="1" noChangeShapeType="1"/>
          </p:cNvSpPr>
          <p:nvPr/>
        </p:nvSpPr>
        <p:spPr bwMode="auto">
          <a:xfrm flipH="1">
            <a:off x="6237288" y="4559300"/>
            <a:ext cx="574675" cy="4937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7" name="Line 18"/>
          <p:cNvSpPr>
            <a:spLocks noChangeAspect="1" noChangeShapeType="1"/>
          </p:cNvSpPr>
          <p:nvPr/>
        </p:nvSpPr>
        <p:spPr bwMode="auto">
          <a:xfrm>
            <a:off x="6153150" y="5573713"/>
            <a:ext cx="623888"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8" name="Line 19"/>
          <p:cNvSpPr>
            <a:spLocks noChangeAspect="1" noChangeShapeType="1"/>
          </p:cNvSpPr>
          <p:nvPr/>
        </p:nvSpPr>
        <p:spPr bwMode="auto">
          <a:xfrm>
            <a:off x="6219825" y="4522788"/>
            <a:ext cx="625475" cy="5349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89" name="Line 20"/>
          <p:cNvSpPr>
            <a:spLocks noChangeAspect="1" noChangeShapeType="1"/>
          </p:cNvSpPr>
          <p:nvPr/>
        </p:nvSpPr>
        <p:spPr bwMode="auto">
          <a:xfrm>
            <a:off x="6276975" y="5064125"/>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0" name="Line 21"/>
          <p:cNvSpPr>
            <a:spLocks noChangeAspect="1" noChangeShapeType="1"/>
          </p:cNvSpPr>
          <p:nvPr/>
        </p:nvSpPr>
        <p:spPr bwMode="auto">
          <a:xfrm>
            <a:off x="6248400" y="5608638"/>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1" name="Line 22"/>
          <p:cNvSpPr>
            <a:spLocks noChangeAspect="1" noChangeShapeType="1"/>
          </p:cNvSpPr>
          <p:nvPr/>
        </p:nvSpPr>
        <p:spPr bwMode="auto">
          <a:xfrm>
            <a:off x="6251575" y="6167438"/>
            <a:ext cx="6524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2" name="Line 23"/>
          <p:cNvSpPr>
            <a:spLocks noChangeAspect="1" noChangeShapeType="1"/>
          </p:cNvSpPr>
          <p:nvPr/>
        </p:nvSpPr>
        <p:spPr bwMode="auto">
          <a:xfrm>
            <a:off x="6261100" y="4532313"/>
            <a:ext cx="6508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693" name="Oval 24"/>
          <p:cNvSpPr>
            <a:spLocks noChangeAspect="1" noChangeArrowheads="1"/>
          </p:cNvSpPr>
          <p:nvPr/>
        </p:nvSpPr>
        <p:spPr bwMode="auto">
          <a:xfrm>
            <a:off x="6043613" y="4914900"/>
            <a:ext cx="325437"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4" name="Rectangle 25"/>
          <p:cNvSpPr>
            <a:spLocks noChangeAspect="1" noChangeArrowheads="1"/>
          </p:cNvSpPr>
          <p:nvPr/>
        </p:nvSpPr>
        <p:spPr bwMode="auto">
          <a:xfrm>
            <a:off x="6073775" y="4940300"/>
            <a:ext cx="260350" cy="2587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2</a:t>
            </a:r>
            <a:endParaRPr lang="en-US" altLang="zh-CN" sz="1500" b="1">
              <a:ea typeface="宋体" panose="02010600030101010101" pitchFamily="2" charset="-122"/>
            </a:endParaRPr>
          </a:p>
        </p:txBody>
      </p:sp>
      <p:sp>
        <p:nvSpPr>
          <p:cNvPr id="28695" name="Oval 26"/>
          <p:cNvSpPr>
            <a:spLocks noChangeAspect="1" noChangeArrowheads="1"/>
          </p:cNvSpPr>
          <p:nvPr/>
        </p:nvSpPr>
        <p:spPr bwMode="auto">
          <a:xfrm>
            <a:off x="6680200" y="4370388"/>
            <a:ext cx="325438"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6" name="Rectangle 27"/>
          <p:cNvSpPr>
            <a:spLocks noChangeAspect="1" noChangeArrowheads="1"/>
          </p:cNvSpPr>
          <p:nvPr/>
        </p:nvSpPr>
        <p:spPr bwMode="auto">
          <a:xfrm>
            <a:off x="6711950" y="4403725"/>
            <a:ext cx="260350" cy="26035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5</a:t>
            </a:r>
            <a:endParaRPr lang="en-US" altLang="zh-CN" sz="1500" b="1">
              <a:ea typeface="宋体" panose="02010600030101010101" pitchFamily="2" charset="-122"/>
            </a:endParaRPr>
          </a:p>
        </p:txBody>
      </p:sp>
      <p:sp>
        <p:nvSpPr>
          <p:cNvPr id="28697" name="Oval 28"/>
          <p:cNvSpPr>
            <a:spLocks noChangeAspect="1" noChangeArrowheads="1"/>
          </p:cNvSpPr>
          <p:nvPr/>
        </p:nvSpPr>
        <p:spPr bwMode="auto">
          <a:xfrm>
            <a:off x="6696075" y="4914900"/>
            <a:ext cx="325438" cy="32385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698" name="Rectangle 29"/>
          <p:cNvSpPr>
            <a:spLocks noChangeAspect="1" noChangeArrowheads="1"/>
          </p:cNvSpPr>
          <p:nvPr/>
        </p:nvSpPr>
        <p:spPr bwMode="auto">
          <a:xfrm>
            <a:off x="6711950" y="4938713"/>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6</a:t>
            </a:r>
            <a:endParaRPr lang="en-US" altLang="zh-CN" sz="1500" b="1">
              <a:ea typeface="宋体" panose="02010600030101010101" pitchFamily="2" charset="-122"/>
            </a:endParaRPr>
          </a:p>
        </p:txBody>
      </p:sp>
      <p:sp>
        <p:nvSpPr>
          <p:cNvPr id="28699" name="Oval 30"/>
          <p:cNvSpPr>
            <a:spLocks noChangeAspect="1" noChangeArrowheads="1"/>
          </p:cNvSpPr>
          <p:nvPr/>
        </p:nvSpPr>
        <p:spPr bwMode="auto">
          <a:xfrm>
            <a:off x="6043613" y="5457825"/>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0" name="Rectangle 31"/>
          <p:cNvSpPr>
            <a:spLocks noChangeAspect="1" noChangeArrowheads="1"/>
          </p:cNvSpPr>
          <p:nvPr/>
        </p:nvSpPr>
        <p:spPr bwMode="auto">
          <a:xfrm>
            <a:off x="6080125" y="5489575"/>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3</a:t>
            </a:r>
            <a:endParaRPr lang="en-US" altLang="zh-CN" sz="1500" b="1">
              <a:solidFill>
                <a:schemeClr val="bg1"/>
              </a:solidFill>
              <a:ea typeface="宋体" panose="02010600030101010101" pitchFamily="2" charset="-122"/>
            </a:endParaRPr>
          </a:p>
        </p:txBody>
      </p:sp>
      <p:sp>
        <p:nvSpPr>
          <p:cNvPr id="28701" name="Oval 32"/>
          <p:cNvSpPr>
            <a:spLocks noChangeAspect="1" noChangeArrowheads="1"/>
          </p:cNvSpPr>
          <p:nvPr/>
        </p:nvSpPr>
        <p:spPr bwMode="auto">
          <a:xfrm>
            <a:off x="6057900" y="4370388"/>
            <a:ext cx="327025" cy="32543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2" name="Rectangle 33"/>
          <p:cNvSpPr>
            <a:spLocks noChangeAspect="1" noChangeArrowheads="1"/>
          </p:cNvSpPr>
          <p:nvPr/>
        </p:nvSpPr>
        <p:spPr bwMode="auto">
          <a:xfrm>
            <a:off x="6086475" y="4406900"/>
            <a:ext cx="260350" cy="260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t>1</a:t>
            </a:r>
            <a:endParaRPr lang="en-US" altLang="zh-CN" sz="1500" b="1">
              <a:ea typeface="宋体" panose="02010600030101010101" pitchFamily="2" charset="-122"/>
            </a:endParaRPr>
          </a:p>
        </p:txBody>
      </p:sp>
      <p:sp>
        <p:nvSpPr>
          <p:cNvPr id="28703" name="Oval 34"/>
          <p:cNvSpPr>
            <a:spLocks noChangeAspect="1" noChangeArrowheads="1"/>
          </p:cNvSpPr>
          <p:nvPr/>
        </p:nvSpPr>
        <p:spPr bwMode="auto">
          <a:xfrm>
            <a:off x="6043613" y="6000750"/>
            <a:ext cx="325437"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4" name="Rectangle 35"/>
          <p:cNvSpPr>
            <a:spLocks noChangeAspect="1" noChangeArrowheads="1"/>
          </p:cNvSpPr>
          <p:nvPr/>
        </p:nvSpPr>
        <p:spPr bwMode="auto">
          <a:xfrm>
            <a:off x="6075363" y="6032500"/>
            <a:ext cx="260350" cy="260350"/>
          </a:xfrm>
          <a:prstGeom prst="rect">
            <a:avLst/>
          </a:prstGeom>
          <a:noFill/>
          <a:ln>
            <a:noFill/>
          </a:ln>
          <a:effectLst/>
          <a:extLst>
            <a:ext uri="{909E8E84-426E-40DD-AFC4-6F175D3DCCD1}">
              <a14:hiddenFill xmlns:a14="http://schemas.microsoft.com/office/drawing/2010/main">
                <a:solidFill>
                  <a:srgbClr val="0C325C"/>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4</a:t>
            </a:r>
            <a:endParaRPr lang="en-US" altLang="zh-CN" sz="1500" b="1">
              <a:solidFill>
                <a:schemeClr val="bg1"/>
              </a:solidFill>
              <a:ea typeface="宋体" panose="02010600030101010101" pitchFamily="2" charset="-122"/>
            </a:endParaRPr>
          </a:p>
        </p:txBody>
      </p:sp>
      <p:sp>
        <p:nvSpPr>
          <p:cNvPr id="28705" name="Oval 36"/>
          <p:cNvSpPr>
            <a:spLocks noChangeAspect="1" noChangeArrowheads="1"/>
          </p:cNvSpPr>
          <p:nvPr/>
        </p:nvSpPr>
        <p:spPr bwMode="auto">
          <a:xfrm>
            <a:off x="6680200" y="5457825"/>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6" name="Rectangle 37"/>
          <p:cNvSpPr>
            <a:spLocks noChangeAspect="1" noChangeArrowheads="1"/>
          </p:cNvSpPr>
          <p:nvPr/>
        </p:nvSpPr>
        <p:spPr bwMode="auto">
          <a:xfrm>
            <a:off x="6711950" y="5489575"/>
            <a:ext cx="260350" cy="26193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7</a:t>
            </a:r>
            <a:endParaRPr lang="en-US" altLang="zh-CN" sz="1500" b="1">
              <a:solidFill>
                <a:schemeClr val="bg1"/>
              </a:solidFill>
              <a:ea typeface="宋体" panose="02010600030101010101" pitchFamily="2" charset="-122"/>
            </a:endParaRPr>
          </a:p>
        </p:txBody>
      </p:sp>
      <p:sp>
        <p:nvSpPr>
          <p:cNvPr id="28707" name="Oval 38"/>
          <p:cNvSpPr>
            <a:spLocks noChangeAspect="1" noChangeArrowheads="1"/>
          </p:cNvSpPr>
          <p:nvPr/>
        </p:nvSpPr>
        <p:spPr bwMode="auto">
          <a:xfrm>
            <a:off x="6696075" y="6000750"/>
            <a:ext cx="325438" cy="32543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08" name="Rectangle 39"/>
          <p:cNvSpPr>
            <a:spLocks noChangeAspect="1" noChangeArrowheads="1"/>
          </p:cNvSpPr>
          <p:nvPr/>
        </p:nvSpPr>
        <p:spPr bwMode="auto">
          <a:xfrm>
            <a:off x="6729413" y="6042025"/>
            <a:ext cx="260350" cy="2619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sz="1500">
                <a:solidFill>
                  <a:schemeClr val="bg1"/>
                </a:solidFill>
              </a:rPr>
              <a:t>8</a:t>
            </a:r>
            <a:endParaRPr lang="en-US" altLang="zh-CN" sz="1500" b="1">
              <a:solidFill>
                <a:schemeClr val="bg1"/>
              </a:solidFill>
              <a:ea typeface="宋体" panose="02010600030101010101" pitchFamily="2" charset="-122"/>
            </a:endParaRPr>
          </a:p>
        </p:txBody>
      </p:sp>
      <p:sp>
        <p:nvSpPr>
          <p:cNvPr id="28709" name="Line 40"/>
          <p:cNvSpPr>
            <a:spLocks noChangeAspect="1" noChangeShapeType="1"/>
          </p:cNvSpPr>
          <p:nvPr/>
        </p:nvSpPr>
        <p:spPr bwMode="auto">
          <a:xfrm>
            <a:off x="5943600" y="5348288"/>
            <a:ext cx="119538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28710" name="AutoShape 41"/>
          <p:cNvSpPr>
            <a:spLocks noChangeArrowheads="1"/>
          </p:cNvSpPr>
          <p:nvPr/>
        </p:nvSpPr>
        <p:spPr bwMode="auto">
          <a:xfrm rot="5400000">
            <a:off x="4762500" y="4673600"/>
            <a:ext cx="609600" cy="381000"/>
          </a:xfrm>
          <a:prstGeom prst="upArrow">
            <a:avLst>
              <a:gd name="adj1" fmla="val 50000"/>
              <a:gd name="adj2" fmla="val 25000"/>
            </a:avLst>
          </a:prstGeom>
          <a:solidFill>
            <a:srgbClr val="DDDDDD"/>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11" name="Rectangle 42"/>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500779" name="Text Box 43"/>
          <p:cNvSpPr txBox="1">
            <a:spLocks noChangeArrowheads="1"/>
          </p:cNvSpPr>
          <p:nvPr/>
        </p:nvSpPr>
        <p:spPr bwMode="auto">
          <a:xfrm>
            <a:off x="684213" y="5564188"/>
            <a:ext cx="4268787" cy="654050"/>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Since </a:t>
            </a:r>
            <a:r>
              <a:rPr lang="en-US" altLang="zh-CN" sz="1500" i="1">
                <a:ea typeface="宋体" panose="02010600030101010101" pitchFamily="2" charset="-122"/>
              </a:rPr>
              <a:t>G</a:t>
            </a:r>
            <a:r>
              <a:rPr lang="en-US" altLang="zh-CN" sz="1500" i="1" baseline="-25000">
                <a:ea typeface="宋体" panose="02010600030101010101" pitchFamily="2" charset="-122"/>
              </a:rPr>
              <a:t>m</a:t>
            </a:r>
            <a:r>
              <a:rPr lang="en-US" altLang="zh-CN" sz="1500" i="1">
                <a:ea typeface="宋体" panose="02010600030101010101" pitchFamily="2" charset="-122"/>
              </a:rPr>
              <a:t> </a:t>
            </a:r>
            <a:r>
              <a:rPr lang="en-US" altLang="zh-CN" sz="1500">
                <a:ea typeface="宋体" panose="02010600030101010101" pitchFamily="2" charset="-122"/>
              </a:rPr>
              <a:t>&gt; 0, more passes are needed until </a:t>
            </a:r>
            <a:br>
              <a:rPr lang="en-US" altLang="zh-CN" sz="1500">
                <a:ea typeface="宋体" panose="02010600030101010101" pitchFamily="2" charset="-122"/>
              </a:rPr>
            </a:br>
            <a:r>
              <a:rPr lang="en-US" altLang="zh-CN" sz="1500" i="1">
                <a:ea typeface="宋体" panose="02010600030101010101" pitchFamily="2" charset="-122"/>
              </a:rPr>
              <a:t>G</a:t>
            </a:r>
            <a:r>
              <a:rPr lang="en-US" altLang="zh-CN" sz="1500" i="1" baseline="-25000">
                <a:ea typeface="宋体" panose="02010600030101010101" pitchFamily="2" charset="-122"/>
              </a:rPr>
              <a:t>m</a:t>
            </a:r>
            <a:r>
              <a:rPr lang="en-US" altLang="zh-CN" sz="1500">
                <a:ea typeface="宋体" panose="02010600030101010101" pitchFamily="2" charset="-122"/>
              </a:rPr>
              <a:t> </a:t>
            </a:r>
            <a:r>
              <a:rPr lang="en-US" altLang="zh-CN" sz="1500">
                <a:ea typeface="宋体" panose="02010600030101010101" pitchFamily="2" charset="-122"/>
                <a:sym typeface="Symbol" panose="05050102010706020507" pitchFamily="18" charset="2"/>
              </a:rPr>
              <a:t></a:t>
            </a:r>
            <a:r>
              <a:rPr lang="en-US" altLang="zh-CN" sz="1500">
                <a:ea typeface="宋体" panose="02010600030101010101" pitchFamily="2" charset="-122"/>
              </a:rPr>
              <a:t>  0</a:t>
            </a:r>
            <a:r>
              <a:rPr lang="en-US" altLang="zh-CN" sz="1500" i="1">
                <a:ea typeface="宋体" panose="02010600030101010101" pitchFamily="2" charset="-122"/>
              </a:rPr>
              <a:t>.</a:t>
            </a:r>
            <a:endParaRPr lang="en-US" altLang="zh-CN" sz="1500">
              <a:ea typeface="宋体" panose="02010600030101010101" pitchFamily="2" charset="-122"/>
            </a:endParaRPr>
          </a:p>
        </p:txBody>
      </p:sp>
      <p:sp>
        <p:nvSpPr>
          <p:cNvPr id="28713" name="Text Box 47"/>
          <p:cNvSpPr txBox="1">
            <a:spLocks noChangeArrowheads="1"/>
          </p:cNvSpPr>
          <p:nvPr/>
        </p:nvSpPr>
        <p:spPr bwMode="auto">
          <a:xfrm>
            <a:off x="684213" y="373380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rPr>
              <a:t>Maximum positive gain </a:t>
            </a:r>
            <a:r>
              <a:rPr lang="en-US" altLang="zh-CN" sz="1500" i="1">
                <a:ea typeface="宋体" panose="02010600030101010101" pitchFamily="2" charset="-122"/>
              </a:rPr>
              <a:t>G</a:t>
            </a:r>
            <a:r>
              <a:rPr lang="en-US" altLang="zh-CN" sz="1500" i="1" baseline="-25000">
                <a:ea typeface="宋体" panose="02010600030101010101" pitchFamily="2" charset="-122"/>
              </a:rPr>
              <a:t>m </a:t>
            </a:r>
            <a:r>
              <a:rPr lang="en-US" altLang="zh-CN" sz="1500">
                <a:ea typeface="宋体" panose="02010600030101010101" pitchFamily="2" charset="-122"/>
              </a:rPr>
              <a:t>= 8 with </a:t>
            </a:r>
            <a:r>
              <a:rPr lang="en-US" altLang="zh-CN" sz="1500" i="1">
                <a:ea typeface="宋体" panose="02010600030101010101" pitchFamily="2" charset="-122"/>
              </a:rPr>
              <a:t>m </a:t>
            </a:r>
            <a:r>
              <a:rPr lang="en-US" altLang="zh-CN" sz="1500">
                <a:ea typeface="宋体" panose="02010600030101010101" pitchFamily="2" charset="-122"/>
              </a:rPr>
              <a:t>= 2.</a:t>
            </a:r>
          </a:p>
        </p:txBody>
      </p:sp>
      <p:sp>
        <p:nvSpPr>
          <p:cNvPr id="28714" name="AutoShape 48"/>
          <p:cNvSpPr>
            <a:spLocks noChangeArrowheads="1"/>
          </p:cNvSpPr>
          <p:nvPr/>
        </p:nvSpPr>
        <p:spPr bwMode="auto">
          <a:xfrm>
            <a:off x="3046413" y="3351213"/>
            <a:ext cx="611187" cy="382587"/>
          </a:xfrm>
          <a:prstGeom prst="upArrow">
            <a:avLst>
              <a:gd name="adj1" fmla="val 50000"/>
              <a:gd name="adj2" fmla="val 25000"/>
            </a:avLst>
          </a:prstGeom>
          <a:gradFill rotWithShape="1">
            <a:gsLst>
              <a:gs pos="0">
                <a:srgbClr val="CCCCFF"/>
              </a:gs>
              <a:gs pos="100000">
                <a:srgbClr val="DDDDDD"/>
              </a:gs>
            </a:gsLst>
            <a:lin ang="540000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28715" name="Oval 49"/>
          <p:cNvSpPr>
            <a:spLocks noChangeArrowheads="1"/>
          </p:cNvSpPr>
          <p:nvPr/>
        </p:nvSpPr>
        <p:spPr bwMode="auto">
          <a:xfrm>
            <a:off x="2500313" y="2874963"/>
            <a:ext cx="1601787" cy="458787"/>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Tree>
    <p:extLst>
      <p:ext uri="{BB962C8B-B14F-4D97-AF65-F5344CB8AC3E}">
        <p14:creationId xmlns:p14="http://schemas.microsoft.com/office/powerpoint/2010/main" val="13762192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0779"/>
                                        </p:tgtEl>
                                        <p:attrNameLst>
                                          <p:attrName>style.visibility</p:attrName>
                                        </p:attrNameLst>
                                      </p:cBhvr>
                                      <p:to>
                                        <p:strVal val="visible"/>
                                      </p:to>
                                    </p:set>
                                    <p:animEffect transition="in" filter="dissolve">
                                      <p:cBhvr>
                                        <p:cTn id="7" dur="500"/>
                                        <p:tgtEl>
                                          <p:spTgt spid="500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7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Rectangle 42"/>
          <p:cNvSpPr>
            <a:spLocks noGrp="1" noChangeArrowheads="1"/>
          </p:cNvSpPr>
          <p:nvPr>
            <p:ph type="title"/>
          </p:nvPr>
        </p:nvSpPr>
        <p:spPr/>
        <p:txBody>
          <a:bodyPr/>
          <a:lstStyle/>
          <a:p>
            <a:r>
              <a:rPr lang="en-US" altLang="zh-CN" dirty="0">
                <a:ea typeface="宋体" panose="02010600030101010101" pitchFamily="2" charset="-122"/>
              </a:rPr>
              <a:t>2.4.1  Kernighan-Lin (KL) Algorithm – Example </a:t>
            </a:r>
          </a:p>
        </p:txBody>
      </p:sp>
      <p:sp>
        <p:nvSpPr>
          <p:cNvPr id="3" name="矩形 2">
            <a:extLst>
              <a:ext uri="{FF2B5EF4-FFF2-40B4-BE49-F238E27FC236}">
                <a16:creationId xmlns:a16="http://schemas.microsoft.com/office/drawing/2014/main" id="{096835A7-2467-4053-9BE4-42B6BF4BCD5F}"/>
              </a:ext>
            </a:extLst>
          </p:cNvPr>
          <p:cNvSpPr/>
          <p:nvPr/>
        </p:nvSpPr>
        <p:spPr>
          <a:xfrm>
            <a:off x="251520" y="1556792"/>
            <a:ext cx="8496944" cy="4997394"/>
          </a:xfrm>
          <a:prstGeom prst="rect">
            <a:avLst/>
          </a:prstGeom>
        </p:spPr>
        <p:txBody>
          <a:bodyPr wrap="square">
            <a:spAutoFit/>
          </a:bodyPr>
          <a:lstStyle/>
          <a:p>
            <a:pPr algn="l"/>
            <a:r>
              <a:rPr lang="en-US" altLang="zh-CN" dirty="0">
                <a:solidFill>
                  <a:srgbClr val="000000"/>
                </a:solidFill>
                <a:latin typeface="PingFang SC"/>
              </a:rPr>
              <a:t>In the Kernighan-Lin (KL) algorithm, the concept of "maximum positive gain </a:t>
            </a:r>
            <a:r>
              <a:rPr lang="en-US" altLang="zh-CN" i="1" dirty="0">
                <a:solidFill>
                  <a:srgbClr val="000000"/>
                </a:solidFill>
                <a:latin typeface="KaTeX_Math"/>
              </a:rPr>
              <a:t>Gm</a:t>
            </a:r>
            <a:r>
              <a:rPr lang="en-US" altLang="zh-CN" dirty="0">
                <a:solidFill>
                  <a:srgbClr val="000000"/>
                </a:solidFill>
                <a:latin typeface="inherit"/>
              </a:rPr>
              <a:t>​</a:t>
            </a:r>
            <a:r>
              <a:rPr lang="en-US" altLang="zh-CN" dirty="0">
                <a:solidFill>
                  <a:srgbClr val="000000"/>
                </a:solidFill>
                <a:latin typeface="PingFang SC"/>
              </a:rPr>
              <a:t>" is a key part of the iterative improvement process during each pass. Let me explain this in detail, building on your understanding.</a:t>
            </a:r>
          </a:p>
          <a:p>
            <a:pPr algn="l"/>
            <a:endParaRPr lang="en-US" altLang="zh-CN" dirty="0">
              <a:solidFill>
                <a:srgbClr val="000000"/>
              </a:solidFill>
              <a:latin typeface="PingFang SC"/>
            </a:endParaRPr>
          </a:p>
          <a:p>
            <a:pPr algn="l"/>
            <a:r>
              <a:rPr lang="en-US" altLang="zh-CN" b="1" dirty="0">
                <a:latin typeface="PingFang SC"/>
              </a:rPr>
              <a:t>What is </a:t>
            </a:r>
            <a:r>
              <a:rPr lang="en-US" altLang="zh-CN" b="1" i="1" dirty="0">
                <a:latin typeface="KaTeX_Math"/>
              </a:rPr>
              <a:t>Gm</a:t>
            </a:r>
            <a:r>
              <a:rPr lang="en-US" altLang="zh-CN" b="1" dirty="0">
                <a:latin typeface="inherit"/>
              </a:rPr>
              <a:t>​</a:t>
            </a:r>
            <a:r>
              <a:rPr lang="en-US" altLang="zh-CN" b="1" dirty="0">
                <a:latin typeface="PingFang SC"/>
              </a:rPr>
              <a:t>?</a:t>
            </a:r>
          </a:p>
          <a:p>
            <a:pPr algn="l"/>
            <a:r>
              <a:rPr lang="en-US" altLang="zh-CN" dirty="0">
                <a:solidFill>
                  <a:srgbClr val="000000"/>
                </a:solidFill>
                <a:latin typeface="PingFang SC"/>
              </a:rPr>
              <a:t>•</a:t>
            </a:r>
            <a:r>
              <a:rPr lang="en-US" altLang="zh-CN" dirty="0">
                <a:solidFill>
                  <a:srgbClr val="000000"/>
                </a:solidFill>
                <a:latin typeface="inherit"/>
              </a:rPr>
              <a:t>In each pass of the KL algorithm, we generate a sequence of potential node swaps (each swap involves one node from partition A and one from partition B). For each swap in the sequence, we compute a gain value </a:t>
            </a:r>
            <a:r>
              <a:rPr lang="en-US" altLang="zh-CN" dirty="0" err="1">
                <a:solidFill>
                  <a:srgbClr val="000000"/>
                </a:solidFill>
                <a:latin typeface="KaTeX_Main"/>
              </a:rPr>
              <a:t>Δ</a:t>
            </a:r>
            <a:r>
              <a:rPr lang="en-US" altLang="zh-CN" i="1" dirty="0" err="1">
                <a:solidFill>
                  <a:srgbClr val="000000"/>
                </a:solidFill>
                <a:latin typeface="KaTeX_Math"/>
              </a:rPr>
              <a:t>g</a:t>
            </a:r>
            <a:r>
              <a:rPr lang="en-US" altLang="zh-CN" dirty="0">
                <a:solidFill>
                  <a:srgbClr val="000000"/>
                </a:solidFill>
                <a:latin typeface="inherit"/>
              </a:rPr>
              <a:t>(which measures how much the cut size would change if that swap were performed).</a:t>
            </a:r>
          </a:p>
          <a:p>
            <a:pPr algn="l"/>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dirty="0">
                <a:solidFill>
                  <a:srgbClr val="000000"/>
                </a:solidFill>
                <a:latin typeface="inherit"/>
              </a:rPr>
              <a:t>The cumulative gain </a:t>
            </a:r>
            <a:r>
              <a:rPr lang="en-US" altLang="zh-CN" i="1" dirty="0" err="1">
                <a:solidFill>
                  <a:srgbClr val="000000"/>
                </a:solidFill>
                <a:latin typeface="KaTeX_Math"/>
              </a:rPr>
              <a:t>Gk</a:t>
            </a:r>
            <a:r>
              <a:rPr lang="en-US" altLang="zh-CN" dirty="0">
                <a:solidFill>
                  <a:srgbClr val="000000"/>
                </a:solidFill>
                <a:latin typeface="inherit"/>
              </a:rPr>
              <a:t>​after the first </a:t>
            </a:r>
            <a:r>
              <a:rPr lang="en-US" altLang="zh-CN" i="1" dirty="0" err="1">
                <a:solidFill>
                  <a:srgbClr val="000000"/>
                </a:solidFill>
                <a:latin typeface="KaTeX_Math"/>
              </a:rPr>
              <a:t>k</a:t>
            </a:r>
            <a:r>
              <a:rPr lang="en-US" altLang="zh-CN" dirty="0" err="1">
                <a:solidFill>
                  <a:srgbClr val="000000"/>
                </a:solidFill>
                <a:latin typeface="inherit"/>
              </a:rPr>
              <a:t>swaps</a:t>
            </a:r>
            <a:r>
              <a:rPr lang="en-US" altLang="zh-CN" dirty="0">
                <a:solidFill>
                  <a:srgbClr val="000000"/>
                </a:solidFill>
                <a:latin typeface="inherit"/>
              </a:rPr>
              <a:t> is defined as the sum of the </a:t>
            </a:r>
            <a:r>
              <a:rPr lang="en-US" altLang="zh-CN" dirty="0" err="1">
                <a:solidFill>
                  <a:srgbClr val="000000"/>
                </a:solidFill>
                <a:latin typeface="KaTeX_Main"/>
              </a:rPr>
              <a:t>Δ</a:t>
            </a:r>
            <a:r>
              <a:rPr lang="en-US" altLang="zh-CN" i="1" dirty="0" err="1">
                <a:solidFill>
                  <a:srgbClr val="000000"/>
                </a:solidFill>
                <a:latin typeface="KaTeX_Math"/>
              </a:rPr>
              <a:t>g</a:t>
            </a:r>
            <a:r>
              <a:rPr lang="en-US" altLang="zh-CN" dirty="0" err="1">
                <a:solidFill>
                  <a:srgbClr val="000000"/>
                </a:solidFill>
                <a:latin typeface="inherit"/>
              </a:rPr>
              <a:t>values</a:t>
            </a:r>
            <a:r>
              <a:rPr lang="en-US" altLang="zh-CN" dirty="0">
                <a:solidFill>
                  <a:srgbClr val="000000"/>
                </a:solidFill>
                <a:latin typeface="inherit"/>
              </a:rPr>
              <a:t> for those swaps: </a:t>
            </a:r>
            <a:r>
              <a:rPr lang="en-US" altLang="zh-CN" i="1" dirty="0" err="1">
                <a:solidFill>
                  <a:srgbClr val="000000"/>
                </a:solidFill>
                <a:latin typeface="KaTeX_Math"/>
              </a:rPr>
              <a:t>Gk</a:t>
            </a:r>
            <a:r>
              <a:rPr lang="en-US" altLang="zh-CN" dirty="0">
                <a:solidFill>
                  <a:srgbClr val="000000"/>
                </a:solidFill>
                <a:latin typeface="inherit"/>
              </a:rPr>
              <a:t>​</a:t>
            </a:r>
            <a:r>
              <a:rPr lang="en-US" altLang="zh-CN" dirty="0">
                <a:solidFill>
                  <a:srgbClr val="000000"/>
                </a:solidFill>
                <a:latin typeface="KaTeX_Main"/>
              </a:rPr>
              <a:t>=</a:t>
            </a:r>
            <a:r>
              <a:rPr lang="en-US" altLang="zh-CN" dirty="0">
                <a:solidFill>
                  <a:srgbClr val="000000"/>
                </a:solidFill>
                <a:latin typeface="KaTeX_Size1"/>
              </a:rPr>
              <a:t>∑</a:t>
            </a:r>
            <a:r>
              <a:rPr lang="en-US" altLang="zh-CN" i="1" dirty="0" err="1">
                <a:solidFill>
                  <a:srgbClr val="000000"/>
                </a:solidFill>
                <a:latin typeface="KaTeX_Math"/>
              </a:rPr>
              <a:t>i</a:t>
            </a:r>
            <a:r>
              <a:rPr lang="en-US" altLang="zh-CN" dirty="0">
                <a:solidFill>
                  <a:srgbClr val="000000"/>
                </a:solidFill>
                <a:latin typeface="inherit"/>
              </a:rPr>
              <a:t>=1</a:t>
            </a:r>
            <a:r>
              <a:rPr lang="en-US" altLang="zh-CN" i="1" dirty="0">
                <a:solidFill>
                  <a:srgbClr val="000000"/>
                </a:solidFill>
                <a:latin typeface="KaTeX_Math"/>
              </a:rPr>
              <a:t>k</a:t>
            </a:r>
            <a:r>
              <a:rPr lang="en-US" altLang="zh-CN" dirty="0">
                <a:solidFill>
                  <a:srgbClr val="000000"/>
                </a:solidFill>
                <a:latin typeface="inherit"/>
              </a:rPr>
              <a:t>​</a:t>
            </a:r>
            <a:r>
              <a:rPr lang="en-US" altLang="zh-CN" dirty="0" err="1">
                <a:solidFill>
                  <a:srgbClr val="000000"/>
                </a:solidFill>
                <a:latin typeface="KaTeX_Main"/>
              </a:rPr>
              <a:t>Δ</a:t>
            </a:r>
            <a:r>
              <a:rPr lang="en-US" altLang="zh-CN" i="1" dirty="0" err="1">
                <a:solidFill>
                  <a:srgbClr val="000000"/>
                </a:solidFill>
                <a:latin typeface="KaTeX_Math"/>
              </a:rPr>
              <a:t>gi</a:t>
            </a:r>
            <a:r>
              <a:rPr lang="en-US" altLang="zh-CN" dirty="0">
                <a:solidFill>
                  <a:srgbClr val="000000"/>
                </a:solidFill>
                <a:latin typeface="inherit"/>
              </a:rPr>
              <a:t>​.</a:t>
            </a:r>
          </a:p>
          <a:p>
            <a:pPr algn="l"/>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dirty="0">
                <a:solidFill>
                  <a:srgbClr val="000000"/>
                </a:solidFill>
                <a:latin typeface="inherit"/>
              </a:rPr>
              <a:t>The ​</a:t>
            </a:r>
            <a:r>
              <a:rPr lang="en-US" altLang="zh-CN" b="1" dirty="0">
                <a:solidFill>
                  <a:srgbClr val="000000"/>
                </a:solidFill>
                <a:latin typeface="inherit"/>
              </a:rPr>
              <a:t>​maximum positive gain </a:t>
            </a:r>
            <a:r>
              <a:rPr lang="en-US" altLang="zh-CN" b="1" i="1" dirty="0">
                <a:solidFill>
                  <a:srgbClr val="000000"/>
                </a:solidFill>
                <a:latin typeface="KaTeX_Math"/>
              </a:rPr>
              <a:t>Gm</a:t>
            </a:r>
            <a:r>
              <a:rPr lang="en-US" altLang="zh-CN" b="1" dirty="0">
                <a:solidFill>
                  <a:srgbClr val="000000"/>
                </a:solidFill>
                <a:latin typeface="inherit"/>
              </a:rPr>
              <a:t>​​</a:t>
            </a:r>
            <a:r>
              <a:rPr lang="en-US" altLang="zh-CN" dirty="0">
                <a:solidFill>
                  <a:srgbClr val="000000"/>
                </a:solidFill>
                <a:latin typeface="inherit"/>
              </a:rPr>
              <a:t>​ is the largest positive value of </a:t>
            </a:r>
            <a:r>
              <a:rPr lang="en-US" altLang="zh-CN" i="1" dirty="0" err="1">
                <a:solidFill>
                  <a:srgbClr val="000000"/>
                </a:solidFill>
                <a:latin typeface="KaTeX_Math"/>
              </a:rPr>
              <a:t>Gk</a:t>
            </a:r>
            <a:r>
              <a:rPr lang="en-US" altLang="zh-CN" i="1" dirty="0">
                <a:solidFill>
                  <a:srgbClr val="000000"/>
                </a:solidFill>
                <a:latin typeface="KaTeX_Math"/>
              </a:rPr>
              <a:t> </a:t>
            </a:r>
            <a:r>
              <a:rPr lang="en-US" altLang="zh-CN" dirty="0">
                <a:solidFill>
                  <a:srgbClr val="000000"/>
                </a:solidFill>
                <a:latin typeface="inherit"/>
              </a:rPr>
              <a:t>​for any </a:t>
            </a:r>
            <a:r>
              <a:rPr lang="en-US" altLang="zh-CN" i="1" dirty="0">
                <a:solidFill>
                  <a:srgbClr val="000000"/>
                </a:solidFill>
                <a:latin typeface="KaTeX_Math"/>
              </a:rPr>
              <a:t>k </a:t>
            </a:r>
            <a:r>
              <a:rPr lang="en-US" altLang="zh-CN" dirty="0">
                <a:solidFill>
                  <a:srgbClr val="000000"/>
                </a:solidFill>
                <a:latin typeface="inherit"/>
              </a:rPr>
              <a:t>in the sequence. That is, we find the value of </a:t>
            </a:r>
            <a:r>
              <a:rPr lang="en-US" altLang="zh-CN" i="1" dirty="0">
                <a:solidFill>
                  <a:srgbClr val="000000"/>
                </a:solidFill>
                <a:latin typeface="KaTeX_Math"/>
              </a:rPr>
              <a:t>m </a:t>
            </a:r>
            <a:r>
              <a:rPr lang="en-US" altLang="zh-CN" dirty="0">
                <a:solidFill>
                  <a:srgbClr val="000000"/>
                </a:solidFill>
                <a:latin typeface="inherit"/>
              </a:rPr>
              <a:t>such that </a:t>
            </a:r>
            <a:r>
              <a:rPr lang="en-US" altLang="zh-CN" i="1" dirty="0">
                <a:solidFill>
                  <a:srgbClr val="000000"/>
                </a:solidFill>
                <a:latin typeface="KaTeX_Math"/>
              </a:rPr>
              <a:t>Gm</a:t>
            </a:r>
            <a:r>
              <a:rPr lang="en-US" altLang="zh-CN" dirty="0">
                <a:solidFill>
                  <a:srgbClr val="000000"/>
                </a:solidFill>
                <a:latin typeface="inherit"/>
              </a:rPr>
              <a:t>​is maximized (and positive). This represents the best cumulative improvement achievable by performing the first </a:t>
            </a:r>
            <a:r>
              <a:rPr lang="en-US" altLang="zh-CN" i="1" dirty="0">
                <a:solidFill>
                  <a:srgbClr val="000000"/>
                </a:solidFill>
                <a:latin typeface="KaTeX_Math"/>
              </a:rPr>
              <a:t>m </a:t>
            </a:r>
            <a:r>
              <a:rPr lang="en-US" altLang="zh-CN" dirty="0">
                <a:solidFill>
                  <a:srgbClr val="000000"/>
                </a:solidFill>
                <a:latin typeface="inherit"/>
              </a:rPr>
              <a:t>swaps in the sequence.</a:t>
            </a:r>
          </a:p>
        </p:txBody>
      </p:sp>
      <p:sp>
        <p:nvSpPr>
          <p:cNvPr id="46" name="Text Box 47">
            <a:extLst>
              <a:ext uri="{FF2B5EF4-FFF2-40B4-BE49-F238E27FC236}">
                <a16:creationId xmlns:a16="http://schemas.microsoft.com/office/drawing/2014/main" id="{FE8FDA03-E09C-4FAA-B6B8-F8248C8D8E98}"/>
              </a:ext>
            </a:extLst>
          </p:cNvPr>
          <p:cNvSpPr txBox="1">
            <a:spLocks noChangeArrowheads="1"/>
          </p:cNvSpPr>
          <p:nvPr/>
        </p:nvSpPr>
        <p:spPr bwMode="auto">
          <a:xfrm>
            <a:off x="251520" y="98864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b="1" dirty="0">
                <a:ea typeface="宋体" panose="02010600030101010101" pitchFamily="2" charset="-122"/>
              </a:rPr>
              <a:t>Summarize of KL </a:t>
            </a:r>
            <a:r>
              <a:rPr lang="en-US" altLang="zh-CN" sz="2000" b="1" dirty="0">
                <a:ea typeface="宋体" panose="02010600030101010101" pitchFamily="2" charset="-122"/>
              </a:rPr>
              <a:t>Algorithm</a:t>
            </a:r>
            <a:r>
              <a:rPr lang="en-US" altLang="zh-CN" sz="1800" b="1" dirty="0">
                <a:ea typeface="宋体" panose="02010600030101010101" pitchFamily="2" charset="-122"/>
              </a:rPr>
              <a:t> </a:t>
            </a:r>
          </a:p>
        </p:txBody>
      </p:sp>
    </p:spTree>
    <p:extLst>
      <p:ext uri="{BB962C8B-B14F-4D97-AF65-F5344CB8AC3E}">
        <p14:creationId xmlns:p14="http://schemas.microsoft.com/office/powerpoint/2010/main" val="683989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Rectangle 42"/>
          <p:cNvSpPr>
            <a:spLocks noGrp="1" noChangeArrowheads="1"/>
          </p:cNvSpPr>
          <p:nvPr>
            <p:ph type="title"/>
          </p:nvPr>
        </p:nvSpPr>
        <p:spPr/>
        <p:txBody>
          <a:bodyPr/>
          <a:lstStyle/>
          <a:p>
            <a:r>
              <a:rPr lang="en-US" altLang="zh-CN" dirty="0">
                <a:ea typeface="宋体" panose="02010600030101010101" pitchFamily="2" charset="-122"/>
              </a:rPr>
              <a:t>2.4.1  Kernighan-Lin (KL) Algorithm – Example </a:t>
            </a:r>
          </a:p>
        </p:txBody>
      </p:sp>
      <p:sp>
        <p:nvSpPr>
          <p:cNvPr id="3" name="矩形 2">
            <a:extLst>
              <a:ext uri="{FF2B5EF4-FFF2-40B4-BE49-F238E27FC236}">
                <a16:creationId xmlns:a16="http://schemas.microsoft.com/office/drawing/2014/main" id="{096835A7-2467-4053-9BE4-42B6BF4BCD5F}"/>
              </a:ext>
            </a:extLst>
          </p:cNvPr>
          <p:cNvSpPr/>
          <p:nvPr/>
        </p:nvSpPr>
        <p:spPr>
          <a:xfrm>
            <a:off x="395536" y="1772816"/>
            <a:ext cx="8046640" cy="3766287"/>
          </a:xfrm>
          <a:prstGeom prst="rect">
            <a:avLst/>
          </a:prstGeom>
        </p:spPr>
        <p:txBody>
          <a:bodyPr wrap="square">
            <a:spAutoFit/>
          </a:bodyPr>
          <a:lstStyle/>
          <a:p>
            <a:pPr algn="l"/>
            <a:r>
              <a:rPr lang="en-US" altLang="zh-CN" b="1" dirty="0">
                <a:latin typeface="PingFang SC"/>
              </a:rPr>
              <a:t>Why is </a:t>
            </a:r>
            <a:r>
              <a:rPr lang="en-US" altLang="zh-CN" b="1" i="1" dirty="0">
                <a:latin typeface="KaTeX_Math"/>
              </a:rPr>
              <a:t>Gm </a:t>
            </a:r>
            <a:r>
              <a:rPr lang="en-US" altLang="zh-CN" b="1" dirty="0">
                <a:latin typeface="inherit"/>
              </a:rPr>
              <a:t>​</a:t>
            </a:r>
            <a:r>
              <a:rPr lang="en-US" altLang="zh-CN" b="1" dirty="0">
                <a:latin typeface="PingFang SC"/>
              </a:rPr>
              <a:t>important?</a:t>
            </a:r>
          </a:p>
          <a:p>
            <a:pPr algn="l"/>
            <a:endParaRPr lang="en-US" altLang="zh-CN" b="1" dirty="0">
              <a:latin typeface="PingFang SC"/>
            </a:endParaRPr>
          </a:p>
          <a:p>
            <a:pPr algn="l"/>
            <a:r>
              <a:rPr lang="en-US" altLang="zh-CN" dirty="0">
                <a:solidFill>
                  <a:srgbClr val="000000"/>
                </a:solidFill>
                <a:latin typeface="PingFang SC"/>
              </a:rPr>
              <a:t>•</a:t>
            </a:r>
            <a:r>
              <a:rPr lang="en-US" altLang="zh-CN" i="1" dirty="0">
                <a:solidFill>
                  <a:srgbClr val="000000"/>
                </a:solidFill>
                <a:latin typeface="KaTeX_Math"/>
              </a:rPr>
              <a:t>Gm</a:t>
            </a:r>
            <a:r>
              <a:rPr lang="en-US" altLang="zh-CN" dirty="0">
                <a:solidFill>
                  <a:srgbClr val="000000"/>
                </a:solidFill>
                <a:latin typeface="inherit"/>
              </a:rPr>
              <a:t>​ corresponds to the point in the swap sequence where the cut cost is minimized during the pass. Even if some individual swaps have negative gains, the cumulative effect of the first </a:t>
            </a:r>
            <a:r>
              <a:rPr lang="en-US" altLang="zh-CN" i="1" dirty="0">
                <a:solidFill>
                  <a:srgbClr val="000000"/>
                </a:solidFill>
                <a:latin typeface="KaTeX_Math"/>
              </a:rPr>
              <a:t>m </a:t>
            </a:r>
            <a:r>
              <a:rPr lang="en-US" altLang="zh-CN" dirty="0">
                <a:solidFill>
                  <a:srgbClr val="000000"/>
                </a:solidFill>
                <a:latin typeface="inherit"/>
              </a:rPr>
              <a:t>swaps might still be positive overall, leading to a better partition.</a:t>
            </a:r>
          </a:p>
          <a:p>
            <a:pPr algn="l"/>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dirty="0">
                <a:solidFill>
                  <a:srgbClr val="000000"/>
                </a:solidFill>
                <a:latin typeface="inherit"/>
              </a:rPr>
              <a:t>The algorithm then actually performs these </a:t>
            </a:r>
            <a:r>
              <a:rPr lang="en-US" altLang="zh-CN" i="1" dirty="0">
                <a:solidFill>
                  <a:srgbClr val="000000"/>
                </a:solidFill>
                <a:latin typeface="KaTeX_Math"/>
              </a:rPr>
              <a:t>m </a:t>
            </a:r>
            <a:r>
              <a:rPr lang="en-US" altLang="zh-CN" dirty="0">
                <a:solidFill>
                  <a:srgbClr val="000000"/>
                </a:solidFill>
                <a:latin typeface="inherit"/>
              </a:rPr>
              <a:t>swaps (i.e., physically moves the nodes) to update the partitions. This ensures that we only commit to swaps that collectively reduce the cut size.</a:t>
            </a:r>
          </a:p>
          <a:p>
            <a:pPr algn="l"/>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dirty="0">
                <a:solidFill>
                  <a:srgbClr val="000000"/>
                </a:solidFill>
                <a:latin typeface="inherit"/>
              </a:rPr>
              <a:t>If no positive </a:t>
            </a:r>
            <a:r>
              <a:rPr lang="en-US" altLang="zh-CN" i="1" dirty="0">
                <a:solidFill>
                  <a:srgbClr val="000000"/>
                </a:solidFill>
                <a:latin typeface="KaTeX_Math"/>
              </a:rPr>
              <a:t>Gm </a:t>
            </a:r>
            <a:r>
              <a:rPr lang="en-US" altLang="zh-CN" dirty="0">
                <a:solidFill>
                  <a:srgbClr val="000000"/>
                </a:solidFill>
                <a:latin typeface="inherit"/>
              </a:rPr>
              <a:t>​exists (i.e., all cumulative gains are non-positive), the algorithm stops because no further improvement is possible.</a:t>
            </a:r>
          </a:p>
        </p:txBody>
      </p:sp>
      <p:sp>
        <p:nvSpPr>
          <p:cNvPr id="46" name="Text Box 47">
            <a:extLst>
              <a:ext uri="{FF2B5EF4-FFF2-40B4-BE49-F238E27FC236}">
                <a16:creationId xmlns:a16="http://schemas.microsoft.com/office/drawing/2014/main" id="{FE8FDA03-E09C-4FAA-B6B8-F8248C8D8E98}"/>
              </a:ext>
            </a:extLst>
          </p:cNvPr>
          <p:cNvSpPr txBox="1">
            <a:spLocks noChangeArrowheads="1"/>
          </p:cNvSpPr>
          <p:nvPr/>
        </p:nvSpPr>
        <p:spPr bwMode="auto">
          <a:xfrm>
            <a:off x="251520" y="98864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b="1" dirty="0">
                <a:ea typeface="宋体" panose="02010600030101010101" pitchFamily="2" charset="-122"/>
              </a:rPr>
              <a:t>Summarize of KL </a:t>
            </a:r>
            <a:r>
              <a:rPr lang="en-US" altLang="zh-CN" sz="2000" b="1" dirty="0">
                <a:ea typeface="宋体" panose="02010600030101010101" pitchFamily="2" charset="-122"/>
              </a:rPr>
              <a:t>Algorithm</a:t>
            </a:r>
            <a:r>
              <a:rPr lang="en-US" altLang="zh-CN" sz="1800" b="1" dirty="0">
                <a:ea typeface="宋体" panose="02010600030101010101" pitchFamily="2" charset="-122"/>
              </a:rPr>
              <a:t> </a:t>
            </a:r>
          </a:p>
        </p:txBody>
      </p:sp>
    </p:spTree>
    <p:extLst>
      <p:ext uri="{BB962C8B-B14F-4D97-AF65-F5344CB8AC3E}">
        <p14:creationId xmlns:p14="http://schemas.microsoft.com/office/powerpoint/2010/main" val="5712702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Rectangle 42"/>
          <p:cNvSpPr>
            <a:spLocks noGrp="1" noChangeArrowheads="1"/>
          </p:cNvSpPr>
          <p:nvPr>
            <p:ph type="title"/>
          </p:nvPr>
        </p:nvSpPr>
        <p:spPr/>
        <p:txBody>
          <a:bodyPr/>
          <a:lstStyle/>
          <a:p>
            <a:r>
              <a:rPr lang="en-US" altLang="zh-CN" dirty="0">
                <a:ea typeface="宋体" panose="02010600030101010101" pitchFamily="2" charset="-122"/>
              </a:rPr>
              <a:t>2.4.1  Kernighan-Lin (KL) Algorithm – Example </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96835A7-2467-4053-9BE4-42B6BF4BCD5F}"/>
                  </a:ext>
                </a:extLst>
              </p:cNvPr>
              <p:cNvSpPr/>
              <p:nvPr/>
            </p:nvSpPr>
            <p:spPr>
              <a:xfrm>
                <a:off x="322920" y="1447428"/>
                <a:ext cx="8605344" cy="4997394"/>
              </a:xfrm>
              <a:prstGeom prst="rect">
                <a:avLst/>
              </a:prstGeom>
            </p:spPr>
            <p:txBody>
              <a:bodyPr wrap="square">
                <a:spAutoFit/>
              </a:bodyPr>
              <a:lstStyle/>
              <a:p>
                <a:pPr algn="l"/>
                <a:r>
                  <a:rPr lang="en-US" altLang="zh-CN" b="1" dirty="0">
                    <a:latin typeface="PingFang SC"/>
                  </a:rPr>
                  <a:t>How is Gm computed in practice?</a:t>
                </a:r>
              </a:p>
              <a:p>
                <a:pPr algn="l"/>
                <a:r>
                  <a:rPr lang="en-US" altLang="zh-CN" b="1" dirty="0">
                    <a:latin typeface="PingFang SC"/>
                  </a:rPr>
                  <a:t>During a pass:</a:t>
                </a:r>
              </a:p>
              <a:p>
                <a:pPr algn="l"/>
                <a:r>
                  <a:rPr lang="en-US" altLang="zh-CN" b="1" dirty="0">
                    <a:latin typeface="PingFang SC"/>
                  </a:rPr>
                  <a:t>1. Initialize​​: Start with an initial partition (A, B).</a:t>
                </a:r>
              </a:p>
              <a:p>
                <a:pPr algn="l"/>
                <a:endParaRPr lang="en-US" altLang="zh-CN" b="1" dirty="0">
                  <a:latin typeface="PingFang SC"/>
                </a:endParaRPr>
              </a:p>
              <a:p>
                <a:pPr algn="l"/>
                <a:r>
                  <a:rPr lang="en-US" altLang="zh-CN" b="1" dirty="0">
                    <a:latin typeface="PingFang SC"/>
                  </a:rPr>
                  <a:t>2. Compute gains​​: For all unlocked nodes, compute the gain </a:t>
                </a:r>
                <a:r>
                  <a:rPr lang="en-US" altLang="zh-CN" b="1" dirty="0" err="1">
                    <a:latin typeface="PingFang SC"/>
                  </a:rPr>
                  <a:t>Δg</a:t>
                </a:r>
                <a:r>
                  <a:rPr lang="en-US" altLang="zh-CN" b="1" dirty="0">
                    <a:latin typeface="PingFang SC"/>
                  </a:rPr>
                  <a:t> for each possible swap pair. Select the pair with the highest </a:t>
                </a:r>
                <a:r>
                  <a:rPr lang="en-US" altLang="zh-CN" b="1" dirty="0" err="1">
                    <a:latin typeface="PingFang SC"/>
                  </a:rPr>
                  <a:t>Δg</a:t>
                </a:r>
                <a:r>
                  <a:rPr lang="en-US" altLang="zh-CN" b="1" dirty="0">
                    <a:latin typeface="PingFang SC"/>
                  </a:rPr>
                  <a:t>, lock those nodes, and record Δg1. Update the gains of affected nodes due to the virtual swap.</a:t>
                </a:r>
              </a:p>
              <a:p>
                <a:pPr algn="l"/>
                <a:endParaRPr lang="en-US" altLang="zh-CN" b="1" dirty="0">
                  <a:latin typeface="PingFang SC"/>
                </a:endParaRPr>
              </a:p>
              <a:p>
                <a:pPr algn="l"/>
                <a:r>
                  <a:rPr lang="en-US" altLang="zh-CN" b="1" dirty="0">
                    <a:latin typeface="PingFang SC"/>
                  </a:rPr>
                  <a:t>3.​​ Repeat​​: Continue selecting the best swap pair from the remaining unlocked nodes, recording Δg2,Δg3,…until all nodes are locked. This forms a sequence of gains Δg1,Δg2,…, </a:t>
                </a:r>
                <a:r>
                  <a:rPr lang="en-US" altLang="zh-CN" b="1" dirty="0" err="1">
                    <a:latin typeface="PingFang SC"/>
                  </a:rPr>
                  <a:t>Δgn</a:t>
                </a:r>
                <a:r>
                  <a:rPr lang="en-US" altLang="zh-CN" b="1" dirty="0">
                    <a:latin typeface="PingFang SC"/>
                  </a:rPr>
                  <a:t>/2 (where n is the number of nodes).</a:t>
                </a:r>
              </a:p>
              <a:p>
                <a:pPr algn="l"/>
                <a:endParaRPr lang="en-US" altLang="zh-CN" b="1" dirty="0">
                  <a:latin typeface="PingFang SC"/>
                </a:endParaRPr>
              </a:p>
              <a:p>
                <a:pPr algn="l"/>
                <a:r>
                  <a:rPr lang="en-US" altLang="zh-CN" b="1" dirty="0">
                    <a:latin typeface="PingFang SC"/>
                  </a:rPr>
                  <a:t>4. Compute cumulative gains​​: Calculate </a:t>
                </a:r>
                <a14:m>
                  <m:oMath xmlns:m="http://schemas.openxmlformats.org/officeDocument/2006/math">
                    <m:sSub>
                      <m:sSubPr>
                        <m:ctrlPr>
                          <a:rPr lang="en-US" altLang="zh-CN" b="1" i="1" dirty="0" smtClean="0">
                            <a:latin typeface="Cambria Math" panose="02040503050406030204" pitchFamily="18" charset="0"/>
                          </a:rPr>
                        </m:ctrlPr>
                      </m:sSubPr>
                      <m:e>
                        <m:r>
                          <a:rPr lang="en-US" altLang="zh-CN" b="1" i="1" dirty="0" smtClean="0">
                            <a:latin typeface="Cambria Math" panose="02040503050406030204" pitchFamily="18" charset="0"/>
                          </a:rPr>
                          <m:t>𝑮</m:t>
                        </m:r>
                      </m:e>
                      <m:sub>
                        <m:r>
                          <m:rPr>
                            <m:sty m:val="p"/>
                          </m:rPr>
                          <a:rPr lang="en-US" altLang="zh-CN" b="1" i="1" dirty="0">
                            <a:latin typeface="Cambria Math" panose="02040503050406030204" pitchFamily="18" charset="0"/>
                          </a:rPr>
                          <m:t>k</m:t>
                        </m:r>
                      </m:sub>
                    </m:sSub>
                    <m:r>
                      <a:rPr lang="en-US" altLang="zh-CN" b="1" i="1" dirty="0" smtClean="0">
                        <a:latin typeface="Cambria Math" panose="02040503050406030204" pitchFamily="18" charset="0"/>
                      </a:rPr>
                      <m:t>=</m:t>
                    </m:r>
                    <m:nary>
                      <m:naryPr>
                        <m:chr m:val="∑"/>
                        <m:ctrlPr>
                          <a:rPr lang="en-US" altLang="zh-CN" b="1" i="1" dirty="0" smtClean="0">
                            <a:latin typeface="Cambria Math" panose="02040503050406030204" pitchFamily="18" charset="0"/>
                          </a:rPr>
                        </m:ctrlPr>
                      </m:naryPr>
                      <m:sub>
                        <m:r>
                          <m:rPr>
                            <m:brk m:alnAt="23"/>
                          </m:rPr>
                          <a:rPr lang="en-US" altLang="zh-CN" b="1" i="1" dirty="0" smtClean="0">
                            <a:latin typeface="Cambria Math" panose="02040503050406030204" pitchFamily="18" charset="0"/>
                          </a:rPr>
                          <m:t>𝒊</m:t>
                        </m:r>
                        <m:r>
                          <a:rPr lang="en-US" altLang="zh-CN" b="1" i="1" dirty="0" smtClean="0">
                            <a:latin typeface="Cambria Math" panose="02040503050406030204" pitchFamily="18" charset="0"/>
                          </a:rPr>
                          <m:t>=</m:t>
                        </m:r>
                        <m:r>
                          <a:rPr lang="en-US" altLang="zh-CN" b="1" i="1" dirty="0" smtClean="0">
                            <a:latin typeface="Cambria Math" panose="02040503050406030204" pitchFamily="18" charset="0"/>
                          </a:rPr>
                          <m:t>𝟏</m:t>
                        </m:r>
                      </m:sub>
                      <m:sup>
                        <m:r>
                          <a:rPr lang="en-US" altLang="zh-CN" b="1" i="1" dirty="0" smtClean="0">
                            <a:latin typeface="Cambria Math" panose="02040503050406030204" pitchFamily="18" charset="0"/>
                          </a:rPr>
                          <m:t>𝒌</m:t>
                        </m:r>
                      </m:sup>
                      <m:e>
                        <m:r>
                          <m:rPr>
                            <m:nor/>
                          </m:rPr>
                          <a:rPr lang="en-US" altLang="zh-CN" b="1" dirty="0">
                            <a:latin typeface="PingFang SC"/>
                          </a:rPr>
                          <m:t>Δg</m:t>
                        </m:r>
                        <m:r>
                          <a:rPr lang="en-US" altLang="zh-CN" b="1" i="1" dirty="0" smtClean="0">
                            <a:latin typeface="Cambria Math" panose="02040503050406030204" pitchFamily="18" charset="0"/>
                          </a:rPr>
                          <m:t>𝒊</m:t>
                        </m:r>
                      </m:e>
                    </m:nary>
                  </m:oMath>
                </a14:m>
                <a:r>
                  <a:rPr lang="en-US" altLang="zh-CN" b="1" dirty="0">
                    <a:latin typeface="PingFang SC"/>
                  </a:rPr>
                  <a:t> for k=1,2,…,n/2.</a:t>
                </a:r>
              </a:p>
              <a:p>
                <a:pPr algn="l"/>
                <a:endParaRPr lang="en-US" altLang="zh-CN" b="1" dirty="0">
                  <a:latin typeface="PingFang SC"/>
                </a:endParaRPr>
              </a:p>
              <a:p>
                <a:pPr algn="l"/>
                <a:r>
                  <a:rPr lang="en-US" altLang="zh-CN" b="1" dirty="0">
                    <a:latin typeface="PingFang SC"/>
                  </a:rPr>
                  <a:t>5. </a:t>
                </a:r>
                <a:r>
                  <a:rPr lang="en-US" altLang="zh-CN" b="1" dirty="0"/>
                  <a:t>Find </a:t>
                </a:r>
                <a:r>
                  <a:rPr lang="en-US" altLang="zh-CN" b="1" i="1" dirty="0"/>
                  <a:t>Gm</a:t>
                </a:r>
                <a:r>
                  <a:rPr lang="en-US" altLang="zh-CN" b="1" dirty="0"/>
                  <a:t>​​</a:t>
                </a:r>
                <a:r>
                  <a:rPr lang="en-US" altLang="zh-CN" dirty="0"/>
                  <a:t>​: Find the value </a:t>
                </a:r>
                <a:r>
                  <a:rPr lang="en-US" altLang="zh-CN" i="1" dirty="0" err="1"/>
                  <a:t>m</a:t>
                </a:r>
                <a:r>
                  <a:rPr lang="en-US" altLang="zh-CN" dirty="0" err="1"/>
                  <a:t>that</a:t>
                </a:r>
                <a:r>
                  <a:rPr lang="en-US" altLang="zh-CN" dirty="0"/>
                  <a:t> maximizes </a:t>
                </a:r>
                <a:r>
                  <a:rPr lang="en-US" altLang="zh-CN" i="1" dirty="0" err="1"/>
                  <a:t>Gk</a:t>
                </a:r>
                <a:r>
                  <a:rPr lang="en-US" altLang="zh-CN" dirty="0"/>
                  <a:t>​. If </a:t>
                </a:r>
                <a:r>
                  <a:rPr lang="en-US" altLang="zh-CN" i="1" dirty="0"/>
                  <a:t>Gm</a:t>
                </a:r>
                <a:r>
                  <a:rPr lang="en-US" altLang="zh-CN" dirty="0"/>
                  <a:t>​&gt;0, perform the first </a:t>
                </a:r>
                <a:r>
                  <a:rPr lang="en-US" altLang="zh-CN" i="1" dirty="0" err="1"/>
                  <a:t>m</a:t>
                </a:r>
                <a:r>
                  <a:rPr lang="en-US" altLang="zh-CN" dirty="0" err="1"/>
                  <a:t>swaps</a:t>
                </a:r>
                <a:r>
                  <a:rPr lang="en-US" altLang="zh-CN" dirty="0"/>
                  <a:t>; otherwise, do nothing.</a:t>
                </a:r>
                <a:endParaRPr lang="en-US" altLang="zh-CN" b="1" dirty="0">
                  <a:latin typeface="PingFang SC"/>
                </a:endParaRPr>
              </a:p>
            </p:txBody>
          </p:sp>
        </mc:Choice>
        <mc:Fallback xmlns="">
          <p:sp>
            <p:nvSpPr>
              <p:cNvPr id="3" name="矩形 2">
                <a:extLst>
                  <a:ext uri="{FF2B5EF4-FFF2-40B4-BE49-F238E27FC236}">
                    <a16:creationId xmlns:a16="http://schemas.microsoft.com/office/drawing/2014/main" id="{096835A7-2467-4053-9BE4-42B6BF4BCD5F}"/>
                  </a:ext>
                </a:extLst>
              </p:cNvPr>
              <p:cNvSpPr>
                <a:spLocks noRot="1" noChangeAspect="1" noMove="1" noResize="1" noEditPoints="1" noAdjustHandles="1" noChangeArrowheads="1" noChangeShapeType="1" noTextEdit="1"/>
              </p:cNvSpPr>
              <p:nvPr/>
            </p:nvSpPr>
            <p:spPr>
              <a:xfrm>
                <a:off x="322920" y="1447428"/>
                <a:ext cx="8605344" cy="4997394"/>
              </a:xfrm>
              <a:prstGeom prst="rect">
                <a:avLst/>
              </a:prstGeom>
              <a:blipFill>
                <a:blip r:embed="rId3"/>
                <a:stretch>
                  <a:fillRect l="-496" b="-610"/>
                </a:stretch>
              </a:blipFill>
            </p:spPr>
            <p:txBody>
              <a:bodyPr/>
              <a:lstStyle/>
              <a:p>
                <a:r>
                  <a:rPr lang="zh-CN" altLang="en-US">
                    <a:noFill/>
                  </a:rPr>
                  <a:t> </a:t>
                </a:r>
              </a:p>
            </p:txBody>
          </p:sp>
        </mc:Fallback>
      </mc:AlternateContent>
      <p:sp>
        <p:nvSpPr>
          <p:cNvPr id="46" name="Text Box 47">
            <a:extLst>
              <a:ext uri="{FF2B5EF4-FFF2-40B4-BE49-F238E27FC236}">
                <a16:creationId xmlns:a16="http://schemas.microsoft.com/office/drawing/2014/main" id="{FE8FDA03-E09C-4FAA-B6B8-F8248C8D8E98}"/>
              </a:ext>
            </a:extLst>
          </p:cNvPr>
          <p:cNvSpPr txBox="1">
            <a:spLocks noChangeArrowheads="1"/>
          </p:cNvSpPr>
          <p:nvPr/>
        </p:nvSpPr>
        <p:spPr bwMode="auto">
          <a:xfrm>
            <a:off x="251520" y="98864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b="1" dirty="0">
                <a:ea typeface="宋体" panose="02010600030101010101" pitchFamily="2" charset="-122"/>
              </a:rPr>
              <a:t>Summarize of KL </a:t>
            </a:r>
            <a:r>
              <a:rPr lang="en-US" altLang="zh-CN" sz="2000" b="1" dirty="0">
                <a:ea typeface="宋体" panose="02010600030101010101" pitchFamily="2" charset="-122"/>
              </a:rPr>
              <a:t>Algorithm</a:t>
            </a:r>
            <a:r>
              <a:rPr lang="en-US" altLang="zh-CN" sz="1800" b="1" dirty="0">
                <a:ea typeface="宋体" panose="02010600030101010101" pitchFamily="2" charset="-122"/>
              </a:rPr>
              <a:t> </a:t>
            </a:r>
          </a:p>
        </p:txBody>
      </p:sp>
    </p:spTree>
    <p:extLst>
      <p:ext uri="{BB962C8B-B14F-4D97-AF65-F5344CB8AC3E}">
        <p14:creationId xmlns:p14="http://schemas.microsoft.com/office/powerpoint/2010/main" val="740618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Rectangle 42"/>
          <p:cNvSpPr>
            <a:spLocks noGrp="1" noChangeArrowheads="1"/>
          </p:cNvSpPr>
          <p:nvPr>
            <p:ph type="title"/>
          </p:nvPr>
        </p:nvSpPr>
        <p:spPr/>
        <p:txBody>
          <a:bodyPr/>
          <a:lstStyle/>
          <a:p>
            <a:r>
              <a:rPr lang="en-US" altLang="zh-CN" dirty="0">
                <a:ea typeface="宋体" panose="02010600030101010101" pitchFamily="2" charset="-122"/>
              </a:rPr>
              <a:t>2.4.1  Kernighan-Lin (KL) Algorithm – Example </a:t>
            </a:r>
          </a:p>
        </p:txBody>
      </p:sp>
      <p:sp>
        <p:nvSpPr>
          <p:cNvPr id="46" name="Text Box 47">
            <a:extLst>
              <a:ext uri="{FF2B5EF4-FFF2-40B4-BE49-F238E27FC236}">
                <a16:creationId xmlns:a16="http://schemas.microsoft.com/office/drawing/2014/main" id="{FE8FDA03-E09C-4FAA-B6B8-F8248C8D8E98}"/>
              </a:ext>
            </a:extLst>
          </p:cNvPr>
          <p:cNvSpPr txBox="1">
            <a:spLocks noChangeArrowheads="1"/>
          </p:cNvSpPr>
          <p:nvPr/>
        </p:nvSpPr>
        <p:spPr bwMode="auto">
          <a:xfrm>
            <a:off x="251520" y="98864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b="1" dirty="0">
                <a:ea typeface="宋体" panose="02010600030101010101" pitchFamily="2" charset="-122"/>
              </a:rPr>
              <a:t>Example</a:t>
            </a:r>
          </a:p>
        </p:txBody>
      </p:sp>
      <p:sp>
        <p:nvSpPr>
          <p:cNvPr id="2" name="矩形 1">
            <a:extLst>
              <a:ext uri="{FF2B5EF4-FFF2-40B4-BE49-F238E27FC236}">
                <a16:creationId xmlns:a16="http://schemas.microsoft.com/office/drawing/2014/main" id="{4D2F9201-36B9-47EC-B5BA-689B50083191}"/>
              </a:ext>
            </a:extLst>
          </p:cNvPr>
          <p:cNvSpPr/>
          <p:nvPr/>
        </p:nvSpPr>
        <p:spPr>
          <a:xfrm>
            <a:off x="323528" y="1844824"/>
            <a:ext cx="7827168" cy="688522"/>
          </a:xfrm>
          <a:prstGeom prst="rect">
            <a:avLst/>
          </a:prstGeom>
        </p:spPr>
        <p:txBody>
          <a:bodyPr wrap="square">
            <a:spAutoFit/>
          </a:bodyPr>
          <a:lstStyle/>
          <a:p>
            <a:pPr algn="l"/>
            <a:r>
              <a:rPr lang="en-US" altLang="zh-CN" dirty="0">
                <a:solidFill>
                  <a:srgbClr val="000000"/>
                </a:solidFill>
                <a:latin typeface="PingFang SC"/>
              </a:rPr>
              <a:t>Suppose in a pass, we have a sequence of gains: </a:t>
            </a:r>
            <a:r>
              <a:rPr lang="en-US" altLang="zh-CN" dirty="0">
                <a:solidFill>
                  <a:srgbClr val="000000"/>
                </a:solidFill>
                <a:latin typeface="KaTeX_Main"/>
              </a:rPr>
              <a:t>Δ</a:t>
            </a:r>
            <a:r>
              <a:rPr lang="en-US" altLang="zh-CN" i="1" dirty="0">
                <a:solidFill>
                  <a:srgbClr val="000000"/>
                </a:solidFill>
                <a:latin typeface="KaTeX_Math"/>
              </a:rPr>
              <a:t>g</a:t>
            </a:r>
            <a:r>
              <a:rPr lang="en-US" altLang="zh-CN" dirty="0">
                <a:solidFill>
                  <a:srgbClr val="000000"/>
                </a:solidFill>
                <a:latin typeface="inherit"/>
              </a:rPr>
              <a:t>1​</a:t>
            </a:r>
            <a:r>
              <a:rPr lang="en-US" altLang="zh-CN" dirty="0">
                <a:solidFill>
                  <a:srgbClr val="000000"/>
                </a:solidFill>
                <a:latin typeface="KaTeX_Main"/>
              </a:rPr>
              <a:t>=3,Δ</a:t>
            </a:r>
            <a:r>
              <a:rPr lang="en-US" altLang="zh-CN" i="1" dirty="0">
                <a:solidFill>
                  <a:srgbClr val="000000"/>
                </a:solidFill>
                <a:latin typeface="KaTeX_Math"/>
              </a:rPr>
              <a:t>g</a:t>
            </a:r>
            <a:r>
              <a:rPr lang="en-US" altLang="zh-CN" dirty="0">
                <a:solidFill>
                  <a:srgbClr val="000000"/>
                </a:solidFill>
                <a:latin typeface="inherit"/>
              </a:rPr>
              <a:t>2​</a:t>
            </a:r>
            <a:r>
              <a:rPr lang="en-US" altLang="zh-CN" dirty="0">
                <a:solidFill>
                  <a:srgbClr val="000000"/>
                </a:solidFill>
                <a:latin typeface="KaTeX_Main"/>
              </a:rPr>
              <a:t>=−1,Δ</a:t>
            </a:r>
            <a:r>
              <a:rPr lang="en-US" altLang="zh-CN" i="1" dirty="0">
                <a:solidFill>
                  <a:srgbClr val="000000"/>
                </a:solidFill>
                <a:latin typeface="KaTeX_Math"/>
              </a:rPr>
              <a:t>g</a:t>
            </a:r>
            <a:r>
              <a:rPr lang="en-US" altLang="zh-CN" dirty="0">
                <a:solidFill>
                  <a:srgbClr val="000000"/>
                </a:solidFill>
                <a:latin typeface="inherit"/>
              </a:rPr>
              <a:t>3​</a:t>
            </a:r>
            <a:r>
              <a:rPr lang="en-US" altLang="zh-CN" dirty="0">
                <a:solidFill>
                  <a:srgbClr val="000000"/>
                </a:solidFill>
                <a:latin typeface="KaTeX_Main"/>
              </a:rPr>
              <a:t>=2,Δ</a:t>
            </a:r>
            <a:r>
              <a:rPr lang="en-US" altLang="zh-CN" i="1" dirty="0">
                <a:solidFill>
                  <a:srgbClr val="000000"/>
                </a:solidFill>
                <a:latin typeface="KaTeX_Math"/>
              </a:rPr>
              <a:t>g</a:t>
            </a:r>
            <a:r>
              <a:rPr lang="en-US" altLang="zh-CN" dirty="0">
                <a:solidFill>
                  <a:srgbClr val="000000"/>
                </a:solidFill>
                <a:latin typeface="inherit"/>
              </a:rPr>
              <a:t>4​</a:t>
            </a:r>
            <a:r>
              <a:rPr lang="en-US" altLang="zh-CN" dirty="0">
                <a:solidFill>
                  <a:srgbClr val="000000"/>
                </a:solidFill>
                <a:latin typeface="KaTeX_Main"/>
              </a:rPr>
              <a:t>=−2</a:t>
            </a:r>
            <a:r>
              <a:rPr lang="en-US" altLang="zh-CN" dirty="0">
                <a:solidFill>
                  <a:srgbClr val="000000"/>
                </a:solidFill>
                <a:latin typeface="PingFang SC"/>
              </a:rPr>
              <a:t>.</a:t>
            </a:r>
          </a:p>
          <a:p>
            <a:pPr algn="l"/>
            <a:endParaRPr lang="en-US" altLang="zh-CN" dirty="0">
              <a:solidFill>
                <a:srgbClr val="000000"/>
              </a:solidFill>
              <a:latin typeface="PingFang SC"/>
            </a:endParaRPr>
          </a:p>
        </p:txBody>
      </p:sp>
    </p:spTree>
    <p:extLst>
      <p:ext uri="{BB962C8B-B14F-4D97-AF65-F5344CB8AC3E}">
        <p14:creationId xmlns:p14="http://schemas.microsoft.com/office/powerpoint/2010/main" val="26508342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Rectangle 42"/>
          <p:cNvSpPr>
            <a:spLocks noGrp="1" noChangeArrowheads="1"/>
          </p:cNvSpPr>
          <p:nvPr>
            <p:ph type="title"/>
          </p:nvPr>
        </p:nvSpPr>
        <p:spPr/>
        <p:txBody>
          <a:bodyPr/>
          <a:lstStyle/>
          <a:p>
            <a:r>
              <a:rPr lang="en-US" altLang="zh-CN" dirty="0">
                <a:ea typeface="宋体" panose="02010600030101010101" pitchFamily="2" charset="-122"/>
              </a:rPr>
              <a:t>2.4.1  Kernighan-Lin (KL) Algorithm – Example </a:t>
            </a:r>
          </a:p>
        </p:txBody>
      </p:sp>
      <p:sp>
        <p:nvSpPr>
          <p:cNvPr id="46" name="Text Box 47">
            <a:extLst>
              <a:ext uri="{FF2B5EF4-FFF2-40B4-BE49-F238E27FC236}">
                <a16:creationId xmlns:a16="http://schemas.microsoft.com/office/drawing/2014/main" id="{FE8FDA03-E09C-4FAA-B6B8-F8248C8D8E98}"/>
              </a:ext>
            </a:extLst>
          </p:cNvPr>
          <p:cNvSpPr txBox="1">
            <a:spLocks noChangeArrowheads="1"/>
          </p:cNvSpPr>
          <p:nvPr/>
        </p:nvSpPr>
        <p:spPr bwMode="auto">
          <a:xfrm>
            <a:off x="251520" y="988640"/>
            <a:ext cx="7392987" cy="458788"/>
          </a:xfrm>
          <a:prstGeom prst="rect">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6808" tIns="87660" rIns="96808" bIns="87660"/>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b="1" dirty="0">
                <a:ea typeface="宋体" panose="02010600030101010101" pitchFamily="2" charset="-122"/>
              </a:rPr>
              <a:t>Example</a:t>
            </a:r>
          </a:p>
        </p:txBody>
      </p:sp>
      <p:sp>
        <p:nvSpPr>
          <p:cNvPr id="2" name="矩形 1">
            <a:extLst>
              <a:ext uri="{FF2B5EF4-FFF2-40B4-BE49-F238E27FC236}">
                <a16:creationId xmlns:a16="http://schemas.microsoft.com/office/drawing/2014/main" id="{4D2F9201-36B9-47EC-B5BA-689B50083191}"/>
              </a:ext>
            </a:extLst>
          </p:cNvPr>
          <p:cNvSpPr/>
          <p:nvPr/>
        </p:nvSpPr>
        <p:spPr>
          <a:xfrm>
            <a:off x="323528" y="2132856"/>
            <a:ext cx="7827168" cy="3458511"/>
          </a:xfrm>
          <a:prstGeom prst="rect">
            <a:avLst/>
          </a:prstGeom>
        </p:spPr>
        <p:txBody>
          <a:bodyPr wrap="square">
            <a:spAutoFit/>
          </a:bodyPr>
          <a:lstStyle/>
          <a:p>
            <a:pPr algn="l"/>
            <a:r>
              <a:rPr lang="en-US" altLang="zh-CN" dirty="0">
                <a:solidFill>
                  <a:srgbClr val="000000"/>
                </a:solidFill>
                <a:latin typeface="PingFang SC"/>
              </a:rPr>
              <a:t>Suppose in a pass, we have a sequence of gains: </a:t>
            </a:r>
            <a:r>
              <a:rPr lang="en-US" altLang="zh-CN" dirty="0">
                <a:solidFill>
                  <a:srgbClr val="000000"/>
                </a:solidFill>
                <a:latin typeface="KaTeX_Main"/>
              </a:rPr>
              <a:t>Δ</a:t>
            </a:r>
            <a:r>
              <a:rPr lang="en-US" altLang="zh-CN" i="1" dirty="0">
                <a:solidFill>
                  <a:srgbClr val="000000"/>
                </a:solidFill>
                <a:latin typeface="KaTeX_Math"/>
              </a:rPr>
              <a:t>g</a:t>
            </a:r>
            <a:r>
              <a:rPr lang="en-US" altLang="zh-CN" dirty="0">
                <a:solidFill>
                  <a:srgbClr val="000000"/>
                </a:solidFill>
                <a:latin typeface="inherit"/>
              </a:rPr>
              <a:t>1​</a:t>
            </a:r>
            <a:r>
              <a:rPr lang="en-US" altLang="zh-CN" dirty="0">
                <a:solidFill>
                  <a:srgbClr val="000000"/>
                </a:solidFill>
                <a:latin typeface="KaTeX_Main"/>
              </a:rPr>
              <a:t>=3,Δ</a:t>
            </a:r>
            <a:r>
              <a:rPr lang="en-US" altLang="zh-CN" i="1" dirty="0">
                <a:solidFill>
                  <a:srgbClr val="000000"/>
                </a:solidFill>
                <a:latin typeface="KaTeX_Math"/>
              </a:rPr>
              <a:t>g</a:t>
            </a:r>
            <a:r>
              <a:rPr lang="en-US" altLang="zh-CN" dirty="0">
                <a:solidFill>
                  <a:srgbClr val="000000"/>
                </a:solidFill>
                <a:latin typeface="inherit"/>
              </a:rPr>
              <a:t>2​</a:t>
            </a:r>
            <a:r>
              <a:rPr lang="en-US" altLang="zh-CN" dirty="0">
                <a:solidFill>
                  <a:srgbClr val="000000"/>
                </a:solidFill>
                <a:latin typeface="KaTeX_Main"/>
              </a:rPr>
              <a:t>=−1,Δ</a:t>
            </a:r>
            <a:r>
              <a:rPr lang="en-US" altLang="zh-CN" i="1" dirty="0">
                <a:solidFill>
                  <a:srgbClr val="000000"/>
                </a:solidFill>
                <a:latin typeface="KaTeX_Math"/>
              </a:rPr>
              <a:t>g</a:t>
            </a:r>
            <a:r>
              <a:rPr lang="en-US" altLang="zh-CN" dirty="0">
                <a:solidFill>
                  <a:srgbClr val="000000"/>
                </a:solidFill>
                <a:latin typeface="inherit"/>
              </a:rPr>
              <a:t>3​</a:t>
            </a:r>
            <a:r>
              <a:rPr lang="en-US" altLang="zh-CN" dirty="0">
                <a:solidFill>
                  <a:srgbClr val="000000"/>
                </a:solidFill>
                <a:latin typeface="KaTeX_Main"/>
              </a:rPr>
              <a:t>=2,Δ</a:t>
            </a:r>
            <a:r>
              <a:rPr lang="en-US" altLang="zh-CN" i="1" dirty="0">
                <a:solidFill>
                  <a:srgbClr val="000000"/>
                </a:solidFill>
                <a:latin typeface="KaTeX_Math"/>
              </a:rPr>
              <a:t>g</a:t>
            </a:r>
            <a:r>
              <a:rPr lang="en-US" altLang="zh-CN" dirty="0">
                <a:solidFill>
                  <a:srgbClr val="000000"/>
                </a:solidFill>
                <a:latin typeface="inherit"/>
              </a:rPr>
              <a:t>4​</a:t>
            </a:r>
            <a:r>
              <a:rPr lang="en-US" altLang="zh-CN" dirty="0">
                <a:solidFill>
                  <a:srgbClr val="000000"/>
                </a:solidFill>
                <a:latin typeface="KaTeX_Main"/>
              </a:rPr>
              <a:t>=−2</a:t>
            </a:r>
            <a:r>
              <a:rPr lang="en-US" altLang="zh-CN" dirty="0">
                <a:solidFill>
                  <a:srgbClr val="000000"/>
                </a:solidFill>
                <a:latin typeface="PingFang SC"/>
              </a:rPr>
              <a:t>.</a:t>
            </a:r>
          </a:p>
          <a:p>
            <a:pPr algn="l"/>
            <a:endParaRPr lang="en-US" altLang="zh-CN" dirty="0">
              <a:solidFill>
                <a:srgbClr val="000000"/>
              </a:solidFill>
              <a:latin typeface="PingFang SC"/>
            </a:endParaRPr>
          </a:p>
          <a:p>
            <a:pPr algn="l"/>
            <a:r>
              <a:rPr lang="en-US" altLang="zh-CN" dirty="0">
                <a:solidFill>
                  <a:srgbClr val="000000"/>
                </a:solidFill>
                <a:latin typeface="PingFang SC"/>
              </a:rPr>
              <a:t>•</a:t>
            </a:r>
            <a:r>
              <a:rPr lang="en-US" altLang="zh-CN" dirty="0">
                <a:solidFill>
                  <a:srgbClr val="000000"/>
                </a:solidFill>
                <a:latin typeface="inherit"/>
              </a:rPr>
              <a:t>Cumulative gains:</a:t>
            </a:r>
          </a:p>
          <a:p>
            <a:pPr algn="l"/>
            <a:r>
              <a:rPr lang="en-US" altLang="zh-CN" dirty="0">
                <a:solidFill>
                  <a:srgbClr val="000000"/>
                </a:solidFill>
                <a:latin typeface="PingFang SC"/>
              </a:rPr>
              <a:t>•</a:t>
            </a:r>
            <a:r>
              <a:rPr lang="en-US" altLang="zh-CN" i="1" dirty="0">
                <a:solidFill>
                  <a:srgbClr val="000000"/>
                </a:solidFill>
                <a:latin typeface="KaTeX_Math"/>
              </a:rPr>
              <a:t>G</a:t>
            </a:r>
            <a:r>
              <a:rPr lang="en-US" altLang="zh-CN" dirty="0">
                <a:solidFill>
                  <a:srgbClr val="000000"/>
                </a:solidFill>
                <a:latin typeface="inherit"/>
              </a:rPr>
              <a:t>1​</a:t>
            </a:r>
            <a:r>
              <a:rPr lang="en-US" altLang="zh-CN" dirty="0">
                <a:solidFill>
                  <a:srgbClr val="000000"/>
                </a:solidFill>
                <a:latin typeface="KaTeX_Main"/>
              </a:rPr>
              <a:t>=3</a:t>
            </a:r>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i="1" dirty="0">
                <a:solidFill>
                  <a:srgbClr val="000000"/>
                </a:solidFill>
                <a:latin typeface="KaTeX_Math"/>
              </a:rPr>
              <a:t>G</a:t>
            </a:r>
            <a:r>
              <a:rPr lang="en-US" altLang="zh-CN" dirty="0">
                <a:solidFill>
                  <a:srgbClr val="000000"/>
                </a:solidFill>
                <a:latin typeface="inherit"/>
              </a:rPr>
              <a:t>2​</a:t>
            </a:r>
            <a:r>
              <a:rPr lang="en-US" altLang="zh-CN" dirty="0">
                <a:solidFill>
                  <a:srgbClr val="000000"/>
                </a:solidFill>
                <a:latin typeface="KaTeX_Main"/>
              </a:rPr>
              <a:t>=3+(−1)=2</a:t>
            </a:r>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i="1" dirty="0">
                <a:solidFill>
                  <a:srgbClr val="000000"/>
                </a:solidFill>
                <a:latin typeface="KaTeX_Math"/>
              </a:rPr>
              <a:t>G</a:t>
            </a:r>
            <a:r>
              <a:rPr lang="en-US" altLang="zh-CN" dirty="0">
                <a:solidFill>
                  <a:srgbClr val="000000"/>
                </a:solidFill>
                <a:latin typeface="inherit"/>
              </a:rPr>
              <a:t>3​</a:t>
            </a:r>
            <a:r>
              <a:rPr lang="en-US" altLang="zh-CN" dirty="0">
                <a:solidFill>
                  <a:srgbClr val="000000"/>
                </a:solidFill>
                <a:latin typeface="KaTeX_Main"/>
              </a:rPr>
              <a:t>=2+2=4</a:t>
            </a:r>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i="1" dirty="0">
                <a:solidFill>
                  <a:srgbClr val="000000"/>
                </a:solidFill>
                <a:latin typeface="KaTeX_Math"/>
              </a:rPr>
              <a:t>G</a:t>
            </a:r>
            <a:r>
              <a:rPr lang="en-US" altLang="zh-CN" dirty="0">
                <a:solidFill>
                  <a:srgbClr val="000000"/>
                </a:solidFill>
                <a:latin typeface="inherit"/>
              </a:rPr>
              <a:t>4​</a:t>
            </a:r>
            <a:r>
              <a:rPr lang="en-US" altLang="zh-CN" dirty="0">
                <a:solidFill>
                  <a:srgbClr val="000000"/>
                </a:solidFill>
                <a:latin typeface="KaTeX_Main"/>
              </a:rPr>
              <a:t>=4+(−2)=2</a:t>
            </a:r>
          </a:p>
          <a:p>
            <a:pPr algn="l"/>
            <a:endParaRPr lang="en-US" altLang="zh-CN" dirty="0">
              <a:solidFill>
                <a:srgbClr val="000000"/>
              </a:solidFill>
              <a:latin typeface="inherit"/>
            </a:endParaRPr>
          </a:p>
          <a:p>
            <a:pPr algn="l"/>
            <a:r>
              <a:rPr lang="en-US" altLang="zh-CN" dirty="0">
                <a:solidFill>
                  <a:srgbClr val="000000"/>
                </a:solidFill>
                <a:latin typeface="PingFang SC"/>
              </a:rPr>
              <a:t>•</a:t>
            </a:r>
            <a:r>
              <a:rPr lang="en-US" altLang="zh-CN" dirty="0">
                <a:solidFill>
                  <a:srgbClr val="000000"/>
                </a:solidFill>
                <a:latin typeface="inherit"/>
              </a:rPr>
              <a:t>Here, </a:t>
            </a:r>
            <a:r>
              <a:rPr lang="en-US" altLang="zh-CN" i="1" dirty="0">
                <a:solidFill>
                  <a:srgbClr val="000000"/>
                </a:solidFill>
                <a:latin typeface="KaTeX_Math"/>
              </a:rPr>
              <a:t>Gm</a:t>
            </a:r>
            <a:r>
              <a:rPr lang="en-US" altLang="zh-CN" dirty="0">
                <a:solidFill>
                  <a:srgbClr val="000000"/>
                </a:solidFill>
                <a:latin typeface="inherit"/>
              </a:rPr>
              <a:t>​</a:t>
            </a:r>
            <a:r>
              <a:rPr lang="en-US" altLang="zh-CN" dirty="0">
                <a:solidFill>
                  <a:srgbClr val="000000"/>
                </a:solidFill>
                <a:latin typeface="KaTeX_Main"/>
              </a:rPr>
              <a:t>=4</a:t>
            </a:r>
            <a:r>
              <a:rPr lang="en-US" altLang="zh-CN" dirty="0">
                <a:solidFill>
                  <a:srgbClr val="000000"/>
                </a:solidFill>
                <a:latin typeface="inherit"/>
              </a:rPr>
              <a:t>at </a:t>
            </a:r>
            <a:r>
              <a:rPr lang="en-US" altLang="zh-CN" i="1" dirty="0">
                <a:solidFill>
                  <a:srgbClr val="000000"/>
                </a:solidFill>
                <a:latin typeface="KaTeX_Math"/>
              </a:rPr>
              <a:t>m</a:t>
            </a:r>
            <a:r>
              <a:rPr lang="en-US" altLang="zh-CN" dirty="0">
                <a:solidFill>
                  <a:srgbClr val="000000"/>
                </a:solidFill>
                <a:latin typeface="KaTeX_Main"/>
              </a:rPr>
              <a:t>=3</a:t>
            </a:r>
            <a:r>
              <a:rPr lang="en-US" altLang="zh-CN" dirty="0">
                <a:solidFill>
                  <a:srgbClr val="000000"/>
                </a:solidFill>
                <a:latin typeface="inherit"/>
              </a:rPr>
              <a:t>, which is the maximum positive cumulative gain. So, we would perform the first 3 swaps, even though the second swap had a negative gain, because the overall effect is positive.</a:t>
            </a:r>
          </a:p>
        </p:txBody>
      </p:sp>
    </p:spTree>
    <p:extLst>
      <p:ext uri="{BB962C8B-B14F-4D97-AF65-F5344CB8AC3E}">
        <p14:creationId xmlns:p14="http://schemas.microsoft.com/office/powerpoint/2010/main" val="27585556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1" name="Rectangle 42"/>
          <p:cNvSpPr>
            <a:spLocks noGrp="1" noChangeArrowheads="1"/>
          </p:cNvSpPr>
          <p:nvPr>
            <p:ph type="title"/>
          </p:nvPr>
        </p:nvSpPr>
        <p:spPr/>
        <p:txBody>
          <a:bodyPr/>
          <a:lstStyle/>
          <a:p>
            <a:r>
              <a:rPr lang="en-US" altLang="zh-CN">
                <a:ea typeface="宋体" panose="02010600030101010101" pitchFamily="2" charset="-122"/>
              </a:rPr>
              <a:t>2.4.1  Kernighan-Lin (KL) Algorithm – Example </a:t>
            </a:r>
          </a:p>
        </p:txBody>
      </p:sp>
      <p:sp>
        <p:nvSpPr>
          <p:cNvPr id="44" name="Content Placeholder 2">
            <a:extLst>
              <a:ext uri="{FF2B5EF4-FFF2-40B4-BE49-F238E27FC236}">
                <a16:creationId xmlns:a16="http://schemas.microsoft.com/office/drawing/2014/main" id="{637D26CB-520D-4F1D-92AB-7A3236EF6771}"/>
              </a:ext>
            </a:extLst>
          </p:cNvPr>
          <p:cNvSpPr txBox="1">
            <a:spLocks/>
          </p:cNvSpPr>
          <p:nvPr/>
        </p:nvSpPr>
        <p:spPr bwMode="auto">
          <a:xfrm>
            <a:off x="608013" y="1293813"/>
            <a:ext cx="8193087"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1084" tIns="44939" rIns="89877" bIns="44939" numCol="1" anchor="t" anchorCtr="0" compatLnSpc="1">
            <a:prstTxWarp prst="textNoShape">
              <a:avLst/>
            </a:prstTxWarp>
          </a:bodyPr>
          <a:lstStyle>
            <a:lvl1pPr marL="342900" indent="-342900"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700">
                <a:solidFill>
                  <a:schemeClr val="tx1"/>
                </a:solidFill>
                <a:latin typeface="+mn-lt"/>
                <a:ea typeface="+mn-ea"/>
                <a:cs typeface="+mn-cs"/>
                <a:sym typeface="Symbol" panose="05050102010706020507" pitchFamily="18" charset="2"/>
              </a:defRPr>
            </a:lvl1pPr>
            <a:lvl2pPr marL="301625" indent="155575" algn="l" defTabSz="898525" rtl="0" eaLnBrk="0" fontAlgn="base" hangingPunct="0">
              <a:lnSpc>
                <a:spcPct val="102000"/>
              </a:lnSpc>
              <a:spcBef>
                <a:spcPct val="50000"/>
              </a:spcBef>
              <a:spcAft>
                <a:spcPct val="0"/>
              </a:spcAft>
              <a:buClr>
                <a:srgbClr val="CC0000"/>
              </a:buClr>
              <a:buFont typeface="Symbol" panose="05050102010706020507" pitchFamily="18" charset="2"/>
              <a:buChar char="-"/>
              <a:tabLst>
                <a:tab pos="301625" algn="l"/>
                <a:tab pos="542925" algn="l"/>
              </a:tabLst>
              <a:defRPr sz="1600">
                <a:solidFill>
                  <a:schemeClr val="tx1"/>
                </a:solidFill>
                <a:latin typeface="+mn-lt"/>
                <a:sym typeface="Symbol" panose="05050102010706020507" pitchFamily="18" charset="2"/>
              </a:defRPr>
            </a:lvl2pPr>
            <a:lvl3pPr marL="449263" indent="3175"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anose="05050102010706020507" pitchFamily="18" charset="2"/>
              </a:defRPr>
            </a:lvl3pPr>
            <a:lvl4pPr marL="676275" indent="695325"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anose="05050102010706020507" pitchFamily="18" charset="2"/>
              </a:defRPr>
            </a:lvl4pPr>
            <a:lvl5pPr marL="900113" indent="928688"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anose="05050102010706020507" pitchFamily="18" charset="2"/>
              </a:defRPr>
            </a:lvl5pPr>
            <a:lvl6pPr marL="13573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6pPr>
            <a:lvl7pPr marL="18145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7pPr>
            <a:lvl8pPr marL="22717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8pPr>
            <a:lvl9pPr marL="2728913" algn="l" defTabSz="898525" rtl="0" eaLnBrk="0" fontAlgn="base" hangingPunct="0">
              <a:lnSpc>
                <a:spcPts val="2350"/>
              </a:lnSpc>
              <a:spcBef>
                <a:spcPct val="0"/>
              </a:spcBef>
              <a:spcAft>
                <a:spcPct val="0"/>
              </a:spcAft>
              <a:tabLst>
                <a:tab pos="301625" algn="l"/>
                <a:tab pos="542925" algn="l"/>
              </a:tabLst>
              <a:defRPr sz="1500">
                <a:solidFill>
                  <a:schemeClr val="tx1"/>
                </a:solidFill>
                <a:latin typeface="+mn-lt"/>
                <a:sym typeface="Symbol" pitchFamily="18" charset="2"/>
              </a:defRPr>
            </a:lvl9pPr>
          </a:lstStyle>
          <a:p>
            <a:pPr marL="0" indent="0">
              <a:buNone/>
            </a:pPr>
            <a:r>
              <a:rPr lang="en-US" altLang="zh-CN" kern="0" dirty="0">
                <a:ea typeface="宋体" panose="02010600030101010101" pitchFamily="2" charset="-122"/>
              </a:rPr>
              <a:t>Question 1</a:t>
            </a:r>
          </a:p>
          <a:p>
            <a:pPr marL="0" indent="0">
              <a:buNone/>
            </a:pPr>
            <a:r>
              <a:rPr lang="en-US" altLang="zh-CN" kern="0" dirty="0">
                <a:ea typeface="宋体" panose="02010600030101010101" pitchFamily="2" charset="-122"/>
              </a:rPr>
              <a:t>	Think about the following question: Suppose in a pass, we have a sequence of gains: Δg1 =3,Δg2=−1,Δg3=2,Δg4=−2, could we only choose Δg1 and Δg2 as the exchange?</a:t>
            </a:r>
          </a:p>
          <a:p>
            <a:pPr marL="0" indent="0">
              <a:buNone/>
            </a:pPr>
            <a:endParaRPr lang="en-US" altLang="zh-CN" kern="0" dirty="0">
              <a:ea typeface="宋体" panose="02010600030101010101" pitchFamily="2" charset="-122"/>
            </a:endParaRPr>
          </a:p>
          <a:p>
            <a:pPr marL="0" indent="0">
              <a:buNone/>
            </a:pPr>
            <a:endParaRPr lang="en-US" altLang="zh-CN" kern="0" dirty="0">
              <a:ea typeface="宋体" panose="02010600030101010101" pitchFamily="2" charset="-122"/>
            </a:endParaRPr>
          </a:p>
          <a:p>
            <a:pPr marL="0" indent="0">
              <a:buNone/>
            </a:pPr>
            <a:r>
              <a:rPr lang="en-US" altLang="zh-CN" kern="0" dirty="0">
                <a:ea typeface="宋体" panose="02010600030101010101" pitchFamily="2" charset="-122"/>
              </a:rPr>
              <a:t>Question 2</a:t>
            </a:r>
          </a:p>
          <a:p>
            <a:pPr marL="0" indent="0">
              <a:buNone/>
            </a:pPr>
            <a:r>
              <a:rPr lang="en-US" altLang="zh-CN" kern="0" dirty="0">
                <a:ea typeface="宋体" panose="02010600030101010101" pitchFamily="2" charset="-122"/>
              </a:rPr>
              <a:t>	what is the advantage of KL algorithm?</a:t>
            </a:r>
          </a:p>
          <a:p>
            <a:pPr marL="0" indent="0">
              <a:buNone/>
            </a:pPr>
            <a:endParaRPr lang="en-US" altLang="zh-CN" kern="0" dirty="0">
              <a:ea typeface="宋体" panose="02010600030101010101" pitchFamily="2" charset="-122"/>
            </a:endParaRPr>
          </a:p>
          <a:p>
            <a:pPr marL="0" indent="0">
              <a:buNone/>
            </a:pPr>
            <a:endParaRPr lang="en-US" altLang="zh-CN" kern="0" dirty="0">
              <a:ea typeface="宋体" panose="02010600030101010101" pitchFamily="2" charset="-122"/>
            </a:endParaRPr>
          </a:p>
          <a:p>
            <a:pPr marL="0" indent="0">
              <a:buNone/>
            </a:pPr>
            <a:r>
              <a:rPr lang="en-US" altLang="zh-CN" kern="0" dirty="0">
                <a:ea typeface="宋体" panose="02010600030101010101" pitchFamily="2" charset="-122"/>
              </a:rPr>
              <a:t>Question 3</a:t>
            </a:r>
          </a:p>
          <a:p>
            <a:pPr marL="0" indent="0">
              <a:buNone/>
            </a:pPr>
            <a:r>
              <a:rPr lang="en-US" altLang="zh-CN" kern="0" dirty="0">
                <a:ea typeface="宋体" panose="02010600030101010101" pitchFamily="2" charset="-122"/>
              </a:rPr>
              <a:t>     Is the KL algorithm the global optimum in graph </a:t>
            </a:r>
            <a:r>
              <a:rPr lang="en-US" altLang="zh-CN" kern="0" dirty="0" err="1">
                <a:ea typeface="宋体" panose="02010600030101010101" pitchFamily="2" charset="-122"/>
              </a:rPr>
              <a:t>parition</a:t>
            </a:r>
            <a:r>
              <a:rPr lang="en-US" altLang="zh-CN" kern="0" dirty="0">
                <a:ea typeface="宋体" panose="02010600030101010101" pitchFamily="2" charset="-122"/>
              </a:rPr>
              <a:t>?</a:t>
            </a:r>
          </a:p>
          <a:p>
            <a:pPr marL="0" indent="0">
              <a:buNone/>
            </a:pPr>
            <a:endParaRPr lang="en-US" altLang="zh-CN" kern="0" dirty="0">
              <a:ea typeface="宋体" panose="02010600030101010101" pitchFamily="2" charset="-122"/>
            </a:endParaRPr>
          </a:p>
        </p:txBody>
      </p:sp>
    </p:spTree>
    <p:extLst>
      <p:ext uri="{BB962C8B-B14F-4D97-AF65-F5344CB8AC3E}">
        <p14:creationId xmlns:p14="http://schemas.microsoft.com/office/powerpoint/2010/main" val="3079744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4">
                                            <p:txEl>
                                              <p:pRg st="0" end="0"/>
                                            </p:txEl>
                                          </p:spTgt>
                                        </p:tgtEl>
                                        <p:attrNameLst>
                                          <p:attrName>style.visibility</p:attrName>
                                        </p:attrNameLst>
                                      </p:cBhvr>
                                      <p:to>
                                        <p:strVal val="visible"/>
                                      </p:to>
                                    </p:set>
                                    <p:animEffect transition="in" filter="dissolve">
                                      <p:cBhvr>
                                        <p:cTn id="7" dur="500"/>
                                        <p:tgtEl>
                                          <p:spTgt spid="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4">
                                            <p:txEl>
                                              <p:pRg st="1" end="1"/>
                                            </p:txEl>
                                          </p:spTgt>
                                        </p:tgtEl>
                                        <p:attrNameLst>
                                          <p:attrName>style.visibility</p:attrName>
                                        </p:attrNameLst>
                                      </p:cBhvr>
                                      <p:to>
                                        <p:strVal val="visible"/>
                                      </p:to>
                                    </p:set>
                                    <p:animEffect transition="in" filter="dissolve">
                                      <p:cBhvr>
                                        <p:cTn id="12" dur="500"/>
                                        <p:tgtEl>
                                          <p:spTgt spid="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4">
                                            <p:txEl>
                                              <p:pRg st="4" end="4"/>
                                            </p:txEl>
                                          </p:spTgt>
                                        </p:tgtEl>
                                        <p:attrNameLst>
                                          <p:attrName>style.visibility</p:attrName>
                                        </p:attrNameLst>
                                      </p:cBhvr>
                                      <p:to>
                                        <p:strVal val="visible"/>
                                      </p:to>
                                    </p:set>
                                    <p:animEffect transition="in" filter="dissolve">
                                      <p:cBhvr>
                                        <p:cTn id="17" dur="500"/>
                                        <p:tgtEl>
                                          <p:spTgt spid="4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4">
                                            <p:txEl>
                                              <p:pRg st="5" end="5"/>
                                            </p:txEl>
                                          </p:spTgt>
                                        </p:tgtEl>
                                        <p:attrNameLst>
                                          <p:attrName>style.visibility</p:attrName>
                                        </p:attrNameLst>
                                      </p:cBhvr>
                                      <p:to>
                                        <p:strVal val="visible"/>
                                      </p:to>
                                    </p:set>
                                    <p:animEffect transition="in" filter="dissolve">
                                      <p:cBhvr>
                                        <p:cTn id="22" dur="500"/>
                                        <p:tgtEl>
                                          <p:spTgt spid="44">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4">
                                            <p:txEl>
                                              <p:pRg st="8" end="8"/>
                                            </p:txEl>
                                          </p:spTgt>
                                        </p:tgtEl>
                                        <p:attrNameLst>
                                          <p:attrName>style.visibility</p:attrName>
                                        </p:attrNameLst>
                                      </p:cBhvr>
                                      <p:to>
                                        <p:strVal val="visible"/>
                                      </p:to>
                                    </p:set>
                                    <p:animEffect transition="in" filter="dissolve">
                                      <p:cBhvr>
                                        <p:cTn id="27" dur="500"/>
                                        <p:tgtEl>
                                          <p:spTgt spid="4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4">
                                            <p:txEl>
                                              <p:pRg st="9" end="9"/>
                                            </p:txEl>
                                          </p:spTgt>
                                        </p:tgtEl>
                                        <p:attrNameLst>
                                          <p:attrName>style.visibility</p:attrName>
                                        </p:attrNameLst>
                                      </p:cBhvr>
                                      <p:to>
                                        <p:strVal val="visible"/>
                                      </p:to>
                                    </p:set>
                                    <p:animEffect transition="in" filter="dissolve">
                                      <p:cBhvr>
                                        <p:cTn id="32" dur="500"/>
                                        <p:tgtEl>
                                          <p:spTgt spid="4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build="p"/>
    </p:bld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698"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98C2588F-2365-4A52-84CB-12F280FB3F1B}" type="slidenum">
              <a:rPr lang="en-US" altLang="de-DE" sz="1000">
                <a:solidFill>
                  <a:srgbClr val="C0C0C0"/>
                </a:solidFill>
              </a:rPr>
              <a:pPr/>
              <a:t>35</a:t>
            </a:fld>
            <a:endParaRPr lang="en-US" altLang="de-DE" sz="1000">
              <a:solidFill>
                <a:srgbClr val="C0C0C0"/>
              </a:solidFill>
            </a:endParaRPr>
          </a:p>
        </p:txBody>
      </p:sp>
      <p:sp>
        <p:nvSpPr>
          <p:cNvPr id="29699" name="Title 1"/>
          <p:cNvSpPr>
            <a:spLocks noGrp="1"/>
          </p:cNvSpPr>
          <p:nvPr>
            <p:ph type="title" idx="4294967295"/>
          </p:nvPr>
        </p:nvSpPr>
        <p:spPr/>
        <p:txBody>
          <a:bodyPr/>
          <a:lstStyle/>
          <a:p>
            <a:r>
              <a:rPr lang="en-US" altLang="zh-CN">
                <a:ea typeface="宋体" panose="02010600030101010101" pitchFamily="2" charset="-122"/>
              </a:rPr>
              <a:t>2.4.2  Extensions of the Kernighan-Lin (KL) Algorithm</a:t>
            </a:r>
          </a:p>
        </p:txBody>
      </p:sp>
      <p:sp>
        <p:nvSpPr>
          <p:cNvPr id="29700" name="Content Placeholder 2"/>
          <p:cNvSpPr>
            <a:spLocks noGrp="1"/>
          </p:cNvSpPr>
          <p:nvPr>
            <p:ph idx="4294967295"/>
          </p:nvPr>
        </p:nvSpPr>
        <p:spPr/>
        <p:txBody>
          <a:bodyPr/>
          <a:lstStyle/>
          <a:p>
            <a:pPr marL="0" indent="0"/>
            <a:r>
              <a:rPr lang="en-US" altLang="zh-CN" dirty="0">
                <a:ea typeface="宋体" panose="02010600030101010101" pitchFamily="2" charset="-122"/>
              </a:rPr>
              <a:t> Unequal partition sizes</a:t>
            </a:r>
          </a:p>
          <a:p>
            <a:pPr lvl="1" indent="0"/>
            <a:r>
              <a:rPr lang="en-US" altLang="zh-CN" dirty="0">
                <a:ea typeface="宋体" panose="02010600030101010101" pitchFamily="2" charset="-122"/>
              </a:rPr>
              <a:t> Apply the KL algorithm with only min(|</a:t>
            </a:r>
            <a:r>
              <a:rPr lang="en-US" altLang="zh-CN" i="1" dirty="0">
                <a:ea typeface="宋体" panose="02010600030101010101" pitchFamily="2" charset="-122"/>
              </a:rPr>
              <a:t>A</a:t>
            </a:r>
            <a:r>
              <a:rPr lang="en-US" altLang="zh-CN" dirty="0">
                <a:ea typeface="宋体" panose="02010600030101010101" pitchFamily="2" charset="-122"/>
              </a:rPr>
              <a:t>|,|</a:t>
            </a:r>
            <a:r>
              <a:rPr lang="en-US" altLang="zh-CN" i="1" dirty="0">
                <a:ea typeface="宋体" panose="02010600030101010101" pitchFamily="2" charset="-122"/>
              </a:rPr>
              <a:t>B</a:t>
            </a:r>
            <a:r>
              <a:rPr lang="en-US" altLang="zh-CN" dirty="0">
                <a:ea typeface="宋体" panose="02010600030101010101" pitchFamily="2" charset="-122"/>
              </a:rPr>
              <a:t>|) pairs swapped</a:t>
            </a:r>
          </a:p>
          <a:p>
            <a:pPr marL="0" indent="0"/>
            <a:endParaRPr lang="en-US" altLang="zh-CN" dirty="0">
              <a:ea typeface="宋体" panose="02010600030101010101" pitchFamily="2" charset="-122"/>
            </a:endParaRPr>
          </a:p>
          <a:p>
            <a:pPr marL="0" indent="0"/>
            <a:r>
              <a:rPr lang="en-US" altLang="zh-CN" dirty="0">
                <a:ea typeface="宋体" panose="02010600030101010101" pitchFamily="2" charset="-122"/>
              </a:rPr>
              <a:t> Unequal node weights </a:t>
            </a:r>
          </a:p>
          <a:p>
            <a:pPr lvl="1" indent="0"/>
            <a:r>
              <a:rPr lang="en-US" altLang="zh-CN" dirty="0">
                <a:ea typeface="宋体" panose="02010600030101010101" pitchFamily="2" charset="-122"/>
              </a:rPr>
              <a:t> Try to rescale weights to integers, e.g., as multiples </a:t>
            </a:r>
            <a:br>
              <a:rPr lang="en-US" altLang="zh-CN" dirty="0">
                <a:ea typeface="宋体" panose="02010600030101010101" pitchFamily="2" charset="-122"/>
              </a:rPr>
            </a:br>
            <a:r>
              <a:rPr lang="en-US" altLang="zh-CN" dirty="0">
                <a:ea typeface="宋体" panose="02010600030101010101" pitchFamily="2" charset="-122"/>
              </a:rPr>
              <a:t>   of </a:t>
            </a:r>
            <a:r>
              <a:rPr lang="en-US" altLang="zh-CN" i="1" dirty="0">
                <a:ea typeface="宋体" panose="02010600030101010101" pitchFamily="2" charset="-122"/>
              </a:rPr>
              <a:t>the greatest common divisor</a:t>
            </a:r>
            <a:r>
              <a:rPr lang="en-US" altLang="zh-CN" dirty="0">
                <a:ea typeface="宋体" panose="02010600030101010101" pitchFamily="2" charset="-122"/>
              </a:rPr>
              <a:t> of all node weights</a:t>
            </a:r>
          </a:p>
          <a:p>
            <a:pPr lvl="1" indent="0"/>
            <a:r>
              <a:rPr lang="en-US" altLang="zh-CN" dirty="0">
                <a:ea typeface="宋体" panose="02010600030101010101" pitchFamily="2" charset="-122"/>
              </a:rPr>
              <a:t> Maintain area balance or allow a </a:t>
            </a:r>
            <a:r>
              <a:rPr lang="en-US" altLang="zh-CN" i="1" dirty="0">
                <a:ea typeface="宋体" panose="02010600030101010101" pitchFamily="2" charset="-122"/>
              </a:rPr>
              <a:t>one-move deviation</a:t>
            </a:r>
            <a:r>
              <a:rPr lang="en-US" altLang="zh-CN" dirty="0">
                <a:ea typeface="宋体" panose="02010600030101010101" pitchFamily="2" charset="-122"/>
              </a:rPr>
              <a:t> from balance</a:t>
            </a:r>
          </a:p>
          <a:p>
            <a:pPr marL="0" indent="0"/>
            <a:endParaRPr lang="en-US" altLang="zh-CN" dirty="0">
              <a:ea typeface="宋体" panose="02010600030101010101" pitchFamily="2" charset="-122"/>
            </a:endParaRPr>
          </a:p>
          <a:p>
            <a:pPr marL="0" indent="0"/>
            <a:r>
              <a:rPr lang="en-US" altLang="zh-CN" dirty="0">
                <a:ea typeface="宋体" panose="02010600030101010101" pitchFamily="2" charset="-122"/>
              </a:rPr>
              <a:t> </a:t>
            </a:r>
            <a:r>
              <a:rPr lang="en-US" altLang="zh-CN" i="1" dirty="0">
                <a:ea typeface="宋体" panose="02010600030101010101" pitchFamily="2" charset="-122"/>
              </a:rPr>
              <a:t>k</a:t>
            </a:r>
            <a:r>
              <a:rPr lang="en-US" altLang="zh-CN" dirty="0">
                <a:ea typeface="宋体" panose="02010600030101010101" pitchFamily="2" charset="-122"/>
              </a:rPr>
              <a:t>-way partitioning (generating </a:t>
            </a:r>
            <a:r>
              <a:rPr lang="en-US" altLang="zh-CN" i="1" dirty="0">
                <a:ea typeface="宋体" panose="02010600030101010101" pitchFamily="2" charset="-122"/>
              </a:rPr>
              <a:t>k</a:t>
            </a:r>
            <a:r>
              <a:rPr lang="en-US" altLang="zh-CN" dirty="0">
                <a:ea typeface="宋体" panose="02010600030101010101" pitchFamily="2" charset="-122"/>
              </a:rPr>
              <a:t> partitions)</a:t>
            </a:r>
          </a:p>
          <a:p>
            <a:pPr lvl="1" indent="0"/>
            <a:r>
              <a:rPr lang="en-US" altLang="zh-CN" dirty="0">
                <a:ea typeface="宋体" panose="02010600030101010101" pitchFamily="2" charset="-122"/>
              </a:rPr>
              <a:t> Apply the KL two-way partitioning algorithm to all possible pairs of partitions</a:t>
            </a:r>
          </a:p>
          <a:p>
            <a:pPr lvl="1" indent="0"/>
            <a:r>
              <a:rPr lang="en-US" altLang="zh-CN" dirty="0">
                <a:ea typeface="宋体" panose="02010600030101010101" pitchFamily="2" charset="-122"/>
              </a:rPr>
              <a:t> Recursive partitioning (convenient when k is a power of two)</a:t>
            </a:r>
          </a:p>
          <a:p>
            <a:pPr lvl="1" indent="0"/>
            <a:r>
              <a:rPr lang="en-US" altLang="zh-CN" dirty="0">
                <a:ea typeface="宋体" panose="02010600030101010101" pitchFamily="2" charset="-122"/>
              </a:rPr>
              <a:t> Direct k-way extensions exist</a:t>
            </a:r>
          </a:p>
        </p:txBody>
      </p:sp>
      <p:sp>
        <p:nvSpPr>
          <p:cNvPr id="29701"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C14FA805-7ECA-47DB-94FE-6D21BE4D845A}" type="slidenum">
              <a:rPr lang="en-US" altLang="de-DE" sz="1000">
                <a:solidFill>
                  <a:srgbClr val="C0C0C0"/>
                </a:solidFill>
              </a:rPr>
              <a:pPr algn="r">
                <a:lnSpc>
                  <a:spcPct val="100000"/>
                </a:lnSpc>
              </a:pPr>
              <a:t>35</a:t>
            </a:fld>
            <a:endParaRPr lang="en-US" altLang="de-DE" sz="1000">
              <a:solidFill>
                <a:srgbClr val="C0C0C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700">
                                            <p:txEl>
                                              <p:pRg st="0" end="0"/>
                                            </p:txEl>
                                          </p:spTgt>
                                        </p:tgtEl>
                                        <p:attrNameLst>
                                          <p:attrName>style.visibility</p:attrName>
                                        </p:attrNameLst>
                                      </p:cBhvr>
                                      <p:to>
                                        <p:strVal val="visible"/>
                                      </p:to>
                                    </p:set>
                                    <p:animEffect transition="in" filter="dissolve">
                                      <p:cBhvr>
                                        <p:cTn id="7" dur="500"/>
                                        <p:tgtEl>
                                          <p:spTgt spid="297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9700">
                                            <p:txEl>
                                              <p:pRg st="1" end="1"/>
                                            </p:txEl>
                                          </p:spTgt>
                                        </p:tgtEl>
                                        <p:attrNameLst>
                                          <p:attrName>style.visibility</p:attrName>
                                        </p:attrNameLst>
                                      </p:cBhvr>
                                      <p:to>
                                        <p:strVal val="visible"/>
                                      </p:to>
                                    </p:set>
                                    <p:animEffect transition="in" filter="dissolve">
                                      <p:cBhvr>
                                        <p:cTn id="12" dur="500"/>
                                        <p:tgtEl>
                                          <p:spTgt spid="297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9700">
                                            <p:txEl>
                                              <p:pRg st="3" end="3"/>
                                            </p:txEl>
                                          </p:spTgt>
                                        </p:tgtEl>
                                        <p:attrNameLst>
                                          <p:attrName>style.visibility</p:attrName>
                                        </p:attrNameLst>
                                      </p:cBhvr>
                                      <p:to>
                                        <p:strVal val="visible"/>
                                      </p:to>
                                    </p:set>
                                    <p:animEffect transition="in" filter="dissolve">
                                      <p:cBhvr>
                                        <p:cTn id="17" dur="500"/>
                                        <p:tgtEl>
                                          <p:spTgt spid="29700">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9700">
                                            <p:txEl>
                                              <p:pRg st="4" end="4"/>
                                            </p:txEl>
                                          </p:spTgt>
                                        </p:tgtEl>
                                        <p:attrNameLst>
                                          <p:attrName>style.visibility</p:attrName>
                                        </p:attrNameLst>
                                      </p:cBhvr>
                                      <p:to>
                                        <p:strVal val="visible"/>
                                      </p:to>
                                    </p:set>
                                    <p:animEffect transition="in" filter="dissolve">
                                      <p:cBhvr>
                                        <p:cTn id="22" dur="500"/>
                                        <p:tgtEl>
                                          <p:spTgt spid="29700">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9700">
                                            <p:txEl>
                                              <p:pRg st="5" end="5"/>
                                            </p:txEl>
                                          </p:spTgt>
                                        </p:tgtEl>
                                        <p:attrNameLst>
                                          <p:attrName>style.visibility</p:attrName>
                                        </p:attrNameLst>
                                      </p:cBhvr>
                                      <p:to>
                                        <p:strVal val="visible"/>
                                      </p:to>
                                    </p:set>
                                    <p:animEffect transition="in" filter="dissolve">
                                      <p:cBhvr>
                                        <p:cTn id="27" dur="500"/>
                                        <p:tgtEl>
                                          <p:spTgt spid="29700">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9700">
                                            <p:txEl>
                                              <p:pRg st="7" end="7"/>
                                            </p:txEl>
                                          </p:spTgt>
                                        </p:tgtEl>
                                        <p:attrNameLst>
                                          <p:attrName>style.visibility</p:attrName>
                                        </p:attrNameLst>
                                      </p:cBhvr>
                                      <p:to>
                                        <p:strVal val="visible"/>
                                      </p:to>
                                    </p:set>
                                    <p:animEffect transition="in" filter="dissolve">
                                      <p:cBhvr>
                                        <p:cTn id="32" dur="500"/>
                                        <p:tgtEl>
                                          <p:spTgt spid="29700">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9700">
                                            <p:txEl>
                                              <p:pRg st="8" end="8"/>
                                            </p:txEl>
                                          </p:spTgt>
                                        </p:tgtEl>
                                        <p:attrNameLst>
                                          <p:attrName>style.visibility</p:attrName>
                                        </p:attrNameLst>
                                      </p:cBhvr>
                                      <p:to>
                                        <p:strVal val="visible"/>
                                      </p:to>
                                    </p:set>
                                    <p:animEffect transition="in" filter="dissolve">
                                      <p:cBhvr>
                                        <p:cTn id="37" dur="500"/>
                                        <p:tgtEl>
                                          <p:spTgt spid="29700">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29700">
                                            <p:txEl>
                                              <p:pRg st="9" end="9"/>
                                            </p:txEl>
                                          </p:spTgt>
                                        </p:tgtEl>
                                        <p:attrNameLst>
                                          <p:attrName>style.visibility</p:attrName>
                                        </p:attrNameLst>
                                      </p:cBhvr>
                                      <p:to>
                                        <p:strVal val="visible"/>
                                      </p:to>
                                    </p:set>
                                    <p:animEffect transition="in" filter="dissolve">
                                      <p:cBhvr>
                                        <p:cTn id="42" dur="500"/>
                                        <p:tgtEl>
                                          <p:spTgt spid="29700">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9700">
                                            <p:txEl>
                                              <p:pRg st="10" end="10"/>
                                            </p:txEl>
                                          </p:spTgt>
                                        </p:tgtEl>
                                        <p:attrNameLst>
                                          <p:attrName>style.visibility</p:attrName>
                                        </p:attrNameLst>
                                      </p:cBhvr>
                                      <p:to>
                                        <p:strVal val="visible"/>
                                      </p:to>
                                    </p:set>
                                    <p:animEffect transition="in" filter="dissolve">
                                      <p:cBhvr>
                                        <p:cTn id="47" dur="500"/>
                                        <p:tgtEl>
                                          <p:spTgt spid="2970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29C8EF2-6A00-4984-9143-B7CE512D6EA8}" type="slidenum">
              <a:rPr lang="en-US" altLang="de-DE" sz="1000">
                <a:solidFill>
                  <a:srgbClr val="C0C0C0"/>
                </a:solidFill>
              </a:rPr>
              <a:pPr/>
              <a:t>36</a:t>
            </a:fld>
            <a:endParaRPr lang="en-US" altLang="de-DE" sz="1000">
              <a:solidFill>
                <a:srgbClr val="C0C0C0"/>
              </a:solidFill>
            </a:endParaRPr>
          </a:p>
        </p:txBody>
      </p:sp>
      <p:sp>
        <p:nvSpPr>
          <p:cNvPr id="591877" name="Rectangle 5"/>
          <p:cNvSpPr>
            <a:spLocks noChangeArrowheads="1"/>
          </p:cNvSpPr>
          <p:nvPr/>
        </p:nvSpPr>
        <p:spPr bwMode="auto">
          <a:xfrm>
            <a:off x="603250" y="1444625"/>
            <a:ext cx="7785100" cy="407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44939"/>
          <a:lstStyle>
            <a:lvl1pPr marL="323850" indent="-323850" defTabSz="849313">
              <a:tabLst>
                <a:tab pos="284163" algn="l"/>
                <a:tab pos="512763" algn="l"/>
              </a:tabLst>
              <a:defRPr sz="1700">
                <a:solidFill>
                  <a:schemeClr val="tx1"/>
                </a:solidFill>
                <a:latin typeface="Arial" panose="020B0604020202020204" pitchFamily="34" charset="0"/>
              </a:defRPr>
            </a:lvl1pPr>
            <a:lvl2pPr marL="781050" indent="-323850" defTabSz="849313">
              <a:tabLst>
                <a:tab pos="284163" algn="l"/>
                <a:tab pos="512763" algn="l"/>
              </a:tabLst>
              <a:defRPr sz="1700">
                <a:solidFill>
                  <a:schemeClr val="tx1"/>
                </a:solidFill>
                <a:latin typeface="Arial" panose="020B0604020202020204" pitchFamily="34" charset="0"/>
              </a:defRPr>
            </a:lvl2pPr>
            <a:lvl3pPr marL="1143000" indent="-228600" defTabSz="849313">
              <a:tabLst>
                <a:tab pos="284163" algn="l"/>
                <a:tab pos="512763" algn="l"/>
              </a:tabLst>
              <a:defRPr sz="1700">
                <a:solidFill>
                  <a:schemeClr val="tx1"/>
                </a:solidFill>
                <a:latin typeface="Arial" panose="020B0604020202020204" pitchFamily="34" charset="0"/>
              </a:defRPr>
            </a:lvl3pPr>
            <a:lvl4pPr marL="1600200" indent="-228600" defTabSz="849313">
              <a:tabLst>
                <a:tab pos="284163" algn="l"/>
                <a:tab pos="512763" algn="l"/>
              </a:tabLst>
              <a:defRPr sz="1700">
                <a:solidFill>
                  <a:schemeClr val="tx1"/>
                </a:solidFill>
                <a:latin typeface="Arial" panose="020B0604020202020204" pitchFamily="34" charset="0"/>
              </a:defRPr>
            </a:lvl4pPr>
            <a:lvl5pPr marL="2057400" indent="-228600" defTabSz="849313">
              <a:tabLst>
                <a:tab pos="284163" algn="l"/>
                <a:tab pos="512763" algn="l"/>
              </a:tabLst>
              <a:defRPr sz="1700">
                <a:solidFill>
                  <a:schemeClr val="tx1"/>
                </a:solidFill>
                <a:latin typeface="Arial" panose="020B0604020202020204" pitchFamily="34" charset="0"/>
              </a:defRPr>
            </a:lvl5pPr>
            <a:lvl6pPr marL="2514600" indent="-228600" algn="ctr" defTabSz="849313" eaLnBrk="0" fontAlgn="base" hangingPunct="0">
              <a:lnSpc>
                <a:spcPts val="2350"/>
              </a:lnSpc>
              <a:spcBef>
                <a:spcPct val="0"/>
              </a:spcBef>
              <a:spcAft>
                <a:spcPct val="0"/>
              </a:spcAft>
              <a:tabLst>
                <a:tab pos="284163" algn="l"/>
                <a:tab pos="512763" algn="l"/>
              </a:tabLst>
              <a:defRPr sz="1700">
                <a:solidFill>
                  <a:schemeClr val="tx1"/>
                </a:solidFill>
                <a:latin typeface="Arial" panose="020B0604020202020204" pitchFamily="34" charset="0"/>
              </a:defRPr>
            </a:lvl6pPr>
            <a:lvl7pPr marL="2971800" indent="-228600" algn="ctr" defTabSz="849313" eaLnBrk="0" fontAlgn="base" hangingPunct="0">
              <a:lnSpc>
                <a:spcPts val="2350"/>
              </a:lnSpc>
              <a:spcBef>
                <a:spcPct val="0"/>
              </a:spcBef>
              <a:spcAft>
                <a:spcPct val="0"/>
              </a:spcAft>
              <a:tabLst>
                <a:tab pos="284163" algn="l"/>
                <a:tab pos="512763" algn="l"/>
              </a:tabLst>
              <a:defRPr sz="1700">
                <a:solidFill>
                  <a:schemeClr val="tx1"/>
                </a:solidFill>
                <a:latin typeface="Arial" panose="020B0604020202020204" pitchFamily="34" charset="0"/>
              </a:defRPr>
            </a:lvl7pPr>
            <a:lvl8pPr marL="3429000" indent="-228600" algn="ctr" defTabSz="849313" eaLnBrk="0" fontAlgn="base" hangingPunct="0">
              <a:lnSpc>
                <a:spcPts val="2350"/>
              </a:lnSpc>
              <a:spcBef>
                <a:spcPct val="0"/>
              </a:spcBef>
              <a:spcAft>
                <a:spcPct val="0"/>
              </a:spcAft>
              <a:tabLst>
                <a:tab pos="284163" algn="l"/>
                <a:tab pos="512763" algn="l"/>
              </a:tabLst>
              <a:defRPr sz="1700">
                <a:solidFill>
                  <a:schemeClr val="tx1"/>
                </a:solidFill>
                <a:latin typeface="Arial" panose="020B0604020202020204" pitchFamily="34" charset="0"/>
              </a:defRPr>
            </a:lvl8pPr>
            <a:lvl9pPr marL="3886200" indent="-228600" algn="ctr" defTabSz="849313" eaLnBrk="0" fontAlgn="base" hangingPunct="0">
              <a:lnSpc>
                <a:spcPts val="2350"/>
              </a:lnSpc>
              <a:spcBef>
                <a:spcPct val="0"/>
              </a:spcBef>
              <a:spcAft>
                <a:spcPct val="0"/>
              </a:spcAft>
              <a:tabLst>
                <a:tab pos="284163" algn="l"/>
                <a:tab pos="512763" algn="l"/>
              </a:tabLst>
              <a:defRPr sz="1700">
                <a:solidFill>
                  <a:schemeClr val="tx1"/>
                </a:solidFill>
                <a:latin typeface="Arial" panose="020B0604020202020204" pitchFamily="34" charset="0"/>
              </a:defRPr>
            </a:lvl9pPr>
          </a:lstStyle>
          <a:p>
            <a:pPr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Single cells are moved independently instead of swapping pairs of cells --- cannot and do not need to maintain exact partition balance</a:t>
            </a:r>
          </a:p>
          <a:p>
            <a:pPr lvl="1"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The area of each individual cell is taken into account</a:t>
            </a:r>
          </a:p>
          <a:p>
            <a:pPr lvl="1"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Applicable to partitions of unequal size </a:t>
            </a:r>
            <a:br>
              <a:rPr lang="en-US" altLang="zh-CN" dirty="0">
                <a:ea typeface="宋体" panose="02010600030101010101" pitchFamily="2" charset="-122"/>
                <a:sym typeface="Symbol" panose="05050102010706020507" pitchFamily="18" charset="2"/>
              </a:rPr>
            </a:br>
            <a:r>
              <a:rPr lang="en-US" altLang="zh-CN" dirty="0">
                <a:ea typeface="宋体" panose="02010600030101010101" pitchFamily="2" charset="-122"/>
                <a:sym typeface="Symbol" panose="05050102010706020507" pitchFamily="18" charset="2"/>
              </a:rPr>
              <a:t>and in the presence of initially fixed cells</a:t>
            </a:r>
            <a:br>
              <a:rPr lang="en-US" altLang="zh-CN" dirty="0">
                <a:ea typeface="宋体" panose="02010600030101010101" pitchFamily="2" charset="-122"/>
                <a:sym typeface="Symbol" panose="05050102010706020507" pitchFamily="18" charset="2"/>
              </a:rPr>
            </a:br>
            <a:endParaRPr lang="en-US" altLang="zh-CN" dirty="0">
              <a:ea typeface="宋体" panose="02010600030101010101" pitchFamily="2" charset="-122"/>
              <a:sym typeface="Symbol" panose="05050102010706020507" pitchFamily="18" charset="2"/>
            </a:endParaRPr>
          </a:p>
          <a:p>
            <a:pPr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Cut costs are extended to include hypergraphs</a:t>
            </a:r>
          </a:p>
          <a:p>
            <a:pPr lvl="1"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nets with 2+ pins</a:t>
            </a:r>
          </a:p>
          <a:p>
            <a:pPr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While the KL algorithm aims to minimize cut costs based on edges, </a:t>
            </a:r>
            <a:br>
              <a:rPr lang="en-US" altLang="zh-CN" dirty="0">
                <a:ea typeface="宋体" panose="02010600030101010101" pitchFamily="2" charset="-122"/>
                <a:sym typeface="Symbol" panose="05050102010706020507" pitchFamily="18" charset="2"/>
              </a:rPr>
            </a:br>
            <a:r>
              <a:rPr lang="en-US" altLang="zh-CN" dirty="0">
                <a:ea typeface="宋体" panose="02010600030101010101" pitchFamily="2" charset="-122"/>
                <a:sym typeface="Symbol" panose="05050102010706020507" pitchFamily="18" charset="2"/>
              </a:rPr>
              <a:t>the FM algorithm minimizes cut costs based on nets</a:t>
            </a:r>
            <a:br>
              <a:rPr lang="en-US" altLang="zh-CN" dirty="0">
                <a:ea typeface="宋体" panose="02010600030101010101" pitchFamily="2" charset="-122"/>
                <a:sym typeface="Symbol" panose="05050102010706020507" pitchFamily="18" charset="2"/>
              </a:rPr>
            </a:br>
            <a:endParaRPr lang="de-DE" altLang="de-DE" dirty="0">
              <a:sym typeface="Symbol" panose="05050102010706020507" pitchFamily="18" charset="2"/>
            </a:endParaRPr>
          </a:p>
          <a:p>
            <a:pPr algn="l">
              <a:lnSpc>
                <a:spcPct val="102000"/>
              </a:lnSpc>
              <a:spcBef>
                <a:spcPct val="50000"/>
              </a:spcBef>
              <a:buClr>
                <a:srgbClr val="CC0000"/>
              </a:buClr>
              <a:buFont typeface="Symbol" panose="05050102010706020507" pitchFamily="18" charset="2"/>
              <a:buChar char="·"/>
            </a:pPr>
            <a:r>
              <a:rPr lang="en-US" altLang="zh-CN" dirty="0">
                <a:ea typeface="宋体" panose="02010600030101010101" pitchFamily="2" charset="-122"/>
                <a:sym typeface="Symbol" panose="05050102010706020507" pitchFamily="18" charset="2"/>
              </a:rPr>
              <a:t>Nodes and subgraphs are referred to as </a:t>
            </a:r>
            <a:r>
              <a:rPr lang="en-US" altLang="zh-CN" i="1" dirty="0">
                <a:ea typeface="宋体" panose="02010600030101010101" pitchFamily="2" charset="-122"/>
                <a:sym typeface="Symbol" panose="05050102010706020507" pitchFamily="18" charset="2"/>
              </a:rPr>
              <a:t>cells</a:t>
            </a:r>
            <a:r>
              <a:rPr lang="en-US" altLang="zh-CN" dirty="0">
                <a:ea typeface="宋体" panose="02010600030101010101" pitchFamily="2" charset="-122"/>
                <a:sym typeface="Symbol" panose="05050102010706020507" pitchFamily="18" charset="2"/>
              </a:rPr>
              <a:t> and </a:t>
            </a:r>
            <a:r>
              <a:rPr lang="en-US" altLang="zh-CN" i="1" dirty="0">
                <a:ea typeface="宋体" panose="02010600030101010101" pitchFamily="2" charset="-122"/>
                <a:sym typeface="Symbol" panose="05050102010706020507" pitchFamily="18" charset="2"/>
              </a:rPr>
              <a:t>blocks</a:t>
            </a:r>
            <a:r>
              <a:rPr lang="en-US" altLang="zh-CN" dirty="0">
                <a:ea typeface="宋体" panose="02010600030101010101" pitchFamily="2" charset="-122"/>
                <a:sym typeface="Symbol" panose="05050102010706020507" pitchFamily="18" charset="2"/>
              </a:rPr>
              <a:t>, respectively</a:t>
            </a:r>
          </a:p>
          <a:p>
            <a:pPr algn="l">
              <a:lnSpc>
                <a:spcPct val="102000"/>
              </a:lnSpc>
              <a:spcBef>
                <a:spcPct val="50000"/>
              </a:spcBef>
              <a:buClr>
                <a:srgbClr val="CC0000"/>
              </a:buClr>
              <a:buFont typeface="Symbol" panose="05050102010706020507" pitchFamily="18" charset="2"/>
              <a:buChar char="·"/>
            </a:pPr>
            <a:endParaRPr lang="en-US" altLang="zh-CN" dirty="0">
              <a:ea typeface="宋体" panose="02010600030101010101" pitchFamily="2" charset="-122"/>
              <a:sym typeface="Symbol" panose="05050102010706020507" pitchFamily="18" charset="2"/>
            </a:endParaRPr>
          </a:p>
        </p:txBody>
      </p:sp>
      <p:sp>
        <p:nvSpPr>
          <p:cNvPr id="30724" name="Rectangle 7"/>
          <p:cNvSpPr>
            <a:spLocks noGrp="1" noChangeArrowheads="1"/>
          </p:cNvSpPr>
          <p:nvPr>
            <p:ph type="title"/>
          </p:nvPr>
        </p:nvSpPr>
        <p:spPr/>
        <p:txBody>
          <a:bodyPr/>
          <a:lstStyle/>
          <a:p>
            <a:r>
              <a:rPr lang="de-DE" altLang="de-DE"/>
              <a:t>2.4.3    	Fiduccia-Mattheyses (FM) Algorithm</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91877">
                                            <p:txEl>
                                              <p:pRg st="0" end="0"/>
                                            </p:txEl>
                                          </p:spTgt>
                                        </p:tgtEl>
                                        <p:attrNameLst>
                                          <p:attrName>style.visibility</p:attrName>
                                        </p:attrNameLst>
                                      </p:cBhvr>
                                      <p:to>
                                        <p:strVal val="visible"/>
                                      </p:to>
                                    </p:set>
                                    <p:animEffect transition="in" filter="dissolve">
                                      <p:cBhvr>
                                        <p:cTn id="7" dur="500"/>
                                        <p:tgtEl>
                                          <p:spTgt spid="59187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91877">
                                            <p:txEl>
                                              <p:pRg st="1" end="1"/>
                                            </p:txEl>
                                          </p:spTgt>
                                        </p:tgtEl>
                                        <p:attrNameLst>
                                          <p:attrName>style.visibility</p:attrName>
                                        </p:attrNameLst>
                                      </p:cBhvr>
                                      <p:to>
                                        <p:strVal val="visible"/>
                                      </p:to>
                                    </p:set>
                                    <p:animEffect transition="in" filter="dissolve">
                                      <p:cBhvr>
                                        <p:cTn id="12" dur="500"/>
                                        <p:tgtEl>
                                          <p:spTgt spid="59187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91877">
                                            <p:txEl>
                                              <p:pRg st="2" end="2"/>
                                            </p:txEl>
                                          </p:spTgt>
                                        </p:tgtEl>
                                        <p:attrNameLst>
                                          <p:attrName>style.visibility</p:attrName>
                                        </p:attrNameLst>
                                      </p:cBhvr>
                                      <p:to>
                                        <p:strVal val="visible"/>
                                      </p:to>
                                    </p:set>
                                    <p:animEffect transition="in" filter="dissolve">
                                      <p:cBhvr>
                                        <p:cTn id="17" dur="500"/>
                                        <p:tgtEl>
                                          <p:spTgt spid="59187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591877">
                                            <p:txEl>
                                              <p:pRg st="3" end="3"/>
                                            </p:txEl>
                                          </p:spTgt>
                                        </p:tgtEl>
                                        <p:attrNameLst>
                                          <p:attrName>style.visibility</p:attrName>
                                        </p:attrNameLst>
                                      </p:cBhvr>
                                      <p:to>
                                        <p:strVal val="visible"/>
                                      </p:to>
                                    </p:set>
                                    <p:animEffect transition="in" filter="dissolve">
                                      <p:cBhvr>
                                        <p:cTn id="22" dur="500"/>
                                        <p:tgtEl>
                                          <p:spTgt spid="59187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91877">
                                            <p:txEl>
                                              <p:pRg st="4" end="4"/>
                                            </p:txEl>
                                          </p:spTgt>
                                        </p:tgtEl>
                                        <p:attrNameLst>
                                          <p:attrName>style.visibility</p:attrName>
                                        </p:attrNameLst>
                                      </p:cBhvr>
                                      <p:to>
                                        <p:strVal val="visible"/>
                                      </p:to>
                                    </p:set>
                                    <p:animEffect transition="in" filter="dissolve">
                                      <p:cBhvr>
                                        <p:cTn id="27" dur="500"/>
                                        <p:tgtEl>
                                          <p:spTgt spid="59187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591877">
                                            <p:txEl>
                                              <p:pRg st="5" end="5"/>
                                            </p:txEl>
                                          </p:spTgt>
                                        </p:tgtEl>
                                        <p:attrNameLst>
                                          <p:attrName>style.visibility</p:attrName>
                                        </p:attrNameLst>
                                      </p:cBhvr>
                                      <p:to>
                                        <p:strVal val="visible"/>
                                      </p:to>
                                    </p:set>
                                    <p:animEffect transition="in" filter="dissolve">
                                      <p:cBhvr>
                                        <p:cTn id="32" dur="500"/>
                                        <p:tgtEl>
                                          <p:spTgt spid="59187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591877">
                                            <p:txEl>
                                              <p:pRg st="6" end="6"/>
                                            </p:txEl>
                                          </p:spTgt>
                                        </p:tgtEl>
                                        <p:attrNameLst>
                                          <p:attrName>style.visibility</p:attrName>
                                        </p:attrNameLst>
                                      </p:cBhvr>
                                      <p:to>
                                        <p:strVal val="visible"/>
                                      </p:to>
                                    </p:set>
                                    <p:animEffect transition="in" filter="dissolve">
                                      <p:cBhvr>
                                        <p:cTn id="37" dur="500"/>
                                        <p:tgtEl>
                                          <p:spTgt spid="59187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A719E774-9417-4CCD-A2BD-DE4F555874F5}" type="slidenum">
              <a:rPr lang="en-US" altLang="de-DE" sz="1000">
                <a:solidFill>
                  <a:srgbClr val="C0C0C0"/>
                </a:solidFill>
              </a:rPr>
              <a:pPr/>
              <a:t>37</a:t>
            </a:fld>
            <a:endParaRPr lang="en-US" altLang="de-DE" sz="1000">
              <a:solidFill>
                <a:srgbClr val="C0C0C0"/>
              </a:solidFill>
            </a:endParaRPr>
          </a:p>
        </p:txBody>
      </p:sp>
      <p:sp>
        <p:nvSpPr>
          <p:cNvPr id="31747" name="Text Box 3"/>
          <p:cNvSpPr txBox="1">
            <a:spLocks noChangeArrowheads="1"/>
          </p:cNvSpPr>
          <p:nvPr/>
        </p:nvSpPr>
        <p:spPr bwMode="auto">
          <a:xfrm>
            <a:off x="608013" y="1447800"/>
            <a:ext cx="8004175" cy="1976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2000"/>
              </a:lnSpc>
              <a:spcBef>
                <a:spcPct val="50000"/>
              </a:spcBef>
            </a:pPr>
            <a:r>
              <a:rPr lang="en-US" altLang="zh-CN" dirty="0">
                <a:ea typeface="宋体" panose="02010600030101010101" pitchFamily="2" charset="-122"/>
              </a:rPr>
              <a:t>Given:  a hypergraph </a:t>
            </a:r>
            <a:r>
              <a:rPr lang="en-US" altLang="zh-CN" i="1" dirty="0">
                <a:ea typeface="宋体" panose="02010600030101010101" pitchFamily="2" charset="-122"/>
              </a:rPr>
              <a:t>G</a:t>
            </a:r>
            <a:r>
              <a:rPr lang="en-US" altLang="zh-CN" dirty="0">
                <a:ea typeface="宋体" panose="02010600030101010101" pitchFamily="2" charset="-122"/>
              </a:rPr>
              <a:t>(</a:t>
            </a:r>
            <a:r>
              <a:rPr lang="en-US" altLang="zh-CN" i="1" dirty="0">
                <a:ea typeface="宋体" panose="02010600030101010101" pitchFamily="2" charset="-122"/>
              </a:rPr>
              <a:t>V</a:t>
            </a:r>
            <a:r>
              <a:rPr lang="en-US" altLang="zh-CN" dirty="0">
                <a:ea typeface="宋体" panose="02010600030101010101" pitchFamily="2" charset="-122"/>
              </a:rPr>
              <a:t>,</a:t>
            </a:r>
            <a:r>
              <a:rPr lang="en-US" altLang="zh-CN" i="1" dirty="0">
                <a:ea typeface="宋体" panose="02010600030101010101" pitchFamily="2" charset="-122"/>
              </a:rPr>
              <a:t>H</a:t>
            </a:r>
            <a:r>
              <a:rPr lang="en-US" altLang="zh-CN" dirty="0">
                <a:ea typeface="宋体" panose="02010600030101010101" pitchFamily="2" charset="-122"/>
              </a:rPr>
              <a:t>) with nodes and </a:t>
            </a:r>
            <a:r>
              <a:rPr lang="en-US" altLang="zh-CN" i="1" dirty="0">
                <a:ea typeface="宋体" panose="02010600030101010101" pitchFamily="2" charset="-122"/>
              </a:rPr>
              <a:t>weighted</a:t>
            </a:r>
            <a:r>
              <a:rPr lang="en-US" altLang="zh-CN" dirty="0">
                <a:ea typeface="宋体" panose="02010600030101010101" pitchFamily="2" charset="-122"/>
              </a:rPr>
              <a:t> hyperedges </a:t>
            </a:r>
            <a:br>
              <a:rPr lang="en-US" altLang="zh-CN" dirty="0">
                <a:ea typeface="宋体" panose="02010600030101010101" pitchFamily="2" charset="-122"/>
              </a:rPr>
            </a:br>
            <a:r>
              <a:rPr lang="en-US" altLang="zh-CN" dirty="0">
                <a:ea typeface="宋体" panose="02010600030101010101" pitchFamily="2" charset="-122"/>
              </a:rPr>
              <a:t>             partition size constraints</a:t>
            </a:r>
          </a:p>
          <a:p>
            <a:pPr algn="l">
              <a:lnSpc>
                <a:spcPct val="102000"/>
              </a:lnSpc>
              <a:spcBef>
                <a:spcPct val="50000"/>
              </a:spcBef>
            </a:pPr>
            <a:endParaRPr lang="en-US" altLang="zh-CN" dirty="0">
              <a:ea typeface="宋体" panose="02010600030101010101" pitchFamily="2" charset="-122"/>
            </a:endParaRPr>
          </a:p>
          <a:p>
            <a:pPr algn="l">
              <a:lnSpc>
                <a:spcPct val="102000"/>
              </a:lnSpc>
              <a:spcBef>
                <a:spcPct val="50000"/>
              </a:spcBef>
            </a:pPr>
            <a:r>
              <a:rPr lang="en-US" altLang="zh-CN" dirty="0">
                <a:ea typeface="宋体" panose="02010600030101010101" pitchFamily="2" charset="-122"/>
              </a:rPr>
              <a:t>Goal:  to assign all nodes to disjoint partitions,</a:t>
            </a:r>
            <a:br>
              <a:rPr lang="en-US" altLang="zh-CN" dirty="0">
                <a:ea typeface="宋体" panose="02010600030101010101" pitchFamily="2" charset="-122"/>
              </a:rPr>
            </a:br>
            <a:r>
              <a:rPr lang="en-US" altLang="zh-CN" dirty="0">
                <a:ea typeface="宋体" panose="02010600030101010101" pitchFamily="2" charset="-122"/>
              </a:rPr>
              <a:t>	so as to minimize the total cost (weight) of all cut nets </a:t>
            </a:r>
            <a:br>
              <a:rPr lang="en-US" altLang="zh-CN" dirty="0">
                <a:ea typeface="宋体" panose="02010600030101010101" pitchFamily="2" charset="-122"/>
              </a:rPr>
            </a:br>
            <a:r>
              <a:rPr lang="en-US" altLang="zh-CN" dirty="0">
                <a:ea typeface="宋体" panose="02010600030101010101" pitchFamily="2" charset="-122"/>
              </a:rPr>
              <a:t>	while satisfying </a:t>
            </a:r>
            <a:r>
              <a:rPr lang="en-US" altLang="zh-CN" i="1" dirty="0">
                <a:ea typeface="宋体" panose="02010600030101010101" pitchFamily="2" charset="-122"/>
              </a:rPr>
              <a:t>partition size constraints </a:t>
            </a:r>
          </a:p>
        </p:txBody>
      </p:sp>
      <p:sp>
        <p:nvSpPr>
          <p:cNvPr id="31748" name="Rectangle 4"/>
          <p:cNvSpPr>
            <a:spLocks noGrp="1" noChangeArrowheads="1"/>
          </p:cNvSpPr>
          <p:nvPr>
            <p:ph type="title"/>
          </p:nvPr>
        </p:nvSpPr>
        <p:spPr/>
        <p:txBody>
          <a:bodyPr/>
          <a:lstStyle/>
          <a:p>
            <a:r>
              <a:rPr lang="de-DE" altLang="de-DE"/>
              <a:t>2.4.3    	Fiduccia-Mattheyses (FM) Algorithm</a:t>
            </a:r>
            <a:endParaRPr lang="en-US" altLang="zh-CN">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AC334D13-1D7B-4D33-A4A8-F0D2B498C94A}" type="slidenum">
              <a:rPr lang="en-US" altLang="de-DE" sz="1000">
                <a:solidFill>
                  <a:srgbClr val="C0C0C0"/>
                </a:solidFill>
              </a:rPr>
              <a:pPr/>
              <a:t>38</a:t>
            </a:fld>
            <a:endParaRPr lang="en-US" altLang="de-DE" sz="1000">
              <a:solidFill>
                <a:srgbClr val="C0C0C0"/>
              </a:solidFill>
            </a:endParaRPr>
          </a:p>
        </p:txBody>
      </p:sp>
      <p:sp>
        <p:nvSpPr>
          <p:cNvPr id="581635" name="Text Box 3"/>
          <p:cNvSpPr txBox="1">
            <a:spLocks noChangeArrowheads="1"/>
          </p:cNvSpPr>
          <p:nvPr/>
        </p:nvSpPr>
        <p:spPr bwMode="auto">
          <a:xfrm>
            <a:off x="608013" y="1446213"/>
            <a:ext cx="4900612"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en-US" altLang="zh-CN" dirty="0">
                <a:solidFill>
                  <a:srgbClr val="CC0000"/>
                </a:solidFill>
                <a:ea typeface="宋体" panose="02010600030101010101" pitchFamily="2" charset="-122"/>
              </a:rPr>
              <a:t>Gain </a:t>
            </a:r>
            <a:r>
              <a:rPr lang="en-US" altLang="zh-CN" dirty="0">
                <a:solidFill>
                  <a:srgbClr val="CC0000"/>
                </a:solidFill>
                <a:ea typeface="宋体" panose="02010600030101010101" pitchFamily="2" charset="-122"/>
                <a:sym typeface="Symbol" panose="05050102010706020507" pitchFamily="18" charset="2"/>
              </a:rPr>
              <a:t></a:t>
            </a:r>
            <a:r>
              <a:rPr lang="en-US" altLang="zh-CN" i="1" dirty="0">
                <a:solidFill>
                  <a:srgbClr val="CC0000"/>
                </a:solidFill>
                <a:ea typeface="宋体" panose="02010600030101010101" pitchFamily="2" charset="-122"/>
              </a:rPr>
              <a:t>g</a:t>
            </a:r>
            <a:r>
              <a:rPr lang="en-US" altLang="zh-CN" dirty="0">
                <a:solidFill>
                  <a:srgbClr val="CC0000"/>
                </a:solidFill>
                <a:ea typeface="宋体" panose="02010600030101010101" pitchFamily="2" charset="-122"/>
              </a:rPr>
              <a:t>(</a:t>
            </a:r>
            <a:r>
              <a:rPr lang="en-US" altLang="zh-CN" i="1" dirty="0">
                <a:solidFill>
                  <a:srgbClr val="CC0000"/>
                </a:solidFill>
                <a:ea typeface="宋体" panose="02010600030101010101" pitchFamily="2" charset="-122"/>
              </a:rPr>
              <a:t>c</a:t>
            </a:r>
            <a:r>
              <a:rPr lang="en-US" altLang="zh-CN" dirty="0">
                <a:solidFill>
                  <a:srgbClr val="CC0000"/>
                </a:solidFill>
                <a:ea typeface="宋体" panose="02010600030101010101" pitchFamily="2" charset="-122"/>
              </a:rPr>
              <a:t>) for cell </a:t>
            </a:r>
            <a:r>
              <a:rPr lang="en-US" altLang="zh-CN" i="1" dirty="0">
                <a:solidFill>
                  <a:srgbClr val="CC0000"/>
                </a:solidFill>
                <a:ea typeface="宋体" panose="02010600030101010101" pitchFamily="2" charset="-122"/>
              </a:rPr>
              <a:t>c</a:t>
            </a:r>
          </a:p>
          <a:p>
            <a:pPr algn="l">
              <a:lnSpc>
                <a:spcPct val="100000"/>
              </a:lnSpc>
              <a:spcBef>
                <a:spcPct val="25000"/>
              </a:spcBef>
            </a:pPr>
            <a:endParaRPr lang="en-US" altLang="zh-CN" i="1" dirty="0">
              <a:solidFill>
                <a:srgbClr val="CC0000"/>
              </a:solidFill>
              <a:ea typeface="宋体" panose="02010600030101010101" pitchFamily="2" charset="-122"/>
            </a:endParaRPr>
          </a:p>
          <a:p>
            <a:pPr algn="l">
              <a:lnSpc>
                <a:spcPct val="100000"/>
              </a:lnSpc>
              <a:spcBef>
                <a:spcPct val="25000"/>
              </a:spcBef>
            </a:pPr>
            <a:r>
              <a:rPr lang="en-US" altLang="zh-CN" dirty="0">
                <a:ea typeface="宋体" panose="02010600030101010101" pitchFamily="2" charset="-122"/>
                <a:sym typeface="Symbol" panose="05050102010706020507" pitchFamily="18" charset="2"/>
              </a:rPr>
              <a:t></a:t>
            </a:r>
            <a:r>
              <a:rPr lang="en-US" altLang="zh-CN" i="1" dirty="0">
                <a:ea typeface="宋体" panose="02010600030101010101" pitchFamily="2" charset="-122"/>
              </a:rPr>
              <a:t>g</a:t>
            </a:r>
            <a:r>
              <a:rPr lang="en-US" altLang="zh-CN" dirty="0">
                <a:ea typeface="宋体" panose="02010600030101010101" pitchFamily="2" charset="-122"/>
              </a:rPr>
              <a:t>(</a:t>
            </a:r>
            <a:r>
              <a:rPr lang="en-US" altLang="zh-CN" i="1" dirty="0">
                <a:ea typeface="宋体" panose="02010600030101010101" pitchFamily="2" charset="-122"/>
              </a:rPr>
              <a:t>c</a:t>
            </a:r>
            <a:r>
              <a:rPr lang="en-US" altLang="zh-CN" dirty="0">
                <a:ea typeface="宋体" panose="02010600030101010101" pitchFamily="2" charset="-122"/>
              </a:rPr>
              <a:t>)  = </a:t>
            </a:r>
            <a:r>
              <a:rPr lang="en-US" altLang="zh-CN" i="1" dirty="0">
                <a:ea typeface="宋体" panose="02010600030101010101" pitchFamily="2" charset="-122"/>
                <a:sym typeface="Symbol" panose="05050102010706020507" pitchFamily="18" charset="2"/>
              </a:rPr>
              <a:t>FS</a:t>
            </a:r>
            <a:r>
              <a:rPr lang="en-US" altLang="zh-CN" dirty="0">
                <a:ea typeface="宋体" panose="02010600030101010101" pitchFamily="2" charset="-122"/>
                <a:sym typeface="Symbol" panose="05050102010706020507" pitchFamily="18" charset="2"/>
              </a:rPr>
              <a:t>(</a:t>
            </a:r>
            <a:r>
              <a:rPr lang="en-US" altLang="zh-CN" i="1" dirty="0">
                <a:ea typeface="宋体" panose="02010600030101010101" pitchFamily="2" charset="-122"/>
                <a:sym typeface="Symbol" panose="05050102010706020507" pitchFamily="18" charset="2"/>
              </a:rPr>
              <a:t>c</a:t>
            </a:r>
            <a:r>
              <a:rPr lang="en-US" altLang="zh-CN" dirty="0">
                <a:ea typeface="宋体" panose="02010600030101010101" pitchFamily="2" charset="-122"/>
                <a:sym typeface="Symbol" panose="05050102010706020507" pitchFamily="18" charset="2"/>
              </a:rPr>
              <a:t>) – </a:t>
            </a:r>
            <a:r>
              <a:rPr lang="en-US" altLang="zh-CN" i="1" dirty="0">
                <a:ea typeface="宋体" panose="02010600030101010101" pitchFamily="2" charset="-122"/>
                <a:sym typeface="Symbol" panose="05050102010706020507" pitchFamily="18" charset="2"/>
              </a:rPr>
              <a:t>TE</a:t>
            </a:r>
            <a:r>
              <a:rPr lang="en-US" altLang="zh-CN" dirty="0">
                <a:ea typeface="宋体" panose="02010600030101010101" pitchFamily="2" charset="-122"/>
                <a:sym typeface="Symbol" panose="05050102010706020507" pitchFamily="18" charset="2"/>
              </a:rPr>
              <a:t>(</a:t>
            </a:r>
            <a:r>
              <a:rPr lang="en-US" altLang="zh-CN" i="1" dirty="0">
                <a:ea typeface="宋体" panose="02010600030101010101" pitchFamily="2" charset="-122"/>
                <a:sym typeface="Symbol" panose="05050102010706020507" pitchFamily="18" charset="2"/>
              </a:rPr>
              <a:t>c</a:t>
            </a:r>
            <a:r>
              <a:rPr lang="en-US" altLang="zh-CN" dirty="0">
                <a:ea typeface="宋体" panose="02010600030101010101" pitchFamily="2" charset="-122"/>
                <a:sym typeface="Symbol" panose="05050102010706020507" pitchFamily="18" charset="2"/>
              </a:rPr>
              <a:t>)</a:t>
            </a:r>
            <a:r>
              <a:rPr lang="en-US" altLang="zh-CN" dirty="0">
                <a:ea typeface="宋体" panose="02010600030101010101" pitchFamily="2" charset="-122"/>
              </a:rPr>
              <a:t> , </a:t>
            </a:r>
          </a:p>
          <a:p>
            <a:pPr algn="l">
              <a:lnSpc>
                <a:spcPct val="100000"/>
              </a:lnSpc>
              <a:spcBef>
                <a:spcPct val="25000"/>
              </a:spcBef>
            </a:pPr>
            <a:endParaRPr lang="en-US" altLang="zh-CN" dirty="0">
              <a:ea typeface="宋体" panose="02010600030101010101" pitchFamily="2" charset="-122"/>
            </a:endParaRPr>
          </a:p>
          <a:p>
            <a:pPr algn="l">
              <a:lnSpc>
                <a:spcPct val="100000"/>
              </a:lnSpc>
              <a:spcBef>
                <a:spcPct val="25000"/>
              </a:spcBef>
            </a:pPr>
            <a:r>
              <a:rPr lang="en-US" altLang="zh-CN" sz="1400" dirty="0">
                <a:ea typeface="宋体" panose="02010600030101010101" pitchFamily="2" charset="-122"/>
              </a:rPr>
              <a:t>where </a:t>
            </a:r>
          </a:p>
          <a:p>
            <a:pPr algn="l">
              <a:lnSpc>
                <a:spcPct val="100000"/>
              </a:lnSpc>
              <a:spcBef>
                <a:spcPct val="25000"/>
              </a:spcBef>
            </a:pPr>
            <a:br>
              <a:rPr lang="en-US" altLang="zh-CN" sz="1400" dirty="0">
                <a:ea typeface="宋体" panose="02010600030101010101" pitchFamily="2" charset="-122"/>
                <a:sym typeface="Symbol" panose="05050102010706020507" pitchFamily="18" charset="2"/>
              </a:rPr>
            </a:br>
            <a:r>
              <a:rPr lang="en-US" altLang="zh-CN" sz="1400" dirty="0">
                <a:ea typeface="宋体" panose="02010600030101010101" pitchFamily="2" charset="-122"/>
                <a:sym typeface="Symbol" panose="05050102010706020507" pitchFamily="18" charset="2"/>
              </a:rPr>
              <a:t>the “moving force“</a:t>
            </a:r>
            <a:r>
              <a:rPr lang="en-US" altLang="zh-CN" sz="1400" i="1" dirty="0">
                <a:ea typeface="宋体" panose="02010600030101010101" pitchFamily="2" charset="-122"/>
                <a:sym typeface="Symbol" panose="05050102010706020507" pitchFamily="18" charset="2"/>
              </a:rPr>
              <a:t> FS</a:t>
            </a:r>
            <a:r>
              <a:rPr lang="en-US" altLang="zh-CN" sz="1400" dirty="0">
                <a:ea typeface="宋体" panose="02010600030101010101" pitchFamily="2" charset="-122"/>
                <a:sym typeface="Symbol" panose="05050102010706020507" pitchFamily="18" charset="2"/>
              </a:rPr>
              <a:t>(</a:t>
            </a:r>
            <a:r>
              <a:rPr lang="en-US" altLang="zh-CN" sz="1400" i="1" dirty="0">
                <a:ea typeface="宋体" panose="02010600030101010101" pitchFamily="2" charset="-122"/>
                <a:sym typeface="Symbol" panose="05050102010706020507" pitchFamily="18" charset="2"/>
              </a:rPr>
              <a:t>c</a:t>
            </a:r>
            <a:r>
              <a:rPr lang="en-US" altLang="zh-CN" sz="1400" dirty="0">
                <a:ea typeface="宋体" panose="02010600030101010101" pitchFamily="2" charset="-122"/>
                <a:sym typeface="Symbol" panose="05050102010706020507" pitchFamily="18" charset="2"/>
              </a:rPr>
              <a:t>)</a:t>
            </a:r>
            <a:r>
              <a:rPr lang="en-US" altLang="zh-CN" sz="1400" dirty="0">
                <a:ea typeface="宋体" panose="02010600030101010101" pitchFamily="2" charset="-122"/>
              </a:rPr>
              <a:t> is the number of nets connected to </a:t>
            </a:r>
            <a:r>
              <a:rPr lang="en-US" altLang="zh-CN" sz="1400" i="1" dirty="0">
                <a:ea typeface="宋体" panose="02010600030101010101" pitchFamily="2" charset="-122"/>
              </a:rPr>
              <a:t>c</a:t>
            </a:r>
            <a:r>
              <a:rPr lang="en-US" altLang="zh-CN" sz="1400" dirty="0">
                <a:ea typeface="宋体" panose="02010600030101010101" pitchFamily="2" charset="-122"/>
              </a:rPr>
              <a:t> but not connected to any other cells within </a:t>
            </a:r>
            <a:r>
              <a:rPr lang="en-US" altLang="zh-CN" sz="1400" i="1" dirty="0">
                <a:ea typeface="宋体" panose="02010600030101010101" pitchFamily="2" charset="-122"/>
              </a:rPr>
              <a:t>c</a:t>
            </a:r>
            <a:r>
              <a:rPr lang="en-US" altLang="zh-CN" sz="1400" dirty="0">
                <a:ea typeface="宋体" panose="02010600030101010101" pitchFamily="2" charset="-122"/>
              </a:rPr>
              <a:t>’s partition, i.e., cut nets that connect only to </a:t>
            </a:r>
            <a:r>
              <a:rPr lang="en-US" altLang="zh-CN" sz="1400" i="1" dirty="0">
                <a:ea typeface="宋体" panose="02010600030101010101" pitchFamily="2" charset="-122"/>
              </a:rPr>
              <a:t>c</a:t>
            </a:r>
            <a:r>
              <a:rPr lang="en-US" altLang="zh-CN" sz="1400" dirty="0">
                <a:ea typeface="宋体" panose="02010600030101010101" pitchFamily="2" charset="-122"/>
              </a:rPr>
              <a:t>, and </a:t>
            </a:r>
            <a:br>
              <a:rPr lang="en-US" altLang="zh-CN" sz="1400" dirty="0">
                <a:ea typeface="宋体" panose="02010600030101010101" pitchFamily="2" charset="-122"/>
              </a:rPr>
            </a:br>
            <a:endParaRPr lang="en-US" altLang="zh-CN" sz="1400" dirty="0">
              <a:ea typeface="宋体" panose="02010600030101010101" pitchFamily="2" charset="-122"/>
            </a:endParaRPr>
          </a:p>
          <a:p>
            <a:pPr algn="l">
              <a:lnSpc>
                <a:spcPct val="100000"/>
              </a:lnSpc>
              <a:spcBef>
                <a:spcPct val="25000"/>
              </a:spcBef>
            </a:pPr>
            <a:r>
              <a:rPr lang="en-US" altLang="zh-CN" sz="1400" dirty="0">
                <a:ea typeface="宋体" panose="02010600030101010101" pitchFamily="2" charset="-122"/>
              </a:rPr>
              <a:t>the “retention force“</a:t>
            </a:r>
            <a:r>
              <a:rPr lang="en-US" altLang="zh-CN" sz="1400" i="1" dirty="0">
                <a:ea typeface="宋体" panose="02010600030101010101" pitchFamily="2" charset="-122"/>
              </a:rPr>
              <a:t> TE</a:t>
            </a:r>
            <a:r>
              <a:rPr lang="en-US" altLang="zh-CN" sz="1400" dirty="0">
                <a:ea typeface="宋体" panose="02010600030101010101" pitchFamily="2" charset="-122"/>
              </a:rPr>
              <a:t>(</a:t>
            </a:r>
            <a:r>
              <a:rPr lang="en-US" altLang="zh-CN" sz="1400" i="1" dirty="0">
                <a:ea typeface="宋体" panose="02010600030101010101" pitchFamily="2" charset="-122"/>
              </a:rPr>
              <a:t>c</a:t>
            </a:r>
            <a:r>
              <a:rPr lang="en-US" altLang="zh-CN" sz="1400" dirty="0">
                <a:ea typeface="宋体" panose="02010600030101010101" pitchFamily="2" charset="-122"/>
              </a:rPr>
              <a:t>) is the number of </a:t>
            </a:r>
            <a:r>
              <a:rPr lang="en-US" altLang="zh-CN" sz="1400" i="1" dirty="0">
                <a:ea typeface="宋体" panose="02010600030101010101" pitchFamily="2" charset="-122"/>
              </a:rPr>
              <a:t>uncut </a:t>
            </a:r>
            <a:r>
              <a:rPr lang="en-US" altLang="zh-CN" sz="1400" dirty="0">
                <a:ea typeface="宋体" panose="02010600030101010101" pitchFamily="2" charset="-122"/>
              </a:rPr>
              <a:t>nets connected to </a:t>
            </a:r>
            <a:r>
              <a:rPr lang="en-US" altLang="zh-CN" sz="1400" i="1" dirty="0">
                <a:ea typeface="宋体" panose="02010600030101010101" pitchFamily="2" charset="-122"/>
              </a:rPr>
              <a:t>c</a:t>
            </a:r>
            <a:r>
              <a:rPr lang="en-US" altLang="zh-CN" sz="1400" dirty="0">
                <a:ea typeface="宋体" panose="02010600030101010101" pitchFamily="2" charset="-122"/>
              </a:rPr>
              <a:t>.</a:t>
            </a:r>
          </a:p>
          <a:p>
            <a:pPr algn="l">
              <a:lnSpc>
                <a:spcPct val="100000"/>
              </a:lnSpc>
              <a:spcBef>
                <a:spcPct val="25000"/>
              </a:spcBef>
            </a:pPr>
            <a:endParaRPr lang="en-US" altLang="zh-CN" sz="1400" dirty="0">
              <a:ea typeface="宋体" panose="02010600030101010101" pitchFamily="2" charset="-122"/>
            </a:endParaRPr>
          </a:p>
          <a:p>
            <a:pPr algn="l">
              <a:lnSpc>
                <a:spcPct val="100000"/>
              </a:lnSpc>
              <a:spcBef>
                <a:spcPct val="25000"/>
              </a:spcBef>
            </a:pPr>
            <a:endParaRPr lang="en-US" altLang="zh-CN" dirty="0">
              <a:ea typeface="宋体" panose="02010600030101010101" pitchFamily="2" charset="-122"/>
            </a:endParaRPr>
          </a:p>
          <a:p>
            <a:pPr algn="l">
              <a:lnSpc>
                <a:spcPct val="100000"/>
              </a:lnSpc>
              <a:spcBef>
                <a:spcPct val="25000"/>
              </a:spcBef>
            </a:pPr>
            <a:endParaRPr lang="de-DE" altLang="de-DE" dirty="0"/>
          </a:p>
          <a:p>
            <a:pPr algn="l">
              <a:lnSpc>
                <a:spcPct val="100000"/>
              </a:lnSpc>
              <a:spcBef>
                <a:spcPct val="25000"/>
              </a:spcBef>
            </a:pPr>
            <a:r>
              <a:rPr lang="en-US" altLang="zh-CN" dirty="0">
                <a:ea typeface="宋体" panose="02010600030101010101" pitchFamily="2" charset="-122"/>
              </a:rPr>
              <a:t>The higher the gain </a:t>
            </a:r>
            <a:r>
              <a:rPr lang="en-US" altLang="zh-CN" dirty="0">
                <a:ea typeface="宋体" panose="02010600030101010101" pitchFamily="2" charset="-122"/>
                <a:sym typeface="Symbol" panose="05050102010706020507" pitchFamily="18" charset="2"/>
              </a:rPr>
              <a:t></a:t>
            </a:r>
            <a:r>
              <a:rPr lang="en-US" altLang="zh-CN" i="1" dirty="0">
                <a:ea typeface="宋体" panose="02010600030101010101" pitchFamily="2" charset="-122"/>
              </a:rPr>
              <a:t>g</a:t>
            </a:r>
            <a:r>
              <a:rPr lang="en-US" altLang="zh-CN" dirty="0">
                <a:ea typeface="宋体" panose="02010600030101010101" pitchFamily="2" charset="-122"/>
              </a:rPr>
              <a:t>(</a:t>
            </a:r>
            <a:r>
              <a:rPr lang="en-US" altLang="zh-CN" i="1" dirty="0">
                <a:ea typeface="宋体" panose="02010600030101010101" pitchFamily="2" charset="-122"/>
              </a:rPr>
              <a:t>c</a:t>
            </a:r>
            <a:r>
              <a:rPr lang="en-US" altLang="zh-CN" dirty="0">
                <a:ea typeface="宋体" panose="02010600030101010101" pitchFamily="2" charset="-122"/>
              </a:rPr>
              <a:t>), the higher is the priority to move the cell </a:t>
            </a:r>
            <a:r>
              <a:rPr lang="en-US" altLang="zh-CN" i="1" dirty="0">
                <a:ea typeface="宋体" panose="02010600030101010101" pitchFamily="2" charset="-122"/>
              </a:rPr>
              <a:t>c</a:t>
            </a:r>
            <a:r>
              <a:rPr lang="en-US" altLang="zh-CN" dirty="0">
                <a:ea typeface="宋体" panose="02010600030101010101" pitchFamily="2" charset="-122"/>
              </a:rPr>
              <a:t> to the other partition. </a:t>
            </a:r>
            <a:endParaRPr lang="de-DE" altLang="de-DE" dirty="0"/>
          </a:p>
        </p:txBody>
      </p:sp>
      <p:sp>
        <p:nvSpPr>
          <p:cNvPr id="581667" name="Text Box 35"/>
          <p:cNvSpPr txBox="1">
            <a:spLocks noChangeArrowheads="1"/>
          </p:cNvSpPr>
          <p:nvPr/>
        </p:nvSpPr>
        <p:spPr bwMode="auto">
          <a:xfrm>
            <a:off x="5219700" y="4313238"/>
            <a:ext cx="3759200" cy="41116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nl-NL" altLang="de-DE" sz="1400"/>
              <a:t>Cell 2:      </a:t>
            </a:r>
            <a:r>
              <a:rPr lang="de-DE" altLang="de-DE" sz="1400" i="1"/>
              <a:t>FS</a:t>
            </a:r>
            <a:r>
              <a:rPr lang="nl-NL" altLang="de-DE" sz="1400"/>
              <a:t>(2) = 0	</a:t>
            </a:r>
            <a:r>
              <a:rPr lang="de-DE" altLang="de-DE" sz="1400" i="1"/>
              <a:t>TE</a:t>
            </a:r>
            <a:r>
              <a:rPr lang="nl-NL" altLang="de-DE" sz="1400"/>
              <a:t>(2) = 1	</a:t>
            </a:r>
            <a:r>
              <a:rPr lang="de-DE" altLang="de-DE" sz="1400">
                <a:sym typeface="Symbol" panose="05050102010706020507" pitchFamily="18" charset="2"/>
              </a:rPr>
              <a:t></a:t>
            </a:r>
            <a:r>
              <a:rPr lang="de-DE" altLang="de-DE" sz="1400" i="1"/>
              <a:t>g</a:t>
            </a:r>
            <a:r>
              <a:rPr lang="nl-NL" altLang="de-DE" sz="1400"/>
              <a:t>(2) = -1</a:t>
            </a:r>
            <a:endParaRPr lang="en-US" altLang="zh-CN" sz="1400">
              <a:ea typeface="宋体" panose="02010600030101010101" pitchFamily="2" charset="-122"/>
            </a:endParaRPr>
          </a:p>
        </p:txBody>
      </p:sp>
      <p:sp>
        <p:nvSpPr>
          <p:cNvPr id="581694" name="Freeform 62"/>
          <p:cNvSpPr>
            <a:spLocks/>
          </p:cNvSpPr>
          <p:nvPr/>
        </p:nvSpPr>
        <p:spPr bwMode="auto">
          <a:xfrm>
            <a:off x="5940425" y="1773238"/>
            <a:ext cx="1008063" cy="2519362"/>
          </a:xfrm>
          <a:custGeom>
            <a:avLst/>
            <a:gdLst>
              <a:gd name="T0" fmla="*/ 0 w 635"/>
              <a:gd name="T1" fmla="*/ 2519362 h 1497"/>
              <a:gd name="T2" fmla="*/ 287338 w 635"/>
              <a:gd name="T3" fmla="*/ 839787 h 1497"/>
              <a:gd name="T4" fmla="*/ 1008063 w 635"/>
              <a:gd name="T5" fmla="*/ 0 h 1497"/>
              <a:gd name="T6" fmla="*/ 0 60000 65536"/>
              <a:gd name="T7" fmla="*/ 0 60000 65536"/>
              <a:gd name="T8" fmla="*/ 0 60000 65536"/>
            </a:gdLst>
            <a:ahLst/>
            <a:cxnLst>
              <a:cxn ang="T6">
                <a:pos x="T0" y="T1"/>
              </a:cxn>
              <a:cxn ang="T7">
                <a:pos x="T2" y="T3"/>
              </a:cxn>
              <a:cxn ang="T8">
                <a:pos x="T4" y="T5"/>
              </a:cxn>
            </a:cxnLst>
            <a:rect l="0" t="0" r="r" b="b"/>
            <a:pathLst>
              <a:path w="635" h="1497">
                <a:moveTo>
                  <a:pt x="0" y="1497"/>
                </a:moveTo>
                <a:cubicBezTo>
                  <a:pt x="37" y="1122"/>
                  <a:pt x="75" y="748"/>
                  <a:pt x="181" y="499"/>
                </a:cubicBezTo>
                <a:cubicBezTo>
                  <a:pt x="287" y="250"/>
                  <a:pt x="461" y="125"/>
                  <a:pt x="635" y="0"/>
                </a:cubicBez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
        <p:nvSpPr>
          <p:cNvPr id="581697" name="Line 65"/>
          <p:cNvSpPr>
            <a:spLocks noChangeAspect="1" noChangeShapeType="1"/>
          </p:cNvSpPr>
          <p:nvPr/>
        </p:nvSpPr>
        <p:spPr bwMode="auto">
          <a:xfrm flipV="1">
            <a:off x="7327900" y="1627188"/>
            <a:ext cx="798513" cy="735012"/>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581698" name="Line 66"/>
          <p:cNvSpPr>
            <a:spLocks noChangeAspect="1" noChangeShapeType="1"/>
          </p:cNvSpPr>
          <p:nvPr/>
        </p:nvSpPr>
        <p:spPr bwMode="auto">
          <a:xfrm flipH="1">
            <a:off x="7327900" y="1751013"/>
            <a:ext cx="0" cy="140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1699" name="Line 67"/>
          <p:cNvSpPr>
            <a:spLocks noChangeAspect="1" noChangeShapeType="1"/>
          </p:cNvSpPr>
          <p:nvPr/>
        </p:nvSpPr>
        <p:spPr bwMode="auto">
          <a:xfrm>
            <a:off x="8128000" y="1598613"/>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1700" name="Line 68"/>
          <p:cNvSpPr>
            <a:spLocks noChangeAspect="1" noChangeShapeType="1"/>
          </p:cNvSpPr>
          <p:nvPr/>
        </p:nvSpPr>
        <p:spPr bwMode="auto">
          <a:xfrm flipH="1">
            <a:off x="7145338" y="16271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1701" name="Line 69"/>
          <p:cNvSpPr>
            <a:spLocks noChangeAspect="1" noChangeShapeType="1"/>
          </p:cNvSpPr>
          <p:nvPr/>
        </p:nvSpPr>
        <p:spPr bwMode="auto">
          <a:xfrm flipH="1">
            <a:off x="7297738" y="2401888"/>
            <a:ext cx="809625" cy="696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1702" name="Line 70"/>
          <p:cNvSpPr>
            <a:spLocks noChangeAspect="1" noChangeShapeType="1"/>
          </p:cNvSpPr>
          <p:nvPr/>
        </p:nvSpPr>
        <p:spPr bwMode="auto">
          <a:xfrm>
            <a:off x="7278688" y="3160713"/>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1703" name="Oval 71"/>
          <p:cNvSpPr>
            <a:spLocks noChangeAspect="1" noChangeArrowheads="1"/>
          </p:cNvSpPr>
          <p:nvPr/>
        </p:nvSpPr>
        <p:spPr bwMode="auto">
          <a:xfrm>
            <a:off x="6989763" y="2947988"/>
            <a:ext cx="460375" cy="45878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1704" name="Rectangle 72"/>
          <p:cNvSpPr>
            <a:spLocks noChangeAspect="1" noChangeArrowheads="1"/>
          </p:cNvSpPr>
          <p:nvPr/>
        </p:nvSpPr>
        <p:spPr bwMode="auto">
          <a:xfrm>
            <a:off x="7032625" y="2982913"/>
            <a:ext cx="36830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1</a:t>
            </a:r>
            <a:endParaRPr lang="en-US" altLang="zh-CN" b="1">
              <a:ea typeface="宋体" panose="02010600030101010101" pitchFamily="2" charset="-122"/>
            </a:endParaRPr>
          </a:p>
        </p:txBody>
      </p:sp>
      <p:sp>
        <p:nvSpPr>
          <p:cNvPr id="581705" name="Oval 73"/>
          <p:cNvSpPr>
            <a:spLocks noChangeAspect="1" noChangeArrowheads="1"/>
          </p:cNvSpPr>
          <p:nvPr/>
        </p:nvSpPr>
        <p:spPr bwMode="auto">
          <a:xfrm>
            <a:off x="7889875" y="1412875"/>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1706" name="Rectangle 74"/>
          <p:cNvSpPr>
            <a:spLocks noChangeAspect="1" noChangeArrowheads="1"/>
          </p:cNvSpPr>
          <p:nvPr/>
        </p:nvSpPr>
        <p:spPr bwMode="auto">
          <a:xfrm>
            <a:off x="7932738" y="14589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581707" name="Oval 75"/>
          <p:cNvSpPr>
            <a:spLocks noChangeAspect="1" noChangeArrowheads="1"/>
          </p:cNvSpPr>
          <p:nvPr/>
        </p:nvSpPr>
        <p:spPr bwMode="auto">
          <a:xfrm>
            <a:off x="7910513" y="2179638"/>
            <a:ext cx="458787"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1708" name="Rectangle 76"/>
          <p:cNvSpPr>
            <a:spLocks noChangeAspect="1" noChangeArrowheads="1"/>
          </p:cNvSpPr>
          <p:nvPr/>
        </p:nvSpPr>
        <p:spPr bwMode="auto">
          <a:xfrm>
            <a:off x="7934325" y="2212975"/>
            <a:ext cx="3667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581709" name="Oval 77"/>
          <p:cNvSpPr>
            <a:spLocks noChangeAspect="1" noChangeArrowheads="1"/>
          </p:cNvSpPr>
          <p:nvPr/>
        </p:nvSpPr>
        <p:spPr bwMode="auto">
          <a:xfrm>
            <a:off x="7010400" y="1412875"/>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1710" name="Rectangle 78"/>
          <p:cNvSpPr>
            <a:spLocks noChangeAspect="1" noChangeArrowheads="1"/>
          </p:cNvSpPr>
          <p:nvPr/>
        </p:nvSpPr>
        <p:spPr bwMode="auto">
          <a:xfrm>
            <a:off x="7050088" y="1465263"/>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581711" name="Oval 79"/>
          <p:cNvSpPr>
            <a:spLocks noChangeAspect="1" noChangeArrowheads="1"/>
          </p:cNvSpPr>
          <p:nvPr/>
        </p:nvSpPr>
        <p:spPr bwMode="auto">
          <a:xfrm>
            <a:off x="7889875" y="2946400"/>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1712" name="Rectangle 80"/>
          <p:cNvSpPr>
            <a:spLocks noChangeAspect="1" noChangeArrowheads="1"/>
          </p:cNvSpPr>
          <p:nvPr/>
        </p:nvSpPr>
        <p:spPr bwMode="auto">
          <a:xfrm>
            <a:off x="7932738" y="2990850"/>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581713" name="Line 81"/>
          <p:cNvSpPr>
            <a:spLocks noChangeAspect="1" noChangeShapeType="1"/>
          </p:cNvSpPr>
          <p:nvPr/>
        </p:nvSpPr>
        <p:spPr bwMode="auto">
          <a:xfrm>
            <a:off x="7696200" y="1465263"/>
            <a:ext cx="0" cy="194151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1714" name="Text Box 82"/>
          <p:cNvSpPr txBox="1">
            <a:spLocks noChangeAspect="1" noChangeArrowheads="1"/>
          </p:cNvSpPr>
          <p:nvPr/>
        </p:nvSpPr>
        <p:spPr bwMode="auto">
          <a:xfrm>
            <a:off x="6911975" y="2119313"/>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581715" name="Text Box 83"/>
          <p:cNvSpPr txBox="1">
            <a:spLocks noChangeAspect="1" noChangeArrowheads="1"/>
          </p:cNvSpPr>
          <p:nvPr/>
        </p:nvSpPr>
        <p:spPr bwMode="auto">
          <a:xfrm>
            <a:off x="7292975" y="187483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581716" name="Text Box 84"/>
          <p:cNvSpPr txBox="1">
            <a:spLocks noChangeAspect="1" noChangeArrowheads="1"/>
          </p:cNvSpPr>
          <p:nvPr/>
        </p:nvSpPr>
        <p:spPr bwMode="auto">
          <a:xfrm>
            <a:off x="7332663" y="2606675"/>
            <a:ext cx="30321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581717" name="Text Box 85"/>
          <p:cNvSpPr txBox="1">
            <a:spLocks noChangeAspect="1" noChangeArrowheads="1"/>
          </p:cNvSpPr>
          <p:nvPr/>
        </p:nvSpPr>
        <p:spPr bwMode="auto">
          <a:xfrm>
            <a:off x="7389813" y="2852738"/>
            <a:ext cx="366712"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581718" name="Text Box 86"/>
          <p:cNvSpPr txBox="1">
            <a:spLocks noChangeAspect="1" noChangeArrowheads="1"/>
          </p:cNvSpPr>
          <p:nvPr/>
        </p:nvSpPr>
        <p:spPr bwMode="auto">
          <a:xfrm>
            <a:off x="7878763" y="1874838"/>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32796" name="Rectangle 89"/>
          <p:cNvSpPr>
            <a:spLocks noGrp="1" noChangeArrowheads="1"/>
          </p:cNvSpPr>
          <p:nvPr>
            <p:ph type="title"/>
          </p:nvPr>
        </p:nvSpPr>
        <p:spPr/>
        <p:txBody>
          <a:bodyPr/>
          <a:lstStyle/>
          <a:p>
            <a:pPr defTabSz="914400"/>
            <a:r>
              <a:rPr lang="de-DE" altLang="de-DE"/>
              <a:t>2.4.3	Fiduccia-Mattheyses (FM) Algorithm – Terminology</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1635">
                                            <p:txEl>
                                              <p:pRg st="2" end="2"/>
                                            </p:txEl>
                                          </p:spTgt>
                                        </p:tgtEl>
                                        <p:attrNameLst>
                                          <p:attrName>style.visibility</p:attrName>
                                        </p:attrNameLst>
                                      </p:cBhvr>
                                      <p:to>
                                        <p:strVal val="visible"/>
                                      </p:to>
                                    </p:set>
                                    <p:animEffect transition="in" filter="dissolve">
                                      <p:cBhvr>
                                        <p:cTn id="7" dur="500"/>
                                        <p:tgtEl>
                                          <p:spTgt spid="581635">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81635">
                                            <p:txEl>
                                              <p:pRg st="4" end="4"/>
                                            </p:txEl>
                                          </p:spTgt>
                                        </p:tgtEl>
                                        <p:attrNameLst>
                                          <p:attrName>style.visibility</p:attrName>
                                        </p:attrNameLst>
                                      </p:cBhvr>
                                      <p:to>
                                        <p:strVal val="visible"/>
                                      </p:to>
                                    </p:set>
                                    <p:animEffect transition="in" filter="dissolve">
                                      <p:cBhvr>
                                        <p:cTn id="10" dur="500"/>
                                        <p:tgtEl>
                                          <p:spTgt spid="581635">
                                            <p:txEl>
                                              <p:pRg st="4" end="4"/>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81635">
                                            <p:txEl>
                                              <p:pRg st="5" end="5"/>
                                            </p:txEl>
                                          </p:spTgt>
                                        </p:tgtEl>
                                        <p:attrNameLst>
                                          <p:attrName>style.visibility</p:attrName>
                                        </p:attrNameLst>
                                      </p:cBhvr>
                                      <p:to>
                                        <p:strVal val="visible"/>
                                      </p:to>
                                    </p:set>
                                    <p:animEffect transition="in" filter="dissolve">
                                      <p:cBhvr>
                                        <p:cTn id="13" dur="500"/>
                                        <p:tgtEl>
                                          <p:spTgt spid="581635">
                                            <p:txEl>
                                              <p:pRg st="5" end="5"/>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81635">
                                            <p:txEl>
                                              <p:pRg st="6" end="6"/>
                                            </p:txEl>
                                          </p:spTgt>
                                        </p:tgtEl>
                                        <p:attrNameLst>
                                          <p:attrName>style.visibility</p:attrName>
                                        </p:attrNameLst>
                                      </p:cBhvr>
                                      <p:to>
                                        <p:strVal val="visible"/>
                                      </p:to>
                                    </p:set>
                                    <p:animEffect transition="in" filter="dissolve">
                                      <p:cBhvr>
                                        <p:cTn id="16" dur="500"/>
                                        <p:tgtEl>
                                          <p:spTgt spid="581635">
                                            <p:txEl>
                                              <p:pRg st="6" end="6"/>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581697"/>
                                        </p:tgtEl>
                                        <p:attrNameLst>
                                          <p:attrName>style.visibility</p:attrName>
                                        </p:attrNameLst>
                                      </p:cBhvr>
                                      <p:to>
                                        <p:strVal val="visible"/>
                                      </p:to>
                                    </p:set>
                                    <p:animEffect transition="in" filter="dissolve">
                                      <p:cBhvr>
                                        <p:cTn id="21" dur="500"/>
                                        <p:tgtEl>
                                          <p:spTgt spid="581697"/>
                                        </p:tgtEl>
                                      </p:cBhvr>
                                    </p:animEffect>
                                  </p:childTnLst>
                                </p:cTn>
                              </p:par>
                              <p:par>
                                <p:cTn id="22" presetID="9" presetClass="entr" presetSubtype="0" fill="hold" nodeType="withEffect">
                                  <p:stCondLst>
                                    <p:cond delay="0"/>
                                  </p:stCondLst>
                                  <p:childTnLst>
                                    <p:set>
                                      <p:cBhvr>
                                        <p:cTn id="23" dur="1" fill="hold">
                                          <p:stCondLst>
                                            <p:cond delay="0"/>
                                          </p:stCondLst>
                                        </p:cTn>
                                        <p:tgtEl>
                                          <p:spTgt spid="581698"/>
                                        </p:tgtEl>
                                        <p:attrNameLst>
                                          <p:attrName>style.visibility</p:attrName>
                                        </p:attrNameLst>
                                      </p:cBhvr>
                                      <p:to>
                                        <p:strVal val="visible"/>
                                      </p:to>
                                    </p:set>
                                    <p:animEffect transition="in" filter="dissolve">
                                      <p:cBhvr>
                                        <p:cTn id="24" dur="500"/>
                                        <p:tgtEl>
                                          <p:spTgt spid="581698"/>
                                        </p:tgtEl>
                                      </p:cBhvr>
                                    </p:animEffect>
                                  </p:childTnLst>
                                </p:cTn>
                              </p:par>
                              <p:par>
                                <p:cTn id="25" presetID="9" presetClass="entr" presetSubtype="0" fill="hold" nodeType="withEffect">
                                  <p:stCondLst>
                                    <p:cond delay="0"/>
                                  </p:stCondLst>
                                  <p:childTnLst>
                                    <p:set>
                                      <p:cBhvr>
                                        <p:cTn id="26" dur="1" fill="hold">
                                          <p:stCondLst>
                                            <p:cond delay="0"/>
                                          </p:stCondLst>
                                        </p:cTn>
                                        <p:tgtEl>
                                          <p:spTgt spid="581699"/>
                                        </p:tgtEl>
                                        <p:attrNameLst>
                                          <p:attrName>style.visibility</p:attrName>
                                        </p:attrNameLst>
                                      </p:cBhvr>
                                      <p:to>
                                        <p:strVal val="visible"/>
                                      </p:to>
                                    </p:set>
                                    <p:animEffect transition="in" filter="dissolve">
                                      <p:cBhvr>
                                        <p:cTn id="27" dur="500"/>
                                        <p:tgtEl>
                                          <p:spTgt spid="581699"/>
                                        </p:tgtEl>
                                      </p:cBhvr>
                                    </p:animEffect>
                                  </p:childTnLst>
                                </p:cTn>
                              </p:par>
                              <p:par>
                                <p:cTn id="28" presetID="9" presetClass="entr" presetSubtype="0" fill="hold" nodeType="withEffect">
                                  <p:stCondLst>
                                    <p:cond delay="0"/>
                                  </p:stCondLst>
                                  <p:childTnLst>
                                    <p:set>
                                      <p:cBhvr>
                                        <p:cTn id="29" dur="1" fill="hold">
                                          <p:stCondLst>
                                            <p:cond delay="0"/>
                                          </p:stCondLst>
                                        </p:cTn>
                                        <p:tgtEl>
                                          <p:spTgt spid="581700"/>
                                        </p:tgtEl>
                                        <p:attrNameLst>
                                          <p:attrName>style.visibility</p:attrName>
                                        </p:attrNameLst>
                                      </p:cBhvr>
                                      <p:to>
                                        <p:strVal val="visible"/>
                                      </p:to>
                                    </p:set>
                                    <p:animEffect transition="in" filter="dissolve">
                                      <p:cBhvr>
                                        <p:cTn id="30" dur="500"/>
                                        <p:tgtEl>
                                          <p:spTgt spid="581700"/>
                                        </p:tgtEl>
                                      </p:cBhvr>
                                    </p:animEffect>
                                  </p:childTnLst>
                                </p:cTn>
                              </p:par>
                              <p:par>
                                <p:cTn id="31" presetID="9" presetClass="entr" presetSubtype="0" fill="hold" nodeType="withEffect">
                                  <p:stCondLst>
                                    <p:cond delay="0"/>
                                  </p:stCondLst>
                                  <p:childTnLst>
                                    <p:set>
                                      <p:cBhvr>
                                        <p:cTn id="32" dur="1" fill="hold">
                                          <p:stCondLst>
                                            <p:cond delay="0"/>
                                          </p:stCondLst>
                                        </p:cTn>
                                        <p:tgtEl>
                                          <p:spTgt spid="581701"/>
                                        </p:tgtEl>
                                        <p:attrNameLst>
                                          <p:attrName>style.visibility</p:attrName>
                                        </p:attrNameLst>
                                      </p:cBhvr>
                                      <p:to>
                                        <p:strVal val="visible"/>
                                      </p:to>
                                    </p:set>
                                    <p:animEffect transition="in" filter="dissolve">
                                      <p:cBhvr>
                                        <p:cTn id="33" dur="500"/>
                                        <p:tgtEl>
                                          <p:spTgt spid="581701"/>
                                        </p:tgtEl>
                                      </p:cBhvr>
                                    </p:animEffect>
                                  </p:childTnLst>
                                </p:cTn>
                              </p:par>
                              <p:par>
                                <p:cTn id="34" presetID="9" presetClass="entr" presetSubtype="0" fill="hold" nodeType="withEffect">
                                  <p:stCondLst>
                                    <p:cond delay="0"/>
                                  </p:stCondLst>
                                  <p:childTnLst>
                                    <p:set>
                                      <p:cBhvr>
                                        <p:cTn id="35" dur="1" fill="hold">
                                          <p:stCondLst>
                                            <p:cond delay="0"/>
                                          </p:stCondLst>
                                        </p:cTn>
                                        <p:tgtEl>
                                          <p:spTgt spid="581702"/>
                                        </p:tgtEl>
                                        <p:attrNameLst>
                                          <p:attrName>style.visibility</p:attrName>
                                        </p:attrNameLst>
                                      </p:cBhvr>
                                      <p:to>
                                        <p:strVal val="visible"/>
                                      </p:to>
                                    </p:set>
                                    <p:animEffect transition="in" filter="dissolve">
                                      <p:cBhvr>
                                        <p:cTn id="36" dur="500"/>
                                        <p:tgtEl>
                                          <p:spTgt spid="581702"/>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581703"/>
                                        </p:tgtEl>
                                        <p:attrNameLst>
                                          <p:attrName>style.visibility</p:attrName>
                                        </p:attrNameLst>
                                      </p:cBhvr>
                                      <p:to>
                                        <p:strVal val="visible"/>
                                      </p:to>
                                    </p:set>
                                    <p:animEffect transition="in" filter="dissolve">
                                      <p:cBhvr>
                                        <p:cTn id="39" dur="500"/>
                                        <p:tgtEl>
                                          <p:spTgt spid="581703"/>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581704"/>
                                        </p:tgtEl>
                                        <p:attrNameLst>
                                          <p:attrName>style.visibility</p:attrName>
                                        </p:attrNameLst>
                                      </p:cBhvr>
                                      <p:to>
                                        <p:strVal val="visible"/>
                                      </p:to>
                                    </p:set>
                                    <p:animEffect transition="in" filter="dissolve">
                                      <p:cBhvr>
                                        <p:cTn id="42" dur="500"/>
                                        <p:tgtEl>
                                          <p:spTgt spid="581704"/>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581705"/>
                                        </p:tgtEl>
                                        <p:attrNameLst>
                                          <p:attrName>style.visibility</p:attrName>
                                        </p:attrNameLst>
                                      </p:cBhvr>
                                      <p:to>
                                        <p:strVal val="visible"/>
                                      </p:to>
                                    </p:set>
                                    <p:animEffect transition="in" filter="dissolve">
                                      <p:cBhvr>
                                        <p:cTn id="45" dur="500"/>
                                        <p:tgtEl>
                                          <p:spTgt spid="581705"/>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581706"/>
                                        </p:tgtEl>
                                        <p:attrNameLst>
                                          <p:attrName>style.visibility</p:attrName>
                                        </p:attrNameLst>
                                      </p:cBhvr>
                                      <p:to>
                                        <p:strVal val="visible"/>
                                      </p:to>
                                    </p:set>
                                    <p:animEffect transition="in" filter="dissolve">
                                      <p:cBhvr>
                                        <p:cTn id="48" dur="500"/>
                                        <p:tgtEl>
                                          <p:spTgt spid="58170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581707"/>
                                        </p:tgtEl>
                                        <p:attrNameLst>
                                          <p:attrName>style.visibility</p:attrName>
                                        </p:attrNameLst>
                                      </p:cBhvr>
                                      <p:to>
                                        <p:strVal val="visible"/>
                                      </p:to>
                                    </p:set>
                                    <p:animEffect transition="in" filter="dissolve">
                                      <p:cBhvr>
                                        <p:cTn id="51" dur="500"/>
                                        <p:tgtEl>
                                          <p:spTgt spid="581707"/>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581708"/>
                                        </p:tgtEl>
                                        <p:attrNameLst>
                                          <p:attrName>style.visibility</p:attrName>
                                        </p:attrNameLst>
                                      </p:cBhvr>
                                      <p:to>
                                        <p:strVal val="visible"/>
                                      </p:to>
                                    </p:set>
                                    <p:animEffect transition="in" filter="dissolve">
                                      <p:cBhvr>
                                        <p:cTn id="54" dur="500"/>
                                        <p:tgtEl>
                                          <p:spTgt spid="581708"/>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581709"/>
                                        </p:tgtEl>
                                        <p:attrNameLst>
                                          <p:attrName>style.visibility</p:attrName>
                                        </p:attrNameLst>
                                      </p:cBhvr>
                                      <p:to>
                                        <p:strVal val="visible"/>
                                      </p:to>
                                    </p:set>
                                    <p:animEffect transition="in" filter="dissolve">
                                      <p:cBhvr>
                                        <p:cTn id="57" dur="500"/>
                                        <p:tgtEl>
                                          <p:spTgt spid="581709"/>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581710"/>
                                        </p:tgtEl>
                                        <p:attrNameLst>
                                          <p:attrName>style.visibility</p:attrName>
                                        </p:attrNameLst>
                                      </p:cBhvr>
                                      <p:to>
                                        <p:strVal val="visible"/>
                                      </p:to>
                                    </p:set>
                                    <p:animEffect transition="in" filter="dissolve">
                                      <p:cBhvr>
                                        <p:cTn id="60" dur="500"/>
                                        <p:tgtEl>
                                          <p:spTgt spid="581710"/>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581711"/>
                                        </p:tgtEl>
                                        <p:attrNameLst>
                                          <p:attrName>style.visibility</p:attrName>
                                        </p:attrNameLst>
                                      </p:cBhvr>
                                      <p:to>
                                        <p:strVal val="visible"/>
                                      </p:to>
                                    </p:set>
                                    <p:animEffect transition="in" filter="dissolve">
                                      <p:cBhvr>
                                        <p:cTn id="63" dur="500"/>
                                        <p:tgtEl>
                                          <p:spTgt spid="581711"/>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581712"/>
                                        </p:tgtEl>
                                        <p:attrNameLst>
                                          <p:attrName>style.visibility</p:attrName>
                                        </p:attrNameLst>
                                      </p:cBhvr>
                                      <p:to>
                                        <p:strVal val="visible"/>
                                      </p:to>
                                    </p:set>
                                    <p:animEffect transition="in" filter="dissolve">
                                      <p:cBhvr>
                                        <p:cTn id="66" dur="500"/>
                                        <p:tgtEl>
                                          <p:spTgt spid="581712"/>
                                        </p:tgtEl>
                                      </p:cBhvr>
                                    </p:animEffect>
                                  </p:childTnLst>
                                </p:cTn>
                              </p:par>
                              <p:par>
                                <p:cTn id="67" presetID="9" presetClass="entr" presetSubtype="0" fill="hold" nodeType="withEffect">
                                  <p:stCondLst>
                                    <p:cond delay="0"/>
                                  </p:stCondLst>
                                  <p:childTnLst>
                                    <p:set>
                                      <p:cBhvr>
                                        <p:cTn id="68" dur="1" fill="hold">
                                          <p:stCondLst>
                                            <p:cond delay="0"/>
                                          </p:stCondLst>
                                        </p:cTn>
                                        <p:tgtEl>
                                          <p:spTgt spid="581713"/>
                                        </p:tgtEl>
                                        <p:attrNameLst>
                                          <p:attrName>style.visibility</p:attrName>
                                        </p:attrNameLst>
                                      </p:cBhvr>
                                      <p:to>
                                        <p:strVal val="visible"/>
                                      </p:to>
                                    </p:set>
                                    <p:animEffect transition="in" filter="dissolve">
                                      <p:cBhvr>
                                        <p:cTn id="69" dur="500"/>
                                        <p:tgtEl>
                                          <p:spTgt spid="581713"/>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581714"/>
                                        </p:tgtEl>
                                        <p:attrNameLst>
                                          <p:attrName>style.visibility</p:attrName>
                                        </p:attrNameLst>
                                      </p:cBhvr>
                                      <p:to>
                                        <p:strVal val="visible"/>
                                      </p:to>
                                    </p:set>
                                    <p:animEffect transition="in" filter="dissolve">
                                      <p:cBhvr>
                                        <p:cTn id="72" dur="500"/>
                                        <p:tgtEl>
                                          <p:spTgt spid="581714"/>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581715"/>
                                        </p:tgtEl>
                                        <p:attrNameLst>
                                          <p:attrName>style.visibility</p:attrName>
                                        </p:attrNameLst>
                                      </p:cBhvr>
                                      <p:to>
                                        <p:strVal val="visible"/>
                                      </p:to>
                                    </p:set>
                                    <p:animEffect transition="in" filter="dissolve">
                                      <p:cBhvr>
                                        <p:cTn id="75" dur="500"/>
                                        <p:tgtEl>
                                          <p:spTgt spid="581715"/>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581716"/>
                                        </p:tgtEl>
                                        <p:attrNameLst>
                                          <p:attrName>style.visibility</p:attrName>
                                        </p:attrNameLst>
                                      </p:cBhvr>
                                      <p:to>
                                        <p:strVal val="visible"/>
                                      </p:to>
                                    </p:set>
                                    <p:animEffect transition="in" filter="dissolve">
                                      <p:cBhvr>
                                        <p:cTn id="78" dur="500"/>
                                        <p:tgtEl>
                                          <p:spTgt spid="581716"/>
                                        </p:tgtEl>
                                      </p:cBhvr>
                                    </p:animEffect>
                                  </p:childTnLst>
                                </p:cTn>
                              </p:par>
                              <p:par>
                                <p:cTn id="79" presetID="9" presetClass="entr" presetSubtype="0" fill="hold" grpId="0" nodeType="withEffect">
                                  <p:stCondLst>
                                    <p:cond delay="0"/>
                                  </p:stCondLst>
                                  <p:childTnLst>
                                    <p:set>
                                      <p:cBhvr>
                                        <p:cTn id="80" dur="1" fill="hold">
                                          <p:stCondLst>
                                            <p:cond delay="0"/>
                                          </p:stCondLst>
                                        </p:cTn>
                                        <p:tgtEl>
                                          <p:spTgt spid="581717"/>
                                        </p:tgtEl>
                                        <p:attrNameLst>
                                          <p:attrName>style.visibility</p:attrName>
                                        </p:attrNameLst>
                                      </p:cBhvr>
                                      <p:to>
                                        <p:strVal val="visible"/>
                                      </p:to>
                                    </p:set>
                                    <p:animEffect transition="in" filter="dissolve">
                                      <p:cBhvr>
                                        <p:cTn id="81" dur="500"/>
                                        <p:tgtEl>
                                          <p:spTgt spid="581717"/>
                                        </p:tgtEl>
                                      </p:cBhvr>
                                    </p:animEffect>
                                  </p:childTnLst>
                                </p:cTn>
                              </p:par>
                              <p:par>
                                <p:cTn id="82" presetID="9" presetClass="entr" presetSubtype="0" fill="hold" grpId="0" nodeType="withEffect">
                                  <p:stCondLst>
                                    <p:cond delay="0"/>
                                  </p:stCondLst>
                                  <p:childTnLst>
                                    <p:set>
                                      <p:cBhvr>
                                        <p:cTn id="83" dur="1" fill="hold">
                                          <p:stCondLst>
                                            <p:cond delay="0"/>
                                          </p:stCondLst>
                                        </p:cTn>
                                        <p:tgtEl>
                                          <p:spTgt spid="581718"/>
                                        </p:tgtEl>
                                        <p:attrNameLst>
                                          <p:attrName>style.visibility</p:attrName>
                                        </p:attrNameLst>
                                      </p:cBhvr>
                                      <p:to>
                                        <p:strVal val="visible"/>
                                      </p:to>
                                    </p:set>
                                    <p:animEffect transition="in" filter="dissolve">
                                      <p:cBhvr>
                                        <p:cTn id="84" dur="500"/>
                                        <p:tgtEl>
                                          <p:spTgt spid="581718"/>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9" presetClass="entr" presetSubtype="0" fill="hold" nodeType="clickEffect">
                                  <p:stCondLst>
                                    <p:cond delay="0"/>
                                  </p:stCondLst>
                                  <p:childTnLst>
                                    <p:set>
                                      <p:cBhvr>
                                        <p:cTn id="88" dur="1" fill="hold">
                                          <p:stCondLst>
                                            <p:cond delay="0"/>
                                          </p:stCondLst>
                                        </p:cTn>
                                        <p:tgtEl>
                                          <p:spTgt spid="581694"/>
                                        </p:tgtEl>
                                        <p:attrNameLst>
                                          <p:attrName>style.visibility</p:attrName>
                                        </p:attrNameLst>
                                      </p:cBhvr>
                                      <p:to>
                                        <p:strVal val="visible"/>
                                      </p:to>
                                    </p:set>
                                    <p:animEffect transition="in" filter="dissolve">
                                      <p:cBhvr>
                                        <p:cTn id="89" dur="500"/>
                                        <p:tgtEl>
                                          <p:spTgt spid="581694"/>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581667"/>
                                        </p:tgtEl>
                                        <p:attrNameLst>
                                          <p:attrName>style.visibility</p:attrName>
                                        </p:attrNameLst>
                                      </p:cBhvr>
                                      <p:to>
                                        <p:strVal val="visible"/>
                                      </p:to>
                                    </p:set>
                                    <p:animEffect transition="in" filter="dissolve">
                                      <p:cBhvr>
                                        <p:cTn id="92" dur="500"/>
                                        <p:tgtEl>
                                          <p:spTgt spid="58166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9" presetClass="entr" presetSubtype="0" fill="hold" nodeType="clickEffect">
                                  <p:stCondLst>
                                    <p:cond delay="0"/>
                                  </p:stCondLst>
                                  <p:childTnLst>
                                    <p:set>
                                      <p:cBhvr>
                                        <p:cTn id="96" dur="1" fill="hold">
                                          <p:stCondLst>
                                            <p:cond delay="0"/>
                                          </p:stCondLst>
                                        </p:cTn>
                                        <p:tgtEl>
                                          <p:spTgt spid="581635">
                                            <p:txEl>
                                              <p:pRg st="10" end="10"/>
                                            </p:txEl>
                                          </p:spTgt>
                                        </p:tgtEl>
                                        <p:attrNameLst>
                                          <p:attrName>style.visibility</p:attrName>
                                        </p:attrNameLst>
                                      </p:cBhvr>
                                      <p:to>
                                        <p:strVal val="visible"/>
                                      </p:to>
                                    </p:set>
                                    <p:animEffect transition="in" filter="dissolve">
                                      <p:cBhvr>
                                        <p:cTn id="97" dur="500"/>
                                        <p:tgtEl>
                                          <p:spTgt spid="58163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1667" grpId="0" animBg="1"/>
      <p:bldP spid="581703" grpId="0" animBg="1"/>
      <p:bldP spid="581704" grpId="0"/>
      <p:bldP spid="581705" grpId="0" animBg="1"/>
      <p:bldP spid="581706" grpId="0"/>
      <p:bldP spid="581707" grpId="0" animBg="1"/>
      <p:bldP spid="581708" grpId="0"/>
      <p:bldP spid="581709" grpId="0" animBg="1"/>
      <p:bldP spid="581710" grpId="0"/>
      <p:bldP spid="581711" grpId="0" animBg="1"/>
      <p:bldP spid="581712" grpId="0"/>
      <p:bldP spid="581714" grpId="0"/>
      <p:bldP spid="581715" grpId="0"/>
      <p:bldP spid="581716" grpId="0"/>
      <p:bldP spid="581717" grpId="0"/>
      <p:bldP spid="5817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AEB13E78-4EEF-4A7B-8E01-875DA2A45369}" type="slidenum">
              <a:rPr lang="en-US" altLang="de-DE" sz="1000">
                <a:solidFill>
                  <a:srgbClr val="C0C0C0"/>
                </a:solidFill>
              </a:rPr>
              <a:pPr/>
              <a:t>39</a:t>
            </a:fld>
            <a:endParaRPr lang="en-US" altLang="de-DE" sz="1000">
              <a:solidFill>
                <a:srgbClr val="C0C0C0"/>
              </a:solidFill>
            </a:endParaRPr>
          </a:p>
        </p:txBody>
      </p:sp>
      <p:sp>
        <p:nvSpPr>
          <p:cNvPr id="33795" name="Text Box 3"/>
          <p:cNvSpPr txBox="1">
            <a:spLocks noChangeArrowheads="1"/>
          </p:cNvSpPr>
          <p:nvPr/>
        </p:nvSpPr>
        <p:spPr bwMode="auto">
          <a:xfrm>
            <a:off x="608013" y="1446213"/>
            <a:ext cx="4900612" cy="351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en-US" altLang="zh-CN">
                <a:solidFill>
                  <a:srgbClr val="CC0000"/>
                </a:solidFill>
                <a:ea typeface="宋体" panose="02010600030101010101" pitchFamily="2" charset="-122"/>
              </a:rPr>
              <a:t>Gain </a:t>
            </a:r>
            <a:r>
              <a:rPr lang="en-US" altLang="zh-CN">
                <a:solidFill>
                  <a:srgbClr val="CC0000"/>
                </a:solidFill>
                <a:ea typeface="宋体" panose="02010600030101010101" pitchFamily="2" charset="-122"/>
                <a:sym typeface="Symbol" panose="05050102010706020507" pitchFamily="18" charset="2"/>
              </a:rPr>
              <a:t></a:t>
            </a:r>
            <a:r>
              <a:rPr lang="en-US" altLang="zh-CN" i="1">
                <a:solidFill>
                  <a:srgbClr val="CC0000"/>
                </a:solidFill>
                <a:ea typeface="宋体" panose="02010600030101010101" pitchFamily="2" charset="-122"/>
              </a:rPr>
              <a:t>g</a:t>
            </a:r>
            <a:r>
              <a:rPr lang="en-US" altLang="zh-CN">
                <a:solidFill>
                  <a:srgbClr val="CC0000"/>
                </a:solidFill>
                <a:ea typeface="宋体" panose="02010600030101010101" pitchFamily="2" charset="-122"/>
              </a:rPr>
              <a:t>(</a:t>
            </a:r>
            <a:r>
              <a:rPr lang="en-US" altLang="zh-CN" i="1">
                <a:solidFill>
                  <a:srgbClr val="CC0000"/>
                </a:solidFill>
                <a:ea typeface="宋体" panose="02010600030101010101" pitchFamily="2" charset="-122"/>
              </a:rPr>
              <a:t>c</a:t>
            </a:r>
            <a:r>
              <a:rPr lang="en-US" altLang="zh-CN">
                <a:solidFill>
                  <a:srgbClr val="CC0000"/>
                </a:solidFill>
                <a:ea typeface="宋体" panose="02010600030101010101" pitchFamily="2" charset="-122"/>
              </a:rPr>
              <a:t>) for cell </a:t>
            </a:r>
            <a:r>
              <a:rPr lang="en-US" altLang="zh-CN" i="1">
                <a:solidFill>
                  <a:srgbClr val="CC0000"/>
                </a:solidFill>
                <a:ea typeface="宋体" panose="02010600030101010101" pitchFamily="2" charset="-122"/>
              </a:rPr>
              <a:t>c</a:t>
            </a:r>
          </a:p>
          <a:p>
            <a:pPr algn="l">
              <a:lnSpc>
                <a:spcPct val="100000"/>
              </a:lnSpc>
              <a:spcBef>
                <a:spcPct val="25000"/>
              </a:spcBef>
            </a:pPr>
            <a:endParaRPr lang="en-US" altLang="zh-CN" i="1">
              <a:solidFill>
                <a:srgbClr val="CC0000"/>
              </a:solidFill>
              <a:ea typeface="宋体" panose="02010600030101010101" pitchFamily="2" charset="-122"/>
            </a:endParaRPr>
          </a:p>
          <a:p>
            <a:pPr algn="l">
              <a:lnSpc>
                <a:spcPct val="100000"/>
              </a:lnSpc>
              <a:spcBef>
                <a:spcPct val="25000"/>
              </a:spcBef>
            </a:pP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rPr>
              <a:t>g</a:t>
            </a:r>
            <a:r>
              <a:rPr lang="en-US" altLang="zh-CN">
                <a:ea typeface="宋体" panose="02010600030101010101" pitchFamily="2" charset="-122"/>
              </a:rPr>
              <a:t>(</a:t>
            </a:r>
            <a:r>
              <a:rPr lang="en-US" altLang="zh-CN" i="1">
                <a:ea typeface="宋体" panose="02010600030101010101" pitchFamily="2" charset="-122"/>
              </a:rPr>
              <a:t>c</a:t>
            </a:r>
            <a:r>
              <a:rPr lang="en-US" altLang="zh-CN">
                <a:ea typeface="宋体" panose="02010600030101010101" pitchFamily="2" charset="-122"/>
              </a:rPr>
              <a:t>)  = </a:t>
            </a:r>
            <a:r>
              <a:rPr lang="en-US" altLang="zh-CN" i="1">
                <a:ea typeface="宋体" panose="02010600030101010101" pitchFamily="2" charset="-122"/>
                <a:sym typeface="Symbol" panose="05050102010706020507" pitchFamily="18" charset="2"/>
              </a:rPr>
              <a:t>FS</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c</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TE</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c</a:t>
            </a:r>
            <a:r>
              <a:rPr lang="en-US" altLang="zh-CN">
                <a:ea typeface="宋体" panose="02010600030101010101" pitchFamily="2" charset="-122"/>
                <a:sym typeface="Symbol" panose="05050102010706020507" pitchFamily="18" charset="2"/>
              </a:rPr>
              <a:t>)</a:t>
            </a:r>
            <a:r>
              <a:rPr lang="en-US" altLang="zh-CN">
                <a:ea typeface="宋体" panose="02010600030101010101" pitchFamily="2" charset="-122"/>
              </a:rPr>
              <a:t> , </a:t>
            </a:r>
          </a:p>
          <a:p>
            <a:pPr algn="l">
              <a:lnSpc>
                <a:spcPct val="100000"/>
              </a:lnSpc>
              <a:spcBef>
                <a:spcPct val="25000"/>
              </a:spcBef>
            </a:pPr>
            <a:endParaRPr lang="en-US" altLang="zh-CN">
              <a:ea typeface="宋体" panose="02010600030101010101" pitchFamily="2" charset="-122"/>
            </a:endParaRPr>
          </a:p>
          <a:p>
            <a:pPr algn="l">
              <a:lnSpc>
                <a:spcPct val="100000"/>
              </a:lnSpc>
              <a:spcBef>
                <a:spcPct val="25000"/>
              </a:spcBef>
            </a:pPr>
            <a:r>
              <a:rPr lang="en-US" altLang="zh-CN" sz="1400">
                <a:ea typeface="宋体" panose="02010600030101010101" pitchFamily="2" charset="-122"/>
              </a:rPr>
              <a:t>where </a:t>
            </a:r>
            <a:br>
              <a:rPr lang="en-US" altLang="zh-CN" sz="1400">
                <a:ea typeface="宋体" panose="02010600030101010101" pitchFamily="2" charset="-122"/>
              </a:rPr>
            </a:br>
            <a:endParaRPr lang="en-US" altLang="zh-CN" sz="1400">
              <a:ea typeface="宋体" panose="02010600030101010101" pitchFamily="2" charset="-122"/>
            </a:endParaRPr>
          </a:p>
          <a:p>
            <a:pPr algn="l">
              <a:lnSpc>
                <a:spcPct val="100000"/>
              </a:lnSpc>
              <a:spcBef>
                <a:spcPct val="25000"/>
              </a:spcBef>
            </a:pPr>
            <a:r>
              <a:rPr lang="en-US" altLang="zh-CN" sz="1400">
                <a:ea typeface="宋体" panose="02010600030101010101" pitchFamily="2" charset="-122"/>
                <a:sym typeface="Symbol" panose="05050102010706020507" pitchFamily="18" charset="2"/>
              </a:rPr>
              <a:t>the “moving force“</a:t>
            </a:r>
            <a:r>
              <a:rPr lang="en-US" altLang="zh-CN" sz="1400" i="1">
                <a:ea typeface="宋体" panose="02010600030101010101" pitchFamily="2" charset="-122"/>
                <a:sym typeface="Symbol" panose="05050102010706020507" pitchFamily="18" charset="2"/>
              </a:rPr>
              <a:t> FS</a:t>
            </a:r>
            <a:r>
              <a:rPr lang="en-US" altLang="zh-CN" sz="1400">
                <a:ea typeface="宋体" panose="02010600030101010101" pitchFamily="2" charset="-122"/>
                <a:sym typeface="Symbol" panose="05050102010706020507" pitchFamily="18" charset="2"/>
              </a:rPr>
              <a:t>(</a:t>
            </a:r>
            <a:r>
              <a:rPr lang="en-US" altLang="zh-CN" sz="1400" i="1">
                <a:ea typeface="宋体" panose="02010600030101010101" pitchFamily="2" charset="-122"/>
                <a:sym typeface="Symbol" panose="05050102010706020507" pitchFamily="18" charset="2"/>
              </a:rPr>
              <a:t>c</a:t>
            </a:r>
            <a:r>
              <a:rPr lang="en-US" altLang="zh-CN" sz="1400">
                <a:ea typeface="宋体" panose="02010600030101010101" pitchFamily="2" charset="-122"/>
                <a:sym typeface="Symbol" panose="05050102010706020507" pitchFamily="18" charset="2"/>
              </a:rPr>
              <a:t>)</a:t>
            </a:r>
            <a:r>
              <a:rPr lang="en-US" altLang="zh-CN" sz="1400">
                <a:ea typeface="宋体" panose="02010600030101010101" pitchFamily="2" charset="-122"/>
              </a:rPr>
              <a:t> is the number of nets connected to </a:t>
            </a:r>
            <a:r>
              <a:rPr lang="en-US" altLang="zh-CN" sz="1400" i="1">
                <a:ea typeface="宋体" panose="02010600030101010101" pitchFamily="2" charset="-122"/>
              </a:rPr>
              <a:t>c</a:t>
            </a:r>
            <a:r>
              <a:rPr lang="en-US" altLang="zh-CN" sz="1400">
                <a:ea typeface="宋体" panose="02010600030101010101" pitchFamily="2" charset="-122"/>
              </a:rPr>
              <a:t> but not connected to any other cells within </a:t>
            </a:r>
            <a:r>
              <a:rPr lang="en-US" altLang="zh-CN" sz="1400" i="1">
                <a:ea typeface="宋体" panose="02010600030101010101" pitchFamily="2" charset="-122"/>
              </a:rPr>
              <a:t>c</a:t>
            </a:r>
            <a:r>
              <a:rPr lang="en-US" altLang="zh-CN" sz="1400">
                <a:ea typeface="宋体" panose="02010600030101010101" pitchFamily="2" charset="-122"/>
              </a:rPr>
              <a:t>’s partition, i.e., cut nets that connect only to </a:t>
            </a:r>
            <a:r>
              <a:rPr lang="en-US" altLang="zh-CN" sz="1400" i="1">
                <a:ea typeface="宋体" panose="02010600030101010101" pitchFamily="2" charset="-122"/>
              </a:rPr>
              <a:t>c</a:t>
            </a:r>
            <a:r>
              <a:rPr lang="en-US" altLang="zh-CN" sz="1400">
                <a:ea typeface="宋体" panose="02010600030101010101" pitchFamily="2" charset="-122"/>
              </a:rPr>
              <a:t>, and </a:t>
            </a:r>
            <a:br>
              <a:rPr lang="en-US" altLang="zh-CN" sz="1400">
                <a:ea typeface="宋体" panose="02010600030101010101" pitchFamily="2" charset="-122"/>
              </a:rPr>
            </a:br>
            <a:endParaRPr lang="en-US" altLang="zh-CN" sz="1400">
              <a:ea typeface="宋体" panose="02010600030101010101" pitchFamily="2" charset="-122"/>
            </a:endParaRPr>
          </a:p>
          <a:p>
            <a:pPr algn="l">
              <a:lnSpc>
                <a:spcPct val="100000"/>
              </a:lnSpc>
              <a:spcBef>
                <a:spcPct val="25000"/>
              </a:spcBef>
            </a:pPr>
            <a:r>
              <a:rPr lang="en-US" altLang="zh-CN" sz="1400">
                <a:ea typeface="宋体" panose="02010600030101010101" pitchFamily="2" charset="-122"/>
              </a:rPr>
              <a:t>the “retention force“</a:t>
            </a:r>
            <a:r>
              <a:rPr lang="en-US" altLang="zh-CN" sz="1400" i="1">
                <a:ea typeface="宋体" panose="02010600030101010101" pitchFamily="2" charset="-122"/>
              </a:rPr>
              <a:t> TE</a:t>
            </a:r>
            <a:r>
              <a:rPr lang="en-US" altLang="zh-CN" sz="1400">
                <a:ea typeface="宋体" panose="02010600030101010101" pitchFamily="2" charset="-122"/>
              </a:rPr>
              <a:t>(</a:t>
            </a:r>
            <a:r>
              <a:rPr lang="en-US" altLang="zh-CN" sz="1400" i="1">
                <a:ea typeface="宋体" panose="02010600030101010101" pitchFamily="2" charset="-122"/>
              </a:rPr>
              <a:t>c</a:t>
            </a:r>
            <a:r>
              <a:rPr lang="en-US" altLang="zh-CN" sz="1400">
                <a:ea typeface="宋体" panose="02010600030101010101" pitchFamily="2" charset="-122"/>
              </a:rPr>
              <a:t>) is the number of </a:t>
            </a:r>
            <a:r>
              <a:rPr lang="en-US" altLang="zh-CN" sz="1400" i="1">
                <a:ea typeface="宋体" panose="02010600030101010101" pitchFamily="2" charset="-122"/>
              </a:rPr>
              <a:t>uncut </a:t>
            </a:r>
            <a:r>
              <a:rPr lang="en-US" altLang="zh-CN" sz="1400">
                <a:ea typeface="宋体" panose="02010600030101010101" pitchFamily="2" charset="-122"/>
              </a:rPr>
              <a:t>nets connected to </a:t>
            </a:r>
            <a:r>
              <a:rPr lang="en-US" altLang="zh-CN" sz="1400" i="1">
                <a:ea typeface="宋体" panose="02010600030101010101" pitchFamily="2" charset="-122"/>
              </a:rPr>
              <a:t>c</a:t>
            </a:r>
            <a:r>
              <a:rPr lang="en-US" altLang="zh-CN" sz="1400">
                <a:ea typeface="宋体" panose="02010600030101010101" pitchFamily="2" charset="-122"/>
              </a:rPr>
              <a:t>.</a:t>
            </a:r>
          </a:p>
          <a:p>
            <a:pPr algn="l">
              <a:lnSpc>
                <a:spcPct val="100000"/>
              </a:lnSpc>
              <a:spcBef>
                <a:spcPct val="25000"/>
              </a:spcBef>
            </a:pPr>
            <a:endParaRPr lang="de-DE" altLang="de-DE" sz="1400"/>
          </a:p>
        </p:txBody>
      </p:sp>
      <p:sp>
        <p:nvSpPr>
          <p:cNvPr id="583684" name="Text Box 4"/>
          <p:cNvSpPr txBox="1">
            <a:spLocks noChangeArrowheads="1"/>
          </p:cNvSpPr>
          <p:nvPr/>
        </p:nvSpPr>
        <p:spPr bwMode="auto">
          <a:xfrm>
            <a:off x="808038" y="4722813"/>
            <a:ext cx="3797300" cy="1652587"/>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nl-NL" altLang="de-DE" sz="1400"/>
              <a:t>Cell 1:      </a:t>
            </a:r>
            <a:r>
              <a:rPr lang="nl-NL" altLang="de-DE" sz="1400" i="1"/>
              <a:t>FS</a:t>
            </a:r>
            <a:r>
              <a:rPr lang="nl-NL" altLang="de-DE" sz="1400"/>
              <a:t>(1) = 2	</a:t>
            </a:r>
            <a:r>
              <a:rPr lang="nl-NL" altLang="de-DE" sz="1400" i="1"/>
              <a:t>TE</a:t>
            </a:r>
            <a:r>
              <a:rPr lang="nl-NL" altLang="de-DE" sz="1400"/>
              <a:t>(1) = 1	</a:t>
            </a:r>
            <a:r>
              <a:rPr lang="de-DE" altLang="de-DE" sz="1400">
                <a:sym typeface="Symbol" panose="05050102010706020507" pitchFamily="18" charset="2"/>
              </a:rPr>
              <a:t></a:t>
            </a:r>
            <a:r>
              <a:rPr lang="nl-NL" altLang="de-DE" sz="1400" i="1"/>
              <a:t>g</a:t>
            </a:r>
            <a:r>
              <a:rPr lang="nl-NL" altLang="de-DE" sz="1400"/>
              <a:t>(1) = 1</a:t>
            </a:r>
          </a:p>
          <a:p>
            <a:r>
              <a:rPr lang="nl-NL" altLang="de-DE" sz="1400"/>
              <a:t>Cell 2:      </a:t>
            </a:r>
            <a:r>
              <a:rPr lang="de-DE" altLang="de-DE" sz="1400" i="1"/>
              <a:t>FS</a:t>
            </a:r>
            <a:r>
              <a:rPr lang="nl-NL" altLang="de-DE" sz="1400"/>
              <a:t>(2) = 0	</a:t>
            </a:r>
            <a:r>
              <a:rPr lang="de-DE" altLang="de-DE" sz="1400" i="1"/>
              <a:t>TE</a:t>
            </a:r>
            <a:r>
              <a:rPr lang="nl-NL" altLang="de-DE" sz="1400"/>
              <a:t>(2) = 1	</a:t>
            </a:r>
            <a:r>
              <a:rPr lang="de-DE" altLang="de-DE" sz="1400">
                <a:sym typeface="Symbol" panose="05050102010706020507" pitchFamily="18" charset="2"/>
              </a:rPr>
              <a:t></a:t>
            </a:r>
            <a:r>
              <a:rPr lang="de-DE" altLang="de-DE" sz="1400" i="1"/>
              <a:t>g</a:t>
            </a:r>
            <a:r>
              <a:rPr lang="nl-NL" altLang="de-DE" sz="1400"/>
              <a:t>(2) = -1</a:t>
            </a:r>
            <a:endParaRPr lang="de-DE" altLang="de-DE" sz="1400"/>
          </a:p>
          <a:p>
            <a:r>
              <a:rPr lang="de-DE" altLang="de-DE" sz="1400"/>
              <a:t>Cell 3:      </a:t>
            </a:r>
            <a:r>
              <a:rPr lang="de-DE" altLang="de-DE" sz="1400" i="1"/>
              <a:t>FS</a:t>
            </a:r>
            <a:r>
              <a:rPr lang="de-DE" altLang="de-DE" sz="1400"/>
              <a:t>(3) = 1	</a:t>
            </a:r>
            <a:r>
              <a:rPr lang="de-DE" altLang="de-DE" sz="1400" i="1"/>
              <a:t>TE</a:t>
            </a:r>
            <a:r>
              <a:rPr lang="de-DE" altLang="de-DE" sz="1400"/>
              <a:t>(3) = 1	</a:t>
            </a:r>
            <a:r>
              <a:rPr lang="de-DE" altLang="de-DE" sz="1400">
                <a:sym typeface="Symbol" panose="05050102010706020507" pitchFamily="18" charset="2"/>
              </a:rPr>
              <a:t></a:t>
            </a:r>
            <a:r>
              <a:rPr lang="de-DE" altLang="de-DE" sz="1400" i="1"/>
              <a:t>g</a:t>
            </a:r>
            <a:r>
              <a:rPr lang="de-DE" altLang="de-DE" sz="1400"/>
              <a:t>(3) = 0 </a:t>
            </a:r>
            <a:endParaRPr lang="nl-NL" altLang="de-DE" sz="1400"/>
          </a:p>
          <a:p>
            <a:r>
              <a:rPr lang="nl-NL" altLang="de-DE" sz="1400"/>
              <a:t>Cell 4:      </a:t>
            </a:r>
            <a:r>
              <a:rPr lang="de-DE" altLang="de-DE" sz="1400" i="1"/>
              <a:t>FS</a:t>
            </a:r>
            <a:r>
              <a:rPr lang="nl-NL" altLang="de-DE" sz="1400"/>
              <a:t>(4) = 1	</a:t>
            </a:r>
            <a:r>
              <a:rPr lang="de-DE" altLang="de-DE" sz="1400" i="1"/>
              <a:t>TE</a:t>
            </a:r>
            <a:r>
              <a:rPr lang="nl-NL" altLang="de-DE" sz="1400"/>
              <a:t>(4) = 1	</a:t>
            </a:r>
            <a:r>
              <a:rPr lang="de-DE" altLang="de-DE" sz="1400">
                <a:sym typeface="Symbol" panose="05050102010706020507" pitchFamily="18" charset="2"/>
              </a:rPr>
              <a:t></a:t>
            </a:r>
            <a:r>
              <a:rPr lang="de-DE" altLang="de-DE" sz="1400" i="1"/>
              <a:t>g</a:t>
            </a:r>
            <a:r>
              <a:rPr lang="nl-NL" altLang="de-DE" sz="1400"/>
              <a:t>(4) = 0</a:t>
            </a:r>
          </a:p>
          <a:p>
            <a:r>
              <a:rPr lang="nl-NL" altLang="de-DE" sz="1400"/>
              <a:t>Cell 5:      </a:t>
            </a:r>
            <a:r>
              <a:rPr lang="de-DE" altLang="de-DE" sz="1400" i="1"/>
              <a:t>FS</a:t>
            </a:r>
            <a:r>
              <a:rPr lang="nl-NL" altLang="de-DE" sz="1400"/>
              <a:t>(5) = 1	</a:t>
            </a:r>
            <a:r>
              <a:rPr lang="de-DE" altLang="de-DE" sz="1400" i="1"/>
              <a:t>TE</a:t>
            </a:r>
            <a:r>
              <a:rPr lang="nl-NL" altLang="de-DE" sz="1400"/>
              <a:t>(5) = 0	</a:t>
            </a:r>
            <a:r>
              <a:rPr lang="de-DE" altLang="de-DE" sz="1400">
                <a:sym typeface="Symbol" panose="05050102010706020507" pitchFamily="18" charset="2"/>
              </a:rPr>
              <a:t></a:t>
            </a:r>
            <a:r>
              <a:rPr lang="de-DE" altLang="de-DE" sz="1400" i="1"/>
              <a:t>g</a:t>
            </a:r>
            <a:r>
              <a:rPr lang="nl-NL" altLang="de-DE" sz="1400"/>
              <a:t>(5) = 1 </a:t>
            </a:r>
            <a:endParaRPr lang="en-US" altLang="zh-CN" sz="1400">
              <a:ea typeface="宋体" panose="02010600030101010101" pitchFamily="2" charset="-122"/>
            </a:endParaRPr>
          </a:p>
        </p:txBody>
      </p:sp>
      <p:sp>
        <p:nvSpPr>
          <p:cNvPr id="33797" name="Line 5"/>
          <p:cNvSpPr>
            <a:spLocks noChangeAspect="1" noChangeShapeType="1"/>
          </p:cNvSpPr>
          <p:nvPr/>
        </p:nvSpPr>
        <p:spPr bwMode="auto">
          <a:xfrm flipV="1">
            <a:off x="7327900" y="1627188"/>
            <a:ext cx="798513" cy="735012"/>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33798" name="Line 6"/>
          <p:cNvSpPr>
            <a:spLocks noChangeAspect="1" noChangeShapeType="1"/>
          </p:cNvSpPr>
          <p:nvPr/>
        </p:nvSpPr>
        <p:spPr bwMode="auto">
          <a:xfrm flipH="1">
            <a:off x="7327900" y="1751013"/>
            <a:ext cx="0" cy="140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3799" name="Line 7"/>
          <p:cNvSpPr>
            <a:spLocks noChangeAspect="1" noChangeShapeType="1"/>
          </p:cNvSpPr>
          <p:nvPr/>
        </p:nvSpPr>
        <p:spPr bwMode="auto">
          <a:xfrm>
            <a:off x="8128000" y="1598613"/>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3800" name="Line 8"/>
          <p:cNvSpPr>
            <a:spLocks noChangeAspect="1" noChangeShapeType="1"/>
          </p:cNvSpPr>
          <p:nvPr/>
        </p:nvSpPr>
        <p:spPr bwMode="auto">
          <a:xfrm flipH="1">
            <a:off x="7145338" y="16271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3801" name="Line 9"/>
          <p:cNvSpPr>
            <a:spLocks noChangeAspect="1" noChangeShapeType="1"/>
          </p:cNvSpPr>
          <p:nvPr/>
        </p:nvSpPr>
        <p:spPr bwMode="auto">
          <a:xfrm flipH="1">
            <a:off x="7297738" y="2401888"/>
            <a:ext cx="809625" cy="696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3802" name="Line 10"/>
          <p:cNvSpPr>
            <a:spLocks noChangeAspect="1" noChangeShapeType="1"/>
          </p:cNvSpPr>
          <p:nvPr/>
        </p:nvSpPr>
        <p:spPr bwMode="auto">
          <a:xfrm>
            <a:off x="7278688" y="3160713"/>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3803" name="Oval 11"/>
          <p:cNvSpPr>
            <a:spLocks noChangeAspect="1" noChangeArrowheads="1"/>
          </p:cNvSpPr>
          <p:nvPr/>
        </p:nvSpPr>
        <p:spPr bwMode="auto">
          <a:xfrm>
            <a:off x="6989763" y="2947988"/>
            <a:ext cx="460375" cy="45878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3804" name="Rectangle 12"/>
          <p:cNvSpPr>
            <a:spLocks noChangeAspect="1" noChangeArrowheads="1"/>
          </p:cNvSpPr>
          <p:nvPr/>
        </p:nvSpPr>
        <p:spPr bwMode="auto">
          <a:xfrm>
            <a:off x="7032625" y="2982913"/>
            <a:ext cx="368300"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1</a:t>
            </a:r>
            <a:endParaRPr lang="en-US" altLang="zh-CN" b="1">
              <a:ea typeface="宋体" panose="02010600030101010101" pitchFamily="2" charset="-122"/>
            </a:endParaRPr>
          </a:p>
        </p:txBody>
      </p:sp>
      <p:sp>
        <p:nvSpPr>
          <p:cNvPr id="33805" name="Oval 13"/>
          <p:cNvSpPr>
            <a:spLocks noChangeAspect="1" noChangeArrowheads="1"/>
          </p:cNvSpPr>
          <p:nvPr/>
        </p:nvSpPr>
        <p:spPr bwMode="auto">
          <a:xfrm>
            <a:off x="7889875" y="1412875"/>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3806" name="Rectangle 14"/>
          <p:cNvSpPr>
            <a:spLocks noChangeAspect="1" noChangeArrowheads="1"/>
          </p:cNvSpPr>
          <p:nvPr/>
        </p:nvSpPr>
        <p:spPr bwMode="auto">
          <a:xfrm>
            <a:off x="7932738" y="14589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33807" name="Oval 15"/>
          <p:cNvSpPr>
            <a:spLocks noChangeAspect="1" noChangeArrowheads="1"/>
          </p:cNvSpPr>
          <p:nvPr/>
        </p:nvSpPr>
        <p:spPr bwMode="auto">
          <a:xfrm>
            <a:off x="7910513" y="2179638"/>
            <a:ext cx="458787"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3808" name="Rectangle 16"/>
          <p:cNvSpPr>
            <a:spLocks noChangeAspect="1" noChangeArrowheads="1"/>
          </p:cNvSpPr>
          <p:nvPr/>
        </p:nvSpPr>
        <p:spPr bwMode="auto">
          <a:xfrm>
            <a:off x="7934325" y="2212975"/>
            <a:ext cx="366713"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33809" name="Oval 17"/>
          <p:cNvSpPr>
            <a:spLocks noChangeAspect="1" noChangeArrowheads="1"/>
          </p:cNvSpPr>
          <p:nvPr/>
        </p:nvSpPr>
        <p:spPr bwMode="auto">
          <a:xfrm>
            <a:off x="7010400" y="1412875"/>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3810" name="Rectangle 18"/>
          <p:cNvSpPr>
            <a:spLocks noChangeAspect="1" noChangeArrowheads="1"/>
          </p:cNvSpPr>
          <p:nvPr/>
        </p:nvSpPr>
        <p:spPr bwMode="auto">
          <a:xfrm>
            <a:off x="7050088" y="1465263"/>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33811" name="Oval 19"/>
          <p:cNvSpPr>
            <a:spLocks noChangeAspect="1" noChangeArrowheads="1"/>
          </p:cNvSpPr>
          <p:nvPr/>
        </p:nvSpPr>
        <p:spPr bwMode="auto">
          <a:xfrm>
            <a:off x="7889875" y="2946400"/>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3812" name="Rectangle 20"/>
          <p:cNvSpPr>
            <a:spLocks noChangeAspect="1" noChangeArrowheads="1"/>
          </p:cNvSpPr>
          <p:nvPr/>
        </p:nvSpPr>
        <p:spPr bwMode="auto">
          <a:xfrm>
            <a:off x="7932738" y="2990850"/>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33813" name="Line 21"/>
          <p:cNvSpPr>
            <a:spLocks noChangeAspect="1" noChangeShapeType="1"/>
          </p:cNvSpPr>
          <p:nvPr/>
        </p:nvSpPr>
        <p:spPr bwMode="auto">
          <a:xfrm>
            <a:off x="7696200" y="1465263"/>
            <a:ext cx="0" cy="194151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3814" name="Text Box 24"/>
          <p:cNvSpPr txBox="1">
            <a:spLocks noChangeAspect="1" noChangeArrowheads="1"/>
          </p:cNvSpPr>
          <p:nvPr/>
        </p:nvSpPr>
        <p:spPr bwMode="auto">
          <a:xfrm>
            <a:off x="6911975" y="2119313"/>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33815" name="Text Box 25"/>
          <p:cNvSpPr txBox="1">
            <a:spLocks noChangeAspect="1" noChangeArrowheads="1"/>
          </p:cNvSpPr>
          <p:nvPr/>
        </p:nvSpPr>
        <p:spPr bwMode="auto">
          <a:xfrm>
            <a:off x="7292975" y="187483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33816" name="Text Box 26"/>
          <p:cNvSpPr txBox="1">
            <a:spLocks noChangeAspect="1" noChangeArrowheads="1"/>
          </p:cNvSpPr>
          <p:nvPr/>
        </p:nvSpPr>
        <p:spPr bwMode="auto">
          <a:xfrm>
            <a:off x="7332663" y="2606675"/>
            <a:ext cx="30321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33817" name="Text Box 27"/>
          <p:cNvSpPr txBox="1">
            <a:spLocks noChangeAspect="1" noChangeArrowheads="1"/>
          </p:cNvSpPr>
          <p:nvPr/>
        </p:nvSpPr>
        <p:spPr bwMode="auto">
          <a:xfrm>
            <a:off x="7389813" y="2852738"/>
            <a:ext cx="366712"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33818" name="Text Box 28"/>
          <p:cNvSpPr txBox="1">
            <a:spLocks noChangeAspect="1" noChangeArrowheads="1"/>
          </p:cNvSpPr>
          <p:nvPr/>
        </p:nvSpPr>
        <p:spPr bwMode="auto">
          <a:xfrm>
            <a:off x="7878763" y="1874838"/>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583709" name="Line 29"/>
          <p:cNvSpPr>
            <a:spLocks noChangeAspect="1" noChangeShapeType="1"/>
          </p:cNvSpPr>
          <p:nvPr/>
        </p:nvSpPr>
        <p:spPr bwMode="auto">
          <a:xfrm flipV="1">
            <a:off x="7399338" y="4579938"/>
            <a:ext cx="798512" cy="735012"/>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583710" name="Line 30"/>
          <p:cNvSpPr>
            <a:spLocks noChangeAspect="1" noChangeShapeType="1"/>
          </p:cNvSpPr>
          <p:nvPr/>
        </p:nvSpPr>
        <p:spPr bwMode="auto">
          <a:xfrm flipH="1">
            <a:off x="7399338" y="4702175"/>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3711" name="Line 31"/>
          <p:cNvSpPr>
            <a:spLocks noChangeAspect="1" noChangeShapeType="1"/>
          </p:cNvSpPr>
          <p:nvPr/>
        </p:nvSpPr>
        <p:spPr bwMode="auto">
          <a:xfrm>
            <a:off x="8199438" y="4551363"/>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3712" name="Line 32"/>
          <p:cNvSpPr>
            <a:spLocks noChangeAspect="1" noChangeShapeType="1"/>
          </p:cNvSpPr>
          <p:nvPr/>
        </p:nvSpPr>
        <p:spPr bwMode="auto">
          <a:xfrm flipH="1">
            <a:off x="7216775" y="457993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3713" name="Line 33"/>
          <p:cNvSpPr>
            <a:spLocks noChangeAspect="1" noChangeShapeType="1"/>
          </p:cNvSpPr>
          <p:nvPr/>
        </p:nvSpPr>
        <p:spPr bwMode="auto">
          <a:xfrm flipH="1">
            <a:off x="7369175" y="5353050"/>
            <a:ext cx="811213"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3714" name="Line 34"/>
          <p:cNvSpPr>
            <a:spLocks noChangeAspect="1" noChangeShapeType="1"/>
          </p:cNvSpPr>
          <p:nvPr/>
        </p:nvSpPr>
        <p:spPr bwMode="auto">
          <a:xfrm>
            <a:off x="7351713" y="6113463"/>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3715" name="Oval 35"/>
          <p:cNvSpPr>
            <a:spLocks noChangeAspect="1" noChangeArrowheads="1"/>
          </p:cNvSpPr>
          <p:nvPr/>
        </p:nvSpPr>
        <p:spPr bwMode="auto">
          <a:xfrm>
            <a:off x="7062788" y="5899150"/>
            <a:ext cx="460375"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3716" name="Rectangle 36"/>
          <p:cNvSpPr>
            <a:spLocks noChangeAspect="1" noChangeArrowheads="1"/>
          </p:cNvSpPr>
          <p:nvPr/>
        </p:nvSpPr>
        <p:spPr bwMode="auto">
          <a:xfrm>
            <a:off x="7104063" y="5935663"/>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583717" name="Oval 37"/>
          <p:cNvSpPr>
            <a:spLocks noChangeAspect="1" noChangeArrowheads="1"/>
          </p:cNvSpPr>
          <p:nvPr/>
        </p:nvSpPr>
        <p:spPr bwMode="auto">
          <a:xfrm>
            <a:off x="7961313" y="4365625"/>
            <a:ext cx="458787"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3718" name="Rectangle 38"/>
          <p:cNvSpPr>
            <a:spLocks noChangeAspect="1" noChangeArrowheads="1"/>
          </p:cNvSpPr>
          <p:nvPr/>
        </p:nvSpPr>
        <p:spPr bwMode="auto">
          <a:xfrm>
            <a:off x="8004175" y="4410075"/>
            <a:ext cx="368300" cy="369888"/>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583719" name="Oval 39"/>
          <p:cNvSpPr>
            <a:spLocks noChangeAspect="1" noChangeArrowheads="1"/>
          </p:cNvSpPr>
          <p:nvPr/>
        </p:nvSpPr>
        <p:spPr bwMode="auto">
          <a:xfrm>
            <a:off x="7983538" y="5130800"/>
            <a:ext cx="458787"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3720" name="Rectangle 40"/>
          <p:cNvSpPr>
            <a:spLocks noChangeAspect="1" noChangeArrowheads="1"/>
          </p:cNvSpPr>
          <p:nvPr/>
        </p:nvSpPr>
        <p:spPr bwMode="auto">
          <a:xfrm>
            <a:off x="8007350" y="5165725"/>
            <a:ext cx="365125"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583721" name="Oval 41"/>
          <p:cNvSpPr>
            <a:spLocks noChangeAspect="1" noChangeArrowheads="1"/>
          </p:cNvSpPr>
          <p:nvPr/>
        </p:nvSpPr>
        <p:spPr bwMode="auto">
          <a:xfrm>
            <a:off x="7081838" y="4365625"/>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3722" name="Rectangle 42"/>
          <p:cNvSpPr>
            <a:spLocks noChangeAspect="1" noChangeArrowheads="1"/>
          </p:cNvSpPr>
          <p:nvPr/>
        </p:nvSpPr>
        <p:spPr bwMode="auto">
          <a:xfrm>
            <a:off x="7123113" y="4416425"/>
            <a:ext cx="368300" cy="36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583723" name="Oval 43"/>
          <p:cNvSpPr>
            <a:spLocks noChangeAspect="1" noChangeArrowheads="1"/>
          </p:cNvSpPr>
          <p:nvPr/>
        </p:nvSpPr>
        <p:spPr bwMode="auto">
          <a:xfrm>
            <a:off x="7961313" y="5897563"/>
            <a:ext cx="458787"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3724" name="Rectangle 44"/>
          <p:cNvSpPr>
            <a:spLocks noChangeAspect="1" noChangeArrowheads="1"/>
          </p:cNvSpPr>
          <p:nvPr/>
        </p:nvSpPr>
        <p:spPr bwMode="auto">
          <a:xfrm>
            <a:off x="8004175" y="5943600"/>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583725" name="Line 45"/>
          <p:cNvSpPr>
            <a:spLocks noChangeAspect="1" noChangeShapeType="1"/>
          </p:cNvSpPr>
          <p:nvPr/>
        </p:nvSpPr>
        <p:spPr bwMode="auto">
          <a:xfrm>
            <a:off x="7693025" y="4416425"/>
            <a:ext cx="0" cy="41116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83728" name="Text Box 48"/>
          <p:cNvSpPr txBox="1">
            <a:spLocks noChangeAspect="1" noChangeArrowheads="1"/>
          </p:cNvSpPr>
          <p:nvPr/>
        </p:nvSpPr>
        <p:spPr bwMode="auto">
          <a:xfrm>
            <a:off x="6983413" y="5070475"/>
            <a:ext cx="293687"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583729" name="Text Box 49"/>
          <p:cNvSpPr txBox="1">
            <a:spLocks noChangeAspect="1" noChangeArrowheads="1"/>
          </p:cNvSpPr>
          <p:nvPr/>
        </p:nvSpPr>
        <p:spPr bwMode="auto">
          <a:xfrm>
            <a:off x="7364413" y="4827588"/>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583730" name="Text Box 50"/>
          <p:cNvSpPr txBox="1">
            <a:spLocks noChangeAspect="1" noChangeArrowheads="1"/>
          </p:cNvSpPr>
          <p:nvPr/>
        </p:nvSpPr>
        <p:spPr bwMode="auto">
          <a:xfrm>
            <a:off x="7405688" y="5557838"/>
            <a:ext cx="3016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583731" name="Text Box 51"/>
          <p:cNvSpPr txBox="1">
            <a:spLocks noChangeAspect="1" noChangeArrowheads="1"/>
          </p:cNvSpPr>
          <p:nvPr/>
        </p:nvSpPr>
        <p:spPr bwMode="auto">
          <a:xfrm>
            <a:off x="7462838" y="5805488"/>
            <a:ext cx="365125"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583732" name="Text Box 52"/>
          <p:cNvSpPr txBox="1">
            <a:spLocks noChangeAspect="1" noChangeArrowheads="1"/>
          </p:cNvSpPr>
          <p:nvPr/>
        </p:nvSpPr>
        <p:spPr bwMode="auto">
          <a:xfrm>
            <a:off x="7951788" y="4827588"/>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583733" name="Line 53"/>
          <p:cNvSpPr>
            <a:spLocks noChangeShapeType="1"/>
          </p:cNvSpPr>
          <p:nvPr/>
        </p:nvSpPr>
        <p:spPr bwMode="auto">
          <a:xfrm flipH="1">
            <a:off x="6983413" y="4827588"/>
            <a:ext cx="709612" cy="242887"/>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583734" name="AutoShape 54"/>
          <p:cNvSpPr>
            <a:spLocks noChangeArrowheads="1"/>
          </p:cNvSpPr>
          <p:nvPr/>
        </p:nvSpPr>
        <p:spPr bwMode="auto">
          <a:xfrm rot="-5400000">
            <a:off x="7634287" y="3533776"/>
            <a:ext cx="288925" cy="654050"/>
          </a:xfrm>
          <a:prstGeom prst="leftArrow">
            <a:avLst>
              <a:gd name="adj1" fmla="val 50000"/>
              <a:gd name="adj2" fmla="val 25000"/>
            </a:avLst>
          </a:prstGeom>
          <a:gradFill rotWithShape="1">
            <a:gsLst>
              <a:gs pos="0">
                <a:schemeClr val="tx1"/>
              </a:gs>
              <a:gs pos="100000">
                <a:srgbClr val="EAEAEA"/>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3735" name="Oval 55"/>
          <p:cNvSpPr>
            <a:spLocks noChangeArrowheads="1"/>
          </p:cNvSpPr>
          <p:nvPr/>
        </p:nvSpPr>
        <p:spPr bwMode="auto">
          <a:xfrm>
            <a:off x="3608388" y="4721225"/>
            <a:ext cx="1079500" cy="428625"/>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3844" name="Rectangle 58"/>
          <p:cNvSpPr>
            <a:spLocks noGrp="1" noChangeArrowheads="1"/>
          </p:cNvSpPr>
          <p:nvPr>
            <p:ph type="title"/>
          </p:nvPr>
        </p:nvSpPr>
        <p:spPr/>
        <p:txBody>
          <a:bodyPr/>
          <a:lstStyle/>
          <a:p>
            <a:r>
              <a:rPr lang="de-DE" altLang="de-DE"/>
              <a:t>2.4.3	Fiduccia-Mattheyses (FM) Algorithm – Terminology</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3684"/>
                                        </p:tgtEl>
                                        <p:attrNameLst>
                                          <p:attrName>style.visibility</p:attrName>
                                        </p:attrNameLst>
                                      </p:cBhvr>
                                      <p:to>
                                        <p:strVal val="visible"/>
                                      </p:to>
                                    </p:set>
                                    <p:animEffect transition="in" filter="dissolve">
                                      <p:cBhvr>
                                        <p:cTn id="7" dur="500"/>
                                        <p:tgtEl>
                                          <p:spTgt spid="5836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3735"/>
                                        </p:tgtEl>
                                        <p:attrNameLst>
                                          <p:attrName>style.visibility</p:attrName>
                                        </p:attrNameLst>
                                      </p:cBhvr>
                                      <p:to>
                                        <p:strVal val="visible"/>
                                      </p:to>
                                    </p:set>
                                    <p:animEffect transition="in" filter="dissolve">
                                      <p:cBhvr>
                                        <p:cTn id="12" dur="500"/>
                                        <p:tgtEl>
                                          <p:spTgt spid="5837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83709"/>
                                        </p:tgtEl>
                                        <p:attrNameLst>
                                          <p:attrName>style.visibility</p:attrName>
                                        </p:attrNameLst>
                                      </p:cBhvr>
                                      <p:to>
                                        <p:strVal val="visible"/>
                                      </p:to>
                                    </p:set>
                                    <p:animEffect transition="in" filter="dissolve">
                                      <p:cBhvr>
                                        <p:cTn id="17" dur="500"/>
                                        <p:tgtEl>
                                          <p:spTgt spid="583709"/>
                                        </p:tgtEl>
                                      </p:cBhvr>
                                    </p:animEffect>
                                  </p:childTnLst>
                                </p:cTn>
                              </p:par>
                              <p:par>
                                <p:cTn id="18" presetID="9" presetClass="entr" presetSubtype="0" fill="hold" nodeType="withEffect">
                                  <p:stCondLst>
                                    <p:cond delay="0"/>
                                  </p:stCondLst>
                                  <p:childTnLst>
                                    <p:set>
                                      <p:cBhvr>
                                        <p:cTn id="19" dur="1" fill="hold">
                                          <p:stCondLst>
                                            <p:cond delay="0"/>
                                          </p:stCondLst>
                                        </p:cTn>
                                        <p:tgtEl>
                                          <p:spTgt spid="583710"/>
                                        </p:tgtEl>
                                        <p:attrNameLst>
                                          <p:attrName>style.visibility</p:attrName>
                                        </p:attrNameLst>
                                      </p:cBhvr>
                                      <p:to>
                                        <p:strVal val="visible"/>
                                      </p:to>
                                    </p:set>
                                    <p:animEffect transition="in" filter="dissolve">
                                      <p:cBhvr>
                                        <p:cTn id="20" dur="500"/>
                                        <p:tgtEl>
                                          <p:spTgt spid="583710"/>
                                        </p:tgtEl>
                                      </p:cBhvr>
                                    </p:animEffect>
                                  </p:childTnLst>
                                </p:cTn>
                              </p:par>
                              <p:par>
                                <p:cTn id="21" presetID="9" presetClass="entr" presetSubtype="0" fill="hold" nodeType="withEffect">
                                  <p:stCondLst>
                                    <p:cond delay="0"/>
                                  </p:stCondLst>
                                  <p:childTnLst>
                                    <p:set>
                                      <p:cBhvr>
                                        <p:cTn id="22" dur="1" fill="hold">
                                          <p:stCondLst>
                                            <p:cond delay="0"/>
                                          </p:stCondLst>
                                        </p:cTn>
                                        <p:tgtEl>
                                          <p:spTgt spid="583711"/>
                                        </p:tgtEl>
                                        <p:attrNameLst>
                                          <p:attrName>style.visibility</p:attrName>
                                        </p:attrNameLst>
                                      </p:cBhvr>
                                      <p:to>
                                        <p:strVal val="visible"/>
                                      </p:to>
                                    </p:set>
                                    <p:animEffect transition="in" filter="dissolve">
                                      <p:cBhvr>
                                        <p:cTn id="23" dur="500"/>
                                        <p:tgtEl>
                                          <p:spTgt spid="583711"/>
                                        </p:tgtEl>
                                      </p:cBhvr>
                                    </p:animEffect>
                                  </p:childTnLst>
                                </p:cTn>
                              </p:par>
                              <p:par>
                                <p:cTn id="24" presetID="9" presetClass="entr" presetSubtype="0" fill="hold" nodeType="withEffect">
                                  <p:stCondLst>
                                    <p:cond delay="0"/>
                                  </p:stCondLst>
                                  <p:childTnLst>
                                    <p:set>
                                      <p:cBhvr>
                                        <p:cTn id="25" dur="1" fill="hold">
                                          <p:stCondLst>
                                            <p:cond delay="0"/>
                                          </p:stCondLst>
                                        </p:cTn>
                                        <p:tgtEl>
                                          <p:spTgt spid="583712"/>
                                        </p:tgtEl>
                                        <p:attrNameLst>
                                          <p:attrName>style.visibility</p:attrName>
                                        </p:attrNameLst>
                                      </p:cBhvr>
                                      <p:to>
                                        <p:strVal val="visible"/>
                                      </p:to>
                                    </p:set>
                                    <p:animEffect transition="in" filter="dissolve">
                                      <p:cBhvr>
                                        <p:cTn id="26" dur="500"/>
                                        <p:tgtEl>
                                          <p:spTgt spid="583712"/>
                                        </p:tgtEl>
                                      </p:cBhvr>
                                    </p:animEffect>
                                  </p:childTnLst>
                                </p:cTn>
                              </p:par>
                              <p:par>
                                <p:cTn id="27" presetID="9" presetClass="entr" presetSubtype="0" fill="hold" nodeType="withEffect">
                                  <p:stCondLst>
                                    <p:cond delay="0"/>
                                  </p:stCondLst>
                                  <p:childTnLst>
                                    <p:set>
                                      <p:cBhvr>
                                        <p:cTn id="28" dur="1" fill="hold">
                                          <p:stCondLst>
                                            <p:cond delay="0"/>
                                          </p:stCondLst>
                                        </p:cTn>
                                        <p:tgtEl>
                                          <p:spTgt spid="583713"/>
                                        </p:tgtEl>
                                        <p:attrNameLst>
                                          <p:attrName>style.visibility</p:attrName>
                                        </p:attrNameLst>
                                      </p:cBhvr>
                                      <p:to>
                                        <p:strVal val="visible"/>
                                      </p:to>
                                    </p:set>
                                    <p:animEffect transition="in" filter="dissolve">
                                      <p:cBhvr>
                                        <p:cTn id="29" dur="500"/>
                                        <p:tgtEl>
                                          <p:spTgt spid="583713"/>
                                        </p:tgtEl>
                                      </p:cBhvr>
                                    </p:animEffect>
                                  </p:childTnLst>
                                </p:cTn>
                              </p:par>
                              <p:par>
                                <p:cTn id="30" presetID="9" presetClass="entr" presetSubtype="0" fill="hold" nodeType="withEffect">
                                  <p:stCondLst>
                                    <p:cond delay="0"/>
                                  </p:stCondLst>
                                  <p:childTnLst>
                                    <p:set>
                                      <p:cBhvr>
                                        <p:cTn id="31" dur="1" fill="hold">
                                          <p:stCondLst>
                                            <p:cond delay="0"/>
                                          </p:stCondLst>
                                        </p:cTn>
                                        <p:tgtEl>
                                          <p:spTgt spid="583714"/>
                                        </p:tgtEl>
                                        <p:attrNameLst>
                                          <p:attrName>style.visibility</p:attrName>
                                        </p:attrNameLst>
                                      </p:cBhvr>
                                      <p:to>
                                        <p:strVal val="visible"/>
                                      </p:to>
                                    </p:set>
                                    <p:animEffect transition="in" filter="dissolve">
                                      <p:cBhvr>
                                        <p:cTn id="32" dur="500"/>
                                        <p:tgtEl>
                                          <p:spTgt spid="583714"/>
                                        </p:tgtEl>
                                      </p:cBhvr>
                                    </p:animEffect>
                                  </p:childTnLst>
                                </p:cTn>
                              </p:par>
                              <p:par>
                                <p:cTn id="33" presetID="9" presetClass="entr" presetSubtype="0" fill="hold" grpId="0" nodeType="withEffect">
                                  <p:stCondLst>
                                    <p:cond delay="0"/>
                                  </p:stCondLst>
                                  <p:childTnLst>
                                    <p:set>
                                      <p:cBhvr>
                                        <p:cTn id="34" dur="1" fill="hold">
                                          <p:stCondLst>
                                            <p:cond delay="0"/>
                                          </p:stCondLst>
                                        </p:cTn>
                                        <p:tgtEl>
                                          <p:spTgt spid="583715"/>
                                        </p:tgtEl>
                                        <p:attrNameLst>
                                          <p:attrName>style.visibility</p:attrName>
                                        </p:attrNameLst>
                                      </p:cBhvr>
                                      <p:to>
                                        <p:strVal val="visible"/>
                                      </p:to>
                                    </p:set>
                                    <p:animEffect transition="in" filter="dissolve">
                                      <p:cBhvr>
                                        <p:cTn id="35" dur="500"/>
                                        <p:tgtEl>
                                          <p:spTgt spid="583715"/>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583716"/>
                                        </p:tgtEl>
                                        <p:attrNameLst>
                                          <p:attrName>style.visibility</p:attrName>
                                        </p:attrNameLst>
                                      </p:cBhvr>
                                      <p:to>
                                        <p:strVal val="visible"/>
                                      </p:to>
                                    </p:set>
                                    <p:animEffect transition="in" filter="dissolve">
                                      <p:cBhvr>
                                        <p:cTn id="38" dur="500"/>
                                        <p:tgtEl>
                                          <p:spTgt spid="583716"/>
                                        </p:tgtEl>
                                      </p:cBhvr>
                                    </p:animEffect>
                                  </p:childTnLst>
                                </p:cTn>
                              </p:par>
                              <p:par>
                                <p:cTn id="39" presetID="9" presetClass="entr" presetSubtype="0" fill="hold" grpId="0" nodeType="withEffect">
                                  <p:stCondLst>
                                    <p:cond delay="0"/>
                                  </p:stCondLst>
                                  <p:childTnLst>
                                    <p:set>
                                      <p:cBhvr>
                                        <p:cTn id="40" dur="1" fill="hold">
                                          <p:stCondLst>
                                            <p:cond delay="0"/>
                                          </p:stCondLst>
                                        </p:cTn>
                                        <p:tgtEl>
                                          <p:spTgt spid="583717"/>
                                        </p:tgtEl>
                                        <p:attrNameLst>
                                          <p:attrName>style.visibility</p:attrName>
                                        </p:attrNameLst>
                                      </p:cBhvr>
                                      <p:to>
                                        <p:strVal val="visible"/>
                                      </p:to>
                                    </p:set>
                                    <p:animEffect transition="in" filter="dissolve">
                                      <p:cBhvr>
                                        <p:cTn id="41" dur="500"/>
                                        <p:tgtEl>
                                          <p:spTgt spid="583717"/>
                                        </p:tgtEl>
                                      </p:cBhvr>
                                    </p:animEffect>
                                  </p:childTnLst>
                                </p:cTn>
                              </p:par>
                              <p:par>
                                <p:cTn id="42" presetID="9" presetClass="entr" presetSubtype="0" fill="hold" grpId="0" nodeType="withEffect">
                                  <p:stCondLst>
                                    <p:cond delay="0"/>
                                  </p:stCondLst>
                                  <p:childTnLst>
                                    <p:set>
                                      <p:cBhvr>
                                        <p:cTn id="43" dur="1" fill="hold">
                                          <p:stCondLst>
                                            <p:cond delay="0"/>
                                          </p:stCondLst>
                                        </p:cTn>
                                        <p:tgtEl>
                                          <p:spTgt spid="583718"/>
                                        </p:tgtEl>
                                        <p:attrNameLst>
                                          <p:attrName>style.visibility</p:attrName>
                                        </p:attrNameLst>
                                      </p:cBhvr>
                                      <p:to>
                                        <p:strVal val="visible"/>
                                      </p:to>
                                    </p:set>
                                    <p:animEffect transition="in" filter="dissolve">
                                      <p:cBhvr>
                                        <p:cTn id="44" dur="500"/>
                                        <p:tgtEl>
                                          <p:spTgt spid="583718"/>
                                        </p:tgtEl>
                                      </p:cBhvr>
                                    </p:animEffect>
                                  </p:childTnLst>
                                </p:cTn>
                              </p:par>
                              <p:par>
                                <p:cTn id="45" presetID="9" presetClass="entr" presetSubtype="0" fill="hold" grpId="0" nodeType="withEffect">
                                  <p:stCondLst>
                                    <p:cond delay="0"/>
                                  </p:stCondLst>
                                  <p:childTnLst>
                                    <p:set>
                                      <p:cBhvr>
                                        <p:cTn id="46" dur="1" fill="hold">
                                          <p:stCondLst>
                                            <p:cond delay="0"/>
                                          </p:stCondLst>
                                        </p:cTn>
                                        <p:tgtEl>
                                          <p:spTgt spid="583719"/>
                                        </p:tgtEl>
                                        <p:attrNameLst>
                                          <p:attrName>style.visibility</p:attrName>
                                        </p:attrNameLst>
                                      </p:cBhvr>
                                      <p:to>
                                        <p:strVal val="visible"/>
                                      </p:to>
                                    </p:set>
                                    <p:animEffect transition="in" filter="dissolve">
                                      <p:cBhvr>
                                        <p:cTn id="47" dur="500"/>
                                        <p:tgtEl>
                                          <p:spTgt spid="583719"/>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583720"/>
                                        </p:tgtEl>
                                        <p:attrNameLst>
                                          <p:attrName>style.visibility</p:attrName>
                                        </p:attrNameLst>
                                      </p:cBhvr>
                                      <p:to>
                                        <p:strVal val="visible"/>
                                      </p:to>
                                    </p:set>
                                    <p:animEffect transition="in" filter="dissolve">
                                      <p:cBhvr>
                                        <p:cTn id="50" dur="500"/>
                                        <p:tgtEl>
                                          <p:spTgt spid="583720"/>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583721"/>
                                        </p:tgtEl>
                                        <p:attrNameLst>
                                          <p:attrName>style.visibility</p:attrName>
                                        </p:attrNameLst>
                                      </p:cBhvr>
                                      <p:to>
                                        <p:strVal val="visible"/>
                                      </p:to>
                                    </p:set>
                                    <p:animEffect transition="in" filter="dissolve">
                                      <p:cBhvr>
                                        <p:cTn id="53" dur="500"/>
                                        <p:tgtEl>
                                          <p:spTgt spid="583721"/>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583722"/>
                                        </p:tgtEl>
                                        <p:attrNameLst>
                                          <p:attrName>style.visibility</p:attrName>
                                        </p:attrNameLst>
                                      </p:cBhvr>
                                      <p:to>
                                        <p:strVal val="visible"/>
                                      </p:to>
                                    </p:set>
                                    <p:animEffect transition="in" filter="dissolve">
                                      <p:cBhvr>
                                        <p:cTn id="56" dur="500"/>
                                        <p:tgtEl>
                                          <p:spTgt spid="583722"/>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583723"/>
                                        </p:tgtEl>
                                        <p:attrNameLst>
                                          <p:attrName>style.visibility</p:attrName>
                                        </p:attrNameLst>
                                      </p:cBhvr>
                                      <p:to>
                                        <p:strVal val="visible"/>
                                      </p:to>
                                    </p:set>
                                    <p:animEffect transition="in" filter="dissolve">
                                      <p:cBhvr>
                                        <p:cTn id="59" dur="500"/>
                                        <p:tgtEl>
                                          <p:spTgt spid="583723"/>
                                        </p:tgtEl>
                                      </p:cBhvr>
                                    </p:animEffect>
                                  </p:childTnLst>
                                </p:cTn>
                              </p:par>
                              <p:par>
                                <p:cTn id="60" presetID="9" presetClass="entr" presetSubtype="0" fill="hold" grpId="0" nodeType="withEffect">
                                  <p:stCondLst>
                                    <p:cond delay="0"/>
                                  </p:stCondLst>
                                  <p:childTnLst>
                                    <p:set>
                                      <p:cBhvr>
                                        <p:cTn id="61" dur="1" fill="hold">
                                          <p:stCondLst>
                                            <p:cond delay="0"/>
                                          </p:stCondLst>
                                        </p:cTn>
                                        <p:tgtEl>
                                          <p:spTgt spid="583724"/>
                                        </p:tgtEl>
                                        <p:attrNameLst>
                                          <p:attrName>style.visibility</p:attrName>
                                        </p:attrNameLst>
                                      </p:cBhvr>
                                      <p:to>
                                        <p:strVal val="visible"/>
                                      </p:to>
                                    </p:set>
                                    <p:animEffect transition="in" filter="dissolve">
                                      <p:cBhvr>
                                        <p:cTn id="62" dur="500"/>
                                        <p:tgtEl>
                                          <p:spTgt spid="583724"/>
                                        </p:tgtEl>
                                      </p:cBhvr>
                                    </p:animEffect>
                                  </p:childTnLst>
                                </p:cTn>
                              </p:par>
                              <p:par>
                                <p:cTn id="63" presetID="9" presetClass="entr" presetSubtype="0" fill="hold" nodeType="withEffect">
                                  <p:stCondLst>
                                    <p:cond delay="0"/>
                                  </p:stCondLst>
                                  <p:childTnLst>
                                    <p:set>
                                      <p:cBhvr>
                                        <p:cTn id="64" dur="1" fill="hold">
                                          <p:stCondLst>
                                            <p:cond delay="0"/>
                                          </p:stCondLst>
                                        </p:cTn>
                                        <p:tgtEl>
                                          <p:spTgt spid="583725"/>
                                        </p:tgtEl>
                                        <p:attrNameLst>
                                          <p:attrName>style.visibility</p:attrName>
                                        </p:attrNameLst>
                                      </p:cBhvr>
                                      <p:to>
                                        <p:strVal val="visible"/>
                                      </p:to>
                                    </p:set>
                                    <p:animEffect transition="in" filter="dissolve">
                                      <p:cBhvr>
                                        <p:cTn id="65" dur="500"/>
                                        <p:tgtEl>
                                          <p:spTgt spid="583725"/>
                                        </p:tgtEl>
                                      </p:cBhvr>
                                    </p:animEffect>
                                  </p:childTnLst>
                                </p:cTn>
                              </p:par>
                              <p:par>
                                <p:cTn id="66" presetID="9" presetClass="entr" presetSubtype="0" fill="hold" grpId="0" nodeType="withEffect">
                                  <p:stCondLst>
                                    <p:cond delay="0"/>
                                  </p:stCondLst>
                                  <p:childTnLst>
                                    <p:set>
                                      <p:cBhvr>
                                        <p:cTn id="67" dur="1" fill="hold">
                                          <p:stCondLst>
                                            <p:cond delay="0"/>
                                          </p:stCondLst>
                                        </p:cTn>
                                        <p:tgtEl>
                                          <p:spTgt spid="583728"/>
                                        </p:tgtEl>
                                        <p:attrNameLst>
                                          <p:attrName>style.visibility</p:attrName>
                                        </p:attrNameLst>
                                      </p:cBhvr>
                                      <p:to>
                                        <p:strVal val="visible"/>
                                      </p:to>
                                    </p:set>
                                    <p:animEffect transition="in" filter="dissolve">
                                      <p:cBhvr>
                                        <p:cTn id="68" dur="500"/>
                                        <p:tgtEl>
                                          <p:spTgt spid="583728"/>
                                        </p:tgtEl>
                                      </p:cBhvr>
                                    </p:animEffect>
                                  </p:childTnLst>
                                </p:cTn>
                              </p:par>
                              <p:par>
                                <p:cTn id="69" presetID="9" presetClass="entr" presetSubtype="0" fill="hold" grpId="0" nodeType="withEffect">
                                  <p:stCondLst>
                                    <p:cond delay="0"/>
                                  </p:stCondLst>
                                  <p:childTnLst>
                                    <p:set>
                                      <p:cBhvr>
                                        <p:cTn id="70" dur="1" fill="hold">
                                          <p:stCondLst>
                                            <p:cond delay="0"/>
                                          </p:stCondLst>
                                        </p:cTn>
                                        <p:tgtEl>
                                          <p:spTgt spid="583729"/>
                                        </p:tgtEl>
                                        <p:attrNameLst>
                                          <p:attrName>style.visibility</p:attrName>
                                        </p:attrNameLst>
                                      </p:cBhvr>
                                      <p:to>
                                        <p:strVal val="visible"/>
                                      </p:to>
                                    </p:set>
                                    <p:animEffect transition="in" filter="dissolve">
                                      <p:cBhvr>
                                        <p:cTn id="71" dur="500"/>
                                        <p:tgtEl>
                                          <p:spTgt spid="583729"/>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583730"/>
                                        </p:tgtEl>
                                        <p:attrNameLst>
                                          <p:attrName>style.visibility</p:attrName>
                                        </p:attrNameLst>
                                      </p:cBhvr>
                                      <p:to>
                                        <p:strVal val="visible"/>
                                      </p:to>
                                    </p:set>
                                    <p:animEffect transition="in" filter="dissolve">
                                      <p:cBhvr>
                                        <p:cTn id="74" dur="500"/>
                                        <p:tgtEl>
                                          <p:spTgt spid="583730"/>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583731"/>
                                        </p:tgtEl>
                                        <p:attrNameLst>
                                          <p:attrName>style.visibility</p:attrName>
                                        </p:attrNameLst>
                                      </p:cBhvr>
                                      <p:to>
                                        <p:strVal val="visible"/>
                                      </p:to>
                                    </p:set>
                                    <p:animEffect transition="in" filter="dissolve">
                                      <p:cBhvr>
                                        <p:cTn id="77" dur="500"/>
                                        <p:tgtEl>
                                          <p:spTgt spid="583731"/>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583732"/>
                                        </p:tgtEl>
                                        <p:attrNameLst>
                                          <p:attrName>style.visibility</p:attrName>
                                        </p:attrNameLst>
                                      </p:cBhvr>
                                      <p:to>
                                        <p:strVal val="visible"/>
                                      </p:to>
                                    </p:set>
                                    <p:animEffect transition="in" filter="dissolve">
                                      <p:cBhvr>
                                        <p:cTn id="80" dur="500"/>
                                        <p:tgtEl>
                                          <p:spTgt spid="583732"/>
                                        </p:tgtEl>
                                      </p:cBhvr>
                                    </p:animEffect>
                                  </p:childTnLst>
                                </p:cTn>
                              </p:par>
                              <p:par>
                                <p:cTn id="81" presetID="9" presetClass="entr" presetSubtype="0" fill="hold" nodeType="withEffect">
                                  <p:stCondLst>
                                    <p:cond delay="0"/>
                                  </p:stCondLst>
                                  <p:childTnLst>
                                    <p:set>
                                      <p:cBhvr>
                                        <p:cTn id="82" dur="1" fill="hold">
                                          <p:stCondLst>
                                            <p:cond delay="0"/>
                                          </p:stCondLst>
                                        </p:cTn>
                                        <p:tgtEl>
                                          <p:spTgt spid="583733"/>
                                        </p:tgtEl>
                                        <p:attrNameLst>
                                          <p:attrName>style.visibility</p:attrName>
                                        </p:attrNameLst>
                                      </p:cBhvr>
                                      <p:to>
                                        <p:strVal val="visible"/>
                                      </p:to>
                                    </p:set>
                                    <p:animEffect transition="in" filter="dissolve">
                                      <p:cBhvr>
                                        <p:cTn id="83" dur="500"/>
                                        <p:tgtEl>
                                          <p:spTgt spid="583733"/>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583734"/>
                                        </p:tgtEl>
                                        <p:attrNameLst>
                                          <p:attrName>style.visibility</p:attrName>
                                        </p:attrNameLst>
                                      </p:cBhvr>
                                      <p:to>
                                        <p:strVal val="visible"/>
                                      </p:to>
                                    </p:set>
                                    <p:animEffect transition="in" filter="dissolve">
                                      <p:cBhvr>
                                        <p:cTn id="86" dur="500"/>
                                        <p:tgtEl>
                                          <p:spTgt spid="583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684" grpId="0" animBg="1"/>
      <p:bldP spid="583715" grpId="0" animBg="1"/>
      <p:bldP spid="583716" grpId="0"/>
      <p:bldP spid="583717" grpId="0" animBg="1"/>
      <p:bldP spid="583718" grpId="0"/>
      <p:bldP spid="583719" grpId="0" animBg="1"/>
      <p:bldP spid="583720" grpId="0"/>
      <p:bldP spid="583721" grpId="0" animBg="1"/>
      <p:bldP spid="583722" grpId="0"/>
      <p:bldP spid="583723" grpId="0" animBg="1"/>
      <p:bldP spid="583724" grpId="0"/>
      <p:bldP spid="583728" grpId="0"/>
      <p:bldP spid="583729" grpId="0"/>
      <p:bldP spid="583730" grpId="0"/>
      <p:bldP spid="583731" grpId="0"/>
      <p:bldP spid="583732" grpId="0"/>
      <p:bldP spid="583734" grpId="0" animBg="1"/>
      <p:bldP spid="58373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DCEFA07-7A4F-4825-B6F5-A09A628F757D}" type="slidenum">
              <a:rPr lang="en-US" altLang="de-DE" sz="1000">
                <a:solidFill>
                  <a:srgbClr val="C0C0C0"/>
                </a:solidFill>
              </a:rPr>
              <a:pPr/>
              <a:t>40</a:t>
            </a:fld>
            <a:endParaRPr lang="en-US" altLang="de-DE" sz="1000">
              <a:solidFill>
                <a:srgbClr val="C0C0C0"/>
              </a:solidFill>
            </a:endParaRPr>
          </a:p>
        </p:txBody>
      </p:sp>
      <p:sp>
        <p:nvSpPr>
          <p:cNvPr id="585731" name="Text Box 3"/>
          <p:cNvSpPr txBox="1">
            <a:spLocks noChangeArrowheads="1"/>
          </p:cNvSpPr>
          <p:nvPr/>
        </p:nvSpPr>
        <p:spPr bwMode="auto">
          <a:xfrm>
            <a:off x="608013" y="1446213"/>
            <a:ext cx="7132637" cy="218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dirty="0">
                <a:solidFill>
                  <a:srgbClr val="CC0000"/>
                </a:solidFill>
              </a:rPr>
              <a:t>Maximum positive gain </a:t>
            </a:r>
            <a:r>
              <a:rPr lang="de-DE" altLang="de-DE" i="1" dirty="0">
                <a:solidFill>
                  <a:srgbClr val="CC0000"/>
                </a:solidFill>
                <a:sym typeface="Symbol" panose="05050102010706020507" pitchFamily="18" charset="2"/>
              </a:rPr>
              <a:t>G</a:t>
            </a:r>
            <a:r>
              <a:rPr lang="de-DE" altLang="de-DE" i="1" baseline="-25000" dirty="0">
                <a:solidFill>
                  <a:srgbClr val="CC0000"/>
                </a:solidFill>
                <a:sym typeface="Symbol" panose="05050102010706020507" pitchFamily="18" charset="2"/>
              </a:rPr>
              <a:t>m</a:t>
            </a:r>
            <a:r>
              <a:rPr lang="de-DE" altLang="de-DE" i="1" dirty="0">
                <a:sym typeface="Symbol" panose="05050102010706020507" pitchFamily="18" charset="2"/>
              </a:rPr>
              <a:t> </a:t>
            </a:r>
            <a:r>
              <a:rPr lang="de-DE" altLang="de-DE" dirty="0">
                <a:solidFill>
                  <a:srgbClr val="CC0000"/>
                </a:solidFill>
              </a:rPr>
              <a:t>of a pass </a:t>
            </a:r>
            <a:endParaRPr lang="de-DE" altLang="de-DE" i="1" dirty="0">
              <a:solidFill>
                <a:srgbClr val="CC0000"/>
              </a:solidFill>
            </a:endParaRPr>
          </a:p>
          <a:p>
            <a:pPr algn="l">
              <a:lnSpc>
                <a:spcPct val="100000"/>
              </a:lnSpc>
              <a:spcBef>
                <a:spcPct val="25000"/>
              </a:spcBef>
            </a:pPr>
            <a:endParaRPr lang="de-DE" altLang="de-DE" dirty="0"/>
          </a:p>
          <a:p>
            <a:pPr algn="l">
              <a:lnSpc>
                <a:spcPct val="100000"/>
              </a:lnSpc>
              <a:spcBef>
                <a:spcPct val="25000"/>
              </a:spcBef>
            </a:pPr>
            <a:r>
              <a:rPr lang="en-US" altLang="zh-CN" dirty="0">
                <a:ea typeface="宋体" panose="02010600030101010101" pitchFamily="2" charset="-122"/>
                <a:sym typeface="Symbol" panose="05050102010706020507" pitchFamily="18" charset="2"/>
              </a:rPr>
              <a:t>The maximum positive gain</a:t>
            </a:r>
            <a:r>
              <a:rPr lang="en-US" altLang="zh-CN" i="1" dirty="0">
                <a:ea typeface="宋体" panose="02010600030101010101" pitchFamily="2" charset="-122"/>
                <a:sym typeface="Symbol" panose="05050102010706020507" pitchFamily="18" charset="2"/>
              </a:rPr>
              <a:t> G</a:t>
            </a:r>
            <a:r>
              <a:rPr lang="en-US" altLang="zh-CN" i="1" baseline="-25000" dirty="0">
                <a:ea typeface="宋体" panose="02010600030101010101" pitchFamily="2" charset="-122"/>
                <a:sym typeface="Symbol" panose="05050102010706020507" pitchFamily="18" charset="2"/>
              </a:rPr>
              <a:t>m</a:t>
            </a:r>
            <a:r>
              <a:rPr lang="en-US" altLang="zh-CN" dirty="0">
                <a:ea typeface="宋体" panose="02010600030101010101" pitchFamily="2" charset="-122"/>
                <a:sym typeface="Symbol" panose="05050102010706020507" pitchFamily="18" charset="2"/>
              </a:rPr>
              <a:t> is the cumulative cell gain of </a:t>
            </a:r>
            <a:r>
              <a:rPr lang="en-US" altLang="zh-CN" i="1" dirty="0">
                <a:ea typeface="宋体" panose="02010600030101010101" pitchFamily="2" charset="-122"/>
                <a:sym typeface="Symbol" panose="05050102010706020507" pitchFamily="18" charset="2"/>
              </a:rPr>
              <a:t>m</a:t>
            </a:r>
            <a:r>
              <a:rPr lang="en-US" altLang="zh-CN" dirty="0">
                <a:ea typeface="宋体" panose="02010600030101010101" pitchFamily="2" charset="-122"/>
                <a:sym typeface="Symbol" panose="05050102010706020507" pitchFamily="18" charset="2"/>
              </a:rPr>
              <a:t> moves that produce a minimum cut cost. </a:t>
            </a:r>
            <a:endParaRPr lang="de-DE" altLang="de-DE" dirty="0">
              <a:sym typeface="Symbol" panose="05050102010706020507" pitchFamily="18" charset="2"/>
            </a:endParaRPr>
          </a:p>
          <a:p>
            <a:pPr algn="l">
              <a:lnSpc>
                <a:spcPct val="100000"/>
              </a:lnSpc>
              <a:spcBef>
                <a:spcPct val="25000"/>
              </a:spcBef>
            </a:pPr>
            <a:endParaRPr lang="de-DE" altLang="de-DE" dirty="0">
              <a:sym typeface="Symbol" panose="05050102010706020507" pitchFamily="18" charset="2"/>
            </a:endParaRPr>
          </a:p>
          <a:p>
            <a:pPr algn="l">
              <a:lnSpc>
                <a:spcPct val="100000"/>
              </a:lnSpc>
              <a:spcBef>
                <a:spcPct val="25000"/>
              </a:spcBef>
            </a:pPr>
            <a:r>
              <a:rPr lang="en-US" altLang="zh-CN" i="1" dirty="0">
                <a:ea typeface="宋体" panose="02010600030101010101" pitchFamily="2" charset="-122"/>
                <a:sym typeface="Symbol" panose="05050102010706020507" pitchFamily="18" charset="2"/>
              </a:rPr>
              <a:t>G</a:t>
            </a:r>
            <a:r>
              <a:rPr lang="en-US" altLang="zh-CN" i="1" baseline="-25000" dirty="0">
                <a:ea typeface="宋体" panose="02010600030101010101" pitchFamily="2" charset="-122"/>
                <a:sym typeface="Symbol" panose="05050102010706020507" pitchFamily="18" charset="2"/>
              </a:rPr>
              <a:t>m</a:t>
            </a:r>
            <a:r>
              <a:rPr lang="en-US" altLang="zh-CN" baseline="-25000" dirty="0">
                <a:ea typeface="宋体" panose="02010600030101010101" pitchFamily="2" charset="-122"/>
                <a:sym typeface="Symbol" panose="05050102010706020507" pitchFamily="18" charset="2"/>
              </a:rPr>
              <a:t>  </a:t>
            </a:r>
            <a:r>
              <a:rPr lang="en-US" altLang="zh-CN" dirty="0">
                <a:ea typeface="宋体" panose="02010600030101010101" pitchFamily="2" charset="-122"/>
                <a:sym typeface="Symbol" panose="05050102010706020507" pitchFamily="18" charset="2"/>
              </a:rPr>
              <a:t>is determined by the maximum sum of cell gains </a:t>
            </a:r>
            <a:r>
              <a:rPr lang="en-US" altLang="zh-CN" i="1" dirty="0">
                <a:ea typeface="宋体" panose="02010600030101010101" pitchFamily="2" charset="-122"/>
                <a:sym typeface="Symbol" panose="05050102010706020507" pitchFamily="18" charset="2"/>
              </a:rPr>
              <a:t>g</a:t>
            </a:r>
            <a:r>
              <a:rPr lang="en-US" altLang="zh-CN" dirty="0">
                <a:ea typeface="宋体" panose="02010600030101010101" pitchFamily="2" charset="-122"/>
                <a:sym typeface="Symbol" panose="05050102010706020507" pitchFamily="18" charset="2"/>
              </a:rPr>
              <a:t> over a prefix of </a:t>
            </a:r>
            <a:r>
              <a:rPr lang="en-US" altLang="zh-CN" i="1" dirty="0">
                <a:ea typeface="宋体" panose="02010600030101010101" pitchFamily="2" charset="-122"/>
                <a:sym typeface="Symbol" panose="05050102010706020507" pitchFamily="18" charset="2"/>
              </a:rPr>
              <a:t>m</a:t>
            </a:r>
            <a:r>
              <a:rPr lang="en-US" altLang="zh-CN" dirty="0">
                <a:ea typeface="宋体" panose="02010600030101010101" pitchFamily="2" charset="-122"/>
                <a:sym typeface="Symbol" panose="05050102010706020507" pitchFamily="18" charset="2"/>
              </a:rPr>
              <a:t> moves in a pass </a:t>
            </a:r>
            <a:endParaRPr lang="de-DE" altLang="de-DE" dirty="0">
              <a:sym typeface="Symbol" panose="05050102010706020507" pitchFamily="18" charset="2"/>
            </a:endParaRPr>
          </a:p>
        </p:txBody>
      </p:sp>
      <p:graphicFrame>
        <p:nvGraphicFramePr>
          <p:cNvPr id="585734" name="Object 6"/>
          <p:cNvGraphicFramePr>
            <a:graphicFrameLocks noChangeAspect="1"/>
          </p:cNvGraphicFramePr>
          <p:nvPr/>
        </p:nvGraphicFramePr>
        <p:xfrm>
          <a:off x="2916238" y="3573463"/>
          <a:ext cx="1670050" cy="962025"/>
        </p:xfrm>
        <a:graphic>
          <a:graphicData uri="http://schemas.openxmlformats.org/presentationml/2006/ole">
            <mc:AlternateContent xmlns:mc="http://schemas.openxmlformats.org/markup-compatibility/2006">
              <mc:Choice xmlns:v="urn:schemas-microsoft-com:vml" Requires="v">
                <p:oleObj spid="_x0000_s34831" name="Formel" r:id="rId4" imgW="748975" imgH="431613" progId="Equation.3">
                  <p:embed/>
                </p:oleObj>
              </mc:Choice>
              <mc:Fallback>
                <p:oleObj name="Formel" r:id="rId4" imgW="748975" imgH="431613"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3573463"/>
                        <a:ext cx="1670050" cy="962025"/>
                      </a:xfrm>
                      <a:prstGeom prst="rect">
                        <a:avLst/>
                      </a:prstGeom>
                      <a:solidFill>
                        <a:srgbClr val="DDDDDD"/>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1" name="Rectangle 7"/>
          <p:cNvSpPr>
            <a:spLocks noGrp="1" noChangeArrowheads="1"/>
          </p:cNvSpPr>
          <p:nvPr>
            <p:ph type="title"/>
          </p:nvPr>
        </p:nvSpPr>
        <p:spPr/>
        <p:txBody>
          <a:bodyPr/>
          <a:lstStyle/>
          <a:p>
            <a:r>
              <a:rPr lang="de-DE" altLang="de-DE"/>
              <a:t>2.4.3	Fiduccia-Mattheyses (FM) Algorithm – Terminology</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5731">
                                            <p:txEl>
                                              <p:pRg st="2" end="2"/>
                                            </p:txEl>
                                          </p:spTgt>
                                        </p:tgtEl>
                                        <p:attrNameLst>
                                          <p:attrName>style.visibility</p:attrName>
                                        </p:attrNameLst>
                                      </p:cBhvr>
                                      <p:to>
                                        <p:strVal val="visible"/>
                                      </p:to>
                                    </p:set>
                                    <p:animEffect transition="in" filter="dissolve">
                                      <p:cBhvr>
                                        <p:cTn id="7" dur="500"/>
                                        <p:tgtEl>
                                          <p:spTgt spid="58573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85731">
                                            <p:txEl>
                                              <p:pRg st="4" end="4"/>
                                            </p:txEl>
                                          </p:spTgt>
                                        </p:tgtEl>
                                        <p:attrNameLst>
                                          <p:attrName>style.visibility</p:attrName>
                                        </p:attrNameLst>
                                      </p:cBhvr>
                                      <p:to>
                                        <p:strVal val="visible"/>
                                      </p:to>
                                    </p:set>
                                    <p:animEffect transition="in" filter="dissolve">
                                      <p:cBhvr>
                                        <p:cTn id="12" dur="500"/>
                                        <p:tgtEl>
                                          <p:spTgt spid="585731">
                                            <p:txEl>
                                              <p:pRg st="4" end="4"/>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585734"/>
                                        </p:tgtEl>
                                        <p:attrNameLst>
                                          <p:attrName>style.visibility</p:attrName>
                                        </p:attrNameLst>
                                      </p:cBhvr>
                                      <p:to>
                                        <p:strVal val="visible"/>
                                      </p:to>
                                    </p:set>
                                    <p:animEffect transition="in" filter="dissolve">
                                      <p:cBhvr>
                                        <p:cTn id="15" dur="500"/>
                                        <p:tgtEl>
                                          <p:spTgt spid="585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6ABAA37-38F2-4784-90DA-C1578925BD53}" type="slidenum">
              <a:rPr lang="en-US" altLang="de-DE" sz="1000">
                <a:solidFill>
                  <a:srgbClr val="C0C0C0"/>
                </a:solidFill>
              </a:rPr>
              <a:pPr/>
              <a:t>41</a:t>
            </a:fld>
            <a:endParaRPr lang="en-US" altLang="de-DE" sz="1000">
              <a:solidFill>
                <a:srgbClr val="C0C0C0"/>
              </a:solidFill>
            </a:endParaRPr>
          </a:p>
        </p:txBody>
      </p:sp>
      <p:sp>
        <p:nvSpPr>
          <p:cNvPr id="587779" name="Text Box 3"/>
          <p:cNvSpPr txBox="1">
            <a:spLocks noChangeArrowheads="1"/>
          </p:cNvSpPr>
          <p:nvPr/>
        </p:nvSpPr>
        <p:spPr bwMode="auto">
          <a:xfrm>
            <a:off x="608013" y="1446213"/>
            <a:ext cx="8140700" cy="403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dirty="0">
                <a:solidFill>
                  <a:srgbClr val="CC0000"/>
                </a:solidFill>
              </a:rPr>
              <a:t>Ratio factor</a:t>
            </a:r>
            <a:endParaRPr lang="de-DE" altLang="de-DE" i="1" dirty="0">
              <a:solidFill>
                <a:srgbClr val="CC0000"/>
              </a:solidFill>
            </a:endParaRPr>
          </a:p>
          <a:p>
            <a:pPr algn="l">
              <a:lnSpc>
                <a:spcPct val="100000"/>
              </a:lnSpc>
              <a:spcBef>
                <a:spcPct val="25000"/>
              </a:spcBef>
            </a:pPr>
            <a:endParaRPr lang="de-DE" altLang="de-DE" dirty="0"/>
          </a:p>
          <a:p>
            <a:pPr algn="l">
              <a:lnSpc>
                <a:spcPct val="100000"/>
              </a:lnSpc>
              <a:spcBef>
                <a:spcPct val="25000"/>
              </a:spcBef>
            </a:pPr>
            <a:r>
              <a:rPr lang="en-US" altLang="zh-CN" dirty="0">
                <a:ea typeface="宋体" panose="02010600030101010101" pitchFamily="2" charset="-122"/>
                <a:sym typeface="Symbol" panose="05050102010706020507" pitchFamily="18" charset="2"/>
              </a:rPr>
              <a:t>The </a:t>
            </a:r>
            <a:r>
              <a:rPr lang="en-US" altLang="zh-CN" i="1" dirty="0">
                <a:ea typeface="宋体" panose="02010600030101010101" pitchFamily="2" charset="-122"/>
                <a:sym typeface="Symbol" panose="05050102010706020507" pitchFamily="18" charset="2"/>
              </a:rPr>
              <a:t>ratio factor</a:t>
            </a:r>
            <a:r>
              <a:rPr lang="en-US" altLang="zh-CN" dirty="0">
                <a:ea typeface="宋体" panose="02010600030101010101" pitchFamily="2" charset="-122"/>
                <a:sym typeface="Symbol" panose="05050102010706020507" pitchFamily="18" charset="2"/>
              </a:rPr>
              <a:t> is the relative balance between the two partitions</a:t>
            </a:r>
            <a:br>
              <a:rPr lang="en-US" altLang="zh-CN" dirty="0">
                <a:ea typeface="宋体" panose="02010600030101010101" pitchFamily="2" charset="-122"/>
                <a:sym typeface="Symbol" panose="05050102010706020507" pitchFamily="18" charset="2"/>
              </a:rPr>
            </a:br>
            <a:r>
              <a:rPr lang="en-US" altLang="zh-CN" dirty="0">
                <a:ea typeface="宋体" panose="02010600030101010101" pitchFamily="2" charset="-122"/>
                <a:sym typeface="Symbol" panose="05050102010706020507" pitchFamily="18" charset="2"/>
              </a:rPr>
              <a:t> with respect to cell area</a:t>
            </a:r>
            <a:br>
              <a:rPr lang="en-US" altLang="zh-CN" dirty="0">
                <a:ea typeface="宋体" panose="02010600030101010101" pitchFamily="2" charset="-122"/>
                <a:sym typeface="Symbol" panose="05050102010706020507" pitchFamily="18" charset="2"/>
              </a:rPr>
            </a:br>
            <a:endParaRPr lang="en-US" altLang="zh-CN" dirty="0">
              <a:ea typeface="宋体" panose="02010600030101010101" pitchFamily="2" charset="-122"/>
              <a:sym typeface="Symbol" panose="05050102010706020507" pitchFamily="18" charset="2"/>
            </a:endParaRPr>
          </a:p>
          <a:p>
            <a:pPr algn="l">
              <a:lnSpc>
                <a:spcPct val="100000"/>
              </a:lnSpc>
              <a:spcBef>
                <a:spcPct val="25000"/>
              </a:spcBef>
            </a:pPr>
            <a:r>
              <a:rPr lang="en-US" altLang="zh-CN" dirty="0">
                <a:ea typeface="宋体" panose="02010600030101010101" pitchFamily="2" charset="-122"/>
                <a:sym typeface="Symbol" panose="05050102010706020507" pitchFamily="18" charset="2"/>
              </a:rPr>
              <a:t>It is used to prevent all cells from clustering into one partition. </a:t>
            </a:r>
            <a:br>
              <a:rPr lang="en-US" altLang="zh-CN" dirty="0">
                <a:ea typeface="宋体" panose="02010600030101010101" pitchFamily="2" charset="-122"/>
                <a:sym typeface="Symbol" panose="05050102010706020507" pitchFamily="18" charset="2"/>
              </a:rPr>
            </a:br>
            <a:endParaRPr lang="en-US" altLang="zh-CN" dirty="0">
              <a:ea typeface="宋体" panose="02010600030101010101" pitchFamily="2" charset="-122"/>
              <a:sym typeface="Symbol" panose="05050102010706020507" pitchFamily="18" charset="2"/>
            </a:endParaRPr>
          </a:p>
          <a:p>
            <a:pPr algn="l">
              <a:lnSpc>
                <a:spcPct val="100000"/>
              </a:lnSpc>
              <a:spcBef>
                <a:spcPct val="25000"/>
              </a:spcBef>
            </a:pPr>
            <a:r>
              <a:rPr lang="en-US" altLang="zh-CN" dirty="0">
                <a:ea typeface="宋体" panose="02010600030101010101" pitchFamily="2" charset="-122"/>
                <a:sym typeface="Symbol" panose="05050102010706020507" pitchFamily="18" charset="2"/>
              </a:rPr>
              <a:t>The ratio factor </a:t>
            </a:r>
            <a:r>
              <a:rPr lang="en-US" altLang="zh-CN" i="1" dirty="0">
                <a:ea typeface="宋体" panose="02010600030101010101" pitchFamily="2" charset="-122"/>
                <a:sym typeface="Symbol" panose="05050102010706020507" pitchFamily="18" charset="2"/>
              </a:rPr>
              <a:t>r</a:t>
            </a:r>
            <a:r>
              <a:rPr lang="en-US" altLang="zh-CN" dirty="0">
                <a:ea typeface="宋体" panose="02010600030101010101" pitchFamily="2" charset="-122"/>
                <a:sym typeface="Symbol" panose="05050102010706020507" pitchFamily="18" charset="2"/>
              </a:rPr>
              <a:t> is defined as</a:t>
            </a:r>
          </a:p>
          <a:p>
            <a:pPr algn="l">
              <a:lnSpc>
                <a:spcPct val="100000"/>
              </a:lnSpc>
              <a:spcBef>
                <a:spcPct val="25000"/>
              </a:spcBef>
            </a:pPr>
            <a:endParaRPr lang="de-DE" altLang="de-DE" dirty="0">
              <a:sym typeface="Symbol" panose="05050102010706020507" pitchFamily="18" charset="2"/>
            </a:endParaRPr>
          </a:p>
          <a:p>
            <a:pPr algn="l">
              <a:lnSpc>
                <a:spcPct val="100000"/>
              </a:lnSpc>
              <a:spcBef>
                <a:spcPct val="25000"/>
              </a:spcBef>
            </a:pPr>
            <a:endParaRPr lang="de-DE" altLang="de-DE" dirty="0">
              <a:sym typeface="Symbol" panose="05050102010706020507" pitchFamily="18" charset="2"/>
            </a:endParaRPr>
          </a:p>
          <a:p>
            <a:pPr algn="l">
              <a:lnSpc>
                <a:spcPct val="100000"/>
              </a:lnSpc>
              <a:spcBef>
                <a:spcPct val="25000"/>
              </a:spcBef>
            </a:pPr>
            <a:br>
              <a:rPr lang="en-US" altLang="zh-CN" dirty="0">
                <a:ea typeface="宋体" panose="02010600030101010101" pitchFamily="2" charset="-122"/>
                <a:sym typeface="Symbol" panose="05050102010706020507" pitchFamily="18" charset="2"/>
              </a:rPr>
            </a:br>
            <a:r>
              <a:rPr lang="en-US" altLang="zh-CN" dirty="0">
                <a:ea typeface="宋体" panose="02010600030101010101" pitchFamily="2" charset="-122"/>
                <a:sym typeface="Symbol" panose="05050102010706020507" pitchFamily="18" charset="2"/>
              </a:rPr>
              <a:t>where </a:t>
            </a:r>
            <a:r>
              <a:rPr lang="en-US" altLang="zh-CN" i="1" dirty="0">
                <a:ea typeface="宋体" panose="02010600030101010101" pitchFamily="2" charset="-122"/>
                <a:sym typeface="Symbol" panose="05050102010706020507" pitchFamily="18" charset="2"/>
              </a:rPr>
              <a:t>area</a:t>
            </a:r>
            <a:r>
              <a:rPr lang="en-US" altLang="zh-CN" dirty="0">
                <a:ea typeface="宋体" panose="02010600030101010101" pitchFamily="2" charset="-122"/>
                <a:sym typeface="Symbol" panose="05050102010706020507" pitchFamily="18" charset="2"/>
              </a:rPr>
              <a:t>(</a:t>
            </a:r>
            <a:r>
              <a:rPr lang="en-US" altLang="zh-CN" i="1" dirty="0">
                <a:ea typeface="宋体" panose="02010600030101010101" pitchFamily="2" charset="-122"/>
                <a:sym typeface="Symbol" panose="05050102010706020507" pitchFamily="18" charset="2"/>
              </a:rPr>
              <a:t>A</a:t>
            </a:r>
            <a:r>
              <a:rPr lang="en-US" altLang="zh-CN" dirty="0">
                <a:ea typeface="宋体" panose="02010600030101010101" pitchFamily="2" charset="-122"/>
                <a:sym typeface="Symbol" panose="05050102010706020507" pitchFamily="18" charset="2"/>
              </a:rPr>
              <a:t>) and </a:t>
            </a:r>
            <a:r>
              <a:rPr lang="en-US" altLang="zh-CN" i="1" dirty="0">
                <a:ea typeface="宋体" panose="02010600030101010101" pitchFamily="2" charset="-122"/>
                <a:sym typeface="Symbol" panose="05050102010706020507" pitchFamily="18" charset="2"/>
              </a:rPr>
              <a:t>area</a:t>
            </a:r>
            <a:r>
              <a:rPr lang="en-US" altLang="zh-CN" dirty="0">
                <a:ea typeface="宋体" panose="02010600030101010101" pitchFamily="2" charset="-122"/>
                <a:sym typeface="Symbol" panose="05050102010706020507" pitchFamily="18" charset="2"/>
              </a:rPr>
              <a:t>(</a:t>
            </a:r>
            <a:r>
              <a:rPr lang="en-US" altLang="zh-CN" i="1" dirty="0">
                <a:ea typeface="宋体" panose="02010600030101010101" pitchFamily="2" charset="-122"/>
                <a:sym typeface="Symbol" panose="05050102010706020507" pitchFamily="18" charset="2"/>
              </a:rPr>
              <a:t>B</a:t>
            </a:r>
            <a:r>
              <a:rPr lang="en-US" altLang="zh-CN" dirty="0">
                <a:ea typeface="宋体" panose="02010600030101010101" pitchFamily="2" charset="-122"/>
                <a:sym typeface="Symbol" panose="05050102010706020507" pitchFamily="18" charset="2"/>
              </a:rPr>
              <a:t>) are the total respective areas of partitions </a:t>
            </a:r>
            <a:r>
              <a:rPr lang="en-US" altLang="zh-CN" i="1" dirty="0">
                <a:ea typeface="宋体" panose="02010600030101010101" pitchFamily="2" charset="-122"/>
                <a:sym typeface="Symbol" panose="05050102010706020507" pitchFamily="18" charset="2"/>
              </a:rPr>
              <a:t>A</a:t>
            </a:r>
            <a:r>
              <a:rPr lang="en-US" altLang="zh-CN" dirty="0">
                <a:ea typeface="宋体" panose="02010600030101010101" pitchFamily="2" charset="-122"/>
                <a:sym typeface="Symbol" panose="05050102010706020507" pitchFamily="18" charset="2"/>
              </a:rPr>
              <a:t> and </a:t>
            </a:r>
            <a:r>
              <a:rPr lang="en-US" altLang="zh-CN" i="1" dirty="0">
                <a:ea typeface="宋体" panose="02010600030101010101" pitchFamily="2" charset="-122"/>
                <a:sym typeface="Symbol" panose="05050102010706020507" pitchFamily="18" charset="2"/>
              </a:rPr>
              <a:t>B</a:t>
            </a:r>
            <a:r>
              <a:rPr lang="en-US" altLang="zh-CN" dirty="0">
                <a:ea typeface="宋体" panose="02010600030101010101" pitchFamily="2" charset="-122"/>
                <a:sym typeface="Symbol" panose="05050102010706020507" pitchFamily="18" charset="2"/>
              </a:rPr>
              <a:t> </a:t>
            </a:r>
            <a:endParaRPr lang="de-DE" altLang="de-DE" dirty="0">
              <a:sym typeface="Symbol" panose="05050102010706020507" pitchFamily="18" charset="2"/>
            </a:endParaRPr>
          </a:p>
          <a:p>
            <a:pPr algn="l">
              <a:lnSpc>
                <a:spcPct val="100000"/>
              </a:lnSpc>
              <a:spcBef>
                <a:spcPct val="25000"/>
              </a:spcBef>
            </a:pPr>
            <a:endParaRPr lang="de-DE" altLang="de-DE" dirty="0">
              <a:sym typeface="Symbol" panose="05050102010706020507" pitchFamily="18" charset="2"/>
            </a:endParaRPr>
          </a:p>
        </p:txBody>
      </p:sp>
      <p:graphicFrame>
        <p:nvGraphicFramePr>
          <p:cNvPr id="587783" name="Object 7"/>
          <p:cNvGraphicFramePr>
            <a:graphicFrameLocks noChangeAspect="1"/>
          </p:cNvGraphicFramePr>
          <p:nvPr/>
        </p:nvGraphicFramePr>
        <p:xfrm>
          <a:off x="3851275" y="3636963"/>
          <a:ext cx="2808288" cy="871537"/>
        </p:xfrm>
        <a:graphic>
          <a:graphicData uri="http://schemas.openxmlformats.org/presentationml/2006/ole">
            <mc:AlternateContent xmlns:mc="http://schemas.openxmlformats.org/markup-compatibility/2006">
              <mc:Choice xmlns:v="urn:schemas-microsoft-com:vml" Requires="v">
                <p:oleObj spid="_x0000_s35855" name="Formel" r:id="rId4" imgW="1307532" imgH="406224" progId="Equation.3">
                  <p:embed/>
                </p:oleObj>
              </mc:Choice>
              <mc:Fallback>
                <p:oleObj name="Formel" r:id="rId4" imgW="1307532" imgH="406224"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1275" y="3636963"/>
                        <a:ext cx="2808288" cy="8715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845" name="Rectangle 8"/>
          <p:cNvSpPr>
            <a:spLocks noGrp="1" noChangeArrowheads="1"/>
          </p:cNvSpPr>
          <p:nvPr>
            <p:ph type="title"/>
          </p:nvPr>
        </p:nvSpPr>
        <p:spPr/>
        <p:txBody>
          <a:bodyPr/>
          <a:lstStyle/>
          <a:p>
            <a:r>
              <a:rPr lang="de-DE" altLang="de-DE"/>
              <a:t>2.4.3	Fiduccia-Mattheyses (FM) Algorithm – Terminology</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7779">
                                            <p:txEl>
                                              <p:pRg st="2" end="2"/>
                                            </p:txEl>
                                          </p:spTgt>
                                        </p:tgtEl>
                                        <p:attrNameLst>
                                          <p:attrName>style.visibility</p:attrName>
                                        </p:attrNameLst>
                                      </p:cBhvr>
                                      <p:to>
                                        <p:strVal val="visible"/>
                                      </p:to>
                                    </p:set>
                                    <p:animEffect transition="in" filter="dissolve">
                                      <p:cBhvr>
                                        <p:cTn id="7" dur="500"/>
                                        <p:tgtEl>
                                          <p:spTgt spid="58777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87779">
                                            <p:txEl>
                                              <p:pRg st="3" end="3"/>
                                            </p:txEl>
                                          </p:spTgt>
                                        </p:tgtEl>
                                        <p:attrNameLst>
                                          <p:attrName>style.visibility</p:attrName>
                                        </p:attrNameLst>
                                      </p:cBhvr>
                                      <p:to>
                                        <p:strVal val="visible"/>
                                      </p:to>
                                    </p:set>
                                    <p:animEffect transition="in" filter="dissolve">
                                      <p:cBhvr>
                                        <p:cTn id="12" dur="500"/>
                                        <p:tgtEl>
                                          <p:spTgt spid="587779">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87779">
                                            <p:txEl>
                                              <p:pRg st="4" end="4"/>
                                            </p:txEl>
                                          </p:spTgt>
                                        </p:tgtEl>
                                        <p:attrNameLst>
                                          <p:attrName>style.visibility</p:attrName>
                                        </p:attrNameLst>
                                      </p:cBhvr>
                                      <p:to>
                                        <p:strVal val="visible"/>
                                      </p:to>
                                    </p:set>
                                    <p:animEffect transition="in" filter="dissolve">
                                      <p:cBhvr>
                                        <p:cTn id="17" dur="500"/>
                                        <p:tgtEl>
                                          <p:spTgt spid="587779">
                                            <p:txEl>
                                              <p:pRg st="4" end="4"/>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587779">
                                            <p:txEl>
                                              <p:pRg st="7" end="7"/>
                                            </p:txEl>
                                          </p:spTgt>
                                        </p:tgtEl>
                                        <p:attrNameLst>
                                          <p:attrName>style.visibility</p:attrName>
                                        </p:attrNameLst>
                                      </p:cBhvr>
                                      <p:to>
                                        <p:strVal val="visible"/>
                                      </p:to>
                                    </p:set>
                                    <p:animEffect transition="in" filter="dissolve">
                                      <p:cBhvr>
                                        <p:cTn id="20" dur="500"/>
                                        <p:tgtEl>
                                          <p:spTgt spid="587779">
                                            <p:txEl>
                                              <p:pRg st="7" end="7"/>
                                            </p:txEl>
                                          </p:spTgt>
                                        </p:tgtEl>
                                      </p:cBhvr>
                                    </p:animEffect>
                                  </p:childTnLst>
                                </p:cTn>
                              </p:par>
                              <p:par>
                                <p:cTn id="21" presetID="9" presetClass="entr" presetSubtype="0" fill="hold" nodeType="withEffect">
                                  <p:stCondLst>
                                    <p:cond delay="0"/>
                                  </p:stCondLst>
                                  <p:childTnLst>
                                    <p:set>
                                      <p:cBhvr>
                                        <p:cTn id="22" dur="1" fill="hold">
                                          <p:stCondLst>
                                            <p:cond delay="0"/>
                                          </p:stCondLst>
                                        </p:cTn>
                                        <p:tgtEl>
                                          <p:spTgt spid="587783"/>
                                        </p:tgtEl>
                                        <p:attrNameLst>
                                          <p:attrName>style.visibility</p:attrName>
                                        </p:attrNameLst>
                                      </p:cBhvr>
                                      <p:to>
                                        <p:strVal val="visible"/>
                                      </p:to>
                                    </p:set>
                                    <p:animEffect transition="in" filter="dissolve">
                                      <p:cBhvr>
                                        <p:cTn id="23" dur="500"/>
                                        <p:tgtEl>
                                          <p:spTgt spid="587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041B0357-D0DA-4CD4-B726-621BE8CEBCC3}" type="slidenum">
              <a:rPr lang="en-US" altLang="de-DE" sz="1000">
                <a:solidFill>
                  <a:srgbClr val="C0C0C0"/>
                </a:solidFill>
              </a:rPr>
              <a:pPr/>
              <a:t>42</a:t>
            </a:fld>
            <a:endParaRPr lang="en-US" altLang="de-DE" sz="1000">
              <a:solidFill>
                <a:srgbClr val="C0C0C0"/>
              </a:solidFill>
            </a:endParaRPr>
          </a:p>
        </p:txBody>
      </p:sp>
      <p:sp>
        <p:nvSpPr>
          <p:cNvPr id="637954" name="Text Box 2"/>
          <p:cNvSpPr txBox="1">
            <a:spLocks noChangeArrowheads="1"/>
          </p:cNvSpPr>
          <p:nvPr/>
        </p:nvSpPr>
        <p:spPr bwMode="auto">
          <a:xfrm>
            <a:off x="608013" y="1446213"/>
            <a:ext cx="8140700"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Balance criterion</a:t>
            </a:r>
            <a:endParaRPr lang="de-DE" altLang="de-DE" i="1">
              <a:solidFill>
                <a:srgbClr val="CC0000"/>
              </a:solidFill>
            </a:endParaRPr>
          </a:p>
          <a:p>
            <a:pPr algn="l">
              <a:lnSpc>
                <a:spcPct val="100000"/>
              </a:lnSpc>
              <a:spcBef>
                <a:spcPct val="25000"/>
              </a:spcBef>
            </a:pPr>
            <a:endParaRPr lang="de-DE" altLang="de-DE"/>
          </a:p>
          <a:p>
            <a:pPr algn="l">
              <a:lnSpc>
                <a:spcPct val="100000"/>
              </a:lnSpc>
              <a:spcBef>
                <a:spcPct val="25000"/>
              </a:spcBef>
            </a:pPr>
            <a:r>
              <a:rPr lang="en-US" altLang="zh-CN">
                <a:ea typeface="宋体" panose="02010600030101010101" pitchFamily="2" charset="-122"/>
                <a:sym typeface="Symbol" panose="05050102010706020507" pitchFamily="18" charset="2"/>
              </a:rPr>
              <a:t>The balance criterion</a:t>
            </a:r>
            <a:r>
              <a:rPr lang="en-US" altLang="zh-CN" b="1">
                <a:ea typeface="宋体" panose="02010600030101010101" pitchFamily="2" charset="-122"/>
                <a:sym typeface="Symbol" panose="05050102010706020507" pitchFamily="18" charset="2"/>
              </a:rPr>
              <a:t> </a:t>
            </a:r>
            <a:r>
              <a:rPr lang="en-US" altLang="zh-CN">
                <a:ea typeface="宋体" panose="02010600030101010101" pitchFamily="2" charset="-122"/>
                <a:sym typeface="Symbol" panose="05050102010706020507" pitchFamily="18" charset="2"/>
              </a:rPr>
              <a:t>enforces the ratio factor. </a:t>
            </a:r>
            <a:br>
              <a:rPr lang="en-US" altLang="zh-CN">
                <a:ea typeface="宋体" panose="02010600030101010101" pitchFamily="2" charset="-122"/>
                <a:sym typeface="Symbol" panose="05050102010706020507" pitchFamily="18" charset="2"/>
              </a:rPr>
            </a:br>
            <a:endParaRPr lang="en-US" altLang="zh-CN">
              <a:ea typeface="宋体" panose="02010600030101010101" pitchFamily="2" charset="-122"/>
              <a:sym typeface="Symbol" panose="05050102010706020507" pitchFamily="18" charset="2"/>
            </a:endParaRPr>
          </a:p>
          <a:p>
            <a:pPr algn="l">
              <a:lnSpc>
                <a:spcPct val="100000"/>
              </a:lnSpc>
              <a:spcBef>
                <a:spcPct val="25000"/>
              </a:spcBef>
            </a:pPr>
            <a:r>
              <a:rPr lang="en-US" altLang="zh-CN">
                <a:ea typeface="宋体" panose="02010600030101010101" pitchFamily="2" charset="-122"/>
                <a:sym typeface="Symbol" panose="05050102010706020507" pitchFamily="18" charset="2"/>
              </a:rPr>
              <a:t>To ensure feasibility, the maximum cell area </a:t>
            </a:r>
            <a:r>
              <a:rPr lang="en-US" altLang="zh-CN" i="1">
                <a:ea typeface="宋体" panose="02010600030101010101" pitchFamily="2" charset="-122"/>
                <a:sym typeface="Symbol" panose="05050102010706020507" pitchFamily="18" charset="2"/>
              </a:rPr>
              <a:t>area</a:t>
            </a:r>
            <a:r>
              <a:rPr lang="en-US" altLang="zh-CN" i="1" baseline="-25000">
                <a:ea typeface="宋体" panose="02010600030101010101" pitchFamily="2" charset="-122"/>
                <a:sym typeface="Symbol" panose="05050102010706020507" pitchFamily="18" charset="2"/>
              </a:rPr>
              <a:t>max</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a:t>
            </a:r>
            <a:br>
              <a:rPr lang="en-US" altLang="zh-CN">
                <a:ea typeface="宋体" panose="02010600030101010101" pitchFamily="2" charset="-122"/>
                <a:sym typeface="Symbol" panose="05050102010706020507" pitchFamily="18" charset="2"/>
              </a:rPr>
            </a:br>
            <a:r>
              <a:rPr lang="en-US" altLang="zh-CN">
                <a:ea typeface="宋体" panose="02010600030101010101" pitchFamily="2" charset="-122"/>
                <a:sym typeface="Symbol" panose="05050102010706020507" pitchFamily="18" charset="2"/>
              </a:rPr>
              <a:t>must be taken into account. </a:t>
            </a:r>
            <a:br>
              <a:rPr lang="en-US" altLang="zh-CN">
                <a:ea typeface="宋体" panose="02010600030101010101" pitchFamily="2" charset="-122"/>
                <a:sym typeface="Symbol" panose="05050102010706020507" pitchFamily="18" charset="2"/>
              </a:rPr>
            </a:br>
            <a:endParaRPr lang="en-US" altLang="zh-CN">
              <a:ea typeface="宋体" panose="02010600030101010101" pitchFamily="2" charset="-122"/>
              <a:sym typeface="Symbol" panose="05050102010706020507" pitchFamily="18" charset="2"/>
            </a:endParaRPr>
          </a:p>
          <a:p>
            <a:pPr algn="l">
              <a:lnSpc>
                <a:spcPct val="100000"/>
              </a:lnSpc>
              <a:spcBef>
                <a:spcPct val="25000"/>
              </a:spcBef>
            </a:pPr>
            <a:r>
              <a:rPr lang="en-US" altLang="zh-CN">
                <a:ea typeface="宋体" panose="02010600030101010101" pitchFamily="2" charset="-122"/>
                <a:sym typeface="Symbol" panose="05050102010706020507" pitchFamily="18" charset="2"/>
              </a:rPr>
              <a:t>A partitioning of </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into two partitions </a:t>
            </a:r>
            <a:r>
              <a:rPr lang="en-US" altLang="zh-CN" i="1">
                <a:ea typeface="宋体" panose="02010600030101010101" pitchFamily="2" charset="-122"/>
                <a:sym typeface="Symbol" panose="05050102010706020507" pitchFamily="18" charset="2"/>
              </a:rPr>
              <a:t>A</a:t>
            </a:r>
            <a:r>
              <a:rPr lang="en-US" altLang="zh-CN">
                <a:ea typeface="宋体" panose="02010600030101010101" pitchFamily="2" charset="-122"/>
                <a:sym typeface="Symbol" panose="05050102010706020507" pitchFamily="18" charset="2"/>
              </a:rPr>
              <a:t> and </a:t>
            </a:r>
            <a:r>
              <a:rPr lang="en-US" altLang="zh-CN" i="1">
                <a:ea typeface="宋体" panose="02010600030101010101" pitchFamily="2" charset="-122"/>
                <a:sym typeface="Symbol" panose="05050102010706020507" pitchFamily="18" charset="2"/>
              </a:rPr>
              <a:t>B</a:t>
            </a:r>
            <a:r>
              <a:rPr lang="en-US" altLang="zh-CN">
                <a:ea typeface="宋体" panose="02010600030101010101" pitchFamily="2" charset="-122"/>
                <a:sym typeface="Symbol" panose="05050102010706020507" pitchFamily="18" charset="2"/>
              </a:rPr>
              <a:t> is said to be balanced if </a:t>
            </a:r>
            <a:br>
              <a:rPr lang="en-US" altLang="zh-CN">
                <a:ea typeface="宋体" panose="02010600030101010101" pitchFamily="2" charset="-122"/>
                <a:sym typeface="Symbol" panose="05050102010706020507" pitchFamily="18" charset="2"/>
              </a:rPr>
            </a:br>
            <a:endParaRPr lang="en-US" altLang="zh-CN">
              <a:ea typeface="宋体" panose="02010600030101010101" pitchFamily="2" charset="-122"/>
              <a:sym typeface="Symbol" panose="05050102010706020507" pitchFamily="18" charset="2"/>
            </a:endParaRPr>
          </a:p>
          <a:p>
            <a:pPr algn="l">
              <a:lnSpc>
                <a:spcPct val="100000"/>
              </a:lnSpc>
              <a:spcBef>
                <a:spcPct val="25000"/>
              </a:spcBef>
            </a:pP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r</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area</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area</a:t>
            </a:r>
            <a:r>
              <a:rPr lang="en-US" altLang="zh-CN" i="1" baseline="-25000">
                <a:ea typeface="宋体" panose="02010600030101010101" pitchFamily="2" charset="-122"/>
                <a:sym typeface="Symbol" panose="05050102010706020507" pitchFamily="18" charset="2"/>
              </a:rPr>
              <a:t>max</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 ≤ </a:t>
            </a:r>
            <a:r>
              <a:rPr lang="en-US" altLang="zh-CN" i="1">
                <a:ea typeface="宋体" panose="02010600030101010101" pitchFamily="2" charset="-122"/>
                <a:sym typeface="Symbol" panose="05050102010706020507" pitchFamily="18" charset="2"/>
              </a:rPr>
              <a:t>area</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A</a:t>
            </a:r>
            <a:r>
              <a:rPr lang="en-US" altLang="zh-CN">
                <a:ea typeface="宋体" panose="02010600030101010101" pitchFamily="2" charset="-122"/>
                <a:sym typeface="Symbol" panose="05050102010706020507" pitchFamily="18" charset="2"/>
              </a:rPr>
              <a:t>) ≤ [ </a:t>
            </a:r>
            <a:r>
              <a:rPr lang="en-US" altLang="zh-CN" i="1">
                <a:ea typeface="宋体" panose="02010600030101010101" pitchFamily="2" charset="-122"/>
                <a:sym typeface="Symbol" panose="05050102010706020507" pitchFamily="18" charset="2"/>
              </a:rPr>
              <a:t>r</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area</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 </a:t>
            </a:r>
            <a:r>
              <a:rPr lang="en-US" altLang="zh-CN" i="1">
                <a:ea typeface="宋体" panose="02010600030101010101" pitchFamily="2" charset="-122"/>
                <a:sym typeface="Symbol" panose="05050102010706020507" pitchFamily="18" charset="2"/>
              </a:rPr>
              <a:t>area</a:t>
            </a:r>
            <a:r>
              <a:rPr lang="en-US" altLang="zh-CN" i="1" baseline="-25000">
                <a:ea typeface="宋体" panose="02010600030101010101" pitchFamily="2" charset="-122"/>
                <a:sym typeface="Symbol" panose="05050102010706020507" pitchFamily="18" charset="2"/>
              </a:rPr>
              <a:t>max</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V</a:t>
            </a:r>
            <a:r>
              <a:rPr lang="en-US" altLang="zh-CN">
                <a:ea typeface="宋体" panose="02010600030101010101" pitchFamily="2" charset="-122"/>
                <a:sym typeface="Symbol" panose="05050102010706020507" pitchFamily="18" charset="2"/>
              </a:rPr>
              <a:t>) ]</a:t>
            </a:r>
            <a:endParaRPr lang="de-DE" altLang="de-DE">
              <a:sym typeface="Symbol" panose="05050102010706020507" pitchFamily="18" charset="2"/>
            </a:endParaRPr>
          </a:p>
          <a:p>
            <a:pPr algn="l">
              <a:lnSpc>
                <a:spcPct val="100000"/>
              </a:lnSpc>
              <a:spcBef>
                <a:spcPct val="25000"/>
              </a:spcBef>
            </a:pPr>
            <a:endParaRPr lang="de-DE" altLang="de-DE">
              <a:sym typeface="Symbol" panose="05050102010706020507" pitchFamily="18" charset="2"/>
            </a:endParaRPr>
          </a:p>
          <a:p>
            <a:pPr algn="l">
              <a:lnSpc>
                <a:spcPct val="100000"/>
              </a:lnSpc>
              <a:spcBef>
                <a:spcPct val="25000"/>
              </a:spcBef>
            </a:pPr>
            <a:endParaRPr lang="de-DE" altLang="de-DE">
              <a:sym typeface="Symbol" panose="05050102010706020507" pitchFamily="18" charset="2"/>
            </a:endParaRPr>
          </a:p>
        </p:txBody>
      </p:sp>
      <p:sp>
        <p:nvSpPr>
          <p:cNvPr id="36868" name="Rectangle 5"/>
          <p:cNvSpPr>
            <a:spLocks noGrp="1" noChangeArrowheads="1"/>
          </p:cNvSpPr>
          <p:nvPr>
            <p:ph type="title"/>
          </p:nvPr>
        </p:nvSpPr>
        <p:spPr/>
        <p:txBody>
          <a:bodyPr/>
          <a:lstStyle/>
          <a:p>
            <a:r>
              <a:rPr lang="de-DE" altLang="de-DE"/>
              <a:t>2.4.3	Fiduccia-Mattheyses (FM) Algorithm – Terminology</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7954">
                                            <p:txEl>
                                              <p:pRg st="2" end="2"/>
                                            </p:txEl>
                                          </p:spTgt>
                                        </p:tgtEl>
                                        <p:attrNameLst>
                                          <p:attrName>style.visibility</p:attrName>
                                        </p:attrNameLst>
                                      </p:cBhvr>
                                      <p:to>
                                        <p:strVal val="visible"/>
                                      </p:to>
                                    </p:set>
                                    <p:animEffect transition="in" filter="dissolve">
                                      <p:cBhvr>
                                        <p:cTn id="7" dur="500"/>
                                        <p:tgtEl>
                                          <p:spTgt spid="637954">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37954">
                                            <p:txEl>
                                              <p:pRg st="3" end="3"/>
                                            </p:txEl>
                                          </p:spTgt>
                                        </p:tgtEl>
                                        <p:attrNameLst>
                                          <p:attrName>style.visibility</p:attrName>
                                        </p:attrNameLst>
                                      </p:cBhvr>
                                      <p:to>
                                        <p:strVal val="visible"/>
                                      </p:to>
                                    </p:set>
                                    <p:animEffect transition="in" filter="dissolve">
                                      <p:cBhvr>
                                        <p:cTn id="12" dur="500"/>
                                        <p:tgtEl>
                                          <p:spTgt spid="637954">
                                            <p:txEl>
                                              <p:pRg st="3" end="3"/>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637954">
                                            <p:txEl>
                                              <p:pRg st="4" end="4"/>
                                            </p:txEl>
                                          </p:spTgt>
                                        </p:tgtEl>
                                        <p:attrNameLst>
                                          <p:attrName>style.visibility</p:attrName>
                                        </p:attrNameLst>
                                      </p:cBhvr>
                                      <p:to>
                                        <p:strVal val="visible"/>
                                      </p:to>
                                    </p:set>
                                    <p:animEffect transition="in" filter="dissolve">
                                      <p:cBhvr>
                                        <p:cTn id="17" dur="500"/>
                                        <p:tgtEl>
                                          <p:spTgt spid="637954">
                                            <p:txEl>
                                              <p:pRg st="4" end="4"/>
                                            </p:txEl>
                                          </p:spTgt>
                                        </p:tgtEl>
                                      </p:cBhvr>
                                    </p:animEffect>
                                  </p:childTnLst>
                                </p:cTn>
                              </p:par>
                              <p:par>
                                <p:cTn id="18" presetID="9" presetClass="entr" presetSubtype="0" fill="hold" nodeType="withEffect">
                                  <p:stCondLst>
                                    <p:cond delay="0"/>
                                  </p:stCondLst>
                                  <p:childTnLst>
                                    <p:set>
                                      <p:cBhvr>
                                        <p:cTn id="19" dur="1" fill="hold">
                                          <p:stCondLst>
                                            <p:cond delay="0"/>
                                          </p:stCondLst>
                                        </p:cTn>
                                        <p:tgtEl>
                                          <p:spTgt spid="637954">
                                            <p:txEl>
                                              <p:pRg st="5" end="5"/>
                                            </p:txEl>
                                          </p:spTgt>
                                        </p:tgtEl>
                                        <p:attrNameLst>
                                          <p:attrName>style.visibility</p:attrName>
                                        </p:attrNameLst>
                                      </p:cBhvr>
                                      <p:to>
                                        <p:strVal val="visible"/>
                                      </p:to>
                                    </p:set>
                                    <p:animEffect transition="in" filter="dissolve">
                                      <p:cBhvr>
                                        <p:cTn id="20" dur="500"/>
                                        <p:tgtEl>
                                          <p:spTgt spid="63795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BE418E6B-C4E9-450E-9036-4D874138DCE5}" type="slidenum">
              <a:rPr lang="en-US" altLang="de-DE" sz="1000">
                <a:solidFill>
                  <a:srgbClr val="C0C0C0"/>
                </a:solidFill>
              </a:rPr>
              <a:pPr/>
              <a:t>43</a:t>
            </a:fld>
            <a:endParaRPr lang="en-US" altLang="de-DE" sz="1000">
              <a:solidFill>
                <a:srgbClr val="C0C0C0"/>
              </a:solidFill>
            </a:endParaRPr>
          </a:p>
        </p:txBody>
      </p:sp>
      <p:sp>
        <p:nvSpPr>
          <p:cNvPr id="589827" name="Text Box 3"/>
          <p:cNvSpPr txBox="1">
            <a:spLocks noChangeArrowheads="1"/>
          </p:cNvSpPr>
          <p:nvPr/>
        </p:nvSpPr>
        <p:spPr bwMode="auto">
          <a:xfrm>
            <a:off x="608013" y="1446213"/>
            <a:ext cx="7996237" cy="1290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95" tIns="44941" rIns="89883" bIns="67945">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00000"/>
              </a:lnSpc>
              <a:spcBef>
                <a:spcPct val="25000"/>
              </a:spcBef>
            </a:pPr>
            <a:r>
              <a:rPr lang="de-DE" altLang="de-DE">
                <a:solidFill>
                  <a:srgbClr val="CC0000"/>
                </a:solidFill>
              </a:rPr>
              <a:t>Base cell</a:t>
            </a:r>
            <a:endParaRPr lang="de-DE" altLang="de-DE" i="1">
              <a:solidFill>
                <a:srgbClr val="CC0000"/>
              </a:solidFill>
            </a:endParaRPr>
          </a:p>
          <a:p>
            <a:pPr algn="l">
              <a:lnSpc>
                <a:spcPct val="100000"/>
              </a:lnSpc>
              <a:spcBef>
                <a:spcPct val="25000"/>
              </a:spcBef>
            </a:pPr>
            <a:endParaRPr lang="de-DE" altLang="de-DE"/>
          </a:p>
          <a:p>
            <a:pPr algn="l">
              <a:lnSpc>
                <a:spcPct val="100000"/>
              </a:lnSpc>
              <a:spcBef>
                <a:spcPct val="25000"/>
              </a:spcBef>
            </a:pPr>
            <a:r>
              <a:rPr lang="en-US" altLang="zh-CN">
                <a:ea typeface="宋体" panose="02010600030101010101" pitchFamily="2" charset="-122"/>
                <a:sym typeface="Symbol" panose="05050102010706020507" pitchFamily="18" charset="2"/>
              </a:rPr>
              <a:t>A base cell is a cell </a:t>
            </a:r>
            <a:r>
              <a:rPr lang="en-US" altLang="zh-CN" i="1">
                <a:ea typeface="宋体" panose="02010600030101010101" pitchFamily="2" charset="-122"/>
                <a:sym typeface="Symbol" panose="05050102010706020507" pitchFamily="18" charset="2"/>
              </a:rPr>
              <a:t>c</a:t>
            </a:r>
            <a:r>
              <a:rPr lang="en-US" altLang="zh-CN">
                <a:ea typeface="宋体" panose="02010600030101010101" pitchFamily="2" charset="-122"/>
                <a:sym typeface="Symbol" panose="05050102010706020507" pitchFamily="18" charset="2"/>
              </a:rPr>
              <a:t> that has the greatest cell gain </a:t>
            </a:r>
            <a:r>
              <a:rPr lang="en-US" altLang="zh-CN" i="1">
                <a:ea typeface="宋体" panose="02010600030101010101" pitchFamily="2" charset="-122"/>
                <a:sym typeface="Symbol" panose="05050102010706020507" pitchFamily="18" charset="2"/>
              </a:rPr>
              <a:t>g</a:t>
            </a:r>
            <a:r>
              <a:rPr lang="en-US" altLang="zh-CN">
                <a:ea typeface="宋体" panose="02010600030101010101" pitchFamily="2" charset="-122"/>
                <a:sym typeface="Symbol" panose="05050102010706020507" pitchFamily="18" charset="2"/>
              </a:rPr>
              <a:t>(</a:t>
            </a:r>
            <a:r>
              <a:rPr lang="en-US" altLang="zh-CN" i="1">
                <a:ea typeface="宋体" panose="02010600030101010101" pitchFamily="2" charset="-122"/>
                <a:sym typeface="Symbol" panose="05050102010706020507" pitchFamily="18" charset="2"/>
              </a:rPr>
              <a:t>c</a:t>
            </a:r>
            <a:r>
              <a:rPr lang="en-US" altLang="zh-CN">
                <a:ea typeface="宋体" panose="02010600030101010101" pitchFamily="2" charset="-122"/>
                <a:sym typeface="Symbol" panose="05050102010706020507" pitchFamily="18" charset="2"/>
              </a:rPr>
              <a:t>) among all free cells, </a:t>
            </a:r>
            <a:br>
              <a:rPr lang="en-US" altLang="zh-CN">
                <a:ea typeface="宋体" panose="02010600030101010101" pitchFamily="2" charset="-122"/>
                <a:sym typeface="Symbol" panose="05050102010706020507" pitchFamily="18" charset="2"/>
              </a:rPr>
            </a:br>
            <a:r>
              <a:rPr lang="en-US" altLang="zh-CN">
                <a:ea typeface="宋体" panose="02010600030101010101" pitchFamily="2" charset="-122"/>
                <a:sym typeface="Symbol" panose="05050102010706020507" pitchFamily="18" charset="2"/>
              </a:rPr>
              <a:t>and whose move does not violate the balance criterion. </a:t>
            </a:r>
            <a:endParaRPr lang="de-DE" altLang="de-DE">
              <a:sym typeface="Symbol" panose="05050102010706020507" pitchFamily="18" charset="2"/>
            </a:endParaRPr>
          </a:p>
        </p:txBody>
      </p:sp>
      <p:sp>
        <p:nvSpPr>
          <p:cNvPr id="589829" name="Text Box 5"/>
          <p:cNvSpPr txBox="1">
            <a:spLocks noChangeArrowheads="1"/>
          </p:cNvSpPr>
          <p:nvPr/>
        </p:nvSpPr>
        <p:spPr bwMode="auto">
          <a:xfrm>
            <a:off x="827088" y="4722813"/>
            <a:ext cx="3759200" cy="130651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nl-NL" altLang="de-DE" sz="1400"/>
              <a:t>Cell 1:      FS(1) = 2	TE(1) = 1	</a:t>
            </a:r>
            <a:r>
              <a:rPr lang="de-DE" altLang="de-DE" sz="1400">
                <a:sym typeface="Symbol" panose="05050102010706020507" pitchFamily="18" charset="2"/>
              </a:rPr>
              <a:t></a:t>
            </a:r>
            <a:r>
              <a:rPr lang="nl-NL" altLang="de-DE" sz="1400"/>
              <a:t>g(1) = 1</a:t>
            </a:r>
          </a:p>
          <a:p>
            <a:r>
              <a:rPr lang="nl-NL" altLang="de-DE" sz="1400"/>
              <a:t>Cell 2:      </a:t>
            </a:r>
            <a:r>
              <a:rPr lang="de-DE" altLang="de-DE" sz="1400" i="1"/>
              <a:t>FS</a:t>
            </a:r>
            <a:r>
              <a:rPr lang="nl-NL" altLang="de-DE" sz="1400"/>
              <a:t>(2) = 0	</a:t>
            </a:r>
            <a:r>
              <a:rPr lang="de-DE" altLang="de-DE" sz="1400" i="1"/>
              <a:t>TE</a:t>
            </a:r>
            <a:r>
              <a:rPr lang="nl-NL" altLang="de-DE" sz="1400"/>
              <a:t>(2) = 1	</a:t>
            </a:r>
            <a:r>
              <a:rPr lang="de-DE" altLang="de-DE" sz="1400">
                <a:sym typeface="Symbol" panose="05050102010706020507" pitchFamily="18" charset="2"/>
              </a:rPr>
              <a:t></a:t>
            </a:r>
            <a:r>
              <a:rPr lang="de-DE" altLang="de-DE" sz="1400" i="1"/>
              <a:t>g</a:t>
            </a:r>
            <a:r>
              <a:rPr lang="nl-NL" altLang="de-DE" sz="1400"/>
              <a:t>(2) = -1</a:t>
            </a:r>
            <a:endParaRPr lang="de-DE" altLang="de-DE" sz="1400"/>
          </a:p>
          <a:p>
            <a:r>
              <a:rPr lang="de-DE" altLang="de-DE" sz="1400"/>
              <a:t>Cell 3:      </a:t>
            </a:r>
            <a:r>
              <a:rPr lang="de-DE" altLang="de-DE" sz="1400" i="1"/>
              <a:t>FS</a:t>
            </a:r>
            <a:r>
              <a:rPr lang="de-DE" altLang="de-DE" sz="1400"/>
              <a:t>(3) = 1	</a:t>
            </a:r>
            <a:r>
              <a:rPr lang="de-DE" altLang="de-DE" sz="1400" i="1"/>
              <a:t>TE</a:t>
            </a:r>
            <a:r>
              <a:rPr lang="de-DE" altLang="de-DE" sz="1400"/>
              <a:t>(3) = 1	</a:t>
            </a:r>
            <a:r>
              <a:rPr lang="de-DE" altLang="de-DE" sz="1400">
                <a:sym typeface="Symbol" panose="05050102010706020507" pitchFamily="18" charset="2"/>
              </a:rPr>
              <a:t></a:t>
            </a:r>
            <a:r>
              <a:rPr lang="de-DE" altLang="de-DE" sz="1400" i="1"/>
              <a:t>g</a:t>
            </a:r>
            <a:r>
              <a:rPr lang="de-DE" altLang="de-DE" sz="1400"/>
              <a:t>(3) = 0 </a:t>
            </a:r>
            <a:endParaRPr lang="nl-NL" altLang="de-DE" sz="1400"/>
          </a:p>
          <a:p>
            <a:r>
              <a:rPr lang="nl-NL" altLang="de-DE" sz="1400"/>
              <a:t>Cell 4:      </a:t>
            </a:r>
            <a:r>
              <a:rPr lang="de-DE" altLang="de-DE" sz="1400" i="1"/>
              <a:t>FS</a:t>
            </a:r>
            <a:r>
              <a:rPr lang="nl-NL" altLang="de-DE" sz="1400"/>
              <a:t>(4) = 1	</a:t>
            </a:r>
            <a:r>
              <a:rPr lang="de-DE" altLang="de-DE" sz="1400" i="1"/>
              <a:t>TE</a:t>
            </a:r>
            <a:r>
              <a:rPr lang="nl-NL" altLang="de-DE" sz="1400"/>
              <a:t>(4) = 1	</a:t>
            </a:r>
            <a:r>
              <a:rPr lang="de-DE" altLang="de-DE" sz="1400">
                <a:sym typeface="Symbol" panose="05050102010706020507" pitchFamily="18" charset="2"/>
              </a:rPr>
              <a:t></a:t>
            </a:r>
            <a:r>
              <a:rPr lang="de-DE" altLang="de-DE" sz="1400" i="1"/>
              <a:t>g</a:t>
            </a:r>
            <a:r>
              <a:rPr lang="nl-NL" altLang="de-DE" sz="1400"/>
              <a:t>(4) = 0</a:t>
            </a:r>
            <a:endParaRPr lang="en-US" altLang="zh-CN" sz="1400">
              <a:ea typeface="宋体" panose="02010600030101010101" pitchFamily="2" charset="-122"/>
            </a:endParaRPr>
          </a:p>
        </p:txBody>
      </p:sp>
      <p:sp>
        <p:nvSpPr>
          <p:cNvPr id="589830" name="Oval 6"/>
          <p:cNvSpPr>
            <a:spLocks noChangeArrowheads="1"/>
          </p:cNvSpPr>
          <p:nvPr/>
        </p:nvSpPr>
        <p:spPr bwMode="auto">
          <a:xfrm>
            <a:off x="3608388" y="4721225"/>
            <a:ext cx="1079500" cy="428625"/>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89831" name="Text Box 7"/>
          <p:cNvSpPr txBox="1">
            <a:spLocks noChangeArrowheads="1"/>
          </p:cNvSpPr>
          <p:nvPr/>
        </p:nvSpPr>
        <p:spPr bwMode="auto">
          <a:xfrm>
            <a:off x="874713" y="3787775"/>
            <a:ext cx="1158875"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a:t>Base cell</a:t>
            </a:r>
            <a:endParaRPr lang="en-US" altLang="zh-CN">
              <a:ea typeface="宋体" panose="02010600030101010101" pitchFamily="2" charset="-122"/>
            </a:endParaRPr>
          </a:p>
        </p:txBody>
      </p:sp>
      <p:sp>
        <p:nvSpPr>
          <p:cNvPr id="589832" name="Line 8"/>
          <p:cNvSpPr>
            <a:spLocks noChangeShapeType="1"/>
          </p:cNvSpPr>
          <p:nvPr/>
        </p:nvSpPr>
        <p:spPr bwMode="auto">
          <a:xfrm flipH="1">
            <a:off x="1331913" y="4198938"/>
            <a:ext cx="71437" cy="5238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p>
            <a:endParaRPr lang="de-DE"/>
          </a:p>
        </p:txBody>
      </p:sp>
      <p:sp>
        <p:nvSpPr>
          <p:cNvPr id="589833" name="Oval 9"/>
          <p:cNvSpPr>
            <a:spLocks noChangeArrowheads="1"/>
          </p:cNvSpPr>
          <p:nvPr/>
        </p:nvSpPr>
        <p:spPr bwMode="auto">
          <a:xfrm>
            <a:off x="827088" y="4722813"/>
            <a:ext cx="1079500" cy="428625"/>
          </a:xfrm>
          <a:prstGeom prst="ellipse">
            <a:avLst/>
          </a:prstGeom>
          <a:noFill/>
          <a:ln w="38100" algn="ctr">
            <a:solidFill>
              <a:srgbClr val="CC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7897" name="Rectangle 12"/>
          <p:cNvSpPr>
            <a:spLocks noGrp="1" noChangeArrowheads="1"/>
          </p:cNvSpPr>
          <p:nvPr>
            <p:ph type="title"/>
          </p:nvPr>
        </p:nvSpPr>
        <p:spPr/>
        <p:txBody>
          <a:bodyPr/>
          <a:lstStyle/>
          <a:p>
            <a:r>
              <a:rPr lang="de-DE" altLang="de-DE"/>
              <a:t>2.4.3	Fiduccia-Mattheyses (FM) Algorithm – Terminology</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89827">
                                            <p:txEl>
                                              <p:pRg st="2" end="2"/>
                                            </p:txEl>
                                          </p:spTgt>
                                        </p:tgtEl>
                                        <p:attrNameLst>
                                          <p:attrName>style.visibility</p:attrName>
                                        </p:attrNameLst>
                                      </p:cBhvr>
                                      <p:to>
                                        <p:strVal val="visible"/>
                                      </p:to>
                                    </p:set>
                                    <p:animEffect transition="in" filter="dissolve">
                                      <p:cBhvr>
                                        <p:cTn id="7" dur="500"/>
                                        <p:tgtEl>
                                          <p:spTgt spid="58982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89829"/>
                                        </p:tgtEl>
                                        <p:attrNameLst>
                                          <p:attrName>style.visibility</p:attrName>
                                        </p:attrNameLst>
                                      </p:cBhvr>
                                      <p:to>
                                        <p:strVal val="visible"/>
                                      </p:to>
                                    </p:set>
                                    <p:animEffect transition="in" filter="dissolve">
                                      <p:cBhvr>
                                        <p:cTn id="12" dur="500"/>
                                        <p:tgtEl>
                                          <p:spTgt spid="589829"/>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89830"/>
                                        </p:tgtEl>
                                        <p:attrNameLst>
                                          <p:attrName>style.visibility</p:attrName>
                                        </p:attrNameLst>
                                      </p:cBhvr>
                                      <p:to>
                                        <p:strVal val="visible"/>
                                      </p:to>
                                    </p:set>
                                    <p:animEffect transition="in" filter="dissolve">
                                      <p:cBhvr>
                                        <p:cTn id="15" dur="500"/>
                                        <p:tgtEl>
                                          <p:spTgt spid="58983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89831"/>
                                        </p:tgtEl>
                                        <p:attrNameLst>
                                          <p:attrName>style.visibility</p:attrName>
                                        </p:attrNameLst>
                                      </p:cBhvr>
                                      <p:to>
                                        <p:strVal val="visible"/>
                                      </p:to>
                                    </p:set>
                                    <p:animEffect transition="in" filter="dissolve">
                                      <p:cBhvr>
                                        <p:cTn id="18" dur="500"/>
                                        <p:tgtEl>
                                          <p:spTgt spid="589831"/>
                                        </p:tgtEl>
                                      </p:cBhvr>
                                    </p:animEffect>
                                  </p:childTnLst>
                                </p:cTn>
                              </p:par>
                              <p:par>
                                <p:cTn id="19" presetID="9" presetClass="entr" presetSubtype="0" fill="hold" nodeType="withEffect">
                                  <p:stCondLst>
                                    <p:cond delay="0"/>
                                  </p:stCondLst>
                                  <p:childTnLst>
                                    <p:set>
                                      <p:cBhvr>
                                        <p:cTn id="20" dur="1" fill="hold">
                                          <p:stCondLst>
                                            <p:cond delay="0"/>
                                          </p:stCondLst>
                                        </p:cTn>
                                        <p:tgtEl>
                                          <p:spTgt spid="589832"/>
                                        </p:tgtEl>
                                        <p:attrNameLst>
                                          <p:attrName>style.visibility</p:attrName>
                                        </p:attrNameLst>
                                      </p:cBhvr>
                                      <p:to>
                                        <p:strVal val="visible"/>
                                      </p:to>
                                    </p:set>
                                    <p:animEffect transition="in" filter="dissolve">
                                      <p:cBhvr>
                                        <p:cTn id="21" dur="500"/>
                                        <p:tgtEl>
                                          <p:spTgt spid="589832"/>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589833"/>
                                        </p:tgtEl>
                                        <p:attrNameLst>
                                          <p:attrName>style.visibility</p:attrName>
                                        </p:attrNameLst>
                                      </p:cBhvr>
                                      <p:to>
                                        <p:strVal val="visible"/>
                                      </p:to>
                                    </p:set>
                                    <p:animEffect transition="in" filter="dissolve">
                                      <p:cBhvr>
                                        <p:cTn id="24" dur="500"/>
                                        <p:tgtEl>
                                          <p:spTgt spid="589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9829" grpId="0" animBg="1"/>
      <p:bldP spid="589830" grpId="0" animBg="1"/>
      <p:bldP spid="589831" grpId="0"/>
      <p:bldP spid="58983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E81E857B-3E0E-4933-9355-B5FDD706998B}" type="slidenum">
              <a:rPr lang="en-US" altLang="de-DE" sz="1000">
                <a:solidFill>
                  <a:srgbClr val="C0C0C0"/>
                </a:solidFill>
              </a:rPr>
              <a:pPr/>
              <a:t>44</a:t>
            </a:fld>
            <a:endParaRPr lang="en-US" altLang="de-DE" sz="1000">
              <a:solidFill>
                <a:srgbClr val="C0C0C0"/>
              </a:solidFill>
            </a:endParaRPr>
          </a:p>
        </p:txBody>
      </p:sp>
      <p:graphicFrame>
        <p:nvGraphicFramePr>
          <p:cNvPr id="38915" name="Object 3"/>
          <p:cNvGraphicFramePr>
            <a:graphicFrameLocks noChangeAspect="1"/>
          </p:cNvGraphicFramePr>
          <p:nvPr/>
        </p:nvGraphicFramePr>
        <p:xfrm>
          <a:off x="762000" y="1293813"/>
          <a:ext cx="8212138" cy="4587875"/>
        </p:xfrm>
        <a:graphic>
          <a:graphicData uri="http://schemas.openxmlformats.org/presentationml/2006/ole">
            <mc:AlternateContent xmlns:mc="http://schemas.openxmlformats.org/markup-compatibility/2006">
              <mc:Choice xmlns:v="urn:schemas-microsoft-com:vml" Requires="v">
                <p:oleObj spid="_x0000_s38926" name="Dokument" r:id="rId4" imgW="5783956" imgH="3159444" progId="Word.Document.8">
                  <p:embed/>
                </p:oleObj>
              </mc:Choice>
              <mc:Fallback>
                <p:oleObj name="Dokument" r:id="rId4" imgW="5783956" imgH="3159444" progId="Word.Document.8">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t="4890" r="-3085" b="-10008"/>
                      <a:stretch>
                        <a:fillRect/>
                      </a:stretch>
                    </p:blipFill>
                    <p:spPr bwMode="auto">
                      <a:xfrm>
                        <a:off x="762000" y="1293813"/>
                        <a:ext cx="8212138" cy="4587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16" name="Rectangle 4"/>
          <p:cNvSpPr>
            <a:spLocks noGrp="1" noChangeArrowheads="1"/>
          </p:cNvSpPr>
          <p:nvPr>
            <p:ph type="title"/>
          </p:nvPr>
        </p:nvSpPr>
        <p:spPr/>
        <p:txBody>
          <a:bodyPr/>
          <a:lstStyle/>
          <a:p>
            <a:r>
              <a:rPr lang="de-DE" altLang="de-DE"/>
              <a:t>2.4.3	Fiduccia-Mattheyses (FM) Algorithm - One pass</a:t>
            </a:r>
            <a:endParaRPr lang="en-US" altLang="zh-CN">
              <a:ea typeface="宋体" panose="02010600030101010101" pitchFamily="2" charset="-122"/>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3FC422A-6537-4967-B9FD-804C49440222}" type="slidenum">
              <a:rPr lang="en-US" altLang="de-DE" sz="1000">
                <a:solidFill>
                  <a:srgbClr val="C0C0C0"/>
                </a:solidFill>
              </a:rPr>
              <a:pPr/>
              <a:t>45</a:t>
            </a:fld>
            <a:endParaRPr lang="en-US" altLang="de-DE" sz="1000">
              <a:solidFill>
                <a:srgbClr val="C0C0C0"/>
              </a:solidFill>
            </a:endParaRPr>
          </a:p>
        </p:txBody>
      </p:sp>
      <p:sp>
        <p:nvSpPr>
          <p:cNvPr id="506882" name="Rectangle 2"/>
          <p:cNvSpPr>
            <a:spLocks noChangeArrowheads="1"/>
          </p:cNvSpPr>
          <p:nvPr/>
        </p:nvSpPr>
        <p:spPr bwMode="auto">
          <a:xfrm>
            <a:off x="2195513" y="4797425"/>
            <a:ext cx="1398587" cy="341313"/>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9940" name="Line 4"/>
          <p:cNvSpPr>
            <a:spLocks noChangeAspect="1" noChangeShapeType="1"/>
          </p:cNvSpPr>
          <p:nvPr/>
        </p:nvSpPr>
        <p:spPr bwMode="auto">
          <a:xfrm flipV="1">
            <a:off x="1635125"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39941" name="Line 5"/>
          <p:cNvSpPr>
            <a:spLocks noChangeAspect="1" noChangeShapeType="1"/>
          </p:cNvSpPr>
          <p:nvPr/>
        </p:nvSpPr>
        <p:spPr bwMode="auto">
          <a:xfrm flipH="1">
            <a:off x="1635125" y="1679575"/>
            <a:ext cx="0" cy="140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942" name="Line 6"/>
          <p:cNvSpPr>
            <a:spLocks noChangeAspect="1" noChangeShapeType="1"/>
          </p:cNvSpPr>
          <p:nvPr/>
        </p:nvSpPr>
        <p:spPr bwMode="auto">
          <a:xfrm>
            <a:off x="2435225"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943" name="Line 7"/>
          <p:cNvSpPr>
            <a:spLocks noChangeAspect="1" noChangeShapeType="1"/>
          </p:cNvSpPr>
          <p:nvPr/>
        </p:nvSpPr>
        <p:spPr bwMode="auto">
          <a:xfrm flipH="1">
            <a:off x="1452563" y="1555750"/>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944" name="Line 8"/>
          <p:cNvSpPr>
            <a:spLocks noChangeAspect="1" noChangeShapeType="1"/>
          </p:cNvSpPr>
          <p:nvPr/>
        </p:nvSpPr>
        <p:spPr bwMode="auto">
          <a:xfrm flipH="1">
            <a:off x="1604963" y="2330450"/>
            <a:ext cx="809625" cy="696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945" name="Line 9"/>
          <p:cNvSpPr>
            <a:spLocks noChangeAspect="1" noChangeShapeType="1"/>
          </p:cNvSpPr>
          <p:nvPr/>
        </p:nvSpPr>
        <p:spPr bwMode="auto">
          <a:xfrm>
            <a:off x="1585913"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946" name="Oval 10"/>
          <p:cNvSpPr>
            <a:spLocks noChangeAspect="1" noChangeArrowheads="1"/>
          </p:cNvSpPr>
          <p:nvPr/>
        </p:nvSpPr>
        <p:spPr bwMode="auto">
          <a:xfrm>
            <a:off x="1296988" y="2876550"/>
            <a:ext cx="460375" cy="458788"/>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9947" name="Rectangle 11"/>
          <p:cNvSpPr>
            <a:spLocks noChangeAspect="1" noChangeArrowheads="1"/>
          </p:cNvSpPr>
          <p:nvPr/>
        </p:nvSpPr>
        <p:spPr bwMode="auto">
          <a:xfrm>
            <a:off x="1339850" y="2911475"/>
            <a:ext cx="368300"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1</a:t>
            </a:r>
            <a:endParaRPr lang="en-US" altLang="zh-CN" b="1">
              <a:ea typeface="宋体" panose="02010600030101010101" pitchFamily="2" charset="-122"/>
            </a:endParaRPr>
          </a:p>
        </p:txBody>
      </p:sp>
      <p:sp>
        <p:nvSpPr>
          <p:cNvPr id="39948" name="Oval 12"/>
          <p:cNvSpPr>
            <a:spLocks noChangeAspect="1" noChangeArrowheads="1"/>
          </p:cNvSpPr>
          <p:nvPr/>
        </p:nvSpPr>
        <p:spPr bwMode="auto">
          <a:xfrm>
            <a:off x="2197100" y="1341438"/>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9949" name="Rectangle 13"/>
          <p:cNvSpPr>
            <a:spLocks noChangeAspect="1" noChangeArrowheads="1"/>
          </p:cNvSpPr>
          <p:nvPr/>
        </p:nvSpPr>
        <p:spPr bwMode="auto">
          <a:xfrm>
            <a:off x="2239963" y="1387475"/>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39950" name="Oval 14"/>
          <p:cNvSpPr>
            <a:spLocks noChangeAspect="1" noChangeArrowheads="1"/>
          </p:cNvSpPr>
          <p:nvPr/>
        </p:nvSpPr>
        <p:spPr bwMode="auto">
          <a:xfrm>
            <a:off x="2217738" y="2108200"/>
            <a:ext cx="458787"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9951" name="Rectangle 15"/>
          <p:cNvSpPr>
            <a:spLocks noChangeAspect="1" noChangeArrowheads="1"/>
          </p:cNvSpPr>
          <p:nvPr/>
        </p:nvSpPr>
        <p:spPr bwMode="auto">
          <a:xfrm>
            <a:off x="2241550" y="2141538"/>
            <a:ext cx="366713"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39952" name="Oval 16"/>
          <p:cNvSpPr>
            <a:spLocks noChangeAspect="1" noChangeArrowheads="1"/>
          </p:cNvSpPr>
          <p:nvPr/>
        </p:nvSpPr>
        <p:spPr bwMode="auto">
          <a:xfrm>
            <a:off x="1317625" y="1341438"/>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9953" name="Rectangle 17"/>
          <p:cNvSpPr>
            <a:spLocks noChangeAspect="1" noChangeArrowheads="1"/>
          </p:cNvSpPr>
          <p:nvPr/>
        </p:nvSpPr>
        <p:spPr bwMode="auto">
          <a:xfrm>
            <a:off x="1357313" y="1393825"/>
            <a:ext cx="368300" cy="3698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39954" name="Oval 18"/>
          <p:cNvSpPr>
            <a:spLocks noChangeAspect="1" noChangeArrowheads="1"/>
          </p:cNvSpPr>
          <p:nvPr/>
        </p:nvSpPr>
        <p:spPr bwMode="auto">
          <a:xfrm>
            <a:off x="2197100" y="2874963"/>
            <a:ext cx="458788"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39955" name="Rectangle 19"/>
          <p:cNvSpPr>
            <a:spLocks noChangeAspect="1" noChangeArrowheads="1"/>
          </p:cNvSpPr>
          <p:nvPr/>
        </p:nvSpPr>
        <p:spPr bwMode="auto">
          <a:xfrm>
            <a:off x="2239963"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39956" name="Line 20"/>
          <p:cNvSpPr>
            <a:spLocks noChangeAspect="1" noChangeShapeType="1"/>
          </p:cNvSpPr>
          <p:nvPr/>
        </p:nvSpPr>
        <p:spPr bwMode="auto">
          <a:xfrm>
            <a:off x="2003425" y="1393825"/>
            <a:ext cx="0" cy="1941513"/>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39957" name="Text Box 21"/>
          <p:cNvSpPr txBox="1">
            <a:spLocks noChangeAspect="1" noChangeArrowheads="1"/>
          </p:cNvSpPr>
          <p:nvPr/>
        </p:nvSpPr>
        <p:spPr bwMode="auto">
          <a:xfrm>
            <a:off x="684213" y="1395413"/>
            <a:ext cx="542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A</a:t>
            </a:r>
          </a:p>
        </p:txBody>
      </p:sp>
      <p:sp>
        <p:nvSpPr>
          <p:cNvPr id="39958" name="Text Box 22"/>
          <p:cNvSpPr txBox="1">
            <a:spLocks noChangeAspect="1" noChangeArrowheads="1"/>
          </p:cNvSpPr>
          <p:nvPr/>
        </p:nvSpPr>
        <p:spPr bwMode="auto">
          <a:xfrm>
            <a:off x="2551113" y="1403350"/>
            <a:ext cx="6492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B</a:t>
            </a:r>
          </a:p>
        </p:txBody>
      </p:sp>
      <p:sp>
        <p:nvSpPr>
          <p:cNvPr id="39959" name="Text Box 23"/>
          <p:cNvSpPr txBox="1">
            <a:spLocks noChangeAspect="1" noChangeArrowheads="1"/>
          </p:cNvSpPr>
          <p:nvPr/>
        </p:nvSpPr>
        <p:spPr bwMode="auto">
          <a:xfrm>
            <a:off x="1219200" y="2047875"/>
            <a:ext cx="2936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39960" name="Text Box 24"/>
          <p:cNvSpPr txBox="1">
            <a:spLocks noChangeAspect="1" noChangeArrowheads="1"/>
          </p:cNvSpPr>
          <p:nvPr/>
        </p:nvSpPr>
        <p:spPr bwMode="auto">
          <a:xfrm>
            <a:off x="1600200" y="1803400"/>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39961" name="Text Box 25"/>
          <p:cNvSpPr txBox="1">
            <a:spLocks noChangeAspect="1" noChangeArrowheads="1"/>
          </p:cNvSpPr>
          <p:nvPr/>
        </p:nvSpPr>
        <p:spPr bwMode="auto">
          <a:xfrm>
            <a:off x="1639888" y="2535238"/>
            <a:ext cx="3032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39962" name="Text Box 26"/>
          <p:cNvSpPr txBox="1">
            <a:spLocks noChangeAspect="1" noChangeArrowheads="1"/>
          </p:cNvSpPr>
          <p:nvPr/>
        </p:nvSpPr>
        <p:spPr bwMode="auto">
          <a:xfrm>
            <a:off x="1697038" y="2781300"/>
            <a:ext cx="36671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39963" name="Text Box 27"/>
          <p:cNvSpPr txBox="1">
            <a:spLocks noChangeAspect="1" noChangeArrowheads="1"/>
          </p:cNvSpPr>
          <p:nvPr/>
        </p:nvSpPr>
        <p:spPr bwMode="auto">
          <a:xfrm>
            <a:off x="2185988"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39964" name="Rectangle 30"/>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
        <p:nvSpPr>
          <p:cNvPr id="506912" name="Rectangle 32"/>
          <p:cNvSpPr>
            <a:spLocks noChangeArrowheads="1"/>
          </p:cNvSpPr>
          <p:nvPr/>
        </p:nvSpPr>
        <p:spPr bwMode="auto">
          <a:xfrm>
            <a:off x="611188" y="3854450"/>
            <a:ext cx="5865812" cy="126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1500" b="1">
                <a:solidFill>
                  <a:srgbClr val="CC0000"/>
                </a:solidFill>
                <a:ea typeface="Times New Roman" panose="02020603050405020304" pitchFamily="18" charset="0"/>
                <a:cs typeface="Arial" panose="020B0604020202020204" pitchFamily="34" charset="0"/>
              </a:rPr>
              <a:t>Step 0</a:t>
            </a:r>
            <a:r>
              <a:rPr lang="de-DE" altLang="de-DE" sz="1500">
                <a:solidFill>
                  <a:srgbClr val="CC0000"/>
                </a:solidFill>
                <a:ea typeface="Times New Roman" panose="02020603050405020304" pitchFamily="18" charset="0"/>
                <a:cs typeface="Arial" panose="020B0604020202020204" pitchFamily="34" charset="0"/>
              </a:rPr>
              <a:t>:</a:t>
            </a:r>
            <a:r>
              <a:rPr lang="de-DE" altLang="de-DE" sz="1500">
                <a:ea typeface="Times New Roman" panose="02020603050405020304" pitchFamily="18" charset="0"/>
                <a:cs typeface="Arial" panose="020B0604020202020204" pitchFamily="34" charset="0"/>
              </a:rPr>
              <a:t> Compute the balance criterion</a:t>
            </a:r>
            <a:br>
              <a:rPr lang="de-DE" altLang="de-DE" sz="1500">
                <a:ea typeface="Times New Roman" panose="02020603050405020304" pitchFamily="18" charset="0"/>
                <a:cs typeface="Arial" panose="020B0604020202020204" pitchFamily="34" charset="0"/>
              </a:rPr>
            </a:br>
            <a:endParaRPr lang="en-US" altLang="zh-CN" sz="1500">
              <a:ea typeface="宋体" panose="02010600030101010101" pitchFamily="2" charset="-122"/>
              <a:cs typeface="Arial" panose="020B0604020202020204" pitchFamily="34" charset="0"/>
            </a:endParaRPr>
          </a:p>
          <a:p>
            <a:pPr algn="l">
              <a:lnSpc>
                <a:spcPct val="100000"/>
              </a:lnSpc>
            </a:pPr>
            <a:r>
              <a:rPr lang="en-US" altLang="zh-CN" sz="1500">
                <a:ea typeface="宋体" panose="02010600030101010101" pitchFamily="2" charset="-122"/>
                <a:cs typeface="Arial" panose="020B0604020202020204" pitchFamily="34" charset="0"/>
              </a:rPr>
              <a:t>[ </a:t>
            </a:r>
            <a:r>
              <a:rPr lang="en-US" altLang="zh-CN" sz="1500" i="1">
                <a:ea typeface="宋体" panose="02010600030101010101" pitchFamily="2" charset="-122"/>
                <a:cs typeface="Arial" panose="020B0604020202020204" pitchFamily="34" charset="0"/>
              </a:rPr>
              <a:t>r</a:t>
            </a:r>
            <a:r>
              <a:rPr lang="en-US" altLang="zh-CN" sz="1500">
                <a:ea typeface="宋体" panose="02010600030101010101" pitchFamily="2" charset="-122"/>
                <a:cs typeface="Arial" panose="020B0604020202020204" pitchFamily="34" charset="0"/>
              </a:rPr>
              <a:t> ∙ </a:t>
            </a:r>
            <a:r>
              <a:rPr lang="en-US" altLang="zh-CN" sz="1500" i="1">
                <a:ea typeface="宋体" panose="02010600030101010101" pitchFamily="2" charset="-122"/>
                <a:cs typeface="Arial" panose="020B0604020202020204" pitchFamily="34" charset="0"/>
              </a:rPr>
              <a:t>area</a:t>
            </a:r>
            <a:r>
              <a:rPr lang="en-US" altLang="zh-CN" sz="1500">
                <a:ea typeface="宋体" panose="02010600030101010101" pitchFamily="2" charset="-122"/>
                <a:cs typeface="Arial" panose="020B0604020202020204" pitchFamily="34" charset="0"/>
              </a:rPr>
              <a:t>(</a:t>
            </a:r>
            <a:r>
              <a:rPr lang="en-US" altLang="zh-CN" sz="1500" i="1">
                <a:ea typeface="宋体" panose="02010600030101010101" pitchFamily="2" charset="-122"/>
                <a:cs typeface="Arial" panose="020B0604020202020204" pitchFamily="34" charset="0"/>
              </a:rPr>
              <a:t>V</a:t>
            </a:r>
            <a:r>
              <a:rPr lang="en-US" altLang="zh-CN" sz="1500">
                <a:ea typeface="宋体" panose="02010600030101010101" pitchFamily="2" charset="-122"/>
                <a:cs typeface="Arial" panose="020B0604020202020204" pitchFamily="34" charset="0"/>
              </a:rPr>
              <a:t>) – </a:t>
            </a:r>
            <a:r>
              <a:rPr lang="en-US" altLang="zh-CN" sz="1500" i="1">
                <a:ea typeface="宋体" panose="02010600030101010101" pitchFamily="2" charset="-122"/>
                <a:cs typeface="Arial" panose="020B0604020202020204" pitchFamily="34" charset="0"/>
              </a:rPr>
              <a:t>area</a:t>
            </a:r>
            <a:r>
              <a:rPr lang="en-US" altLang="zh-CN" sz="1500" i="1" baseline="-30000">
                <a:ea typeface="宋体" panose="02010600030101010101" pitchFamily="2" charset="-122"/>
                <a:cs typeface="Arial" panose="020B0604020202020204" pitchFamily="34" charset="0"/>
              </a:rPr>
              <a:t>max</a:t>
            </a:r>
            <a:r>
              <a:rPr lang="en-US" altLang="zh-CN" sz="1500">
                <a:ea typeface="宋体" panose="02010600030101010101" pitchFamily="2" charset="-122"/>
                <a:cs typeface="Arial" panose="020B0604020202020204" pitchFamily="34" charset="0"/>
              </a:rPr>
              <a:t>(</a:t>
            </a:r>
            <a:r>
              <a:rPr lang="en-US" altLang="zh-CN" sz="1500" i="1">
                <a:ea typeface="宋体" panose="02010600030101010101" pitchFamily="2" charset="-122"/>
                <a:cs typeface="Arial" panose="020B0604020202020204" pitchFamily="34" charset="0"/>
              </a:rPr>
              <a:t>V</a:t>
            </a:r>
            <a:r>
              <a:rPr lang="en-US" altLang="zh-CN" sz="1500">
                <a:ea typeface="宋体" panose="02010600030101010101" pitchFamily="2" charset="-122"/>
                <a:cs typeface="Arial" panose="020B0604020202020204" pitchFamily="34" charset="0"/>
              </a:rPr>
              <a:t>) ] ≤ </a:t>
            </a:r>
            <a:r>
              <a:rPr lang="en-US" altLang="zh-CN" sz="1500" i="1">
                <a:ea typeface="宋体" panose="02010600030101010101" pitchFamily="2" charset="-122"/>
                <a:cs typeface="Arial" panose="020B0604020202020204" pitchFamily="34" charset="0"/>
              </a:rPr>
              <a:t>area</a:t>
            </a:r>
            <a:r>
              <a:rPr lang="en-US" altLang="zh-CN" sz="1500">
                <a:ea typeface="宋体" panose="02010600030101010101" pitchFamily="2" charset="-122"/>
                <a:cs typeface="Arial" panose="020B0604020202020204" pitchFamily="34" charset="0"/>
              </a:rPr>
              <a:t>(</a:t>
            </a:r>
            <a:r>
              <a:rPr lang="en-US" altLang="zh-CN" sz="1500" i="1">
                <a:ea typeface="宋体" panose="02010600030101010101" pitchFamily="2" charset="-122"/>
                <a:cs typeface="Arial" panose="020B0604020202020204" pitchFamily="34" charset="0"/>
              </a:rPr>
              <a:t>A</a:t>
            </a:r>
            <a:r>
              <a:rPr lang="en-US" altLang="zh-CN" sz="1500">
                <a:ea typeface="宋体" panose="02010600030101010101" pitchFamily="2" charset="-122"/>
                <a:cs typeface="Arial" panose="020B0604020202020204" pitchFamily="34" charset="0"/>
              </a:rPr>
              <a:t>) ≤ [ </a:t>
            </a:r>
            <a:r>
              <a:rPr lang="en-US" altLang="zh-CN" sz="1500" i="1">
                <a:ea typeface="宋体" panose="02010600030101010101" pitchFamily="2" charset="-122"/>
                <a:cs typeface="Arial" panose="020B0604020202020204" pitchFamily="34" charset="0"/>
              </a:rPr>
              <a:t>r</a:t>
            </a:r>
            <a:r>
              <a:rPr lang="en-US" altLang="zh-CN" sz="1500">
                <a:ea typeface="宋体" panose="02010600030101010101" pitchFamily="2" charset="-122"/>
                <a:cs typeface="Arial" panose="020B0604020202020204" pitchFamily="34" charset="0"/>
              </a:rPr>
              <a:t> ∙ </a:t>
            </a:r>
            <a:r>
              <a:rPr lang="en-US" altLang="zh-CN" sz="1500" i="1">
                <a:ea typeface="宋体" panose="02010600030101010101" pitchFamily="2" charset="-122"/>
                <a:cs typeface="Arial" panose="020B0604020202020204" pitchFamily="34" charset="0"/>
              </a:rPr>
              <a:t>area</a:t>
            </a:r>
            <a:r>
              <a:rPr lang="en-US" altLang="zh-CN" sz="1500">
                <a:ea typeface="宋体" panose="02010600030101010101" pitchFamily="2" charset="-122"/>
                <a:cs typeface="Arial" panose="020B0604020202020204" pitchFamily="34" charset="0"/>
              </a:rPr>
              <a:t>(</a:t>
            </a:r>
            <a:r>
              <a:rPr lang="en-US" altLang="zh-CN" sz="1500" i="1">
                <a:ea typeface="宋体" panose="02010600030101010101" pitchFamily="2" charset="-122"/>
                <a:cs typeface="Arial" panose="020B0604020202020204" pitchFamily="34" charset="0"/>
              </a:rPr>
              <a:t>V</a:t>
            </a:r>
            <a:r>
              <a:rPr lang="en-US" altLang="zh-CN" sz="1500">
                <a:ea typeface="宋体" panose="02010600030101010101" pitchFamily="2" charset="-122"/>
                <a:cs typeface="Arial" panose="020B0604020202020204" pitchFamily="34" charset="0"/>
              </a:rPr>
              <a:t>) + </a:t>
            </a:r>
            <a:r>
              <a:rPr lang="en-US" altLang="zh-CN" sz="1500" i="1">
                <a:ea typeface="宋体" panose="02010600030101010101" pitchFamily="2" charset="-122"/>
                <a:cs typeface="Arial" panose="020B0604020202020204" pitchFamily="34" charset="0"/>
              </a:rPr>
              <a:t>area</a:t>
            </a:r>
            <a:r>
              <a:rPr lang="en-US" altLang="zh-CN" sz="1500" i="1" baseline="-30000">
                <a:ea typeface="宋体" panose="02010600030101010101" pitchFamily="2" charset="-122"/>
                <a:cs typeface="Arial" panose="020B0604020202020204" pitchFamily="34" charset="0"/>
              </a:rPr>
              <a:t>max</a:t>
            </a:r>
            <a:r>
              <a:rPr lang="en-US" altLang="zh-CN" sz="1500">
                <a:ea typeface="宋体" panose="02010600030101010101" pitchFamily="2" charset="-122"/>
                <a:cs typeface="Arial" panose="020B0604020202020204" pitchFamily="34" charset="0"/>
              </a:rPr>
              <a:t>(</a:t>
            </a:r>
            <a:r>
              <a:rPr lang="en-US" altLang="zh-CN" sz="1500" i="1">
                <a:ea typeface="宋体" panose="02010600030101010101" pitchFamily="2" charset="-122"/>
                <a:cs typeface="Arial" panose="020B0604020202020204" pitchFamily="34" charset="0"/>
              </a:rPr>
              <a:t>V</a:t>
            </a:r>
            <a:r>
              <a:rPr lang="en-US" altLang="zh-CN" sz="1500">
                <a:ea typeface="宋体" panose="02010600030101010101" pitchFamily="2" charset="-122"/>
                <a:cs typeface="Arial" panose="020B0604020202020204" pitchFamily="34" charset="0"/>
              </a:rPr>
              <a:t>) ]</a:t>
            </a:r>
            <a:br>
              <a:rPr lang="en-US" altLang="zh-CN" sz="1500">
                <a:ea typeface="宋体" panose="02010600030101010101" pitchFamily="2" charset="-122"/>
                <a:cs typeface="Arial" panose="020B0604020202020204" pitchFamily="34" charset="0"/>
              </a:rPr>
            </a:br>
            <a:endParaRPr lang="en-US" altLang="zh-CN" sz="1500">
              <a:ea typeface="宋体" panose="02010600030101010101" pitchFamily="2" charset="-122"/>
              <a:cs typeface="Arial" panose="020B0604020202020204" pitchFamily="34" charset="0"/>
            </a:endParaRPr>
          </a:p>
          <a:p>
            <a:pPr algn="l">
              <a:lnSpc>
                <a:spcPct val="100000"/>
              </a:lnSpc>
            </a:pPr>
            <a:r>
              <a:rPr lang="de-DE" altLang="de-DE" sz="1500">
                <a:ea typeface="Times New Roman" panose="02020603050405020304" pitchFamily="18" charset="0"/>
                <a:cs typeface="Arial" panose="020B0604020202020204" pitchFamily="34" charset="0"/>
              </a:rPr>
              <a:t>0,375 * 16 – 5 = 1 </a:t>
            </a:r>
            <a:r>
              <a:rPr lang="de-DE" altLang="de-DE" sz="1500">
                <a:ea typeface="Times New Roman" panose="02020603050405020304" pitchFamily="18" charset="0"/>
                <a:cs typeface="Arial" panose="020B0604020202020204" pitchFamily="34" charset="0"/>
                <a:sym typeface="Symbol" panose="05050102010706020507" pitchFamily="18" charset="2"/>
              </a:rPr>
              <a:t></a:t>
            </a:r>
            <a:r>
              <a:rPr lang="de-DE" altLang="de-DE" sz="1500">
                <a:ea typeface="Times New Roman" panose="02020603050405020304" pitchFamily="18" charset="0"/>
                <a:cs typeface="Arial" panose="020B0604020202020204" pitchFamily="34" charset="0"/>
              </a:rPr>
              <a:t> </a:t>
            </a:r>
            <a:r>
              <a:rPr lang="de-DE" altLang="de-DE" sz="1500" i="1">
                <a:ea typeface="Times New Roman" panose="02020603050405020304" pitchFamily="18" charset="0"/>
                <a:cs typeface="Arial" panose="020B0604020202020204" pitchFamily="34" charset="0"/>
              </a:rPr>
              <a:t>area</a:t>
            </a:r>
            <a:r>
              <a:rPr lang="de-DE" altLang="de-DE" sz="1500">
                <a:ea typeface="Times New Roman" panose="02020603050405020304" pitchFamily="18" charset="0"/>
                <a:cs typeface="Arial" panose="020B0604020202020204" pitchFamily="34" charset="0"/>
              </a:rPr>
              <a:t>(</a:t>
            </a:r>
            <a:r>
              <a:rPr lang="de-DE" altLang="de-DE" sz="1500" i="1">
                <a:ea typeface="Times New Roman" panose="02020603050405020304" pitchFamily="18" charset="0"/>
                <a:cs typeface="Arial" panose="020B0604020202020204" pitchFamily="34" charset="0"/>
                <a:sym typeface="Symbol" panose="05050102010706020507" pitchFamily="18" charset="2"/>
              </a:rPr>
              <a:t>A)</a:t>
            </a:r>
            <a:r>
              <a:rPr lang="de-DE" altLang="de-DE" sz="1500">
                <a:ea typeface="Times New Roman" panose="02020603050405020304" pitchFamily="18" charset="0"/>
                <a:cs typeface="Arial" panose="020B0604020202020204" pitchFamily="34" charset="0"/>
                <a:sym typeface="Symbol" panose="05050102010706020507" pitchFamily="18" charset="2"/>
              </a:rPr>
              <a:t> </a:t>
            </a:r>
            <a:r>
              <a:rPr lang="de-DE" altLang="de-DE" sz="1500">
                <a:ea typeface="Times New Roman" panose="02020603050405020304" pitchFamily="18" charset="0"/>
                <a:cs typeface="Arial" panose="020B0604020202020204" pitchFamily="34" charset="0"/>
              </a:rPr>
              <a:t> 11</a:t>
            </a:r>
            <a:r>
              <a:rPr lang="de-DE" altLang="de-DE" sz="1500">
                <a:ea typeface="Times New Roman" panose="02020603050405020304" pitchFamily="18" charset="0"/>
                <a:cs typeface="Arial" panose="020B0604020202020204" pitchFamily="34" charset="0"/>
                <a:sym typeface="Symbol" panose="05050102010706020507" pitchFamily="18" charset="2"/>
              </a:rPr>
              <a:t> = 0,375 * 16 +5.</a:t>
            </a:r>
          </a:p>
        </p:txBody>
      </p:sp>
      <p:sp>
        <p:nvSpPr>
          <p:cNvPr id="39966" name="Text Box 33"/>
          <p:cNvSpPr txBox="1">
            <a:spLocks noChangeArrowheads="1"/>
          </p:cNvSpPr>
          <p:nvPr/>
        </p:nvSpPr>
        <p:spPr bwMode="auto">
          <a:xfrm>
            <a:off x="4119563" y="1674813"/>
            <a:ext cx="2357437" cy="1900237"/>
          </a:xfrm>
          <a:prstGeom prst="rect">
            <a:avLst/>
          </a:prstGeom>
          <a:solidFill>
            <a:srgbClr val="CCCCFF"/>
          </a:solidFill>
          <a:ln>
            <a:noFill/>
          </a:ln>
          <a:extLst>
            <a:ext uri="{91240B29-F687-4F45-9708-019B960494DF}">
              <a14:hiddenLine xmlns:a14="http://schemas.microsoft.com/office/drawing/2010/main" w="9525">
                <a:solidFill>
                  <a:srgbClr val="C0C0C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10000"/>
              </a:lnSpc>
            </a:pPr>
            <a:r>
              <a:rPr lang="en-US" altLang="zh-CN" sz="1500">
                <a:ea typeface="宋体" panose="02010600030101010101" pitchFamily="2" charset="-122"/>
              </a:rPr>
              <a:t>Given:</a:t>
            </a:r>
            <a:br>
              <a:rPr lang="en-US" altLang="zh-CN" sz="1500">
                <a:ea typeface="宋体" panose="02010600030101010101" pitchFamily="2" charset="-122"/>
              </a:rPr>
            </a:br>
            <a:r>
              <a:rPr lang="en-US" altLang="zh-CN" sz="1500">
                <a:ea typeface="宋体" panose="02010600030101010101" pitchFamily="2" charset="-122"/>
              </a:rPr>
              <a:t>Ratio factor </a:t>
            </a:r>
            <a:r>
              <a:rPr lang="en-US" altLang="zh-CN" sz="1500" i="1">
                <a:ea typeface="宋体" panose="02010600030101010101" pitchFamily="2" charset="-122"/>
              </a:rPr>
              <a:t>r</a:t>
            </a:r>
            <a:r>
              <a:rPr lang="en-US" altLang="zh-CN" sz="1500">
                <a:ea typeface="宋体" panose="02010600030101010101" pitchFamily="2" charset="-122"/>
              </a:rPr>
              <a:t> = 0,375</a:t>
            </a:r>
          </a:p>
          <a:p>
            <a:pPr algn="l" eaLnBrk="1" hangingPunct="1">
              <a:lnSpc>
                <a:spcPct val="110000"/>
              </a:lnSpc>
            </a:pPr>
            <a:r>
              <a:rPr lang="en-US" altLang="zh-CN" sz="1500" i="1">
                <a:ea typeface="宋体" panose="02010600030101010101" pitchFamily="2" charset="-122"/>
              </a:rPr>
              <a:t>area</a:t>
            </a:r>
            <a:r>
              <a:rPr lang="en-US" altLang="zh-CN" sz="1500">
                <a:ea typeface="宋体" panose="02010600030101010101" pitchFamily="2" charset="-122"/>
              </a:rPr>
              <a:t>(Cell_1) = 2 </a:t>
            </a:r>
            <a:br>
              <a:rPr lang="en-US" altLang="zh-CN" sz="1500">
                <a:ea typeface="宋体" panose="02010600030101010101" pitchFamily="2" charset="-122"/>
              </a:rPr>
            </a:br>
            <a:r>
              <a:rPr lang="en-US" altLang="zh-CN" sz="1500" i="1">
                <a:ea typeface="宋体" panose="02010600030101010101" pitchFamily="2" charset="-122"/>
              </a:rPr>
              <a:t>area</a:t>
            </a:r>
            <a:r>
              <a:rPr lang="en-US" altLang="zh-CN" sz="1500">
                <a:ea typeface="宋体" panose="02010600030101010101" pitchFamily="2" charset="-122"/>
              </a:rPr>
              <a:t>(Cell_2) = 4 </a:t>
            </a:r>
            <a:br>
              <a:rPr lang="en-US" altLang="zh-CN" sz="1500">
                <a:ea typeface="宋体" panose="02010600030101010101" pitchFamily="2" charset="-122"/>
              </a:rPr>
            </a:br>
            <a:r>
              <a:rPr lang="en-US" altLang="zh-CN" sz="1500" i="1">
                <a:ea typeface="宋体" panose="02010600030101010101" pitchFamily="2" charset="-122"/>
              </a:rPr>
              <a:t>area</a:t>
            </a:r>
            <a:r>
              <a:rPr lang="en-US" altLang="zh-CN" sz="1500">
                <a:ea typeface="宋体" panose="02010600030101010101" pitchFamily="2" charset="-122"/>
              </a:rPr>
              <a:t>(Cell_3) = 1 </a:t>
            </a:r>
            <a:br>
              <a:rPr lang="en-US" altLang="zh-CN" sz="1500">
                <a:ea typeface="宋体" panose="02010600030101010101" pitchFamily="2" charset="-122"/>
              </a:rPr>
            </a:br>
            <a:r>
              <a:rPr lang="en-US" altLang="zh-CN" sz="1500" i="1">
                <a:ea typeface="宋体" panose="02010600030101010101" pitchFamily="2" charset="-122"/>
              </a:rPr>
              <a:t>area</a:t>
            </a:r>
            <a:r>
              <a:rPr lang="en-US" altLang="zh-CN" sz="1500">
                <a:ea typeface="宋体" panose="02010600030101010101" pitchFamily="2" charset="-122"/>
              </a:rPr>
              <a:t>(Cell_4) = 4 </a:t>
            </a:r>
            <a:br>
              <a:rPr lang="en-US" altLang="zh-CN" sz="1500">
                <a:ea typeface="宋体" panose="02010600030101010101" pitchFamily="2" charset="-122"/>
              </a:rPr>
            </a:br>
            <a:r>
              <a:rPr lang="en-US" altLang="zh-CN" sz="1500" i="1">
                <a:ea typeface="宋体" panose="02010600030101010101" pitchFamily="2" charset="-122"/>
              </a:rPr>
              <a:t>area</a:t>
            </a:r>
            <a:r>
              <a:rPr lang="en-US" altLang="zh-CN" sz="1500">
                <a:ea typeface="宋体" panose="02010600030101010101" pitchFamily="2" charset="-122"/>
              </a:rPr>
              <a:t>(Cell_5) = 5.</a:t>
            </a:r>
            <a:br>
              <a:rPr lang="en-US" altLang="zh-CN" sz="1500">
                <a:ea typeface="宋体" panose="02010600030101010101" pitchFamily="2" charset="-122"/>
              </a:rPr>
            </a:br>
            <a:endParaRPr lang="en-US" altLang="zh-CN" sz="15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06882"/>
                                        </p:tgtEl>
                                        <p:attrNameLst>
                                          <p:attrName>style.visibility</p:attrName>
                                        </p:attrNameLst>
                                      </p:cBhvr>
                                      <p:to>
                                        <p:strVal val="visible"/>
                                      </p:to>
                                    </p:set>
                                    <p:animEffect transition="in" filter="dissolve">
                                      <p:cBhvr>
                                        <p:cTn id="7" dur="500"/>
                                        <p:tgtEl>
                                          <p:spTgt spid="50688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06912"/>
                                        </p:tgtEl>
                                        <p:attrNameLst>
                                          <p:attrName>style.visibility</p:attrName>
                                        </p:attrNameLst>
                                      </p:cBhvr>
                                      <p:to>
                                        <p:strVal val="visible"/>
                                      </p:to>
                                    </p:set>
                                    <p:animEffect transition="in" filter="dissolve">
                                      <p:cBhvr>
                                        <p:cTn id="10" dur="500"/>
                                        <p:tgtEl>
                                          <p:spTgt spid="5069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6882" grpId="0" animBg="1"/>
      <p:bldP spid="5069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75D0C37E-E15B-43AF-BF59-B79F3AC3A50B}" type="slidenum">
              <a:rPr lang="en-US" altLang="de-DE" sz="1000">
                <a:solidFill>
                  <a:srgbClr val="C0C0C0"/>
                </a:solidFill>
              </a:rPr>
              <a:pPr/>
              <a:t>46</a:t>
            </a:fld>
            <a:endParaRPr lang="en-US" altLang="de-DE" sz="1000">
              <a:solidFill>
                <a:srgbClr val="C0C0C0"/>
              </a:solidFill>
            </a:endParaRPr>
          </a:p>
        </p:txBody>
      </p:sp>
      <p:sp>
        <p:nvSpPr>
          <p:cNvPr id="40963" name="Line 4"/>
          <p:cNvSpPr>
            <a:spLocks noChangeAspect="1" noChangeShapeType="1"/>
          </p:cNvSpPr>
          <p:nvPr/>
        </p:nvSpPr>
        <p:spPr bwMode="auto">
          <a:xfrm flipV="1">
            <a:off x="1635125"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0964" name="Line 5"/>
          <p:cNvSpPr>
            <a:spLocks noChangeAspect="1" noChangeShapeType="1"/>
          </p:cNvSpPr>
          <p:nvPr/>
        </p:nvSpPr>
        <p:spPr bwMode="auto">
          <a:xfrm flipH="1">
            <a:off x="1635125"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0965" name="Line 6"/>
          <p:cNvSpPr>
            <a:spLocks noChangeAspect="1" noChangeShapeType="1"/>
          </p:cNvSpPr>
          <p:nvPr/>
        </p:nvSpPr>
        <p:spPr bwMode="auto">
          <a:xfrm>
            <a:off x="2435225"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0966" name="Line 7"/>
          <p:cNvSpPr>
            <a:spLocks noChangeAspect="1" noChangeShapeType="1"/>
          </p:cNvSpPr>
          <p:nvPr/>
        </p:nvSpPr>
        <p:spPr bwMode="auto">
          <a:xfrm flipH="1">
            <a:off x="1452563" y="1555750"/>
            <a:ext cx="0" cy="140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0967" name="Line 8"/>
          <p:cNvSpPr>
            <a:spLocks noChangeAspect="1" noChangeShapeType="1"/>
          </p:cNvSpPr>
          <p:nvPr/>
        </p:nvSpPr>
        <p:spPr bwMode="auto">
          <a:xfrm flipH="1">
            <a:off x="1604963" y="2328863"/>
            <a:ext cx="809625"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0968" name="Line 9"/>
          <p:cNvSpPr>
            <a:spLocks noChangeAspect="1" noChangeShapeType="1"/>
          </p:cNvSpPr>
          <p:nvPr/>
        </p:nvSpPr>
        <p:spPr bwMode="auto">
          <a:xfrm>
            <a:off x="1585913"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0969" name="Oval 10"/>
          <p:cNvSpPr>
            <a:spLocks noChangeAspect="1" noChangeArrowheads="1"/>
          </p:cNvSpPr>
          <p:nvPr/>
        </p:nvSpPr>
        <p:spPr bwMode="auto">
          <a:xfrm>
            <a:off x="1296988" y="2874963"/>
            <a:ext cx="460375" cy="45878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0970" name="Rectangle 11"/>
          <p:cNvSpPr>
            <a:spLocks noChangeAspect="1" noChangeArrowheads="1"/>
          </p:cNvSpPr>
          <p:nvPr/>
        </p:nvSpPr>
        <p:spPr bwMode="auto">
          <a:xfrm>
            <a:off x="1339850"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1</a:t>
            </a:r>
            <a:endParaRPr lang="en-US" altLang="zh-CN" b="1">
              <a:ea typeface="宋体" panose="02010600030101010101" pitchFamily="2" charset="-122"/>
            </a:endParaRPr>
          </a:p>
        </p:txBody>
      </p:sp>
      <p:sp>
        <p:nvSpPr>
          <p:cNvPr id="40971" name="Oval 12"/>
          <p:cNvSpPr>
            <a:spLocks noChangeAspect="1" noChangeArrowheads="1"/>
          </p:cNvSpPr>
          <p:nvPr/>
        </p:nvSpPr>
        <p:spPr bwMode="auto">
          <a:xfrm>
            <a:off x="2197100" y="1341438"/>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0972" name="Rectangle 13"/>
          <p:cNvSpPr>
            <a:spLocks noChangeAspect="1" noChangeArrowheads="1"/>
          </p:cNvSpPr>
          <p:nvPr/>
        </p:nvSpPr>
        <p:spPr bwMode="auto">
          <a:xfrm>
            <a:off x="2239963"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40973" name="Oval 14"/>
          <p:cNvSpPr>
            <a:spLocks noChangeAspect="1" noChangeArrowheads="1"/>
          </p:cNvSpPr>
          <p:nvPr/>
        </p:nvSpPr>
        <p:spPr bwMode="auto">
          <a:xfrm>
            <a:off x="2217738" y="2106613"/>
            <a:ext cx="458787"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0974" name="Rectangle 15"/>
          <p:cNvSpPr>
            <a:spLocks noChangeAspect="1" noChangeArrowheads="1"/>
          </p:cNvSpPr>
          <p:nvPr/>
        </p:nvSpPr>
        <p:spPr bwMode="auto">
          <a:xfrm>
            <a:off x="2241550" y="2141538"/>
            <a:ext cx="366713"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40975" name="Oval 16"/>
          <p:cNvSpPr>
            <a:spLocks noChangeAspect="1" noChangeArrowheads="1"/>
          </p:cNvSpPr>
          <p:nvPr/>
        </p:nvSpPr>
        <p:spPr bwMode="auto">
          <a:xfrm>
            <a:off x="1317625" y="1341438"/>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0976" name="Rectangle 17"/>
          <p:cNvSpPr>
            <a:spLocks noChangeAspect="1" noChangeArrowheads="1"/>
          </p:cNvSpPr>
          <p:nvPr/>
        </p:nvSpPr>
        <p:spPr bwMode="auto">
          <a:xfrm>
            <a:off x="1357313"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40977" name="Oval 18"/>
          <p:cNvSpPr>
            <a:spLocks noChangeAspect="1" noChangeArrowheads="1"/>
          </p:cNvSpPr>
          <p:nvPr/>
        </p:nvSpPr>
        <p:spPr bwMode="auto">
          <a:xfrm>
            <a:off x="2197100"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0978" name="Rectangle 19"/>
          <p:cNvSpPr>
            <a:spLocks noChangeAspect="1" noChangeArrowheads="1"/>
          </p:cNvSpPr>
          <p:nvPr/>
        </p:nvSpPr>
        <p:spPr bwMode="auto">
          <a:xfrm>
            <a:off x="2239963"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0979" name="Line 20"/>
          <p:cNvSpPr>
            <a:spLocks noChangeAspect="1" noChangeShapeType="1"/>
          </p:cNvSpPr>
          <p:nvPr/>
        </p:nvSpPr>
        <p:spPr bwMode="auto">
          <a:xfrm>
            <a:off x="2003425" y="1392238"/>
            <a:ext cx="0" cy="194151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0980" name="Text Box 21"/>
          <p:cNvSpPr txBox="1">
            <a:spLocks noChangeAspect="1" noChangeArrowheads="1"/>
          </p:cNvSpPr>
          <p:nvPr/>
        </p:nvSpPr>
        <p:spPr bwMode="auto">
          <a:xfrm>
            <a:off x="684213" y="1393825"/>
            <a:ext cx="542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A</a:t>
            </a:r>
          </a:p>
        </p:txBody>
      </p:sp>
      <p:sp>
        <p:nvSpPr>
          <p:cNvPr id="40981" name="Text Box 22"/>
          <p:cNvSpPr txBox="1">
            <a:spLocks noChangeAspect="1" noChangeArrowheads="1"/>
          </p:cNvSpPr>
          <p:nvPr/>
        </p:nvSpPr>
        <p:spPr bwMode="auto">
          <a:xfrm>
            <a:off x="2551113" y="1403350"/>
            <a:ext cx="649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B</a:t>
            </a:r>
          </a:p>
        </p:txBody>
      </p:sp>
      <p:sp>
        <p:nvSpPr>
          <p:cNvPr id="40982" name="Text Box 23"/>
          <p:cNvSpPr txBox="1">
            <a:spLocks noChangeAspect="1" noChangeArrowheads="1"/>
          </p:cNvSpPr>
          <p:nvPr/>
        </p:nvSpPr>
        <p:spPr bwMode="auto">
          <a:xfrm>
            <a:off x="1219200"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0983" name="Text Box 24"/>
          <p:cNvSpPr txBox="1">
            <a:spLocks noChangeAspect="1" noChangeArrowheads="1"/>
          </p:cNvSpPr>
          <p:nvPr/>
        </p:nvSpPr>
        <p:spPr bwMode="auto">
          <a:xfrm>
            <a:off x="1600200" y="1803400"/>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0984" name="Text Box 25"/>
          <p:cNvSpPr txBox="1">
            <a:spLocks noChangeAspect="1" noChangeArrowheads="1"/>
          </p:cNvSpPr>
          <p:nvPr/>
        </p:nvSpPr>
        <p:spPr bwMode="auto">
          <a:xfrm>
            <a:off x="1639888" y="2533650"/>
            <a:ext cx="30321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0985" name="Text Box 26"/>
          <p:cNvSpPr txBox="1">
            <a:spLocks noChangeAspect="1" noChangeArrowheads="1"/>
          </p:cNvSpPr>
          <p:nvPr/>
        </p:nvSpPr>
        <p:spPr bwMode="auto">
          <a:xfrm>
            <a:off x="1697038" y="2781300"/>
            <a:ext cx="36671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0986" name="Text Box 27"/>
          <p:cNvSpPr txBox="1">
            <a:spLocks noChangeAspect="1" noChangeArrowheads="1"/>
          </p:cNvSpPr>
          <p:nvPr/>
        </p:nvSpPr>
        <p:spPr bwMode="auto">
          <a:xfrm>
            <a:off x="2185988"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508958" name="Rectangle 30"/>
          <p:cNvSpPr>
            <a:spLocks noChangeArrowheads="1"/>
          </p:cNvSpPr>
          <p:nvPr/>
        </p:nvSpPr>
        <p:spPr bwMode="auto">
          <a:xfrm>
            <a:off x="611188" y="3865563"/>
            <a:ext cx="6130925" cy="1868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10000"/>
              </a:lnSpc>
            </a:pPr>
            <a:r>
              <a:rPr lang="de-DE" altLang="de-DE" sz="1500" b="1">
                <a:solidFill>
                  <a:srgbClr val="CC0000"/>
                </a:solidFill>
              </a:rPr>
              <a:t>Step 1</a:t>
            </a:r>
            <a:r>
              <a:rPr lang="de-DE" altLang="de-DE" sz="1500">
                <a:solidFill>
                  <a:srgbClr val="CC0000"/>
                </a:solidFill>
              </a:rPr>
              <a:t>:</a:t>
            </a:r>
            <a:r>
              <a:rPr lang="de-DE" altLang="de-DE" sz="1500"/>
              <a:t> </a:t>
            </a:r>
            <a:r>
              <a:rPr lang="de-DE" altLang="de-DE" sz="1500">
                <a:ea typeface="Times New Roman" panose="02020603050405020304" pitchFamily="18" charset="0"/>
                <a:cs typeface="Arial" panose="020B0604020202020204" pitchFamily="34" charset="0"/>
              </a:rPr>
              <a:t>Compute the gains of each cell</a:t>
            </a:r>
            <a:br>
              <a:rPr lang="de-DE" altLang="de-DE" sz="1500">
                <a:ea typeface="Times New Roman" panose="02020603050405020304" pitchFamily="18" charset="0"/>
                <a:cs typeface="Arial" panose="020B0604020202020204" pitchFamily="34" charset="0"/>
              </a:rPr>
            </a:br>
            <a:endParaRPr lang="en-US" altLang="zh-CN" sz="1500">
              <a:ea typeface="宋体" panose="02010600030101010101" pitchFamily="2" charset="-122"/>
            </a:endParaRPr>
          </a:p>
          <a:p>
            <a:pPr algn="l">
              <a:lnSpc>
                <a:spcPct val="110000"/>
              </a:lnSpc>
            </a:pPr>
            <a:r>
              <a:rPr lang="nl-NL" altLang="de-DE" sz="1500">
                <a:cs typeface="Times New Roman" panose="02020603050405020304" pitchFamily="18" charset="0"/>
              </a:rPr>
              <a:t>Cell 1:      </a:t>
            </a:r>
            <a:r>
              <a:rPr lang="de-DE" altLang="de-DE" sz="1500" i="1">
                <a:cs typeface="Times New Roman" panose="02020603050405020304" pitchFamily="18" charset="0"/>
              </a:rPr>
              <a:t>FS</a:t>
            </a:r>
            <a:r>
              <a:rPr lang="nl-NL" altLang="de-DE" sz="1500">
                <a:cs typeface="Times New Roman" panose="02020603050405020304" pitchFamily="18" charset="0"/>
              </a:rPr>
              <a:t>(Cell_1) = 2	</a:t>
            </a:r>
            <a:r>
              <a:rPr lang="de-DE" altLang="de-DE" sz="1500" i="1">
                <a:cs typeface="Times New Roman" panose="02020603050405020304" pitchFamily="18" charset="0"/>
              </a:rPr>
              <a:t>TE</a:t>
            </a:r>
            <a:r>
              <a:rPr lang="nl-NL" altLang="de-DE" sz="1500">
                <a:cs typeface="Times New Roman" panose="02020603050405020304" pitchFamily="18" charset="0"/>
              </a:rPr>
              <a:t>(Cell_1) = 1	</a:t>
            </a:r>
            <a:r>
              <a:rPr lang="de-DE" altLang="de-DE" sz="1500">
                <a:cs typeface="Times New Roman" panose="02020603050405020304" pitchFamily="18" charset="0"/>
                <a:sym typeface="Symbol" panose="05050102010706020507" pitchFamily="18" charset="2"/>
              </a:rPr>
              <a:t></a:t>
            </a:r>
            <a:r>
              <a:rPr lang="de-DE" altLang="de-DE" sz="1500" i="1">
                <a:cs typeface="Times New Roman" panose="02020603050405020304" pitchFamily="18" charset="0"/>
              </a:rPr>
              <a:t>g</a:t>
            </a:r>
            <a:r>
              <a:rPr lang="nl-NL" altLang="de-DE" sz="1500">
                <a:cs typeface="Times New Roman" panose="02020603050405020304" pitchFamily="18" charset="0"/>
                <a:sym typeface="Symbol" panose="05050102010706020507" pitchFamily="18" charset="2"/>
              </a:rPr>
              <a:t>(Cell_1) = 1</a:t>
            </a:r>
            <a:endParaRPr lang="en-US" altLang="zh-CN" sz="1500">
              <a:ea typeface="宋体" panose="02010600030101010101" pitchFamily="2" charset="-122"/>
              <a:sym typeface="Symbol" panose="05050102010706020507" pitchFamily="18" charset="2"/>
            </a:endParaRPr>
          </a:p>
          <a:p>
            <a:pPr algn="l">
              <a:lnSpc>
                <a:spcPct val="110000"/>
              </a:lnSpc>
            </a:pPr>
            <a:r>
              <a:rPr lang="nl-NL" altLang="de-DE" sz="1500">
                <a:cs typeface="Times New Roman" panose="02020603050405020304" pitchFamily="18" charset="0"/>
                <a:sym typeface="Symbol" panose="05050102010706020507" pitchFamily="18" charset="2"/>
              </a:rPr>
              <a:t>Cell 2:      </a:t>
            </a:r>
            <a:r>
              <a:rPr lang="de-DE" altLang="de-DE" sz="1500" i="1">
                <a:cs typeface="Times New Roman" panose="02020603050405020304" pitchFamily="18" charset="0"/>
                <a:sym typeface="Symbol" panose="05050102010706020507" pitchFamily="18" charset="2"/>
              </a:rPr>
              <a:t>FS</a:t>
            </a:r>
            <a:r>
              <a:rPr lang="nl-NL" altLang="de-DE" sz="1500">
                <a:cs typeface="Times New Roman" panose="02020603050405020304" pitchFamily="18" charset="0"/>
                <a:sym typeface="Symbol" panose="05050102010706020507" pitchFamily="18" charset="2"/>
              </a:rPr>
              <a:t>(Cell_2) = 0	</a:t>
            </a:r>
            <a:r>
              <a:rPr lang="de-DE" altLang="de-DE" sz="1500" i="1">
                <a:cs typeface="Times New Roman" panose="02020603050405020304" pitchFamily="18" charset="0"/>
                <a:sym typeface="Symbol" panose="05050102010706020507" pitchFamily="18" charset="2"/>
              </a:rPr>
              <a:t>TE</a:t>
            </a:r>
            <a:r>
              <a:rPr lang="nl-NL" altLang="de-DE" sz="1500">
                <a:cs typeface="Times New Roman" panose="02020603050405020304" pitchFamily="18" charset="0"/>
                <a:sym typeface="Symbol" panose="05050102010706020507" pitchFamily="18" charset="2"/>
              </a:rPr>
              <a:t>(Cell_2) = 1	</a:t>
            </a:r>
            <a:r>
              <a:rPr lang="de-DE" altLang="de-DE" sz="1500">
                <a:cs typeface="Times New Roman" panose="02020603050405020304" pitchFamily="18" charset="0"/>
                <a:sym typeface="Symbol" panose="05050102010706020507" pitchFamily="18" charset="2"/>
              </a:rPr>
              <a:t></a:t>
            </a:r>
            <a:r>
              <a:rPr lang="de-DE" altLang="de-DE" sz="1500" i="1">
                <a:cs typeface="Times New Roman" panose="02020603050405020304" pitchFamily="18" charset="0"/>
              </a:rPr>
              <a:t>g</a:t>
            </a:r>
            <a:r>
              <a:rPr lang="nl-NL" altLang="de-DE" sz="1500">
                <a:cs typeface="Times New Roman" panose="02020603050405020304" pitchFamily="18" charset="0"/>
                <a:sym typeface="Symbol" panose="05050102010706020507" pitchFamily="18" charset="2"/>
              </a:rPr>
              <a:t>(Cell_2) = -1</a:t>
            </a:r>
            <a:endParaRPr lang="en-US" altLang="zh-CN" sz="1500">
              <a:ea typeface="宋体" panose="02010600030101010101" pitchFamily="2" charset="-122"/>
              <a:sym typeface="Symbol" panose="05050102010706020507" pitchFamily="18" charset="2"/>
            </a:endParaRPr>
          </a:p>
          <a:p>
            <a:pPr algn="l">
              <a:lnSpc>
                <a:spcPct val="110000"/>
              </a:lnSpc>
            </a:pPr>
            <a:r>
              <a:rPr lang="de-DE" altLang="de-DE" sz="1500">
                <a:cs typeface="Times New Roman" panose="02020603050405020304" pitchFamily="18" charset="0"/>
                <a:sym typeface="Symbol" panose="05050102010706020507" pitchFamily="18" charset="2"/>
              </a:rPr>
              <a:t>Cell 3:      </a:t>
            </a:r>
            <a:r>
              <a:rPr lang="de-DE" altLang="de-DE" sz="1500" i="1">
                <a:cs typeface="Times New Roman" panose="02020603050405020304" pitchFamily="18" charset="0"/>
                <a:sym typeface="Symbol" panose="05050102010706020507" pitchFamily="18" charset="2"/>
              </a:rPr>
              <a:t>FS</a:t>
            </a:r>
            <a:r>
              <a:rPr lang="de-DE" altLang="de-DE" sz="1500">
                <a:cs typeface="Times New Roman" panose="02020603050405020304" pitchFamily="18" charset="0"/>
                <a:sym typeface="Symbol" panose="05050102010706020507" pitchFamily="18" charset="2"/>
              </a:rPr>
              <a:t>(Cell_3) = 1	</a:t>
            </a:r>
            <a:r>
              <a:rPr lang="de-DE" altLang="de-DE" sz="1500" i="1">
                <a:cs typeface="Times New Roman" panose="02020603050405020304" pitchFamily="18" charset="0"/>
                <a:sym typeface="Symbol" panose="05050102010706020507" pitchFamily="18" charset="2"/>
              </a:rPr>
              <a:t>TE</a:t>
            </a:r>
            <a:r>
              <a:rPr lang="de-DE" altLang="de-DE" sz="1500">
                <a:cs typeface="Times New Roman" panose="02020603050405020304" pitchFamily="18" charset="0"/>
                <a:sym typeface="Symbol" panose="05050102010706020507" pitchFamily="18" charset="2"/>
              </a:rPr>
              <a:t>(Cell_3) = 1	</a:t>
            </a:r>
            <a:r>
              <a:rPr lang="de-DE" altLang="de-DE" sz="1500" i="1">
                <a:cs typeface="Times New Roman" panose="02020603050405020304" pitchFamily="18" charset="0"/>
              </a:rPr>
              <a:t>g</a:t>
            </a:r>
            <a:r>
              <a:rPr lang="de-DE" altLang="de-DE" sz="1500">
                <a:cs typeface="Times New Roman" panose="02020603050405020304" pitchFamily="18" charset="0"/>
                <a:sym typeface="Symbol" panose="05050102010706020507" pitchFamily="18" charset="2"/>
              </a:rPr>
              <a:t>(Cell_3) = 0 </a:t>
            </a:r>
            <a:endParaRPr lang="en-US" altLang="zh-CN" sz="1500">
              <a:ea typeface="宋体" panose="02010600030101010101" pitchFamily="2" charset="-122"/>
              <a:sym typeface="Symbol" panose="05050102010706020507" pitchFamily="18" charset="2"/>
            </a:endParaRPr>
          </a:p>
          <a:p>
            <a:pPr algn="l">
              <a:lnSpc>
                <a:spcPct val="110000"/>
              </a:lnSpc>
            </a:pPr>
            <a:r>
              <a:rPr lang="nl-NL" altLang="de-DE" sz="1500">
                <a:cs typeface="Times New Roman" panose="02020603050405020304" pitchFamily="18" charset="0"/>
                <a:sym typeface="Symbol" panose="05050102010706020507" pitchFamily="18" charset="2"/>
              </a:rPr>
              <a:t>Cell 4:      </a:t>
            </a:r>
            <a:r>
              <a:rPr lang="de-DE" altLang="de-DE" sz="1500" i="1">
                <a:cs typeface="Times New Roman" panose="02020603050405020304" pitchFamily="18" charset="0"/>
                <a:sym typeface="Symbol" panose="05050102010706020507" pitchFamily="18" charset="2"/>
              </a:rPr>
              <a:t>FS</a:t>
            </a:r>
            <a:r>
              <a:rPr lang="nl-NL" altLang="de-DE" sz="1500">
                <a:cs typeface="Times New Roman" panose="02020603050405020304" pitchFamily="18" charset="0"/>
                <a:sym typeface="Symbol" panose="05050102010706020507" pitchFamily="18" charset="2"/>
              </a:rPr>
              <a:t>(Cell_4) = 1	</a:t>
            </a:r>
            <a:r>
              <a:rPr lang="de-DE" altLang="de-DE" sz="1500" i="1">
                <a:cs typeface="Times New Roman" panose="02020603050405020304" pitchFamily="18" charset="0"/>
                <a:sym typeface="Symbol" panose="05050102010706020507" pitchFamily="18" charset="2"/>
              </a:rPr>
              <a:t>TE</a:t>
            </a:r>
            <a:r>
              <a:rPr lang="nl-NL" altLang="de-DE" sz="1500">
                <a:cs typeface="Times New Roman" panose="02020603050405020304" pitchFamily="18" charset="0"/>
                <a:sym typeface="Symbol" panose="05050102010706020507" pitchFamily="18" charset="2"/>
              </a:rPr>
              <a:t>(Cell_4) = 1	</a:t>
            </a:r>
            <a:r>
              <a:rPr lang="de-DE" altLang="de-DE" sz="1500">
                <a:cs typeface="Times New Roman" panose="02020603050405020304" pitchFamily="18" charset="0"/>
                <a:sym typeface="Symbol" panose="05050102010706020507" pitchFamily="18" charset="2"/>
              </a:rPr>
              <a:t></a:t>
            </a:r>
            <a:r>
              <a:rPr lang="de-DE" altLang="de-DE" sz="1500" i="1">
                <a:cs typeface="Times New Roman" panose="02020603050405020304" pitchFamily="18" charset="0"/>
              </a:rPr>
              <a:t>g</a:t>
            </a:r>
            <a:r>
              <a:rPr lang="nl-NL" altLang="de-DE" sz="1500">
                <a:cs typeface="Times New Roman" panose="02020603050405020304" pitchFamily="18" charset="0"/>
                <a:sym typeface="Symbol" panose="05050102010706020507" pitchFamily="18" charset="2"/>
              </a:rPr>
              <a:t>(Cell_4) = 0</a:t>
            </a:r>
            <a:endParaRPr lang="en-US" altLang="zh-CN" sz="1500">
              <a:ea typeface="宋体" panose="02010600030101010101" pitchFamily="2" charset="-122"/>
              <a:sym typeface="Symbol" panose="05050102010706020507" pitchFamily="18" charset="2"/>
            </a:endParaRPr>
          </a:p>
          <a:p>
            <a:pPr algn="l">
              <a:lnSpc>
                <a:spcPct val="110000"/>
              </a:lnSpc>
            </a:pPr>
            <a:r>
              <a:rPr lang="nl-NL" altLang="de-DE" sz="1500">
                <a:cs typeface="Times New Roman" panose="02020603050405020304" pitchFamily="18" charset="0"/>
                <a:sym typeface="Symbol" panose="05050102010706020507" pitchFamily="18" charset="2"/>
              </a:rPr>
              <a:t>Cell 5:      </a:t>
            </a:r>
            <a:r>
              <a:rPr lang="de-DE" altLang="de-DE" sz="1500" i="1">
                <a:cs typeface="Times New Roman" panose="02020603050405020304" pitchFamily="18" charset="0"/>
                <a:sym typeface="Symbol" panose="05050102010706020507" pitchFamily="18" charset="2"/>
              </a:rPr>
              <a:t>FS</a:t>
            </a:r>
            <a:r>
              <a:rPr lang="nl-NL" altLang="de-DE" sz="1500">
                <a:cs typeface="Times New Roman" panose="02020603050405020304" pitchFamily="18" charset="0"/>
                <a:sym typeface="Symbol" panose="05050102010706020507" pitchFamily="18" charset="2"/>
              </a:rPr>
              <a:t>(Cell_5) = 1	</a:t>
            </a:r>
            <a:r>
              <a:rPr lang="de-DE" altLang="de-DE" sz="1500" i="1">
                <a:cs typeface="Times New Roman" panose="02020603050405020304" pitchFamily="18" charset="0"/>
                <a:sym typeface="Symbol" panose="05050102010706020507" pitchFamily="18" charset="2"/>
              </a:rPr>
              <a:t>TE</a:t>
            </a:r>
            <a:r>
              <a:rPr lang="nl-NL" altLang="de-DE" sz="1500">
                <a:cs typeface="Times New Roman" panose="02020603050405020304" pitchFamily="18" charset="0"/>
                <a:sym typeface="Symbol" panose="05050102010706020507" pitchFamily="18" charset="2"/>
              </a:rPr>
              <a:t>(Cell_5) = 0	</a:t>
            </a:r>
            <a:r>
              <a:rPr lang="de-DE" altLang="de-DE" sz="1500">
                <a:cs typeface="Times New Roman" panose="02020603050405020304" pitchFamily="18" charset="0"/>
                <a:sym typeface="Symbol" panose="05050102010706020507" pitchFamily="18" charset="2"/>
              </a:rPr>
              <a:t></a:t>
            </a:r>
            <a:r>
              <a:rPr lang="de-DE" altLang="de-DE" sz="1500" i="1">
                <a:cs typeface="Times New Roman" panose="02020603050405020304" pitchFamily="18" charset="0"/>
              </a:rPr>
              <a:t>g</a:t>
            </a:r>
            <a:r>
              <a:rPr lang="nl-NL" altLang="de-DE" sz="1500">
                <a:cs typeface="Times New Roman" panose="02020603050405020304" pitchFamily="18" charset="0"/>
                <a:sym typeface="Symbol" panose="05050102010706020507" pitchFamily="18" charset="2"/>
              </a:rPr>
              <a:t>(Cell_5) = 1</a:t>
            </a:r>
          </a:p>
        </p:txBody>
      </p:sp>
      <p:sp>
        <p:nvSpPr>
          <p:cNvPr id="40988" name="Rectangle 31"/>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08958">
                                            <p:txEl>
                                              <p:pRg st="1" end="1"/>
                                            </p:txEl>
                                          </p:spTgt>
                                        </p:tgtEl>
                                        <p:attrNameLst>
                                          <p:attrName>style.visibility</p:attrName>
                                        </p:attrNameLst>
                                      </p:cBhvr>
                                      <p:to>
                                        <p:strVal val="visible"/>
                                      </p:to>
                                    </p:set>
                                    <p:animEffect transition="in" filter="dissolve">
                                      <p:cBhvr>
                                        <p:cTn id="7" dur="500"/>
                                        <p:tgtEl>
                                          <p:spTgt spid="508958">
                                            <p:txEl>
                                              <p:pRg st="1" end="1"/>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08958">
                                            <p:txEl>
                                              <p:pRg st="2" end="2"/>
                                            </p:txEl>
                                          </p:spTgt>
                                        </p:tgtEl>
                                        <p:attrNameLst>
                                          <p:attrName>style.visibility</p:attrName>
                                        </p:attrNameLst>
                                      </p:cBhvr>
                                      <p:to>
                                        <p:strVal val="visible"/>
                                      </p:to>
                                    </p:set>
                                    <p:animEffect transition="in" filter="dissolve">
                                      <p:cBhvr>
                                        <p:cTn id="10" dur="500"/>
                                        <p:tgtEl>
                                          <p:spTgt spid="508958">
                                            <p:txEl>
                                              <p:pRg st="2" end="2"/>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08958">
                                            <p:txEl>
                                              <p:pRg st="3" end="3"/>
                                            </p:txEl>
                                          </p:spTgt>
                                        </p:tgtEl>
                                        <p:attrNameLst>
                                          <p:attrName>style.visibility</p:attrName>
                                        </p:attrNameLst>
                                      </p:cBhvr>
                                      <p:to>
                                        <p:strVal val="visible"/>
                                      </p:to>
                                    </p:set>
                                    <p:animEffect transition="in" filter="dissolve">
                                      <p:cBhvr>
                                        <p:cTn id="13" dur="500"/>
                                        <p:tgtEl>
                                          <p:spTgt spid="508958">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08958">
                                            <p:txEl>
                                              <p:pRg st="4" end="4"/>
                                            </p:txEl>
                                          </p:spTgt>
                                        </p:tgtEl>
                                        <p:attrNameLst>
                                          <p:attrName>style.visibility</p:attrName>
                                        </p:attrNameLst>
                                      </p:cBhvr>
                                      <p:to>
                                        <p:strVal val="visible"/>
                                      </p:to>
                                    </p:set>
                                    <p:animEffect transition="in" filter="dissolve">
                                      <p:cBhvr>
                                        <p:cTn id="16" dur="500"/>
                                        <p:tgtEl>
                                          <p:spTgt spid="508958">
                                            <p:txEl>
                                              <p:pRg st="4" end="4"/>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508958">
                                            <p:txEl>
                                              <p:pRg st="5" end="5"/>
                                            </p:txEl>
                                          </p:spTgt>
                                        </p:tgtEl>
                                        <p:attrNameLst>
                                          <p:attrName>style.visibility</p:attrName>
                                        </p:attrNameLst>
                                      </p:cBhvr>
                                      <p:to>
                                        <p:strVal val="visible"/>
                                      </p:to>
                                    </p:set>
                                    <p:animEffect transition="in" filter="dissolve">
                                      <p:cBhvr>
                                        <p:cTn id="19" dur="500"/>
                                        <p:tgtEl>
                                          <p:spTgt spid="50895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D34FCD69-FCED-4D7F-9C0B-288145BC3FB3}" type="slidenum">
              <a:rPr lang="en-US" altLang="de-DE" sz="1000">
                <a:solidFill>
                  <a:srgbClr val="C0C0C0"/>
                </a:solidFill>
              </a:rPr>
              <a:pPr/>
              <a:t>47</a:t>
            </a:fld>
            <a:endParaRPr lang="en-US" altLang="de-DE" sz="1000">
              <a:solidFill>
                <a:srgbClr val="C0C0C0"/>
              </a:solidFill>
            </a:endParaRPr>
          </a:p>
        </p:txBody>
      </p:sp>
      <p:sp>
        <p:nvSpPr>
          <p:cNvPr id="41987" name="Line 2"/>
          <p:cNvSpPr>
            <a:spLocks noChangeAspect="1" noChangeShapeType="1"/>
          </p:cNvSpPr>
          <p:nvPr/>
        </p:nvSpPr>
        <p:spPr bwMode="auto">
          <a:xfrm flipV="1">
            <a:off x="1635125"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1988" name="Line 3"/>
          <p:cNvSpPr>
            <a:spLocks noChangeAspect="1" noChangeShapeType="1"/>
          </p:cNvSpPr>
          <p:nvPr/>
        </p:nvSpPr>
        <p:spPr bwMode="auto">
          <a:xfrm flipH="1">
            <a:off x="1635125"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89" name="Line 4"/>
          <p:cNvSpPr>
            <a:spLocks noChangeAspect="1" noChangeShapeType="1"/>
          </p:cNvSpPr>
          <p:nvPr/>
        </p:nvSpPr>
        <p:spPr bwMode="auto">
          <a:xfrm>
            <a:off x="2435225"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90" name="Line 5"/>
          <p:cNvSpPr>
            <a:spLocks noChangeAspect="1" noChangeShapeType="1"/>
          </p:cNvSpPr>
          <p:nvPr/>
        </p:nvSpPr>
        <p:spPr bwMode="auto">
          <a:xfrm flipH="1">
            <a:off x="1452563" y="1555750"/>
            <a:ext cx="0" cy="1409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91" name="Line 6"/>
          <p:cNvSpPr>
            <a:spLocks noChangeAspect="1" noChangeShapeType="1"/>
          </p:cNvSpPr>
          <p:nvPr/>
        </p:nvSpPr>
        <p:spPr bwMode="auto">
          <a:xfrm flipH="1">
            <a:off x="1604963" y="2328863"/>
            <a:ext cx="809625"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92" name="Line 7"/>
          <p:cNvSpPr>
            <a:spLocks noChangeAspect="1" noChangeShapeType="1"/>
          </p:cNvSpPr>
          <p:nvPr/>
        </p:nvSpPr>
        <p:spPr bwMode="auto">
          <a:xfrm>
            <a:off x="1585913"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1993" name="Oval 8"/>
          <p:cNvSpPr>
            <a:spLocks noChangeAspect="1" noChangeArrowheads="1"/>
          </p:cNvSpPr>
          <p:nvPr/>
        </p:nvSpPr>
        <p:spPr bwMode="auto">
          <a:xfrm>
            <a:off x="1296988" y="2874963"/>
            <a:ext cx="460375" cy="458787"/>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994" name="Rectangle 9"/>
          <p:cNvSpPr>
            <a:spLocks noChangeAspect="1" noChangeArrowheads="1"/>
          </p:cNvSpPr>
          <p:nvPr/>
        </p:nvSpPr>
        <p:spPr bwMode="auto">
          <a:xfrm>
            <a:off x="1339850"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1</a:t>
            </a:r>
            <a:endParaRPr lang="en-US" altLang="zh-CN" b="1">
              <a:ea typeface="宋体" panose="02010600030101010101" pitchFamily="2" charset="-122"/>
            </a:endParaRPr>
          </a:p>
        </p:txBody>
      </p:sp>
      <p:sp>
        <p:nvSpPr>
          <p:cNvPr id="41995" name="Oval 10"/>
          <p:cNvSpPr>
            <a:spLocks noChangeAspect="1" noChangeArrowheads="1"/>
          </p:cNvSpPr>
          <p:nvPr/>
        </p:nvSpPr>
        <p:spPr bwMode="auto">
          <a:xfrm>
            <a:off x="2197100" y="1341438"/>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996" name="Rectangle 11"/>
          <p:cNvSpPr>
            <a:spLocks noChangeAspect="1" noChangeArrowheads="1"/>
          </p:cNvSpPr>
          <p:nvPr/>
        </p:nvSpPr>
        <p:spPr bwMode="auto">
          <a:xfrm>
            <a:off x="2239963"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41997" name="Oval 12"/>
          <p:cNvSpPr>
            <a:spLocks noChangeAspect="1" noChangeArrowheads="1"/>
          </p:cNvSpPr>
          <p:nvPr/>
        </p:nvSpPr>
        <p:spPr bwMode="auto">
          <a:xfrm>
            <a:off x="2217738" y="2106613"/>
            <a:ext cx="458787"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1998" name="Rectangle 13"/>
          <p:cNvSpPr>
            <a:spLocks noChangeAspect="1" noChangeArrowheads="1"/>
          </p:cNvSpPr>
          <p:nvPr/>
        </p:nvSpPr>
        <p:spPr bwMode="auto">
          <a:xfrm>
            <a:off x="2241550" y="2141538"/>
            <a:ext cx="366713"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41999" name="Oval 14"/>
          <p:cNvSpPr>
            <a:spLocks noChangeAspect="1" noChangeArrowheads="1"/>
          </p:cNvSpPr>
          <p:nvPr/>
        </p:nvSpPr>
        <p:spPr bwMode="auto">
          <a:xfrm>
            <a:off x="1317625" y="1341438"/>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000" name="Rectangle 15"/>
          <p:cNvSpPr>
            <a:spLocks noChangeAspect="1" noChangeArrowheads="1"/>
          </p:cNvSpPr>
          <p:nvPr/>
        </p:nvSpPr>
        <p:spPr bwMode="auto">
          <a:xfrm>
            <a:off x="1357313"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42001" name="Oval 16"/>
          <p:cNvSpPr>
            <a:spLocks noChangeAspect="1" noChangeArrowheads="1"/>
          </p:cNvSpPr>
          <p:nvPr/>
        </p:nvSpPr>
        <p:spPr bwMode="auto">
          <a:xfrm>
            <a:off x="2197100"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2002" name="Rectangle 17"/>
          <p:cNvSpPr>
            <a:spLocks noChangeAspect="1" noChangeArrowheads="1"/>
          </p:cNvSpPr>
          <p:nvPr/>
        </p:nvSpPr>
        <p:spPr bwMode="auto">
          <a:xfrm>
            <a:off x="2239963"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2003" name="Line 18"/>
          <p:cNvSpPr>
            <a:spLocks noChangeAspect="1" noChangeShapeType="1"/>
          </p:cNvSpPr>
          <p:nvPr/>
        </p:nvSpPr>
        <p:spPr bwMode="auto">
          <a:xfrm>
            <a:off x="2003425" y="1392238"/>
            <a:ext cx="0" cy="194151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2004" name="Text Box 19"/>
          <p:cNvSpPr txBox="1">
            <a:spLocks noChangeAspect="1" noChangeArrowheads="1"/>
          </p:cNvSpPr>
          <p:nvPr/>
        </p:nvSpPr>
        <p:spPr bwMode="auto">
          <a:xfrm>
            <a:off x="684213" y="1393825"/>
            <a:ext cx="5429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A</a:t>
            </a:r>
          </a:p>
        </p:txBody>
      </p:sp>
      <p:sp>
        <p:nvSpPr>
          <p:cNvPr id="42005" name="Text Box 20"/>
          <p:cNvSpPr txBox="1">
            <a:spLocks noChangeAspect="1" noChangeArrowheads="1"/>
          </p:cNvSpPr>
          <p:nvPr/>
        </p:nvSpPr>
        <p:spPr bwMode="auto">
          <a:xfrm>
            <a:off x="2551113" y="1403350"/>
            <a:ext cx="64928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B</a:t>
            </a:r>
          </a:p>
        </p:txBody>
      </p:sp>
      <p:sp>
        <p:nvSpPr>
          <p:cNvPr id="42006" name="Text Box 21"/>
          <p:cNvSpPr txBox="1">
            <a:spLocks noChangeAspect="1" noChangeArrowheads="1"/>
          </p:cNvSpPr>
          <p:nvPr/>
        </p:nvSpPr>
        <p:spPr bwMode="auto">
          <a:xfrm>
            <a:off x="1219200"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2007" name="Text Box 22"/>
          <p:cNvSpPr txBox="1">
            <a:spLocks noChangeAspect="1" noChangeArrowheads="1"/>
          </p:cNvSpPr>
          <p:nvPr/>
        </p:nvSpPr>
        <p:spPr bwMode="auto">
          <a:xfrm>
            <a:off x="1600200" y="1803400"/>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2008" name="Text Box 23"/>
          <p:cNvSpPr txBox="1">
            <a:spLocks noChangeAspect="1" noChangeArrowheads="1"/>
          </p:cNvSpPr>
          <p:nvPr/>
        </p:nvSpPr>
        <p:spPr bwMode="auto">
          <a:xfrm>
            <a:off x="1639888" y="2533650"/>
            <a:ext cx="303212"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2009" name="Text Box 24"/>
          <p:cNvSpPr txBox="1">
            <a:spLocks noChangeAspect="1" noChangeArrowheads="1"/>
          </p:cNvSpPr>
          <p:nvPr/>
        </p:nvSpPr>
        <p:spPr bwMode="auto">
          <a:xfrm>
            <a:off x="1697038" y="2781300"/>
            <a:ext cx="366712"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2010" name="Text Box 25"/>
          <p:cNvSpPr txBox="1">
            <a:spLocks noChangeAspect="1" noChangeArrowheads="1"/>
          </p:cNvSpPr>
          <p:nvPr/>
        </p:nvSpPr>
        <p:spPr bwMode="auto">
          <a:xfrm>
            <a:off x="2185988"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2011" name="Rectangle 27"/>
          <p:cNvSpPr>
            <a:spLocks noChangeArrowheads="1"/>
          </p:cNvSpPr>
          <p:nvPr/>
        </p:nvSpPr>
        <p:spPr bwMode="auto">
          <a:xfrm>
            <a:off x="3132138" y="1630363"/>
            <a:ext cx="5426075" cy="1366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lnSpc>
                <a:spcPct val="110000"/>
              </a:lnSpc>
            </a:pPr>
            <a:r>
              <a:rPr lang="nl-NL" altLang="de-DE" sz="1500">
                <a:ea typeface="Times New Roman" panose="02020603050405020304" pitchFamily="18" charset="0"/>
                <a:cs typeface="Arial" panose="020B0604020202020204" pitchFamily="34" charset="0"/>
              </a:rPr>
              <a:t>Cell1:       </a:t>
            </a:r>
            <a:r>
              <a:rPr lang="de-DE" altLang="de-DE" sz="1500" i="1">
                <a:ea typeface="Times New Roman" panose="02020603050405020304" pitchFamily="18" charset="0"/>
                <a:cs typeface="Arial" panose="020B0604020202020204" pitchFamily="34" charset="0"/>
              </a:rPr>
              <a:t>FS</a:t>
            </a:r>
            <a:r>
              <a:rPr lang="nl-NL" altLang="de-DE" sz="1500">
                <a:ea typeface="Times New Roman" panose="02020603050405020304" pitchFamily="18" charset="0"/>
                <a:cs typeface="Arial" panose="020B0604020202020204" pitchFamily="34" charset="0"/>
              </a:rPr>
              <a:t>(Cell_1) = 2     </a:t>
            </a:r>
            <a:r>
              <a:rPr lang="de-DE" altLang="de-DE" sz="1500" i="1">
                <a:ea typeface="Times New Roman" panose="02020603050405020304" pitchFamily="18" charset="0"/>
                <a:cs typeface="Arial" panose="020B0604020202020204" pitchFamily="34" charset="0"/>
              </a:rPr>
              <a:t>TE</a:t>
            </a:r>
            <a:r>
              <a:rPr lang="nl-NL" altLang="de-DE" sz="1500">
                <a:ea typeface="Times New Roman" panose="02020603050405020304" pitchFamily="18" charset="0"/>
                <a:cs typeface="Arial" panose="020B0604020202020204" pitchFamily="34" charset="0"/>
              </a:rPr>
              <a:t>(Cell_1) = 1	    </a:t>
            </a:r>
            <a:r>
              <a:rPr lang="de-DE" altLang="de-DE" sz="1500">
                <a:ea typeface="Times New Roman" panose="02020603050405020304" pitchFamily="18" charset="0"/>
                <a:cs typeface="Arial" panose="020B0604020202020204" pitchFamily="34" charset="0"/>
                <a:sym typeface="Symbol" panose="05050102010706020507" pitchFamily="18" charset="2"/>
              </a:rPr>
              <a:t></a:t>
            </a:r>
            <a:r>
              <a:rPr lang="de-DE" altLang="de-DE" sz="1500" i="1">
                <a:ea typeface="Times New Roman" panose="02020603050405020304" pitchFamily="18" charset="0"/>
                <a:cs typeface="Arial" panose="020B0604020202020204" pitchFamily="34" charset="0"/>
              </a:rPr>
              <a:t>g</a:t>
            </a:r>
            <a:r>
              <a:rPr lang="nl-NL" altLang="de-DE" sz="1500">
                <a:ea typeface="Times New Roman" panose="02020603050405020304" pitchFamily="18" charset="0"/>
                <a:cs typeface="Arial" panose="020B0604020202020204" pitchFamily="34" charset="0"/>
                <a:sym typeface="Symbol" panose="05050102010706020507" pitchFamily="18" charset="2"/>
              </a:rPr>
              <a:t>(Cell_1) = 1</a:t>
            </a:r>
            <a:endParaRPr lang="en-US" altLang="zh-CN" sz="1500">
              <a:ea typeface="Times New Roman" panose="02020603050405020304" pitchFamily="18" charset="0"/>
              <a:cs typeface="Arial" panose="020B0604020202020204" pitchFamily="34" charset="0"/>
              <a:sym typeface="Symbol" panose="05050102010706020507" pitchFamily="18" charset="2"/>
            </a:endParaRPr>
          </a:p>
          <a:p>
            <a:pPr algn="l">
              <a:lnSpc>
                <a:spcPct val="110000"/>
              </a:lnSpc>
            </a:pPr>
            <a:r>
              <a:rPr lang="nl-NL" altLang="de-DE" sz="1500">
                <a:ea typeface="Times New Roman" panose="02020603050405020304" pitchFamily="18" charset="0"/>
                <a:cs typeface="Arial" panose="020B0604020202020204" pitchFamily="34" charset="0"/>
                <a:sym typeface="Symbol" panose="05050102010706020507" pitchFamily="18" charset="2"/>
              </a:rPr>
              <a:t>Cell 2:      </a:t>
            </a:r>
            <a:r>
              <a:rPr lang="de-DE" altLang="de-DE" sz="1500" i="1">
                <a:ea typeface="Times New Roman" panose="02020603050405020304" pitchFamily="18" charset="0"/>
                <a:cs typeface="Arial" panose="020B0604020202020204" pitchFamily="34" charset="0"/>
                <a:sym typeface="Symbol" panose="05050102010706020507" pitchFamily="18" charset="2"/>
              </a:rPr>
              <a:t>FS</a:t>
            </a:r>
            <a:r>
              <a:rPr lang="nl-NL" altLang="de-DE" sz="1500">
                <a:ea typeface="Times New Roman" panose="02020603050405020304" pitchFamily="18" charset="0"/>
                <a:cs typeface="Arial" panose="020B0604020202020204" pitchFamily="34" charset="0"/>
                <a:sym typeface="Symbol" panose="05050102010706020507" pitchFamily="18" charset="2"/>
              </a:rPr>
              <a:t>(Cell_2) = 0     </a:t>
            </a:r>
            <a:r>
              <a:rPr lang="de-DE" altLang="de-DE" sz="1500" i="1">
                <a:ea typeface="Times New Roman" panose="02020603050405020304" pitchFamily="18" charset="0"/>
                <a:cs typeface="Arial" panose="020B0604020202020204" pitchFamily="34" charset="0"/>
                <a:sym typeface="Symbol" panose="05050102010706020507" pitchFamily="18" charset="2"/>
              </a:rPr>
              <a:t>TE</a:t>
            </a:r>
            <a:r>
              <a:rPr lang="nl-NL" altLang="de-DE" sz="1500">
                <a:ea typeface="Times New Roman" panose="02020603050405020304" pitchFamily="18" charset="0"/>
                <a:cs typeface="Arial" panose="020B0604020202020204" pitchFamily="34" charset="0"/>
                <a:sym typeface="Symbol" panose="05050102010706020507" pitchFamily="18" charset="2"/>
              </a:rPr>
              <a:t>(Cell_2) = 1	    </a:t>
            </a:r>
            <a:r>
              <a:rPr lang="de-DE" altLang="de-DE" sz="1500">
                <a:ea typeface="Times New Roman" panose="02020603050405020304" pitchFamily="18" charset="0"/>
                <a:cs typeface="Arial" panose="020B0604020202020204" pitchFamily="34" charset="0"/>
                <a:sym typeface="Symbol" panose="05050102010706020507" pitchFamily="18" charset="2"/>
              </a:rPr>
              <a:t></a:t>
            </a:r>
            <a:r>
              <a:rPr lang="de-DE" altLang="de-DE" sz="1500" i="1">
                <a:ea typeface="Times New Roman" panose="02020603050405020304" pitchFamily="18" charset="0"/>
                <a:cs typeface="Arial" panose="020B0604020202020204" pitchFamily="34" charset="0"/>
              </a:rPr>
              <a:t>g</a:t>
            </a:r>
            <a:r>
              <a:rPr lang="nl-NL" altLang="de-DE" sz="1500">
                <a:ea typeface="Times New Roman" panose="02020603050405020304" pitchFamily="18" charset="0"/>
                <a:cs typeface="Arial" panose="020B0604020202020204" pitchFamily="34" charset="0"/>
                <a:sym typeface="Symbol" panose="05050102010706020507" pitchFamily="18" charset="2"/>
              </a:rPr>
              <a:t>(Cell_2) = -1</a:t>
            </a:r>
            <a:endParaRPr lang="en-US" altLang="zh-CN" sz="1500">
              <a:ea typeface="Times New Roman" panose="02020603050405020304" pitchFamily="18" charset="0"/>
              <a:cs typeface="Arial" panose="020B0604020202020204" pitchFamily="34" charset="0"/>
              <a:sym typeface="Symbol" panose="05050102010706020507" pitchFamily="18" charset="2"/>
            </a:endParaRPr>
          </a:p>
          <a:p>
            <a:pPr algn="l">
              <a:lnSpc>
                <a:spcPct val="110000"/>
              </a:lnSpc>
            </a:pPr>
            <a:r>
              <a:rPr lang="de-DE" altLang="de-DE" sz="1500">
                <a:ea typeface="Times New Roman" panose="02020603050405020304" pitchFamily="18" charset="0"/>
                <a:cs typeface="Arial" panose="020B0604020202020204" pitchFamily="34" charset="0"/>
                <a:sym typeface="Symbol" panose="05050102010706020507" pitchFamily="18" charset="2"/>
              </a:rPr>
              <a:t>Cell 3:      </a:t>
            </a:r>
            <a:r>
              <a:rPr lang="de-DE" altLang="de-DE" sz="1500" i="1">
                <a:ea typeface="Times New Roman" panose="02020603050405020304" pitchFamily="18" charset="0"/>
                <a:cs typeface="Arial" panose="020B0604020202020204" pitchFamily="34" charset="0"/>
                <a:sym typeface="Symbol" panose="05050102010706020507" pitchFamily="18" charset="2"/>
              </a:rPr>
              <a:t>FS</a:t>
            </a:r>
            <a:r>
              <a:rPr lang="de-DE" altLang="de-DE" sz="1500">
                <a:ea typeface="Times New Roman" panose="02020603050405020304" pitchFamily="18" charset="0"/>
                <a:cs typeface="Arial" panose="020B0604020202020204" pitchFamily="34" charset="0"/>
                <a:sym typeface="Symbol" panose="05050102010706020507" pitchFamily="18" charset="2"/>
              </a:rPr>
              <a:t>(Cell_3) = 1     </a:t>
            </a:r>
            <a:r>
              <a:rPr lang="de-DE" altLang="de-DE" sz="1500" i="1">
                <a:ea typeface="Times New Roman" panose="02020603050405020304" pitchFamily="18" charset="0"/>
                <a:cs typeface="Arial" panose="020B0604020202020204" pitchFamily="34" charset="0"/>
                <a:sym typeface="Symbol" panose="05050102010706020507" pitchFamily="18" charset="2"/>
              </a:rPr>
              <a:t>TE</a:t>
            </a:r>
            <a:r>
              <a:rPr lang="de-DE" altLang="de-DE" sz="1500">
                <a:ea typeface="Times New Roman" panose="02020603050405020304" pitchFamily="18" charset="0"/>
                <a:cs typeface="Arial" panose="020B0604020202020204" pitchFamily="34" charset="0"/>
                <a:sym typeface="Symbol" panose="05050102010706020507" pitchFamily="18" charset="2"/>
              </a:rPr>
              <a:t>(Cell_3) = 1	    </a:t>
            </a:r>
            <a:r>
              <a:rPr lang="de-DE" altLang="de-DE" sz="1500" i="1">
                <a:ea typeface="Times New Roman" panose="02020603050405020304" pitchFamily="18" charset="0"/>
                <a:cs typeface="Arial" panose="020B0604020202020204" pitchFamily="34" charset="0"/>
              </a:rPr>
              <a:t>g</a:t>
            </a:r>
            <a:r>
              <a:rPr lang="de-DE" altLang="de-DE" sz="1500">
                <a:ea typeface="Times New Roman" panose="02020603050405020304" pitchFamily="18" charset="0"/>
                <a:cs typeface="Arial" panose="020B0604020202020204" pitchFamily="34" charset="0"/>
                <a:sym typeface="Symbol" panose="05050102010706020507" pitchFamily="18" charset="2"/>
              </a:rPr>
              <a:t>(Cell_3) = 0 </a:t>
            </a:r>
            <a:endParaRPr lang="en-US" altLang="zh-CN" sz="1500">
              <a:ea typeface="Times New Roman" panose="02020603050405020304" pitchFamily="18" charset="0"/>
              <a:cs typeface="Arial" panose="020B0604020202020204" pitchFamily="34" charset="0"/>
              <a:sym typeface="Symbol" panose="05050102010706020507" pitchFamily="18" charset="2"/>
            </a:endParaRPr>
          </a:p>
          <a:p>
            <a:pPr algn="l">
              <a:lnSpc>
                <a:spcPct val="110000"/>
              </a:lnSpc>
            </a:pPr>
            <a:r>
              <a:rPr lang="nl-NL" altLang="de-DE" sz="1500">
                <a:ea typeface="Times New Roman" panose="02020603050405020304" pitchFamily="18" charset="0"/>
                <a:cs typeface="Arial" panose="020B0604020202020204" pitchFamily="34" charset="0"/>
                <a:sym typeface="Symbol" panose="05050102010706020507" pitchFamily="18" charset="2"/>
              </a:rPr>
              <a:t>Cell 4:      </a:t>
            </a:r>
            <a:r>
              <a:rPr lang="de-DE" altLang="de-DE" sz="1500" i="1">
                <a:ea typeface="Times New Roman" panose="02020603050405020304" pitchFamily="18" charset="0"/>
                <a:cs typeface="Arial" panose="020B0604020202020204" pitchFamily="34" charset="0"/>
                <a:sym typeface="Symbol" panose="05050102010706020507" pitchFamily="18" charset="2"/>
              </a:rPr>
              <a:t>FS</a:t>
            </a:r>
            <a:r>
              <a:rPr lang="nl-NL" altLang="de-DE" sz="1500">
                <a:ea typeface="Times New Roman" panose="02020603050405020304" pitchFamily="18" charset="0"/>
                <a:cs typeface="Arial" panose="020B0604020202020204" pitchFamily="34" charset="0"/>
                <a:sym typeface="Symbol" panose="05050102010706020507" pitchFamily="18" charset="2"/>
              </a:rPr>
              <a:t>(Cell_4) = 1     </a:t>
            </a:r>
            <a:r>
              <a:rPr lang="de-DE" altLang="de-DE" sz="1500" i="1">
                <a:ea typeface="Times New Roman" panose="02020603050405020304" pitchFamily="18" charset="0"/>
                <a:cs typeface="Arial" panose="020B0604020202020204" pitchFamily="34" charset="0"/>
                <a:sym typeface="Symbol" panose="05050102010706020507" pitchFamily="18" charset="2"/>
              </a:rPr>
              <a:t>TE</a:t>
            </a:r>
            <a:r>
              <a:rPr lang="nl-NL" altLang="de-DE" sz="1500">
                <a:ea typeface="Times New Roman" panose="02020603050405020304" pitchFamily="18" charset="0"/>
                <a:cs typeface="Arial" panose="020B0604020202020204" pitchFamily="34" charset="0"/>
                <a:sym typeface="Symbol" panose="05050102010706020507" pitchFamily="18" charset="2"/>
              </a:rPr>
              <a:t>(Cell_4) = 1	    </a:t>
            </a:r>
            <a:r>
              <a:rPr lang="de-DE" altLang="de-DE" sz="1500">
                <a:ea typeface="Times New Roman" panose="02020603050405020304" pitchFamily="18" charset="0"/>
                <a:cs typeface="Arial" panose="020B0604020202020204" pitchFamily="34" charset="0"/>
                <a:sym typeface="Symbol" panose="05050102010706020507" pitchFamily="18" charset="2"/>
              </a:rPr>
              <a:t></a:t>
            </a:r>
            <a:r>
              <a:rPr lang="de-DE" altLang="de-DE" sz="1500" i="1">
                <a:ea typeface="Times New Roman" panose="02020603050405020304" pitchFamily="18" charset="0"/>
                <a:cs typeface="Arial" panose="020B0604020202020204" pitchFamily="34" charset="0"/>
              </a:rPr>
              <a:t>g</a:t>
            </a:r>
            <a:r>
              <a:rPr lang="nl-NL" altLang="de-DE" sz="1500">
                <a:ea typeface="Times New Roman" panose="02020603050405020304" pitchFamily="18" charset="0"/>
                <a:cs typeface="Arial" panose="020B0604020202020204" pitchFamily="34" charset="0"/>
                <a:sym typeface="Symbol" panose="05050102010706020507" pitchFamily="18" charset="2"/>
              </a:rPr>
              <a:t>(Cell_4) = 0</a:t>
            </a:r>
            <a:endParaRPr lang="en-US" altLang="zh-CN" sz="1500">
              <a:ea typeface="Times New Roman" panose="02020603050405020304" pitchFamily="18" charset="0"/>
              <a:cs typeface="Arial" panose="020B0604020202020204" pitchFamily="34" charset="0"/>
              <a:sym typeface="Symbol" panose="05050102010706020507" pitchFamily="18" charset="2"/>
            </a:endParaRPr>
          </a:p>
          <a:p>
            <a:pPr algn="l">
              <a:lnSpc>
                <a:spcPct val="110000"/>
              </a:lnSpc>
            </a:pPr>
            <a:r>
              <a:rPr lang="nl-NL" altLang="de-DE" sz="1500">
                <a:ea typeface="Times New Roman" panose="02020603050405020304" pitchFamily="18" charset="0"/>
                <a:cs typeface="Arial" panose="020B0604020202020204" pitchFamily="34" charset="0"/>
                <a:sym typeface="Symbol" panose="05050102010706020507" pitchFamily="18" charset="2"/>
              </a:rPr>
              <a:t>Cell 5:      </a:t>
            </a:r>
            <a:r>
              <a:rPr lang="de-DE" altLang="de-DE" sz="1500" i="1">
                <a:ea typeface="Times New Roman" panose="02020603050405020304" pitchFamily="18" charset="0"/>
                <a:cs typeface="Arial" panose="020B0604020202020204" pitchFamily="34" charset="0"/>
                <a:sym typeface="Symbol" panose="05050102010706020507" pitchFamily="18" charset="2"/>
              </a:rPr>
              <a:t>FS</a:t>
            </a:r>
            <a:r>
              <a:rPr lang="nl-NL" altLang="de-DE" sz="1500">
                <a:ea typeface="Times New Roman" panose="02020603050405020304" pitchFamily="18" charset="0"/>
                <a:cs typeface="Arial" panose="020B0604020202020204" pitchFamily="34" charset="0"/>
                <a:sym typeface="Symbol" panose="05050102010706020507" pitchFamily="18" charset="2"/>
              </a:rPr>
              <a:t>(Cell_5) = 1     </a:t>
            </a:r>
            <a:r>
              <a:rPr lang="de-DE" altLang="de-DE" sz="1500" i="1">
                <a:ea typeface="Times New Roman" panose="02020603050405020304" pitchFamily="18" charset="0"/>
                <a:cs typeface="Arial" panose="020B0604020202020204" pitchFamily="34" charset="0"/>
                <a:sym typeface="Symbol" panose="05050102010706020507" pitchFamily="18" charset="2"/>
              </a:rPr>
              <a:t>TE</a:t>
            </a:r>
            <a:r>
              <a:rPr lang="nl-NL" altLang="de-DE" sz="1500">
                <a:ea typeface="Times New Roman" panose="02020603050405020304" pitchFamily="18" charset="0"/>
                <a:cs typeface="Arial" panose="020B0604020202020204" pitchFamily="34" charset="0"/>
                <a:sym typeface="Symbol" panose="05050102010706020507" pitchFamily="18" charset="2"/>
              </a:rPr>
              <a:t>(Cell_5) = 0	    </a:t>
            </a:r>
            <a:r>
              <a:rPr lang="de-DE" altLang="de-DE" sz="1500">
                <a:ea typeface="Times New Roman" panose="02020603050405020304" pitchFamily="18" charset="0"/>
                <a:cs typeface="Arial" panose="020B0604020202020204" pitchFamily="34" charset="0"/>
                <a:sym typeface="Symbol" panose="05050102010706020507" pitchFamily="18" charset="2"/>
              </a:rPr>
              <a:t></a:t>
            </a:r>
            <a:r>
              <a:rPr lang="de-DE" altLang="de-DE" sz="1500" i="1">
                <a:ea typeface="Times New Roman" panose="02020603050405020304" pitchFamily="18" charset="0"/>
                <a:cs typeface="Arial" panose="020B0604020202020204" pitchFamily="34" charset="0"/>
              </a:rPr>
              <a:t>g</a:t>
            </a:r>
            <a:r>
              <a:rPr lang="nl-NL" altLang="de-DE" sz="1500">
                <a:ea typeface="Times New Roman" panose="02020603050405020304" pitchFamily="18" charset="0"/>
                <a:cs typeface="Arial" panose="020B0604020202020204" pitchFamily="34" charset="0"/>
                <a:sym typeface="Symbol" panose="05050102010706020507" pitchFamily="18" charset="2"/>
              </a:rPr>
              <a:t>(Cell_5) = 1</a:t>
            </a:r>
          </a:p>
        </p:txBody>
      </p:sp>
      <p:sp>
        <p:nvSpPr>
          <p:cNvPr id="640028" name="Rectangle 28"/>
          <p:cNvSpPr>
            <a:spLocks noChangeArrowheads="1"/>
          </p:cNvSpPr>
          <p:nvPr/>
        </p:nvSpPr>
        <p:spPr bwMode="auto">
          <a:xfrm>
            <a:off x="611188" y="3860800"/>
            <a:ext cx="8321675"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500" b="1">
                <a:solidFill>
                  <a:srgbClr val="CC0000"/>
                </a:solidFill>
              </a:rPr>
              <a:t>Step 2</a:t>
            </a:r>
            <a:r>
              <a:rPr lang="de-DE" altLang="de-DE" sz="1500">
                <a:solidFill>
                  <a:srgbClr val="CC0000"/>
                </a:solidFill>
              </a:rPr>
              <a:t>:</a:t>
            </a:r>
            <a:r>
              <a:rPr lang="de-DE" altLang="de-DE" sz="1500"/>
              <a:t> </a:t>
            </a:r>
            <a:r>
              <a:rPr lang="en-US" altLang="zh-CN" sz="1500">
                <a:ea typeface="宋体" panose="02010600030101010101" pitchFamily="2" charset="-122"/>
              </a:rPr>
              <a:t>Select the base cell </a:t>
            </a:r>
          </a:p>
          <a:p>
            <a:pPr algn="l"/>
            <a:endParaRPr lang="en-US" altLang="zh-CN" sz="1500">
              <a:ea typeface="宋体" panose="02010600030101010101" pitchFamily="2" charset="-122"/>
            </a:endParaRPr>
          </a:p>
          <a:p>
            <a:pPr algn="l"/>
            <a:r>
              <a:rPr lang="en-US" altLang="zh-CN" sz="1500">
                <a:ea typeface="宋体" panose="02010600030101010101" pitchFamily="2" charset="-122"/>
              </a:rPr>
              <a:t>Possible base cells are Cell 1 and Cell 5</a:t>
            </a:r>
          </a:p>
          <a:p>
            <a:pPr algn="l"/>
            <a:r>
              <a:rPr lang="en-US" altLang="zh-CN" sz="1500">
                <a:ea typeface="宋体" panose="02010600030101010101" pitchFamily="2" charset="-122"/>
              </a:rPr>
              <a:t>Balance criterion after moving Cell 1: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A</a:t>
            </a:r>
            <a:r>
              <a:rPr lang="en-US" altLang="zh-CN" sz="1500">
                <a:ea typeface="宋体" panose="02010600030101010101" pitchFamily="2" charset="-122"/>
              </a:rPr>
              <a:t>) = </a:t>
            </a:r>
            <a:r>
              <a:rPr lang="en-US" altLang="zh-CN" sz="1500" i="1">
                <a:ea typeface="宋体" panose="02010600030101010101" pitchFamily="2" charset="-122"/>
              </a:rPr>
              <a:t>area</a:t>
            </a:r>
            <a:r>
              <a:rPr lang="en-US" altLang="zh-CN" sz="1500">
                <a:ea typeface="宋体" panose="02010600030101010101" pitchFamily="2" charset="-122"/>
              </a:rPr>
              <a:t>(Cell_2) = 4</a:t>
            </a:r>
          </a:p>
          <a:p>
            <a:pPr algn="l"/>
            <a:r>
              <a:rPr lang="en-US" altLang="zh-CN" sz="1500">
                <a:ea typeface="宋体" panose="02010600030101010101" pitchFamily="2" charset="-122"/>
              </a:rPr>
              <a:t>Balance criterion after moving Cell 5: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A</a:t>
            </a:r>
            <a:r>
              <a:rPr lang="en-US" altLang="zh-CN" sz="1500">
                <a:ea typeface="宋体" panose="02010600030101010101" pitchFamily="2" charset="-122"/>
              </a:rPr>
              <a:t>) =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Cell_1</a:t>
            </a:r>
            <a:r>
              <a:rPr lang="en-US" altLang="zh-CN" sz="1500">
                <a:ea typeface="宋体" panose="02010600030101010101" pitchFamily="2" charset="-122"/>
              </a:rPr>
              <a:t>) +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Cell_2</a:t>
            </a:r>
            <a:r>
              <a:rPr lang="en-US" altLang="zh-CN" sz="1500">
                <a:ea typeface="宋体" panose="02010600030101010101" pitchFamily="2" charset="-122"/>
              </a:rPr>
              <a:t>) +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Cell_5</a:t>
            </a:r>
            <a:r>
              <a:rPr lang="en-US" altLang="zh-CN" sz="1500">
                <a:ea typeface="宋体" panose="02010600030101010101" pitchFamily="2" charset="-122"/>
              </a:rPr>
              <a:t>) = 11</a:t>
            </a:r>
          </a:p>
          <a:p>
            <a:pPr algn="l"/>
            <a:r>
              <a:rPr lang="en-US" altLang="zh-CN" sz="1500">
                <a:ea typeface="宋体" panose="02010600030101010101" pitchFamily="2" charset="-122"/>
              </a:rPr>
              <a:t>Both moves respect the balance criterion, but Cell 1 is selected, moved, </a:t>
            </a:r>
          </a:p>
          <a:p>
            <a:pPr algn="l"/>
            <a:r>
              <a:rPr lang="en-US" altLang="zh-CN" sz="1500">
                <a:ea typeface="宋体" panose="02010600030101010101" pitchFamily="2" charset="-122"/>
              </a:rPr>
              <a:t>and fixed as a result of the tie-breaking criterion.</a:t>
            </a:r>
          </a:p>
        </p:txBody>
      </p:sp>
      <p:sp>
        <p:nvSpPr>
          <p:cNvPr id="42013" name="Rectangle 30"/>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40028">
                                            <p:txEl>
                                              <p:pRg st="2" end="2"/>
                                            </p:txEl>
                                          </p:spTgt>
                                        </p:tgtEl>
                                        <p:attrNameLst>
                                          <p:attrName>style.visibility</p:attrName>
                                        </p:attrNameLst>
                                      </p:cBhvr>
                                      <p:to>
                                        <p:strVal val="visible"/>
                                      </p:to>
                                    </p:set>
                                    <p:animEffect transition="in" filter="dissolve">
                                      <p:cBhvr>
                                        <p:cTn id="7" dur="500"/>
                                        <p:tgtEl>
                                          <p:spTgt spid="640028">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40028">
                                            <p:txEl>
                                              <p:pRg st="3" end="3"/>
                                            </p:txEl>
                                          </p:spTgt>
                                        </p:tgtEl>
                                        <p:attrNameLst>
                                          <p:attrName>style.visibility</p:attrName>
                                        </p:attrNameLst>
                                      </p:cBhvr>
                                      <p:to>
                                        <p:strVal val="visible"/>
                                      </p:to>
                                    </p:set>
                                    <p:animEffect transition="in" filter="dissolve">
                                      <p:cBhvr>
                                        <p:cTn id="10" dur="500"/>
                                        <p:tgtEl>
                                          <p:spTgt spid="640028">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40028">
                                            <p:txEl>
                                              <p:pRg st="4" end="4"/>
                                            </p:txEl>
                                          </p:spTgt>
                                        </p:tgtEl>
                                        <p:attrNameLst>
                                          <p:attrName>style.visibility</p:attrName>
                                        </p:attrNameLst>
                                      </p:cBhvr>
                                      <p:to>
                                        <p:strVal val="visible"/>
                                      </p:to>
                                    </p:set>
                                    <p:animEffect transition="in" filter="dissolve">
                                      <p:cBhvr>
                                        <p:cTn id="13" dur="500"/>
                                        <p:tgtEl>
                                          <p:spTgt spid="640028">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640028">
                                            <p:txEl>
                                              <p:pRg st="5" end="5"/>
                                            </p:txEl>
                                          </p:spTgt>
                                        </p:tgtEl>
                                        <p:attrNameLst>
                                          <p:attrName>style.visibility</p:attrName>
                                        </p:attrNameLst>
                                      </p:cBhvr>
                                      <p:to>
                                        <p:strVal val="visible"/>
                                      </p:to>
                                    </p:set>
                                    <p:animEffect transition="in" filter="dissolve">
                                      <p:cBhvr>
                                        <p:cTn id="16" dur="500"/>
                                        <p:tgtEl>
                                          <p:spTgt spid="640028">
                                            <p:txEl>
                                              <p:pRg st="5" end="5"/>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40028">
                                            <p:txEl>
                                              <p:pRg st="6" end="6"/>
                                            </p:txEl>
                                          </p:spTgt>
                                        </p:tgtEl>
                                        <p:attrNameLst>
                                          <p:attrName>style.visibility</p:attrName>
                                        </p:attrNameLst>
                                      </p:cBhvr>
                                      <p:to>
                                        <p:strVal val="visible"/>
                                      </p:to>
                                    </p:set>
                                    <p:animEffect transition="in" filter="dissolve">
                                      <p:cBhvr>
                                        <p:cTn id="19" dur="500"/>
                                        <p:tgtEl>
                                          <p:spTgt spid="64002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973E30F9-2379-4F2A-9036-0D4C2DB5B9AD}" type="slidenum">
              <a:rPr lang="en-US" altLang="de-DE" sz="1000">
                <a:solidFill>
                  <a:srgbClr val="C0C0C0"/>
                </a:solidFill>
              </a:rPr>
              <a:pPr/>
              <a:t>48</a:t>
            </a:fld>
            <a:endParaRPr lang="en-US" altLang="de-DE" sz="1000">
              <a:solidFill>
                <a:srgbClr val="C0C0C0"/>
              </a:solidFill>
            </a:endParaRPr>
          </a:p>
        </p:txBody>
      </p:sp>
      <p:sp>
        <p:nvSpPr>
          <p:cNvPr id="43011" name="Line 4"/>
          <p:cNvSpPr>
            <a:spLocks noChangeAspect="1" noChangeShapeType="1"/>
          </p:cNvSpPr>
          <p:nvPr/>
        </p:nvSpPr>
        <p:spPr bwMode="auto">
          <a:xfrm flipV="1">
            <a:off x="1635125"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3012" name="Line 5"/>
          <p:cNvSpPr>
            <a:spLocks noChangeAspect="1" noChangeShapeType="1"/>
          </p:cNvSpPr>
          <p:nvPr/>
        </p:nvSpPr>
        <p:spPr bwMode="auto">
          <a:xfrm flipH="1">
            <a:off x="1635125"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13" name="Line 6"/>
          <p:cNvSpPr>
            <a:spLocks noChangeAspect="1" noChangeShapeType="1"/>
          </p:cNvSpPr>
          <p:nvPr/>
        </p:nvSpPr>
        <p:spPr bwMode="auto">
          <a:xfrm>
            <a:off x="2435225"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14" name="Line 7"/>
          <p:cNvSpPr>
            <a:spLocks noChangeAspect="1" noChangeShapeType="1"/>
          </p:cNvSpPr>
          <p:nvPr/>
        </p:nvSpPr>
        <p:spPr bwMode="auto">
          <a:xfrm flipH="1">
            <a:off x="1452563" y="1555750"/>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15" name="Line 8"/>
          <p:cNvSpPr>
            <a:spLocks noChangeAspect="1" noChangeShapeType="1"/>
          </p:cNvSpPr>
          <p:nvPr/>
        </p:nvSpPr>
        <p:spPr bwMode="auto">
          <a:xfrm flipH="1">
            <a:off x="1604963" y="2328863"/>
            <a:ext cx="811212"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16" name="Line 9"/>
          <p:cNvSpPr>
            <a:spLocks noChangeAspect="1" noChangeShapeType="1"/>
          </p:cNvSpPr>
          <p:nvPr/>
        </p:nvSpPr>
        <p:spPr bwMode="auto">
          <a:xfrm>
            <a:off x="1587500"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17" name="Oval 10"/>
          <p:cNvSpPr>
            <a:spLocks noChangeAspect="1" noChangeArrowheads="1"/>
          </p:cNvSpPr>
          <p:nvPr/>
        </p:nvSpPr>
        <p:spPr bwMode="auto">
          <a:xfrm>
            <a:off x="1298575" y="2874963"/>
            <a:ext cx="460375"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018" name="Rectangle 11"/>
          <p:cNvSpPr>
            <a:spLocks noChangeAspect="1" noChangeArrowheads="1"/>
          </p:cNvSpPr>
          <p:nvPr/>
        </p:nvSpPr>
        <p:spPr bwMode="auto">
          <a:xfrm>
            <a:off x="1339850"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43019" name="Oval 12"/>
          <p:cNvSpPr>
            <a:spLocks noChangeAspect="1" noChangeArrowheads="1"/>
          </p:cNvSpPr>
          <p:nvPr/>
        </p:nvSpPr>
        <p:spPr bwMode="auto">
          <a:xfrm>
            <a:off x="2197100" y="1341438"/>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020" name="Rectangle 13"/>
          <p:cNvSpPr>
            <a:spLocks noChangeAspect="1" noChangeArrowheads="1"/>
          </p:cNvSpPr>
          <p:nvPr/>
        </p:nvSpPr>
        <p:spPr bwMode="auto">
          <a:xfrm>
            <a:off x="2239963"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43021" name="Oval 14"/>
          <p:cNvSpPr>
            <a:spLocks noChangeAspect="1" noChangeArrowheads="1"/>
          </p:cNvSpPr>
          <p:nvPr/>
        </p:nvSpPr>
        <p:spPr bwMode="auto">
          <a:xfrm>
            <a:off x="2219325" y="2106613"/>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022" name="Rectangle 15"/>
          <p:cNvSpPr>
            <a:spLocks noChangeAspect="1" noChangeArrowheads="1"/>
          </p:cNvSpPr>
          <p:nvPr/>
        </p:nvSpPr>
        <p:spPr bwMode="auto">
          <a:xfrm>
            <a:off x="2243138" y="2141538"/>
            <a:ext cx="365125"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43023" name="Oval 16"/>
          <p:cNvSpPr>
            <a:spLocks noChangeAspect="1" noChangeArrowheads="1"/>
          </p:cNvSpPr>
          <p:nvPr/>
        </p:nvSpPr>
        <p:spPr bwMode="auto">
          <a:xfrm>
            <a:off x="1317625" y="1341438"/>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024" name="Rectangle 17"/>
          <p:cNvSpPr>
            <a:spLocks noChangeAspect="1" noChangeArrowheads="1"/>
          </p:cNvSpPr>
          <p:nvPr/>
        </p:nvSpPr>
        <p:spPr bwMode="auto">
          <a:xfrm>
            <a:off x="1358900"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43025" name="Oval 18"/>
          <p:cNvSpPr>
            <a:spLocks noChangeAspect="1" noChangeArrowheads="1"/>
          </p:cNvSpPr>
          <p:nvPr/>
        </p:nvSpPr>
        <p:spPr bwMode="auto">
          <a:xfrm>
            <a:off x="2197100"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3026" name="Rectangle 19"/>
          <p:cNvSpPr>
            <a:spLocks noChangeAspect="1" noChangeArrowheads="1"/>
          </p:cNvSpPr>
          <p:nvPr/>
        </p:nvSpPr>
        <p:spPr bwMode="auto">
          <a:xfrm>
            <a:off x="2239963"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3027" name="Line 20"/>
          <p:cNvSpPr>
            <a:spLocks noChangeAspect="1" noChangeShapeType="1"/>
          </p:cNvSpPr>
          <p:nvPr/>
        </p:nvSpPr>
        <p:spPr bwMode="auto">
          <a:xfrm>
            <a:off x="1928813" y="1392238"/>
            <a:ext cx="0" cy="41116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3028" name="Text Box 21"/>
          <p:cNvSpPr txBox="1">
            <a:spLocks noChangeAspect="1" noChangeArrowheads="1"/>
          </p:cNvSpPr>
          <p:nvPr/>
        </p:nvSpPr>
        <p:spPr bwMode="auto">
          <a:xfrm>
            <a:off x="684213" y="1395413"/>
            <a:ext cx="542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A</a:t>
            </a:r>
          </a:p>
        </p:txBody>
      </p:sp>
      <p:sp>
        <p:nvSpPr>
          <p:cNvPr id="43029" name="Text Box 22"/>
          <p:cNvSpPr txBox="1">
            <a:spLocks noChangeAspect="1" noChangeArrowheads="1"/>
          </p:cNvSpPr>
          <p:nvPr/>
        </p:nvSpPr>
        <p:spPr bwMode="auto">
          <a:xfrm>
            <a:off x="2551113" y="1403350"/>
            <a:ext cx="6492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B</a:t>
            </a:r>
          </a:p>
        </p:txBody>
      </p:sp>
      <p:sp>
        <p:nvSpPr>
          <p:cNvPr id="43030" name="Text Box 23"/>
          <p:cNvSpPr txBox="1">
            <a:spLocks noChangeAspect="1" noChangeArrowheads="1"/>
          </p:cNvSpPr>
          <p:nvPr/>
        </p:nvSpPr>
        <p:spPr bwMode="auto">
          <a:xfrm>
            <a:off x="1219200"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3031" name="Text Box 24"/>
          <p:cNvSpPr txBox="1">
            <a:spLocks noChangeAspect="1" noChangeArrowheads="1"/>
          </p:cNvSpPr>
          <p:nvPr/>
        </p:nvSpPr>
        <p:spPr bwMode="auto">
          <a:xfrm>
            <a:off x="1600200" y="1803400"/>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3032" name="Text Box 25"/>
          <p:cNvSpPr txBox="1">
            <a:spLocks noChangeAspect="1" noChangeArrowheads="1"/>
          </p:cNvSpPr>
          <p:nvPr/>
        </p:nvSpPr>
        <p:spPr bwMode="auto">
          <a:xfrm>
            <a:off x="1641475" y="2533650"/>
            <a:ext cx="3016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3033" name="Text Box 26"/>
          <p:cNvSpPr txBox="1">
            <a:spLocks noChangeAspect="1" noChangeArrowheads="1"/>
          </p:cNvSpPr>
          <p:nvPr/>
        </p:nvSpPr>
        <p:spPr bwMode="auto">
          <a:xfrm>
            <a:off x="1698625" y="2781300"/>
            <a:ext cx="3651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3034" name="Text Box 27"/>
          <p:cNvSpPr txBox="1">
            <a:spLocks noChangeAspect="1" noChangeArrowheads="1"/>
          </p:cNvSpPr>
          <p:nvPr/>
        </p:nvSpPr>
        <p:spPr bwMode="auto">
          <a:xfrm>
            <a:off x="2187575"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3035" name="Line 28"/>
          <p:cNvSpPr>
            <a:spLocks noChangeShapeType="1"/>
          </p:cNvSpPr>
          <p:nvPr/>
        </p:nvSpPr>
        <p:spPr bwMode="auto">
          <a:xfrm flipH="1">
            <a:off x="1219200" y="1803400"/>
            <a:ext cx="709613" cy="2428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515102" name="Rectangle 30"/>
          <p:cNvSpPr>
            <a:spLocks noChangeArrowheads="1"/>
          </p:cNvSpPr>
          <p:nvPr/>
        </p:nvSpPr>
        <p:spPr bwMode="auto">
          <a:xfrm>
            <a:off x="611188" y="3881438"/>
            <a:ext cx="7083425" cy="2500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tabLst>
                <a:tab pos="252413" algn="l"/>
              </a:tabLst>
              <a:defRPr sz="1700">
                <a:solidFill>
                  <a:schemeClr val="tx1"/>
                </a:solidFill>
                <a:latin typeface="Arial" panose="020B0604020202020204" pitchFamily="34" charset="0"/>
              </a:defRPr>
            </a:lvl1pPr>
            <a:lvl2pPr marL="742950" indent="-285750">
              <a:tabLst>
                <a:tab pos="252413" algn="l"/>
              </a:tabLst>
              <a:defRPr sz="1700">
                <a:solidFill>
                  <a:schemeClr val="tx1"/>
                </a:solidFill>
                <a:latin typeface="Arial" panose="020B0604020202020204" pitchFamily="34" charset="0"/>
              </a:defRPr>
            </a:lvl2pPr>
            <a:lvl3pPr marL="1143000" indent="-228600">
              <a:tabLst>
                <a:tab pos="252413" algn="l"/>
              </a:tabLst>
              <a:defRPr sz="1700">
                <a:solidFill>
                  <a:schemeClr val="tx1"/>
                </a:solidFill>
                <a:latin typeface="Arial" panose="020B0604020202020204" pitchFamily="34" charset="0"/>
              </a:defRPr>
            </a:lvl3pPr>
            <a:lvl4pPr marL="1600200" indent="-228600">
              <a:tabLst>
                <a:tab pos="252413" algn="l"/>
              </a:tabLst>
              <a:defRPr sz="1700">
                <a:solidFill>
                  <a:schemeClr val="tx1"/>
                </a:solidFill>
                <a:latin typeface="Arial" panose="020B0604020202020204" pitchFamily="34" charset="0"/>
              </a:defRPr>
            </a:lvl4pPr>
            <a:lvl5pPr marL="2057400" indent="-228600">
              <a:tabLst>
                <a:tab pos="252413" algn="l"/>
              </a:tabLst>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9pPr>
          </a:lstStyle>
          <a:p>
            <a:pPr algn="l"/>
            <a:r>
              <a:rPr lang="en-US" altLang="zh-CN" sz="1500" b="1">
                <a:solidFill>
                  <a:srgbClr val="CC0000"/>
                </a:solidFill>
                <a:ea typeface="宋体" panose="02010600030101010101" pitchFamily="2" charset="-122"/>
              </a:rPr>
              <a:t>Step 3:</a:t>
            </a:r>
            <a:r>
              <a:rPr lang="en-US" altLang="zh-CN" sz="1500">
                <a:ea typeface="宋体" panose="02010600030101010101" pitchFamily="2" charset="-122"/>
              </a:rPr>
              <a:t> Fix base cell, update </a:t>
            </a:r>
            <a:r>
              <a:rPr lang="de-DE" altLang="de-DE" sz="1500">
                <a:sym typeface="Symbol" panose="05050102010706020507" pitchFamily="18" charset="2"/>
              </a:rPr>
              <a:t></a:t>
            </a:r>
            <a:r>
              <a:rPr lang="en-US" altLang="zh-CN" sz="1500" i="1">
                <a:ea typeface="宋体" panose="02010600030101010101" pitchFamily="2" charset="-122"/>
              </a:rPr>
              <a:t>g</a:t>
            </a:r>
            <a:r>
              <a:rPr lang="en-US" altLang="zh-CN" sz="1500">
                <a:ea typeface="宋体" panose="02010600030101010101" pitchFamily="2" charset="-122"/>
                <a:sym typeface="Symbol" panose="05050102010706020507" pitchFamily="18" charset="2"/>
              </a:rPr>
              <a:t> values</a:t>
            </a:r>
          </a:p>
          <a:p>
            <a:pPr algn="l"/>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2:      </a:t>
            </a:r>
            <a:r>
              <a:rPr lang="nl-NL" altLang="de-DE" sz="1500" i="1">
                <a:sym typeface="Symbol" panose="05050102010706020507" pitchFamily="18" charset="2"/>
              </a:rPr>
              <a:t>FS</a:t>
            </a:r>
            <a:r>
              <a:rPr lang="nl-NL" altLang="de-DE" sz="1500">
                <a:sym typeface="Symbol" panose="05050102010706020507" pitchFamily="18" charset="2"/>
              </a:rPr>
              <a:t>(Cell_2) = 2	</a:t>
            </a:r>
            <a:r>
              <a:rPr lang="nl-NL" altLang="de-DE" sz="1500" i="1">
                <a:sym typeface="Symbol" panose="05050102010706020507" pitchFamily="18" charset="2"/>
              </a:rPr>
              <a:t>TE</a:t>
            </a:r>
            <a:r>
              <a:rPr lang="nl-NL" altLang="de-DE" sz="1500">
                <a:sym typeface="Symbol" panose="05050102010706020507" pitchFamily="18" charset="2"/>
              </a:rPr>
              <a:t>(Cell_2) = 0		</a:t>
            </a:r>
            <a:r>
              <a:rPr lang="de-DE" altLang="de-DE" sz="1500">
                <a:sym typeface="Symbol" panose="05050102010706020507" pitchFamily="18" charset="2"/>
              </a:rPr>
              <a:t></a:t>
            </a:r>
            <a:r>
              <a:rPr lang="nl-NL" altLang="de-DE" sz="1500" i="1"/>
              <a:t>g</a:t>
            </a:r>
            <a:r>
              <a:rPr lang="nl-NL" altLang="de-DE" sz="1500">
                <a:sym typeface="Symbol" panose="05050102010706020507" pitchFamily="18" charset="2"/>
              </a:rPr>
              <a:t>(Cell_2) = 2</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3:      </a:t>
            </a:r>
            <a:r>
              <a:rPr lang="de-DE" altLang="de-DE" sz="1500" i="1">
                <a:sym typeface="Symbol" panose="05050102010706020507" pitchFamily="18" charset="2"/>
              </a:rPr>
              <a:t>FS</a:t>
            </a:r>
            <a:r>
              <a:rPr lang="nl-NL" altLang="de-DE" sz="1500">
                <a:sym typeface="Symbol" panose="05050102010706020507" pitchFamily="18" charset="2"/>
              </a:rPr>
              <a:t>(Cell_3) = 0	</a:t>
            </a:r>
            <a:r>
              <a:rPr lang="de-DE" altLang="de-DE" sz="1500" i="1">
                <a:sym typeface="Symbol" panose="05050102010706020507" pitchFamily="18" charset="2"/>
              </a:rPr>
              <a:t>TE</a:t>
            </a:r>
            <a:r>
              <a:rPr lang="nl-NL" altLang="de-DE" sz="1500">
                <a:sym typeface="Symbol" panose="05050102010706020507" pitchFamily="18" charset="2"/>
              </a:rPr>
              <a:t>(Cell_3) = 1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(Cell_3) = -1</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4:      </a:t>
            </a:r>
            <a:r>
              <a:rPr lang="de-DE" altLang="de-DE" sz="1500" i="1">
                <a:sym typeface="Symbol" panose="05050102010706020507" pitchFamily="18" charset="2"/>
              </a:rPr>
              <a:t>FS</a:t>
            </a:r>
            <a:r>
              <a:rPr lang="nl-NL" altLang="de-DE" sz="1500">
                <a:sym typeface="Symbol" panose="05050102010706020507" pitchFamily="18" charset="2"/>
              </a:rPr>
              <a:t>(Cell_4) = 0	</a:t>
            </a:r>
            <a:r>
              <a:rPr lang="de-DE" altLang="de-DE" sz="1500" i="1">
                <a:sym typeface="Symbol" panose="05050102010706020507" pitchFamily="18" charset="2"/>
              </a:rPr>
              <a:t>TE</a:t>
            </a:r>
            <a:r>
              <a:rPr lang="nl-NL" altLang="de-DE" sz="1500">
                <a:sym typeface="Symbol" panose="05050102010706020507" pitchFamily="18" charset="2"/>
              </a:rPr>
              <a:t>(Cell_4) = 2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(Cell_4) = -2</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5:      </a:t>
            </a:r>
            <a:r>
              <a:rPr lang="de-DE" altLang="de-DE" sz="1500" i="1">
                <a:sym typeface="Symbol" panose="05050102010706020507" pitchFamily="18" charset="2"/>
              </a:rPr>
              <a:t>FS</a:t>
            </a:r>
            <a:r>
              <a:rPr lang="nl-NL" altLang="de-DE" sz="1500">
                <a:sym typeface="Symbol" panose="05050102010706020507" pitchFamily="18" charset="2"/>
              </a:rPr>
              <a:t>(Cell_5) = 0	</a:t>
            </a:r>
            <a:r>
              <a:rPr lang="de-DE" altLang="de-DE" sz="1500" i="1">
                <a:sym typeface="Symbol" panose="05050102010706020507" pitchFamily="18" charset="2"/>
              </a:rPr>
              <a:t>TE</a:t>
            </a:r>
            <a:r>
              <a:rPr lang="nl-NL" altLang="de-DE" sz="1500">
                <a:sym typeface="Symbol" panose="05050102010706020507" pitchFamily="18" charset="2"/>
              </a:rPr>
              <a:t>(Cell_5) = 1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(Cell_5) = -1</a:t>
            </a:r>
            <a:endParaRPr lang="en-US" altLang="zh-CN" sz="1500">
              <a:ea typeface="宋体" panose="02010600030101010101" pitchFamily="2" charset="-122"/>
              <a:sym typeface="Symbol" panose="05050102010706020507" pitchFamily="18" charset="2"/>
            </a:endParaRPr>
          </a:p>
          <a:p>
            <a:pPr algn="l"/>
            <a:br>
              <a:rPr lang="de-DE" altLang="de-DE" sz="1500">
                <a:sym typeface="Symbol" panose="05050102010706020507" pitchFamily="18" charset="2"/>
              </a:rPr>
            </a:br>
            <a:r>
              <a:rPr lang="de-DE" altLang="de-DE" sz="1500">
                <a:solidFill>
                  <a:srgbClr val="CC0000"/>
                </a:solidFill>
                <a:sym typeface="Symbol" panose="05050102010706020507" pitchFamily="18" charset="2"/>
              </a:rPr>
              <a:t>After Iteration </a:t>
            </a:r>
            <a:r>
              <a:rPr lang="de-DE" altLang="de-DE" sz="1500" i="1">
                <a:solidFill>
                  <a:srgbClr val="CC0000"/>
                </a:solidFill>
                <a:sym typeface="Symbol" panose="05050102010706020507" pitchFamily="18" charset="2"/>
              </a:rPr>
              <a:t>i </a:t>
            </a:r>
            <a:r>
              <a:rPr lang="de-DE" altLang="de-DE" sz="1500">
                <a:solidFill>
                  <a:srgbClr val="CC0000"/>
                </a:solidFill>
                <a:sym typeface="Symbol" panose="05050102010706020507" pitchFamily="18" charset="2"/>
              </a:rPr>
              <a:t>= 1:</a:t>
            </a:r>
            <a:r>
              <a:rPr lang="de-DE" altLang="de-DE" sz="1500" i="1">
                <a:solidFill>
                  <a:srgbClr val="CC0000"/>
                </a:solidFill>
                <a:sym typeface="Symbol" panose="05050102010706020507" pitchFamily="18" charset="2"/>
              </a:rPr>
              <a:t> </a:t>
            </a:r>
            <a:r>
              <a:rPr lang="de-DE" altLang="de-DE" sz="1500">
                <a:solidFill>
                  <a:srgbClr val="CC0000"/>
                </a:solidFill>
                <a:sym typeface="Symbol" panose="05050102010706020507" pitchFamily="18" charset="2"/>
              </a:rPr>
              <a:t>Partition </a:t>
            </a:r>
            <a:r>
              <a:rPr lang="de-DE" altLang="de-DE" sz="1500" i="1">
                <a:solidFill>
                  <a:srgbClr val="CC0000"/>
                </a:solidFill>
                <a:sym typeface="Symbol" panose="05050102010706020507" pitchFamily="18" charset="2"/>
              </a:rPr>
              <a:t>A</a:t>
            </a:r>
            <a:r>
              <a:rPr lang="de-DE" altLang="de-DE" sz="1500" baseline="-25000">
                <a:solidFill>
                  <a:srgbClr val="CC0000"/>
                </a:solidFill>
                <a:sym typeface="Symbol" panose="05050102010706020507" pitchFamily="18" charset="2"/>
              </a:rPr>
              <a:t>1</a:t>
            </a:r>
            <a:r>
              <a:rPr lang="de-DE" altLang="de-DE" sz="1500">
                <a:solidFill>
                  <a:srgbClr val="CC0000"/>
                </a:solidFill>
                <a:sym typeface="Symbol" panose="05050102010706020507" pitchFamily="18" charset="2"/>
              </a:rPr>
              <a:t> = </a:t>
            </a:r>
            <a:r>
              <a:rPr lang="de-DE" altLang="de-DE" sz="1500">
                <a:solidFill>
                  <a:srgbClr val="CC0000"/>
                </a:solidFill>
              </a:rPr>
              <a:t>2</a:t>
            </a:r>
            <a:r>
              <a:rPr lang="de-DE" altLang="de-DE" sz="1500">
                <a:solidFill>
                  <a:srgbClr val="CC0000"/>
                </a:solidFill>
                <a:sym typeface="Symbol" panose="05050102010706020507" pitchFamily="18" charset="2"/>
              </a:rPr>
              <a:t></a:t>
            </a:r>
            <a:r>
              <a:rPr lang="de-DE" altLang="de-DE" sz="1500">
                <a:solidFill>
                  <a:srgbClr val="CC0000"/>
                </a:solidFill>
              </a:rPr>
              <a:t>, Partition </a:t>
            </a:r>
            <a:r>
              <a:rPr lang="de-DE" altLang="de-DE" sz="1500" i="1">
                <a:solidFill>
                  <a:srgbClr val="CC0000"/>
                </a:solidFill>
                <a:sym typeface="Symbol" panose="05050102010706020507" pitchFamily="18" charset="2"/>
              </a:rPr>
              <a:t>B</a:t>
            </a:r>
            <a:r>
              <a:rPr lang="de-DE" altLang="de-DE" sz="1500" baseline="-25000">
                <a:solidFill>
                  <a:srgbClr val="CC0000"/>
                </a:solidFill>
                <a:sym typeface="Symbol" panose="05050102010706020507" pitchFamily="18" charset="2"/>
              </a:rPr>
              <a:t>1</a:t>
            </a:r>
            <a:r>
              <a:rPr lang="de-DE" altLang="de-DE" sz="1500">
                <a:solidFill>
                  <a:srgbClr val="CC0000"/>
                </a:solidFill>
                <a:sym typeface="Symbol" panose="05050102010706020507" pitchFamily="18" charset="2"/>
              </a:rPr>
              <a:t> = </a:t>
            </a:r>
            <a:r>
              <a:rPr lang="de-DE" altLang="de-DE" sz="1500">
                <a:solidFill>
                  <a:srgbClr val="CC0000"/>
                </a:solidFill>
              </a:rPr>
              <a:t>1,3,4,5</a:t>
            </a:r>
            <a:r>
              <a:rPr lang="de-DE" altLang="de-DE" sz="1500">
                <a:solidFill>
                  <a:srgbClr val="CC0000"/>
                </a:solidFill>
                <a:sym typeface="Symbol" panose="05050102010706020507" pitchFamily="18" charset="2"/>
              </a:rPr>
              <a:t></a:t>
            </a:r>
            <a:r>
              <a:rPr lang="de-DE" altLang="de-DE" sz="1500">
                <a:solidFill>
                  <a:srgbClr val="CC0000"/>
                </a:solidFill>
              </a:rPr>
              <a:t>, with fixed cell </a:t>
            </a:r>
            <a:r>
              <a:rPr lang="de-DE" altLang="de-DE" sz="1500">
                <a:solidFill>
                  <a:srgbClr val="CC0000"/>
                </a:solidFill>
                <a:sym typeface="Symbol" panose="05050102010706020507" pitchFamily="18" charset="2"/>
              </a:rPr>
              <a:t></a:t>
            </a:r>
            <a:r>
              <a:rPr lang="de-DE" altLang="de-DE" sz="1500">
                <a:solidFill>
                  <a:srgbClr val="CC0000"/>
                </a:solidFill>
              </a:rPr>
              <a:t>1</a:t>
            </a:r>
            <a:r>
              <a:rPr lang="de-DE" altLang="de-DE" sz="1500">
                <a:solidFill>
                  <a:srgbClr val="CC0000"/>
                </a:solidFill>
                <a:sym typeface="Symbol" panose="05050102010706020507" pitchFamily="18" charset="2"/>
              </a:rPr>
              <a:t></a:t>
            </a:r>
            <a:r>
              <a:rPr lang="de-DE" altLang="de-DE" sz="1500">
                <a:solidFill>
                  <a:srgbClr val="CC0000"/>
                </a:solidFill>
              </a:rPr>
              <a:t>.</a:t>
            </a:r>
          </a:p>
        </p:txBody>
      </p:sp>
      <p:sp>
        <p:nvSpPr>
          <p:cNvPr id="43037" name="Rectangle 31"/>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15102">
                                            <p:txEl>
                                              <p:pRg st="2" end="2"/>
                                            </p:txEl>
                                          </p:spTgt>
                                        </p:tgtEl>
                                        <p:attrNameLst>
                                          <p:attrName>style.visibility</p:attrName>
                                        </p:attrNameLst>
                                      </p:cBhvr>
                                      <p:to>
                                        <p:strVal val="visible"/>
                                      </p:to>
                                    </p:set>
                                    <p:animEffect transition="in" filter="dissolve">
                                      <p:cBhvr>
                                        <p:cTn id="7" dur="500"/>
                                        <p:tgtEl>
                                          <p:spTgt spid="515102">
                                            <p:txEl>
                                              <p:pRg st="2" end="2"/>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515102">
                                            <p:txEl>
                                              <p:pRg st="3" end="3"/>
                                            </p:txEl>
                                          </p:spTgt>
                                        </p:tgtEl>
                                        <p:attrNameLst>
                                          <p:attrName>style.visibility</p:attrName>
                                        </p:attrNameLst>
                                      </p:cBhvr>
                                      <p:to>
                                        <p:strVal val="visible"/>
                                      </p:to>
                                    </p:set>
                                    <p:animEffect transition="in" filter="dissolve">
                                      <p:cBhvr>
                                        <p:cTn id="10" dur="500"/>
                                        <p:tgtEl>
                                          <p:spTgt spid="515102">
                                            <p:txEl>
                                              <p:pRg st="3" end="3"/>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515102">
                                            <p:txEl>
                                              <p:pRg st="4" end="4"/>
                                            </p:txEl>
                                          </p:spTgt>
                                        </p:tgtEl>
                                        <p:attrNameLst>
                                          <p:attrName>style.visibility</p:attrName>
                                        </p:attrNameLst>
                                      </p:cBhvr>
                                      <p:to>
                                        <p:strVal val="visible"/>
                                      </p:to>
                                    </p:set>
                                    <p:animEffect transition="in" filter="dissolve">
                                      <p:cBhvr>
                                        <p:cTn id="13" dur="500"/>
                                        <p:tgtEl>
                                          <p:spTgt spid="515102">
                                            <p:txEl>
                                              <p:pRg st="4" end="4"/>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515102">
                                            <p:txEl>
                                              <p:pRg st="5" end="5"/>
                                            </p:txEl>
                                          </p:spTgt>
                                        </p:tgtEl>
                                        <p:attrNameLst>
                                          <p:attrName>style.visibility</p:attrName>
                                        </p:attrNameLst>
                                      </p:cBhvr>
                                      <p:to>
                                        <p:strVal val="visible"/>
                                      </p:to>
                                    </p:set>
                                    <p:animEffect transition="in" filter="dissolve">
                                      <p:cBhvr>
                                        <p:cTn id="16" dur="500"/>
                                        <p:tgtEl>
                                          <p:spTgt spid="515102">
                                            <p:txEl>
                                              <p:pRg st="5" end="5"/>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nodeType="clickEffect">
                                  <p:stCondLst>
                                    <p:cond delay="0"/>
                                  </p:stCondLst>
                                  <p:childTnLst>
                                    <p:set>
                                      <p:cBhvr>
                                        <p:cTn id="20" dur="1" fill="hold">
                                          <p:stCondLst>
                                            <p:cond delay="0"/>
                                          </p:stCondLst>
                                        </p:cTn>
                                        <p:tgtEl>
                                          <p:spTgt spid="515102">
                                            <p:txEl>
                                              <p:pRg st="6" end="6"/>
                                            </p:txEl>
                                          </p:spTgt>
                                        </p:tgtEl>
                                        <p:attrNameLst>
                                          <p:attrName>style.visibility</p:attrName>
                                        </p:attrNameLst>
                                      </p:cBhvr>
                                      <p:to>
                                        <p:strVal val="visible"/>
                                      </p:to>
                                    </p:set>
                                    <p:animEffect transition="in" filter="dissolve">
                                      <p:cBhvr>
                                        <p:cTn id="21" dur="500"/>
                                        <p:tgtEl>
                                          <p:spTgt spid="51510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874B57AA-94F2-4791-9322-22A278663F28}" type="slidenum">
              <a:rPr lang="en-US" altLang="de-DE" sz="1000">
                <a:solidFill>
                  <a:srgbClr val="C0C0C0"/>
                </a:solidFill>
              </a:rPr>
              <a:pPr/>
              <a:t>49</a:t>
            </a:fld>
            <a:endParaRPr lang="en-US" altLang="de-DE" sz="1000">
              <a:solidFill>
                <a:srgbClr val="C0C0C0"/>
              </a:solidFill>
            </a:endParaRPr>
          </a:p>
        </p:txBody>
      </p:sp>
      <p:sp>
        <p:nvSpPr>
          <p:cNvPr id="642079" name="Rectangle 31"/>
          <p:cNvSpPr>
            <a:spLocks noChangeArrowheads="1"/>
          </p:cNvSpPr>
          <p:nvPr/>
        </p:nvSpPr>
        <p:spPr bwMode="auto">
          <a:xfrm>
            <a:off x="684213" y="3933825"/>
            <a:ext cx="7559675" cy="2303463"/>
          </a:xfrm>
          <a:prstGeom prst="rect">
            <a:avLst/>
          </a:prstGeom>
          <a:solidFill>
            <a:srgbClr val="DDDDDD"/>
          </a:solidFill>
          <a:ln w="9525" algn="ctr">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36" name="Line 2"/>
          <p:cNvSpPr>
            <a:spLocks noChangeAspect="1" noChangeShapeType="1"/>
          </p:cNvSpPr>
          <p:nvPr/>
        </p:nvSpPr>
        <p:spPr bwMode="auto">
          <a:xfrm flipV="1">
            <a:off x="1635125"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4037" name="Line 3"/>
          <p:cNvSpPr>
            <a:spLocks noChangeAspect="1" noChangeShapeType="1"/>
          </p:cNvSpPr>
          <p:nvPr/>
        </p:nvSpPr>
        <p:spPr bwMode="auto">
          <a:xfrm flipH="1">
            <a:off x="1635125"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38" name="Line 4"/>
          <p:cNvSpPr>
            <a:spLocks noChangeAspect="1" noChangeShapeType="1"/>
          </p:cNvSpPr>
          <p:nvPr/>
        </p:nvSpPr>
        <p:spPr bwMode="auto">
          <a:xfrm>
            <a:off x="2435225"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39" name="Line 5"/>
          <p:cNvSpPr>
            <a:spLocks noChangeAspect="1" noChangeShapeType="1"/>
          </p:cNvSpPr>
          <p:nvPr/>
        </p:nvSpPr>
        <p:spPr bwMode="auto">
          <a:xfrm flipH="1">
            <a:off x="1452563" y="1555750"/>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40" name="Line 6"/>
          <p:cNvSpPr>
            <a:spLocks noChangeAspect="1" noChangeShapeType="1"/>
          </p:cNvSpPr>
          <p:nvPr/>
        </p:nvSpPr>
        <p:spPr bwMode="auto">
          <a:xfrm flipH="1">
            <a:off x="1604963" y="2328863"/>
            <a:ext cx="811212"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41" name="Line 7"/>
          <p:cNvSpPr>
            <a:spLocks noChangeAspect="1" noChangeShapeType="1"/>
          </p:cNvSpPr>
          <p:nvPr/>
        </p:nvSpPr>
        <p:spPr bwMode="auto">
          <a:xfrm>
            <a:off x="1587500"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42" name="Oval 8"/>
          <p:cNvSpPr>
            <a:spLocks noChangeAspect="1" noChangeArrowheads="1"/>
          </p:cNvSpPr>
          <p:nvPr/>
        </p:nvSpPr>
        <p:spPr bwMode="auto">
          <a:xfrm>
            <a:off x="1298575" y="2874963"/>
            <a:ext cx="460375"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43" name="Rectangle 9"/>
          <p:cNvSpPr>
            <a:spLocks noChangeAspect="1" noChangeArrowheads="1"/>
          </p:cNvSpPr>
          <p:nvPr/>
        </p:nvSpPr>
        <p:spPr bwMode="auto">
          <a:xfrm>
            <a:off x="1339850"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44044" name="Oval 10"/>
          <p:cNvSpPr>
            <a:spLocks noChangeAspect="1" noChangeArrowheads="1"/>
          </p:cNvSpPr>
          <p:nvPr/>
        </p:nvSpPr>
        <p:spPr bwMode="auto">
          <a:xfrm>
            <a:off x="2197100" y="1341438"/>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45" name="Rectangle 11"/>
          <p:cNvSpPr>
            <a:spLocks noChangeAspect="1" noChangeArrowheads="1"/>
          </p:cNvSpPr>
          <p:nvPr/>
        </p:nvSpPr>
        <p:spPr bwMode="auto">
          <a:xfrm>
            <a:off x="2239963"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3</a:t>
            </a:r>
            <a:endParaRPr lang="en-US" altLang="zh-CN" b="1">
              <a:solidFill>
                <a:schemeClr val="bg1"/>
              </a:solidFill>
              <a:ea typeface="宋体" panose="02010600030101010101" pitchFamily="2" charset="-122"/>
            </a:endParaRPr>
          </a:p>
        </p:txBody>
      </p:sp>
      <p:sp>
        <p:nvSpPr>
          <p:cNvPr id="44046" name="Oval 12"/>
          <p:cNvSpPr>
            <a:spLocks noChangeAspect="1" noChangeArrowheads="1"/>
          </p:cNvSpPr>
          <p:nvPr/>
        </p:nvSpPr>
        <p:spPr bwMode="auto">
          <a:xfrm>
            <a:off x="2219325" y="2106613"/>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47" name="Rectangle 13"/>
          <p:cNvSpPr>
            <a:spLocks noChangeAspect="1" noChangeArrowheads="1"/>
          </p:cNvSpPr>
          <p:nvPr/>
        </p:nvSpPr>
        <p:spPr bwMode="auto">
          <a:xfrm>
            <a:off x="2243138" y="2141538"/>
            <a:ext cx="365125"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44048" name="Oval 14"/>
          <p:cNvSpPr>
            <a:spLocks noChangeAspect="1" noChangeArrowheads="1"/>
          </p:cNvSpPr>
          <p:nvPr/>
        </p:nvSpPr>
        <p:spPr bwMode="auto">
          <a:xfrm>
            <a:off x="1317625" y="1341438"/>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49" name="Rectangle 15"/>
          <p:cNvSpPr>
            <a:spLocks noChangeAspect="1" noChangeArrowheads="1"/>
          </p:cNvSpPr>
          <p:nvPr/>
        </p:nvSpPr>
        <p:spPr bwMode="auto">
          <a:xfrm>
            <a:off x="1358900"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44050" name="Oval 16"/>
          <p:cNvSpPr>
            <a:spLocks noChangeAspect="1" noChangeArrowheads="1"/>
          </p:cNvSpPr>
          <p:nvPr/>
        </p:nvSpPr>
        <p:spPr bwMode="auto">
          <a:xfrm>
            <a:off x="2197100"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4051" name="Rectangle 17"/>
          <p:cNvSpPr>
            <a:spLocks noChangeAspect="1" noChangeArrowheads="1"/>
          </p:cNvSpPr>
          <p:nvPr/>
        </p:nvSpPr>
        <p:spPr bwMode="auto">
          <a:xfrm>
            <a:off x="2239963"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4052" name="Line 18"/>
          <p:cNvSpPr>
            <a:spLocks noChangeAspect="1" noChangeShapeType="1"/>
          </p:cNvSpPr>
          <p:nvPr/>
        </p:nvSpPr>
        <p:spPr bwMode="auto">
          <a:xfrm>
            <a:off x="1928813" y="1392238"/>
            <a:ext cx="0" cy="41116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4053" name="Text Box 19"/>
          <p:cNvSpPr txBox="1">
            <a:spLocks noChangeAspect="1" noChangeArrowheads="1"/>
          </p:cNvSpPr>
          <p:nvPr/>
        </p:nvSpPr>
        <p:spPr bwMode="auto">
          <a:xfrm>
            <a:off x="684213" y="1395413"/>
            <a:ext cx="542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A</a:t>
            </a:r>
          </a:p>
        </p:txBody>
      </p:sp>
      <p:sp>
        <p:nvSpPr>
          <p:cNvPr id="44054" name="Text Box 20"/>
          <p:cNvSpPr txBox="1">
            <a:spLocks noChangeAspect="1" noChangeArrowheads="1"/>
          </p:cNvSpPr>
          <p:nvPr/>
        </p:nvSpPr>
        <p:spPr bwMode="auto">
          <a:xfrm>
            <a:off x="2551113" y="1403350"/>
            <a:ext cx="6492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B</a:t>
            </a:r>
          </a:p>
        </p:txBody>
      </p:sp>
      <p:sp>
        <p:nvSpPr>
          <p:cNvPr id="44055" name="Text Box 21"/>
          <p:cNvSpPr txBox="1">
            <a:spLocks noChangeAspect="1" noChangeArrowheads="1"/>
          </p:cNvSpPr>
          <p:nvPr/>
        </p:nvSpPr>
        <p:spPr bwMode="auto">
          <a:xfrm>
            <a:off x="1219200"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4056" name="Text Box 22"/>
          <p:cNvSpPr txBox="1">
            <a:spLocks noChangeAspect="1" noChangeArrowheads="1"/>
          </p:cNvSpPr>
          <p:nvPr/>
        </p:nvSpPr>
        <p:spPr bwMode="auto">
          <a:xfrm>
            <a:off x="1600200" y="1803400"/>
            <a:ext cx="4635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4057" name="Text Box 23"/>
          <p:cNvSpPr txBox="1">
            <a:spLocks noChangeAspect="1" noChangeArrowheads="1"/>
          </p:cNvSpPr>
          <p:nvPr/>
        </p:nvSpPr>
        <p:spPr bwMode="auto">
          <a:xfrm>
            <a:off x="1641475" y="2533650"/>
            <a:ext cx="3016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4058" name="Text Box 24"/>
          <p:cNvSpPr txBox="1">
            <a:spLocks noChangeAspect="1" noChangeArrowheads="1"/>
          </p:cNvSpPr>
          <p:nvPr/>
        </p:nvSpPr>
        <p:spPr bwMode="auto">
          <a:xfrm>
            <a:off x="1698625" y="2781300"/>
            <a:ext cx="3651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4059" name="Text Box 25"/>
          <p:cNvSpPr txBox="1">
            <a:spLocks noChangeAspect="1" noChangeArrowheads="1"/>
          </p:cNvSpPr>
          <p:nvPr/>
        </p:nvSpPr>
        <p:spPr bwMode="auto">
          <a:xfrm>
            <a:off x="2187575"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4060" name="Line 26"/>
          <p:cNvSpPr>
            <a:spLocks noChangeShapeType="1"/>
          </p:cNvSpPr>
          <p:nvPr/>
        </p:nvSpPr>
        <p:spPr bwMode="auto">
          <a:xfrm flipH="1">
            <a:off x="1219200" y="1803400"/>
            <a:ext cx="709613" cy="242888"/>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spAutoFit/>
          </a:bodyPr>
          <a:lstStyle/>
          <a:p>
            <a:endParaRPr lang="de-DE"/>
          </a:p>
        </p:txBody>
      </p:sp>
      <p:sp>
        <p:nvSpPr>
          <p:cNvPr id="44061" name="Rectangle 28"/>
          <p:cNvSpPr>
            <a:spLocks noChangeArrowheads="1"/>
          </p:cNvSpPr>
          <p:nvPr/>
        </p:nvSpPr>
        <p:spPr bwMode="auto">
          <a:xfrm>
            <a:off x="3132138" y="1546225"/>
            <a:ext cx="5362575" cy="130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tabLst>
                <a:tab pos="252413" algn="l"/>
              </a:tabLst>
              <a:defRPr sz="1700">
                <a:solidFill>
                  <a:schemeClr val="tx1"/>
                </a:solidFill>
                <a:latin typeface="Arial" panose="020B0604020202020204" pitchFamily="34" charset="0"/>
              </a:defRPr>
            </a:lvl1pPr>
            <a:lvl2pPr marL="742950" indent="-285750">
              <a:tabLst>
                <a:tab pos="252413" algn="l"/>
              </a:tabLst>
              <a:defRPr sz="1700">
                <a:solidFill>
                  <a:schemeClr val="tx1"/>
                </a:solidFill>
                <a:latin typeface="Arial" panose="020B0604020202020204" pitchFamily="34" charset="0"/>
              </a:defRPr>
            </a:lvl2pPr>
            <a:lvl3pPr marL="1143000" indent="-228600">
              <a:tabLst>
                <a:tab pos="252413" algn="l"/>
              </a:tabLst>
              <a:defRPr sz="1700">
                <a:solidFill>
                  <a:schemeClr val="tx1"/>
                </a:solidFill>
                <a:latin typeface="Arial" panose="020B0604020202020204" pitchFamily="34" charset="0"/>
              </a:defRPr>
            </a:lvl3pPr>
            <a:lvl4pPr marL="1600200" indent="-228600">
              <a:tabLst>
                <a:tab pos="252413" algn="l"/>
              </a:tabLst>
              <a:defRPr sz="1700">
                <a:solidFill>
                  <a:schemeClr val="tx1"/>
                </a:solidFill>
                <a:latin typeface="Arial" panose="020B0604020202020204" pitchFamily="34" charset="0"/>
              </a:defRPr>
            </a:lvl4pPr>
            <a:lvl5pPr marL="2057400" indent="-228600">
              <a:tabLst>
                <a:tab pos="252413" algn="l"/>
              </a:tabLst>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9pPr>
          </a:lstStyle>
          <a:p>
            <a:pPr algn="l"/>
            <a:r>
              <a:rPr lang="nl-NL" altLang="de-DE" sz="1500">
                <a:sym typeface="Symbol" panose="05050102010706020507" pitchFamily="18" charset="2"/>
              </a:rPr>
              <a:t>Cell 2:      </a:t>
            </a:r>
            <a:r>
              <a:rPr lang="nl-NL" altLang="de-DE" sz="1500" i="1">
                <a:sym typeface="Symbol" panose="05050102010706020507" pitchFamily="18" charset="2"/>
              </a:rPr>
              <a:t>FS</a:t>
            </a:r>
            <a:r>
              <a:rPr lang="nl-NL" altLang="de-DE" sz="1500">
                <a:sym typeface="Symbol" panose="05050102010706020507" pitchFamily="18" charset="2"/>
              </a:rPr>
              <a:t>(Cell_2) = 2    </a:t>
            </a:r>
            <a:r>
              <a:rPr lang="nl-NL" altLang="de-DE" sz="1500" i="1">
                <a:sym typeface="Symbol" panose="05050102010706020507" pitchFamily="18" charset="2"/>
              </a:rPr>
              <a:t>TE</a:t>
            </a:r>
            <a:r>
              <a:rPr lang="nl-NL" altLang="de-DE" sz="1500">
                <a:sym typeface="Symbol" panose="05050102010706020507" pitchFamily="18" charset="2"/>
              </a:rPr>
              <a:t>(Cell_2) = 0	    </a:t>
            </a:r>
            <a:r>
              <a:rPr lang="de-DE" altLang="de-DE" sz="1500">
                <a:sym typeface="Symbol" panose="05050102010706020507" pitchFamily="18" charset="2"/>
              </a:rPr>
              <a:t></a:t>
            </a:r>
            <a:r>
              <a:rPr lang="nl-NL" altLang="de-DE" sz="1500" i="1"/>
              <a:t>g</a:t>
            </a:r>
            <a:r>
              <a:rPr lang="nl-NL" altLang="de-DE" sz="1500">
                <a:sym typeface="Symbol" panose="05050102010706020507" pitchFamily="18" charset="2"/>
              </a:rPr>
              <a:t>(Cell_2) = 2</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3:      </a:t>
            </a:r>
            <a:r>
              <a:rPr lang="de-DE" altLang="de-DE" sz="1500" i="1">
                <a:sym typeface="Symbol" panose="05050102010706020507" pitchFamily="18" charset="2"/>
              </a:rPr>
              <a:t>FS</a:t>
            </a:r>
            <a:r>
              <a:rPr lang="nl-NL" altLang="de-DE" sz="1500">
                <a:sym typeface="Symbol" panose="05050102010706020507" pitchFamily="18" charset="2"/>
              </a:rPr>
              <a:t>(Cell_3) = 0    </a:t>
            </a:r>
            <a:r>
              <a:rPr lang="de-DE" altLang="de-DE" sz="1500" i="1">
                <a:sym typeface="Symbol" panose="05050102010706020507" pitchFamily="18" charset="2"/>
              </a:rPr>
              <a:t>TE</a:t>
            </a:r>
            <a:r>
              <a:rPr lang="nl-NL" altLang="de-DE" sz="1500">
                <a:sym typeface="Symbol" panose="05050102010706020507" pitchFamily="18" charset="2"/>
              </a:rPr>
              <a:t>(Cell_3) = 1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(Cell_3) = -1</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4:      </a:t>
            </a:r>
            <a:r>
              <a:rPr lang="de-DE" altLang="de-DE" sz="1500" i="1">
                <a:sym typeface="Symbol" panose="05050102010706020507" pitchFamily="18" charset="2"/>
              </a:rPr>
              <a:t>FS</a:t>
            </a:r>
            <a:r>
              <a:rPr lang="nl-NL" altLang="de-DE" sz="1500">
                <a:sym typeface="Symbol" panose="05050102010706020507" pitchFamily="18" charset="2"/>
              </a:rPr>
              <a:t>(Cell_4) = 0    </a:t>
            </a:r>
            <a:r>
              <a:rPr lang="de-DE" altLang="de-DE" sz="1500" i="1">
                <a:sym typeface="Symbol" panose="05050102010706020507" pitchFamily="18" charset="2"/>
              </a:rPr>
              <a:t>TE</a:t>
            </a:r>
            <a:r>
              <a:rPr lang="nl-NL" altLang="de-DE" sz="1500">
                <a:sym typeface="Symbol" panose="05050102010706020507" pitchFamily="18" charset="2"/>
              </a:rPr>
              <a:t>(Cell_4) = 2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(Cell_4) = -2</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5:      </a:t>
            </a:r>
            <a:r>
              <a:rPr lang="de-DE" altLang="de-DE" sz="1500" i="1">
                <a:sym typeface="Symbol" panose="05050102010706020507" pitchFamily="18" charset="2"/>
              </a:rPr>
              <a:t>FS</a:t>
            </a:r>
            <a:r>
              <a:rPr lang="nl-NL" altLang="de-DE" sz="1500">
                <a:sym typeface="Symbol" panose="05050102010706020507" pitchFamily="18" charset="2"/>
              </a:rPr>
              <a:t>(Cell_5) = 0    </a:t>
            </a:r>
            <a:r>
              <a:rPr lang="de-DE" altLang="de-DE" sz="1500" i="1">
                <a:sym typeface="Symbol" panose="05050102010706020507" pitchFamily="18" charset="2"/>
              </a:rPr>
              <a:t>TE</a:t>
            </a:r>
            <a:r>
              <a:rPr lang="nl-NL" altLang="de-DE" sz="1500">
                <a:sym typeface="Symbol" panose="05050102010706020507" pitchFamily="18" charset="2"/>
              </a:rPr>
              <a:t>(Cell_5) = 1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(Cell_5) = -1</a:t>
            </a:r>
            <a:endParaRPr lang="de-DE" altLang="de-DE" sz="1500">
              <a:solidFill>
                <a:srgbClr val="CC0000"/>
              </a:solidFill>
            </a:endParaRPr>
          </a:p>
        </p:txBody>
      </p:sp>
      <p:sp>
        <p:nvSpPr>
          <p:cNvPr id="642077" name="Rectangle 29"/>
          <p:cNvSpPr>
            <a:spLocks noChangeArrowheads="1"/>
          </p:cNvSpPr>
          <p:nvPr/>
        </p:nvSpPr>
        <p:spPr bwMode="auto">
          <a:xfrm>
            <a:off x="611188" y="3933825"/>
            <a:ext cx="6750050" cy="220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2</a:t>
            </a:r>
          </a:p>
          <a:p>
            <a:pPr algn="l"/>
            <a:br>
              <a:rPr lang="en-US" altLang="zh-CN" sz="1500">
                <a:ea typeface="宋体" panose="02010600030101010101" pitchFamily="2" charset="-122"/>
              </a:rPr>
            </a:br>
            <a:r>
              <a:rPr lang="en-US" altLang="zh-CN" sz="1500">
                <a:ea typeface="宋体" panose="02010600030101010101" pitchFamily="2" charset="-122"/>
              </a:rPr>
              <a:t>Cell </a:t>
            </a:r>
            <a:r>
              <a:rPr lang="en-US" altLang="zh-CN" sz="1500" i="1">
                <a:ea typeface="宋体" panose="02010600030101010101" pitchFamily="2" charset="-122"/>
              </a:rPr>
              <a:t>2</a:t>
            </a:r>
            <a:r>
              <a:rPr lang="en-US" altLang="zh-CN" sz="1500">
                <a:ea typeface="宋体" panose="02010600030101010101" pitchFamily="2" charset="-122"/>
              </a:rPr>
              <a:t> has maximum gain </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rPr>
              <a:t>g</a:t>
            </a:r>
            <a:r>
              <a:rPr lang="en-US" altLang="zh-CN" sz="1500" baseline="-25000">
                <a:ea typeface="宋体" panose="02010600030101010101" pitchFamily="2" charset="-122"/>
                <a:sym typeface="Symbol" panose="05050102010706020507" pitchFamily="18" charset="2"/>
              </a:rPr>
              <a:t>2</a:t>
            </a:r>
            <a:r>
              <a:rPr lang="en-US" altLang="zh-CN" sz="1500">
                <a:ea typeface="宋体" panose="02010600030101010101" pitchFamily="2" charset="-122"/>
                <a:sym typeface="Symbol" panose="05050102010706020507" pitchFamily="18" charset="2"/>
              </a:rPr>
              <a:t> = 2, </a:t>
            </a:r>
            <a:r>
              <a:rPr lang="en-US" altLang="zh-CN" sz="1500" i="1">
                <a:ea typeface="宋体" panose="02010600030101010101" pitchFamily="2" charset="-122"/>
                <a:sym typeface="Symbol" panose="05050102010706020507" pitchFamily="18" charset="2"/>
              </a:rPr>
              <a:t>area</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sym typeface="Symbol" panose="05050102010706020507" pitchFamily="18" charset="2"/>
              </a:rPr>
              <a:t>A</a:t>
            </a:r>
            <a:r>
              <a:rPr lang="en-US" altLang="zh-CN" sz="1500">
                <a:ea typeface="宋体" panose="02010600030101010101" pitchFamily="2" charset="-122"/>
                <a:sym typeface="Symbol" panose="05050102010706020507" pitchFamily="18" charset="2"/>
              </a:rPr>
              <a:t>) = 0, balance criterion is violated.</a:t>
            </a:r>
          </a:p>
          <a:p>
            <a:pPr algn="l"/>
            <a:r>
              <a:rPr lang="en-US" altLang="zh-CN" sz="1500">
                <a:ea typeface="宋体" panose="02010600030101010101" pitchFamily="2" charset="-122"/>
                <a:sym typeface="Symbol" panose="05050102010706020507" pitchFamily="18" charset="2"/>
              </a:rPr>
              <a:t>Cell </a:t>
            </a:r>
            <a:r>
              <a:rPr lang="en-US" altLang="zh-CN" sz="1500" i="1">
                <a:ea typeface="宋体" panose="02010600030101010101" pitchFamily="2" charset="-122"/>
                <a:sym typeface="Symbol" panose="05050102010706020507" pitchFamily="18" charset="2"/>
              </a:rPr>
              <a:t>3</a:t>
            </a:r>
            <a:r>
              <a:rPr lang="en-US" altLang="zh-CN" sz="1500">
                <a:ea typeface="宋体" panose="02010600030101010101" pitchFamily="2" charset="-122"/>
                <a:sym typeface="Symbol" panose="05050102010706020507" pitchFamily="18" charset="2"/>
              </a:rPr>
              <a:t> has next maximum gain </a:t>
            </a:r>
            <a:r>
              <a:rPr lang="en-US" altLang="zh-CN" sz="1500" i="1">
                <a:ea typeface="宋体" panose="02010600030101010101" pitchFamily="2" charset="-122"/>
              </a:rPr>
              <a:t>g</a:t>
            </a:r>
            <a:r>
              <a:rPr lang="en-US" altLang="zh-CN" sz="1500" baseline="-25000">
                <a:ea typeface="宋体" panose="02010600030101010101" pitchFamily="2" charset="-122"/>
                <a:sym typeface="Symbol" panose="05050102010706020507" pitchFamily="18" charset="2"/>
              </a:rPr>
              <a:t>2</a:t>
            </a:r>
            <a:r>
              <a:rPr lang="en-US" altLang="zh-CN" sz="1500">
                <a:ea typeface="宋体" panose="02010600030101010101" pitchFamily="2" charset="-122"/>
                <a:sym typeface="Symbol" panose="05050102010706020507" pitchFamily="18" charset="2"/>
              </a:rPr>
              <a:t> = -1, </a:t>
            </a:r>
            <a:r>
              <a:rPr lang="en-US" altLang="zh-CN" sz="1500" i="1">
                <a:ea typeface="宋体" panose="02010600030101010101" pitchFamily="2" charset="-122"/>
                <a:sym typeface="Symbol" panose="05050102010706020507" pitchFamily="18" charset="2"/>
              </a:rPr>
              <a:t>area</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sym typeface="Symbol" panose="05050102010706020507" pitchFamily="18" charset="2"/>
              </a:rPr>
              <a:t>A</a:t>
            </a:r>
            <a:r>
              <a:rPr lang="en-US" altLang="zh-CN" sz="1500">
                <a:ea typeface="宋体" panose="02010600030101010101" pitchFamily="2" charset="-122"/>
                <a:sym typeface="Symbol" panose="05050102010706020507" pitchFamily="18" charset="2"/>
              </a:rPr>
              <a:t>) = 5, balance criterion is met.</a:t>
            </a:r>
          </a:p>
          <a:p>
            <a:pPr algn="l"/>
            <a:r>
              <a:rPr lang="en-US" altLang="zh-CN" sz="1500">
                <a:ea typeface="宋体" panose="02010600030101010101" pitchFamily="2" charset="-122"/>
                <a:sym typeface="Symbol" panose="05050102010706020507" pitchFamily="18" charset="2"/>
              </a:rPr>
              <a:t>Cell </a:t>
            </a:r>
            <a:r>
              <a:rPr lang="en-US" altLang="zh-CN" sz="1500" i="1">
                <a:ea typeface="宋体" panose="02010600030101010101" pitchFamily="2" charset="-122"/>
                <a:sym typeface="Symbol" panose="05050102010706020507" pitchFamily="18" charset="2"/>
              </a:rPr>
              <a:t>5</a:t>
            </a:r>
            <a:r>
              <a:rPr lang="en-US" altLang="zh-CN" sz="1500">
                <a:ea typeface="宋体" panose="02010600030101010101" pitchFamily="2" charset="-122"/>
                <a:sym typeface="Symbol" panose="05050102010706020507" pitchFamily="18" charset="2"/>
              </a:rPr>
              <a:t> has next maximum gain </a:t>
            </a:r>
            <a:r>
              <a:rPr lang="en-US" altLang="zh-CN" sz="1500" i="1">
                <a:ea typeface="宋体" panose="02010600030101010101" pitchFamily="2" charset="-122"/>
              </a:rPr>
              <a:t>g</a:t>
            </a:r>
            <a:r>
              <a:rPr lang="en-US" altLang="zh-CN" sz="1500" baseline="-25000">
                <a:ea typeface="宋体" panose="02010600030101010101" pitchFamily="2" charset="-122"/>
                <a:sym typeface="Symbol" panose="05050102010706020507" pitchFamily="18" charset="2"/>
              </a:rPr>
              <a:t>2</a:t>
            </a:r>
            <a:r>
              <a:rPr lang="en-US" altLang="zh-CN" sz="1500">
                <a:ea typeface="宋体" panose="02010600030101010101" pitchFamily="2" charset="-122"/>
                <a:sym typeface="Symbol" panose="05050102010706020507" pitchFamily="18" charset="2"/>
              </a:rPr>
              <a:t>= -1, </a:t>
            </a:r>
            <a:r>
              <a:rPr lang="en-US" altLang="zh-CN" sz="1500" i="1">
                <a:ea typeface="宋体" panose="02010600030101010101" pitchFamily="2" charset="-122"/>
                <a:sym typeface="Symbol" panose="05050102010706020507" pitchFamily="18" charset="2"/>
              </a:rPr>
              <a:t>area</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sym typeface="Symbol" panose="05050102010706020507" pitchFamily="18" charset="2"/>
              </a:rPr>
              <a:t>A</a:t>
            </a:r>
            <a:r>
              <a:rPr lang="en-US" altLang="zh-CN" sz="1500">
                <a:ea typeface="宋体" panose="02010600030101010101" pitchFamily="2" charset="-122"/>
                <a:sym typeface="Symbol" panose="05050102010706020507" pitchFamily="18" charset="2"/>
              </a:rPr>
              <a:t>) = 9, balance criterion is met.</a:t>
            </a:r>
          </a:p>
          <a:p>
            <a:pPr algn="l"/>
            <a:br>
              <a:rPr lang="en-US" altLang="zh-CN" sz="1500">
                <a:ea typeface="宋体" panose="02010600030101010101" pitchFamily="2" charset="-122"/>
                <a:sym typeface="Symbol" panose="05050102010706020507" pitchFamily="18" charset="2"/>
              </a:rPr>
            </a:br>
            <a:r>
              <a:rPr lang="en-US" altLang="zh-CN" sz="1500">
                <a:ea typeface="宋体" panose="02010600030101010101" pitchFamily="2" charset="-122"/>
                <a:sym typeface="Symbol" panose="05050102010706020507" pitchFamily="18" charset="2"/>
              </a:rPr>
              <a:t>Move cell </a:t>
            </a:r>
            <a:r>
              <a:rPr lang="en-US" altLang="zh-CN" sz="1500" i="1">
                <a:ea typeface="宋体" panose="02010600030101010101" pitchFamily="2" charset="-122"/>
                <a:sym typeface="Symbol" panose="05050102010706020507" pitchFamily="18" charset="2"/>
              </a:rPr>
              <a:t>3</a:t>
            </a:r>
            <a:r>
              <a:rPr lang="en-US" altLang="zh-CN" sz="1500">
                <a:ea typeface="宋体" panose="02010600030101010101" pitchFamily="2" charset="-122"/>
                <a:sym typeface="Symbol" panose="05050102010706020507" pitchFamily="18" charset="2"/>
              </a:rPr>
              <a:t>, updated partitions: </a:t>
            </a:r>
            <a:r>
              <a:rPr lang="en-US" altLang="zh-CN" sz="1500" i="1">
                <a:ea typeface="宋体" panose="02010600030101010101" pitchFamily="2" charset="-122"/>
                <a:sym typeface="Symbol" panose="05050102010706020507" pitchFamily="18" charset="2"/>
              </a:rPr>
              <a:t>A</a:t>
            </a:r>
            <a:r>
              <a:rPr lang="en-US" altLang="zh-CN" sz="1500" baseline="-25000">
                <a:ea typeface="宋体" panose="02010600030101010101" pitchFamily="2" charset="-122"/>
                <a:sym typeface="Symbol" panose="05050102010706020507" pitchFamily="18" charset="2"/>
              </a:rPr>
              <a:t>2</a:t>
            </a:r>
            <a:r>
              <a:rPr lang="en-US" altLang="zh-CN" sz="1500">
                <a:ea typeface="宋体" panose="02010600030101010101" pitchFamily="2" charset="-122"/>
                <a:sym typeface="Symbol" panose="05050102010706020507" pitchFamily="18" charset="2"/>
              </a:rPr>
              <a:t> = {2,3}, </a:t>
            </a:r>
            <a:r>
              <a:rPr lang="en-US" altLang="zh-CN" sz="1500" i="1">
                <a:ea typeface="宋体" panose="02010600030101010101" pitchFamily="2" charset="-122"/>
                <a:sym typeface="Symbol" panose="05050102010706020507" pitchFamily="18" charset="2"/>
              </a:rPr>
              <a:t>B</a:t>
            </a:r>
            <a:r>
              <a:rPr lang="en-US" altLang="zh-CN" sz="1500" baseline="-25000">
                <a:ea typeface="宋体" panose="02010600030101010101" pitchFamily="2" charset="-122"/>
                <a:sym typeface="Symbol" panose="05050102010706020507" pitchFamily="18" charset="2"/>
              </a:rPr>
              <a:t>2</a:t>
            </a:r>
            <a:r>
              <a:rPr lang="en-US" altLang="zh-CN" sz="1500">
                <a:ea typeface="宋体" panose="02010600030101010101" pitchFamily="2" charset="-122"/>
                <a:sym typeface="Symbol" panose="05050102010706020507" pitchFamily="18" charset="2"/>
              </a:rPr>
              <a:t> = {1,4,5}, with fixed cells {1,3} </a:t>
            </a:r>
          </a:p>
        </p:txBody>
      </p:sp>
      <p:sp>
        <p:nvSpPr>
          <p:cNvPr id="44063" name="Text Box 30"/>
          <p:cNvSpPr txBox="1">
            <a:spLocks noChangeArrowheads="1"/>
          </p:cNvSpPr>
          <p:nvPr/>
        </p:nvSpPr>
        <p:spPr bwMode="auto">
          <a:xfrm>
            <a:off x="3132138" y="1206500"/>
            <a:ext cx="1387475"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1</a:t>
            </a:r>
            <a:endParaRPr lang="en-US" altLang="zh-CN">
              <a:ea typeface="宋体" panose="02010600030101010101" pitchFamily="2" charset="-122"/>
            </a:endParaRPr>
          </a:p>
        </p:txBody>
      </p:sp>
      <p:sp>
        <p:nvSpPr>
          <p:cNvPr id="44064" name="Rectangle 32"/>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2079"/>
                                        </p:tgtEl>
                                        <p:attrNameLst>
                                          <p:attrName>style.visibility</p:attrName>
                                        </p:attrNameLst>
                                      </p:cBhvr>
                                      <p:to>
                                        <p:strVal val="visible"/>
                                      </p:to>
                                    </p:set>
                                    <p:animEffect transition="in" filter="dissolve">
                                      <p:cBhvr>
                                        <p:cTn id="7" dur="500"/>
                                        <p:tgtEl>
                                          <p:spTgt spid="642079"/>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42077"/>
                                        </p:tgtEl>
                                        <p:attrNameLst>
                                          <p:attrName>style.visibility</p:attrName>
                                        </p:attrNameLst>
                                      </p:cBhvr>
                                      <p:to>
                                        <p:strVal val="visible"/>
                                      </p:to>
                                    </p:set>
                                    <p:animEffect transition="in" filter="dissolve">
                                      <p:cBhvr>
                                        <p:cTn id="10" dur="500"/>
                                        <p:tgtEl>
                                          <p:spTgt spid="642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79" grpId="0" animBg="1"/>
      <p:bldP spid="64207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0880E40B-3D4D-41B5-B96F-42B71423EBC5}" type="slidenum">
              <a:rPr lang="en-US" altLang="de-DE" sz="1000">
                <a:solidFill>
                  <a:srgbClr val="C0C0C0"/>
                </a:solidFill>
              </a:rPr>
              <a:pPr/>
              <a:t>50</a:t>
            </a:fld>
            <a:endParaRPr lang="en-US" altLang="de-DE" sz="1000">
              <a:solidFill>
                <a:srgbClr val="C0C0C0"/>
              </a:solidFill>
            </a:endParaRPr>
          </a:p>
        </p:txBody>
      </p:sp>
      <p:sp>
        <p:nvSpPr>
          <p:cNvPr id="644151" name="Rectangle 55"/>
          <p:cNvSpPr>
            <a:spLocks noChangeArrowheads="1"/>
          </p:cNvSpPr>
          <p:nvPr/>
        </p:nvSpPr>
        <p:spPr bwMode="auto">
          <a:xfrm>
            <a:off x="684213" y="3933825"/>
            <a:ext cx="7559675" cy="2303463"/>
          </a:xfrm>
          <a:prstGeom prst="rect">
            <a:avLst/>
          </a:prstGeom>
          <a:solidFill>
            <a:srgbClr val="DDDDDD"/>
          </a:solidFill>
          <a:ln w="9525" algn="ctr">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5060" name="Rectangle 28"/>
          <p:cNvSpPr>
            <a:spLocks noChangeArrowheads="1"/>
          </p:cNvSpPr>
          <p:nvPr/>
        </p:nvSpPr>
        <p:spPr bwMode="auto">
          <a:xfrm>
            <a:off x="3132138" y="1695450"/>
            <a:ext cx="2414587" cy="1008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tabLst>
                <a:tab pos="252413" algn="l"/>
              </a:tabLst>
              <a:defRPr sz="1700">
                <a:solidFill>
                  <a:schemeClr val="tx1"/>
                </a:solidFill>
                <a:latin typeface="Arial" panose="020B0604020202020204" pitchFamily="34" charset="0"/>
              </a:defRPr>
            </a:lvl1pPr>
            <a:lvl2pPr marL="742950" indent="-285750">
              <a:tabLst>
                <a:tab pos="252413" algn="l"/>
              </a:tabLst>
              <a:defRPr sz="1700">
                <a:solidFill>
                  <a:schemeClr val="tx1"/>
                </a:solidFill>
                <a:latin typeface="Arial" panose="020B0604020202020204" pitchFamily="34" charset="0"/>
              </a:defRPr>
            </a:lvl2pPr>
            <a:lvl3pPr marL="1143000" indent="-228600">
              <a:tabLst>
                <a:tab pos="252413" algn="l"/>
              </a:tabLst>
              <a:defRPr sz="1700">
                <a:solidFill>
                  <a:schemeClr val="tx1"/>
                </a:solidFill>
                <a:latin typeface="Arial" panose="020B0604020202020204" pitchFamily="34" charset="0"/>
              </a:defRPr>
            </a:lvl3pPr>
            <a:lvl4pPr marL="1600200" indent="-228600">
              <a:tabLst>
                <a:tab pos="252413" algn="l"/>
              </a:tabLst>
              <a:defRPr sz="1700">
                <a:solidFill>
                  <a:schemeClr val="tx1"/>
                </a:solidFill>
                <a:latin typeface="Arial" panose="020B0604020202020204" pitchFamily="34" charset="0"/>
              </a:defRPr>
            </a:lvl4pPr>
            <a:lvl5pPr marL="2057400" indent="-228600">
              <a:tabLst>
                <a:tab pos="252413" algn="l"/>
              </a:tabLst>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9pPr>
          </a:lstStyle>
          <a:p>
            <a:pPr algn="l"/>
            <a:r>
              <a:rPr lang="nl-NL" altLang="de-DE" sz="1500">
                <a:sym typeface="Symbol" panose="05050102010706020507" pitchFamily="18" charset="2"/>
              </a:rPr>
              <a:t>Cell 2:      </a:t>
            </a:r>
            <a:r>
              <a:rPr lang="de-DE" altLang="de-DE" sz="1500">
                <a:sym typeface="Symbol" panose="05050102010706020507" pitchFamily="18" charset="2"/>
              </a:rPr>
              <a:t></a:t>
            </a:r>
            <a:r>
              <a:rPr lang="nl-NL" altLang="de-DE" sz="1500" i="1"/>
              <a:t>g</a:t>
            </a:r>
            <a:r>
              <a:rPr lang="nl-NL" altLang="de-DE" sz="1500">
                <a:sym typeface="Symbol" panose="05050102010706020507" pitchFamily="18" charset="2"/>
              </a:rPr>
              <a:t>(Cell_2) = 1</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4: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(Cell_4) = 0</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5: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(Cell_5) = -1</a:t>
            </a:r>
            <a:endParaRPr lang="de-DE" altLang="de-DE" sz="1500">
              <a:solidFill>
                <a:srgbClr val="CC0000"/>
              </a:solidFill>
            </a:endParaRPr>
          </a:p>
        </p:txBody>
      </p:sp>
      <p:sp>
        <p:nvSpPr>
          <p:cNvPr id="644125" name="Rectangle 29"/>
          <p:cNvSpPr>
            <a:spLocks noChangeArrowheads="1"/>
          </p:cNvSpPr>
          <p:nvPr/>
        </p:nvSpPr>
        <p:spPr bwMode="auto">
          <a:xfrm>
            <a:off x="611188" y="3933825"/>
            <a:ext cx="6837362"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3</a:t>
            </a:r>
            <a:br>
              <a:rPr lang="en-US" altLang="zh-CN" sz="1500">
                <a:solidFill>
                  <a:srgbClr val="CC0000"/>
                </a:solidFill>
                <a:ea typeface="宋体" panose="02010600030101010101" pitchFamily="2" charset="-122"/>
              </a:rPr>
            </a:br>
            <a:endParaRPr lang="en-US" altLang="zh-CN" sz="1500">
              <a:solidFill>
                <a:srgbClr val="CC0000"/>
              </a:solidFill>
              <a:ea typeface="宋体" panose="02010600030101010101" pitchFamily="2" charset="-122"/>
            </a:endParaRPr>
          </a:p>
          <a:p>
            <a:pPr algn="l"/>
            <a:r>
              <a:rPr lang="en-US" altLang="zh-CN" sz="1500">
                <a:ea typeface="宋体" panose="02010600030101010101" pitchFamily="2" charset="-122"/>
              </a:rPr>
              <a:t>Cell </a:t>
            </a:r>
            <a:r>
              <a:rPr lang="en-US" altLang="zh-CN" sz="1500" i="1">
                <a:ea typeface="宋体" panose="02010600030101010101" pitchFamily="2" charset="-122"/>
              </a:rPr>
              <a:t>2</a:t>
            </a:r>
            <a:r>
              <a:rPr lang="en-US" altLang="zh-CN" sz="1500">
                <a:ea typeface="宋体" panose="02010600030101010101" pitchFamily="2" charset="-122"/>
              </a:rPr>
              <a:t> has maximum gain </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rPr>
              <a:t>g</a:t>
            </a:r>
            <a:r>
              <a:rPr lang="en-US" altLang="zh-CN" sz="1500" baseline="-25000">
                <a:ea typeface="宋体" panose="02010600030101010101" pitchFamily="2" charset="-122"/>
              </a:rPr>
              <a:t>3 </a:t>
            </a:r>
            <a:r>
              <a:rPr lang="en-US" altLang="zh-CN" sz="1500">
                <a:ea typeface="宋体" panose="02010600030101010101" pitchFamily="2" charset="-122"/>
              </a:rPr>
              <a:t>= 1,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A</a:t>
            </a:r>
            <a:r>
              <a:rPr lang="en-US" altLang="zh-CN" sz="1500">
                <a:ea typeface="宋体" panose="02010600030101010101" pitchFamily="2" charset="-122"/>
              </a:rPr>
              <a:t>) = 1, balance criterion is met.</a:t>
            </a:r>
            <a:br>
              <a:rPr lang="en-US" altLang="zh-CN" sz="1500">
                <a:ea typeface="宋体" panose="02010600030101010101" pitchFamily="2" charset="-122"/>
                <a:sym typeface="Symbol" panose="05050102010706020507" pitchFamily="18" charset="2"/>
              </a:rPr>
            </a:br>
            <a:br>
              <a:rPr lang="en-US" altLang="zh-CN" sz="1500">
                <a:ea typeface="宋体" panose="02010600030101010101" pitchFamily="2" charset="-122"/>
                <a:sym typeface="Symbol" panose="05050102010706020507" pitchFamily="18" charset="2"/>
              </a:rPr>
            </a:br>
            <a:r>
              <a:rPr lang="en-US" altLang="zh-CN" sz="1500">
                <a:ea typeface="宋体" panose="02010600030101010101" pitchFamily="2" charset="-122"/>
                <a:sym typeface="Symbol" panose="05050102010706020507" pitchFamily="18" charset="2"/>
              </a:rPr>
              <a:t>Move cell </a:t>
            </a:r>
            <a:r>
              <a:rPr lang="en-US" altLang="zh-CN" sz="1500" i="1">
                <a:ea typeface="宋体" panose="02010600030101010101" pitchFamily="2" charset="-122"/>
                <a:sym typeface="Symbol" panose="05050102010706020507" pitchFamily="18" charset="2"/>
              </a:rPr>
              <a:t>2</a:t>
            </a:r>
            <a:r>
              <a:rPr lang="en-US" altLang="zh-CN" sz="1500">
                <a:ea typeface="宋体" panose="02010600030101010101" pitchFamily="2" charset="-122"/>
                <a:sym typeface="Symbol" panose="05050102010706020507" pitchFamily="18" charset="2"/>
              </a:rPr>
              <a:t>, updated partitions: </a:t>
            </a:r>
            <a:r>
              <a:rPr lang="en-US" altLang="zh-CN" sz="1500" i="1">
                <a:ea typeface="宋体" panose="02010600030101010101" pitchFamily="2" charset="-122"/>
                <a:sym typeface="Symbol" panose="05050102010706020507" pitchFamily="18" charset="2"/>
              </a:rPr>
              <a:t>A</a:t>
            </a:r>
            <a:r>
              <a:rPr lang="en-US" altLang="zh-CN" sz="1500" baseline="-25000">
                <a:ea typeface="宋体" panose="02010600030101010101" pitchFamily="2" charset="-122"/>
                <a:sym typeface="Symbol" panose="05050102010706020507" pitchFamily="18" charset="2"/>
              </a:rPr>
              <a:t>3</a:t>
            </a:r>
            <a:r>
              <a:rPr lang="en-US" altLang="zh-CN" sz="1500">
                <a:ea typeface="宋体" panose="02010600030101010101" pitchFamily="2" charset="-122"/>
                <a:sym typeface="Symbol" panose="05050102010706020507" pitchFamily="18" charset="2"/>
              </a:rPr>
              <a:t> = {3}, </a:t>
            </a:r>
            <a:r>
              <a:rPr lang="en-US" altLang="zh-CN" sz="1500" i="1">
                <a:ea typeface="宋体" panose="02010600030101010101" pitchFamily="2" charset="-122"/>
                <a:sym typeface="Symbol" panose="05050102010706020507" pitchFamily="18" charset="2"/>
              </a:rPr>
              <a:t>B</a:t>
            </a:r>
            <a:r>
              <a:rPr lang="en-US" altLang="zh-CN" sz="1500" baseline="-25000">
                <a:ea typeface="宋体" panose="02010600030101010101" pitchFamily="2" charset="-122"/>
                <a:sym typeface="Symbol" panose="05050102010706020507" pitchFamily="18" charset="2"/>
              </a:rPr>
              <a:t>3</a:t>
            </a:r>
            <a:r>
              <a:rPr lang="en-US" altLang="zh-CN" sz="1500">
                <a:ea typeface="宋体" panose="02010600030101010101" pitchFamily="2" charset="-122"/>
                <a:sym typeface="Symbol" panose="05050102010706020507" pitchFamily="18" charset="2"/>
              </a:rPr>
              <a:t> = {1,2,4,5}, with fixed cells {1,2,3} </a:t>
            </a:r>
          </a:p>
        </p:txBody>
      </p:sp>
      <p:sp>
        <p:nvSpPr>
          <p:cNvPr id="45062" name="Line 30"/>
          <p:cNvSpPr>
            <a:spLocks noChangeAspect="1" noChangeShapeType="1"/>
          </p:cNvSpPr>
          <p:nvPr/>
        </p:nvSpPr>
        <p:spPr bwMode="auto">
          <a:xfrm flipV="1">
            <a:off x="1638300"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5063" name="Line 31"/>
          <p:cNvSpPr>
            <a:spLocks noChangeAspect="1" noChangeShapeType="1"/>
          </p:cNvSpPr>
          <p:nvPr/>
        </p:nvSpPr>
        <p:spPr bwMode="auto">
          <a:xfrm flipH="1">
            <a:off x="1638300"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064" name="Line 32"/>
          <p:cNvSpPr>
            <a:spLocks noChangeAspect="1" noChangeShapeType="1"/>
          </p:cNvSpPr>
          <p:nvPr/>
        </p:nvSpPr>
        <p:spPr bwMode="auto">
          <a:xfrm>
            <a:off x="2438400"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065" name="Line 33"/>
          <p:cNvSpPr>
            <a:spLocks noChangeAspect="1" noChangeShapeType="1"/>
          </p:cNvSpPr>
          <p:nvPr/>
        </p:nvSpPr>
        <p:spPr bwMode="auto">
          <a:xfrm flipH="1">
            <a:off x="1455738" y="1555750"/>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066" name="Line 34"/>
          <p:cNvSpPr>
            <a:spLocks noChangeAspect="1" noChangeShapeType="1"/>
          </p:cNvSpPr>
          <p:nvPr/>
        </p:nvSpPr>
        <p:spPr bwMode="auto">
          <a:xfrm flipH="1">
            <a:off x="1608138" y="2328863"/>
            <a:ext cx="811212"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067" name="Line 35"/>
          <p:cNvSpPr>
            <a:spLocks noChangeAspect="1" noChangeShapeType="1"/>
          </p:cNvSpPr>
          <p:nvPr/>
        </p:nvSpPr>
        <p:spPr bwMode="auto">
          <a:xfrm>
            <a:off x="1590675"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5068" name="Oval 36"/>
          <p:cNvSpPr>
            <a:spLocks noChangeAspect="1" noChangeArrowheads="1"/>
          </p:cNvSpPr>
          <p:nvPr/>
        </p:nvSpPr>
        <p:spPr bwMode="auto">
          <a:xfrm>
            <a:off x="1301750" y="2874963"/>
            <a:ext cx="460375"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5069" name="Rectangle 37"/>
          <p:cNvSpPr>
            <a:spLocks noChangeAspect="1" noChangeArrowheads="1"/>
          </p:cNvSpPr>
          <p:nvPr/>
        </p:nvSpPr>
        <p:spPr bwMode="auto">
          <a:xfrm>
            <a:off x="1343025"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45070" name="Oval 38"/>
          <p:cNvSpPr>
            <a:spLocks noChangeAspect="1" noChangeArrowheads="1"/>
          </p:cNvSpPr>
          <p:nvPr/>
        </p:nvSpPr>
        <p:spPr bwMode="auto">
          <a:xfrm>
            <a:off x="2200275" y="1341438"/>
            <a:ext cx="458788"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5071" name="Rectangle 39"/>
          <p:cNvSpPr>
            <a:spLocks noChangeAspect="1" noChangeArrowheads="1"/>
          </p:cNvSpPr>
          <p:nvPr/>
        </p:nvSpPr>
        <p:spPr bwMode="auto">
          <a:xfrm>
            <a:off x="2243138"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3</a:t>
            </a:r>
            <a:endParaRPr lang="en-US" altLang="zh-CN" b="1">
              <a:ea typeface="宋体" panose="02010600030101010101" pitchFamily="2" charset="-122"/>
            </a:endParaRPr>
          </a:p>
        </p:txBody>
      </p:sp>
      <p:sp>
        <p:nvSpPr>
          <p:cNvPr id="45072" name="Oval 40"/>
          <p:cNvSpPr>
            <a:spLocks noChangeAspect="1" noChangeArrowheads="1"/>
          </p:cNvSpPr>
          <p:nvPr/>
        </p:nvSpPr>
        <p:spPr bwMode="auto">
          <a:xfrm>
            <a:off x="2222500" y="2106613"/>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5073" name="Rectangle 41"/>
          <p:cNvSpPr>
            <a:spLocks noChangeAspect="1" noChangeArrowheads="1"/>
          </p:cNvSpPr>
          <p:nvPr/>
        </p:nvSpPr>
        <p:spPr bwMode="auto">
          <a:xfrm>
            <a:off x="2246313" y="2141538"/>
            <a:ext cx="365125"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45074" name="Oval 42"/>
          <p:cNvSpPr>
            <a:spLocks noChangeAspect="1" noChangeArrowheads="1"/>
          </p:cNvSpPr>
          <p:nvPr/>
        </p:nvSpPr>
        <p:spPr bwMode="auto">
          <a:xfrm>
            <a:off x="1320800" y="1341438"/>
            <a:ext cx="460375"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5075" name="Rectangle 43"/>
          <p:cNvSpPr>
            <a:spLocks noChangeAspect="1" noChangeArrowheads="1"/>
          </p:cNvSpPr>
          <p:nvPr/>
        </p:nvSpPr>
        <p:spPr bwMode="auto">
          <a:xfrm>
            <a:off x="1362075"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2</a:t>
            </a:r>
            <a:endParaRPr lang="en-US" altLang="zh-CN" b="1">
              <a:ea typeface="宋体" panose="02010600030101010101" pitchFamily="2" charset="-122"/>
            </a:endParaRPr>
          </a:p>
        </p:txBody>
      </p:sp>
      <p:sp>
        <p:nvSpPr>
          <p:cNvPr id="45076" name="Oval 44"/>
          <p:cNvSpPr>
            <a:spLocks noChangeAspect="1" noChangeArrowheads="1"/>
          </p:cNvSpPr>
          <p:nvPr/>
        </p:nvSpPr>
        <p:spPr bwMode="auto">
          <a:xfrm>
            <a:off x="2200275"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5077" name="Rectangle 45"/>
          <p:cNvSpPr>
            <a:spLocks noChangeAspect="1" noChangeArrowheads="1"/>
          </p:cNvSpPr>
          <p:nvPr/>
        </p:nvSpPr>
        <p:spPr bwMode="auto">
          <a:xfrm>
            <a:off x="2243138"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5078" name="Text Box 46"/>
          <p:cNvSpPr txBox="1">
            <a:spLocks noChangeAspect="1" noChangeArrowheads="1"/>
          </p:cNvSpPr>
          <p:nvPr/>
        </p:nvSpPr>
        <p:spPr bwMode="auto">
          <a:xfrm>
            <a:off x="687388" y="1395413"/>
            <a:ext cx="542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A</a:t>
            </a:r>
          </a:p>
        </p:txBody>
      </p:sp>
      <p:sp>
        <p:nvSpPr>
          <p:cNvPr id="45079" name="Text Box 47"/>
          <p:cNvSpPr txBox="1">
            <a:spLocks noChangeAspect="1" noChangeArrowheads="1"/>
          </p:cNvSpPr>
          <p:nvPr/>
        </p:nvSpPr>
        <p:spPr bwMode="auto">
          <a:xfrm>
            <a:off x="2554288" y="1970088"/>
            <a:ext cx="6492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i="1">
                <a:ea typeface="宋体" panose="02010600030101010101" pitchFamily="2" charset="-122"/>
              </a:rPr>
              <a:t>B</a:t>
            </a:r>
          </a:p>
        </p:txBody>
      </p:sp>
      <p:sp>
        <p:nvSpPr>
          <p:cNvPr id="45080" name="Text Box 48"/>
          <p:cNvSpPr txBox="1">
            <a:spLocks noChangeAspect="1" noChangeArrowheads="1"/>
          </p:cNvSpPr>
          <p:nvPr/>
        </p:nvSpPr>
        <p:spPr bwMode="auto">
          <a:xfrm>
            <a:off x="1222375"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5081" name="Text Box 49"/>
          <p:cNvSpPr txBox="1">
            <a:spLocks noChangeAspect="1" noChangeArrowheads="1"/>
          </p:cNvSpPr>
          <p:nvPr/>
        </p:nvSpPr>
        <p:spPr bwMode="auto">
          <a:xfrm>
            <a:off x="1731963" y="2036763"/>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5082" name="Text Box 50"/>
          <p:cNvSpPr txBox="1">
            <a:spLocks noChangeAspect="1" noChangeArrowheads="1"/>
          </p:cNvSpPr>
          <p:nvPr/>
        </p:nvSpPr>
        <p:spPr bwMode="auto">
          <a:xfrm>
            <a:off x="1644650" y="2533650"/>
            <a:ext cx="3016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5083" name="Text Box 51"/>
          <p:cNvSpPr txBox="1">
            <a:spLocks noChangeAspect="1" noChangeArrowheads="1"/>
          </p:cNvSpPr>
          <p:nvPr/>
        </p:nvSpPr>
        <p:spPr bwMode="auto">
          <a:xfrm>
            <a:off x="1701800" y="2781300"/>
            <a:ext cx="3651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5084" name="Text Box 52"/>
          <p:cNvSpPr txBox="1">
            <a:spLocks noChangeAspect="1" noChangeArrowheads="1"/>
          </p:cNvSpPr>
          <p:nvPr/>
        </p:nvSpPr>
        <p:spPr bwMode="auto">
          <a:xfrm>
            <a:off x="2190750"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5085" name="Line 53"/>
          <p:cNvSpPr>
            <a:spLocks noChangeShapeType="1"/>
          </p:cNvSpPr>
          <p:nvPr/>
        </p:nvSpPr>
        <p:spPr bwMode="auto">
          <a:xfrm flipH="1">
            <a:off x="1143000" y="1893888"/>
            <a:ext cx="1836738"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45086" name="Text Box 54"/>
          <p:cNvSpPr txBox="1">
            <a:spLocks noChangeArrowheads="1"/>
          </p:cNvSpPr>
          <p:nvPr/>
        </p:nvSpPr>
        <p:spPr bwMode="auto">
          <a:xfrm>
            <a:off x="3132138" y="1206500"/>
            <a:ext cx="1387475"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2</a:t>
            </a:r>
          </a:p>
          <a:p>
            <a:endParaRPr lang="en-US" altLang="zh-CN">
              <a:ea typeface="宋体" panose="02010600030101010101" pitchFamily="2" charset="-122"/>
            </a:endParaRPr>
          </a:p>
        </p:txBody>
      </p:sp>
      <p:sp>
        <p:nvSpPr>
          <p:cNvPr id="45087" name="Rectangle 56"/>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4151"/>
                                        </p:tgtEl>
                                        <p:attrNameLst>
                                          <p:attrName>style.visibility</p:attrName>
                                        </p:attrNameLst>
                                      </p:cBhvr>
                                      <p:to>
                                        <p:strVal val="visible"/>
                                      </p:to>
                                    </p:set>
                                    <p:animEffect transition="in" filter="dissolve">
                                      <p:cBhvr>
                                        <p:cTn id="7" dur="500"/>
                                        <p:tgtEl>
                                          <p:spTgt spid="644151"/>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44125"/>
                                        </p:tgtEl>
                                        <p:attrNameLst>
                                          <p:attrName>style.visibility</p:attrName>
                                        </p:attrNameLst>
                                      </p:cBhvr>
                                      <p:to>
                                        <p:strVal val="visible"/>
                                      </p:to>
                                    </p:set>
                                    <p:animEffect transition="in" filter="dissolve">
                                      <p:cBhvr>
                                        <p:cTn id="10" dur="500"/>
                                        <p:tgtEl>
                                          <p:spTgt spid="644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4151" grpId="0" animBg="1"/>
      <p:bldP spid="64412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4424494D-7A6D-414A-9414-50314E328F13}" type="slidenum">
              <a:rPr lang="en-US" altLang="de-DE" sz="1000">
                <a:solidFill>
                  <a:srgbClr val="C0C0C0"/>
                </a:solidFill>
              </a:rPr>
              <a:pPr/>
              <a:t>51</a:t>
            </a:fld>
            <a:endParaRPr lang="en-US" altLang="de-DE" sz="1000">
              <a:solidFill>
                <a:srgbClr val="C0C0C0"/>
              </a:solidFill>
            </a:endParaRPr>
          </a:p>
        </p:txBody>
      </p:sp>
      <p:sp>
        <p:nvSpPr>
          <p:cNvPr id="646176" name="Rectangle 32"/>
          <p:cNvSpPr>
            <a:spLocks noChangeArrowheads="1"/>
          </p:cNvSpPr>
          <p:nvPr/>
        </p:nvSpPr>
        <p:spPr bwMode="auto">
          <a:xfrm>
            <a:off x="684213" y="3933825"/>
            <a:ext cx="7559675" cy="2303463"/>
          </a:xfrm>
          <a:prstGeom prst="rect">
            <a:avLst/>
          </a:prstGeom>
          <a:solidFill>
            <a:srgbClr val="DDDDDD"/>
          </a:solidFill>
          <a:ln w="9525" algn="ctr">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6084" name="Rectangle 3"/>
          <p:cNvSpPr>
            <a:spLocks noChangeArrowheads="1"/>
          </p:cNvSpPr>
          <p:nvPr/>
        </p:nvSpPr>
        <p:spPr bwMode="auto">
          <a:xfrm>
            <a:off x="3132138" y="1844675"/>
            <a:ext cx="2414587"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tabLst>
                <a:tab pos="252413" algn="l"/>
              </a:tabLst>
              <a:defRPr sz="1700">
                <a:solidFill>
                  <a:schemeClr val="tx1"/>
                </a:solidFill>
                <a:latin typeface="Arial" panose="020B0604020202020204" pitchFamily="34" charset="0"/>
              </a:defRPr>
            </a:lvl1pPr>
            <a:lvl2pPr marL="742950" indent="-285750">
              <a:tabLst>
                <a:tab pos="252413" algn="l"/>
              </a:tabLst>
              <a:defRPr sz="1700">
                <a:solidFill>
                  <a:schemeClr val="tx1"/>
                </a:solidFill>
                <a:latin typeface="Arial" panose="020B0604020202020204" pitchFamily="34" charset="0"/>
              </a:defRPr>
            </a:lvl2pPr>
            <a:lvl3pPr marL="1143000" indent="-228600">
              <a:tabLst>
                <a:tab pos="252413" algn="l"/>
              </a:tabLst>
              <a:defRPr sz="1700">
                <a:solidFill>
                  <a:schemeClr val="tx1"/>
                </a:solidFill>
                <a:latin typeface="Arial" panose="020B0604020202020204" pitchFamily="34" charset="0"/>
              </a:defRPr>
            </a:lvl3pPr>
            <a:lvl4pPr marL="1600200" indent="-228600">
              <a:tabLst>
                <a:tab pos="252413" algn="l"/>
              </a:tabLst>
              <a:defRPr sz="1700">
                <a:solidFill>
                  <a:schemeClr val="tx1"/>
                </a:solidFill>
                <a:latin typeface="Arial" panose="020B0604020202020204" pitchFamily="34" charset="0"/>
              </a:defRPr>
            </a:lvl4pPr>
            <a:lvl5pPr marL="2057400" indent="-228600">
              <a:tabLst>
                <a:tab pos="252413" algn="l"/>
              </a:tabLst>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9pPr>
          </a:lstStyle>
          <a:p>
            <a:pPr algn="l"/>
            <a:r>
              <a:rPr lang="nl-NL" altLang="de-DE" sz="1500">
                <a:sym typeface="Symbol" panose="05050102010706020507" pitchFamily="18" charset="2"/>
              </a:rPr>
              <a:t>Cell 4: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(Cell_4) = 0</a:t>
            </a:r>
            <a:endParaRPr lang="en-US" altLang="zh-CN" sz="1500">
              <a:ea typeface="宋体" panose="02010600030101010101" pitchFamily="2" charset="-122"/>
              <a:sym typeface="Symbol" panose="05050102010706020507" pitchFamily="18" charset="2"/>
            </a:endParaRPr>
          </a:p>
          <a:p>
            <a:pPr algn="l"/>
            <a:r>
              <a:rPr lang="nl-NL" altLang="de-DE" sz="1500">
                <a:sym typeface="Symbol" panose="05050102010706020507" pitchFamily="18" charset="2"/>
              </a:rPr>
              <a:t>Cell 5: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(Cell_5) = -1</a:t>
            </a:r>
            <a:endParaRPr lang="de-DE" altLang="de-DE" sz="1500">
              <a:solidFill>
                <a:srgbClr val="CC0000"/>
              </a:solidFill>
            </a:endParaRPr>
          </a:p>
        </p:txBody>
      </p:sp>
      <p:sp>
        <p:nvSpPr>
          <p:cNvPr id="646148" name="Rectangle 4"/>
          <p:cNvSpPr>
            <a:spLocks noChangeArrowheads="1"/>
          </p:cNvSpPr>
          <p:nvPr/>
        </p:nvSpPr>
        <p:spPr bwMode="auto">
          <a:xfrm>
            <a:off x="611188" y="3933825"/>
            <a:ext cx="6996112"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4</a:t>
            </a:r>
            <a:br>
              <a:rPr lang="en-US" altLang="zh-CN" sz="1500">
                <a:solidFill>
                  <a:srgbClr val="CC0000"/>
                </a:solidFill>
                <a:ea typeface="宋体" panose="02010600030101010101" pitchFamily="2" charset="-122"/>
              </a:rPr>
            </a:br>
            <a:endParaRPr lang="en-US" altLang="zh-CN" sz="1500">
              <a:solidFill>
                <a:srgbClr val="CC0000"/>
              </a:solidFill>
              <a:ea typeface="宋体" panose="02010600030101010101" pitchFamily="2" charset="-122"/>
            </a:endParaRPr>
          </a:p>
          <a:p>
            <a:pPr algn="l"/>
            <a:r>
              <a:rPr lang="en-US" altLang="zh-CN" sz="1500">
                <a:ea typeface="宋体" panose="02010600030101010101" pitchFamily="2" charset="-122"/>
              </a:rPr>
              <a:t>Cell 4 has maximum gain </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rPr>
              <a:t>g</a:t>
            </a:r>
            <a:r>
              <a:rPr lang="en-US" altLang="zh-CN" sz="1500" baseline="-25000">
                <a:ea typeface="宋体" panose="02010600030101010101" pitchFamily="2" charset="-122"/>
              </a:rPr>
              <a:t>4 </a:t>
            </a:r>
            <a:r>
              <a:rPr lang="en-US" altLang="zh-CN" sz="1500">
                <a:ea typeface="宋体" panose="02010600030101010101" pitchFamily="2" charset="-122"/>
              </a:rPr>
              <a:t>= 0,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A</a:t>
            </a:r>
            <a:r>
              <a:rPr lang="en-US" altLang="zh-CN" sz="1500">
                <a:ea typeface="宋体" panose="02010600030101010101" pitchFamily="2" charset="-122"/>
              </a:rPr>
              <a:t>) = 5, balance criterion is met.</a:t>
            </a:r>
            <a:br>
              <a:rPr lang="en-US" altLang="zh-CN" sz="1500">
                <a:ea typeface="宋体" panose="02010600030101010101" pitchFamily="2" charset="-122"/>
                <a:sym typeface="Symbol" panose="05050102010706020507" pitchFamily="18" charset="2"/>
              </a:rPr>
            </a:br>
            <a:br>
              <a:rPr lang="en-US" altLang="zh-CN" sz="1500">
                <a:ea typeface="宋体" panose="02010600030101010101" pitchFamily="2" charset="-122"/>
                <a:sym typeface="Symbol" panose="05050102010706020507" pitchFamily="18" charset="2"/>
              </a:rPr>
            </a:br>
            <a:r>
              <a:rPr lang="en-US" altLang="zh-CN" sz="1500">
                <a:ea typeface="宋体" panose="02010600030101010101" pitchFamily="2" charset="-122"/>
                <a:sym typeface="Symbol" panose="05050102010706020507" pitchFamily="18" charset="2"/>
              </a:rPr>
              <a:t>Move cell 4, updated partitions: </a:t>
            </a:r>
            <a:r>
              <a:rPr lang="en-US" altLang="zh-CN" sz="1500" i="1">
                <a:ea typeface="宋体" panose="02010600030101010101" pitchFamily="2" charset="-122"/>
                <a:sym typeface="Symbol" panose="05050102010706020507" pitchFamily="18" charset="2"/>
              </a:rPr>
              <a:t>A</a:t>
            </a:r>
            <a:r>
              <a:rPr lang="en-US" altLang="zh-CN" sz="1500" baseline="-25000">
                <a:ea typeface="宋体" panose="02010600030101010101" pitchFamily="2" charset="-122"/>
                <a:sym typeface="Symbol" panose="05050102010706020507" pitchFamily="18" charset="2"/>
              </a:rPr>
              <a:t>4</a:t>
            </a:r>
            <a:r>
              <a:rPr lang="en-US" altLang="zh-CN" sz="1500">
                <a:ea typeface="宋体" panose="02010600030101010101" pitchFamily="2" charset="-122"/>
                <a:sym typeface="Symbol" panose="05050102010706020507" pitchFamily="18" charset="2"/>
              </a:rPr>
              <a:t> = {3,4}, </a:t>
            </a:r>
            <a:r>
              <a:rPr lang="en-US" altLang="zh-CN" sz="1500" i="1">
                <a:ea typeface="宋体" panose="02010600030101010101" pitchFamily="2" charset="-122"/>
                <a:sym typeface="Symbol" panose="05050102010706020507" pitchFamily="18" charset="2"/>
              </a:rPr>
              <a:t>B</a:t>
            </a:r>
            <a:r>
              <a:rPr lang="en-US" altLang="zh-CN" sz="1500" baseline="-25000">
                <a:ea typeface="宋体" panose="02010600030101010101" pitchFamily="2" charset="-122"/>
                <a:sym typeface="Symbol" panose="05050102010706020507" pitchFamily="18" charset="2"/>
              </a:rPr>
              <a:t>3</a:t>
            </a:r>
            <a:r>
              <a:rPr lang="en-US" altLang="zh-CN" sz="1500">
                <a:ea typeface="宋体" panose="02010600030101010101" pitchFamily="2" charset="-122"/>
                <a:sym typeface="Symbol" panose="05050102010706020507" pitchFamily="18" charset="2"/>
              </a:rPr>
              <a:t> = {1,2,5}, with fixed cells {1,2,3,4} </a:t>
            </a:r>
          </a:p>
        </p:txBody>
      </p:sp>
      <p:sp>
        <p:nvSpPr>
          <p:cNvPr id="46086" name="Line 5"/>
          <p:cNvSpPr>
            <a:spLocks noChangeAspect="1" noChangeShapeType="1"/>
          </p:cNvSpPr>
          <p:nvPr/>
        </p:nvSpPr>
        <p:spPr bwMode="auto">
          <a:xfrm flipV="1">
            <a:off x="1638300"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6087" name="Line 6"/>
          <p:cNvSpPr>
            <a:spLocks noChangeAspect="1" noChangeShapeType="1"/>
          </p:cNvSpPr>
          <p:nvPr/>
        </p:nvSpPr>
        <p:spPr bwMode="auto">
          <a:xfrm flipH="1">
            <a:off x="1638300"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6088" name="Line 7"/>
          <p:cNvSpPr>
            <a:spLocks noChangeAspect="1" noChangeShapeType="1"/>
          </p:cNvSpPr>
          <p:nvPr/>
        </p:nvSpPr>
        <p:spPr bwMode="auto">
          <a:xfrm>
            <a:off x="2438400"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6089" name="Line 8"/>
          <p:cNvSpPr>
            <a:spLocks noChangeAspect="1" noChangeShapeType="1"/>
          </p:cNvSpPr>
          <p:nvPr/>
        </p:nvSpPr>
        <p:spPr bwMode="auto">
          <a:xfrm flipH="1">
            <a:off x="1455738" y="1555750"/>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6090" name="Line 9"/>
          <p:cNvSpPr>
            <a:spLocks noChangeAspect="1" noChangeShapeType="1"/>
          </p:cNvSpPr>
          <p:nvPr/>
        </p:nvSpPr>
        <p:spPr bwMode="auto">
          <a:xfrm flipH="1">
            <a:off x="1608138" y="2328863"/>
            <a:ext cx="811212"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6091" name="Line 10"/>
          <p:cNvSpPr>
            <a:spLocks noChangeAspect="1" noChangeShapeType="1"/>
          </p:cNvSpPr>
          <p:nvPr/>
        </p:nvSpPr>
        <p:spPr bwMode="auto">
          <a:xfrm>
            <a:off x="1590675"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6092" name="Oval 11"/>
          <p:cNvSpPr>
            <a:spLocks noChangeAspect="1" noChangeArrowheads="1"/>
          </p:cNvSpPr>
          <p:nvPr/>
        </p:nvSpPr>
        <p:spPr bwMode="auto">
          <a:xfrm>
            <a:off x="1301750" y="2874963"/>
            <a:ext cx="460375"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6093" name="Rectangle 12"/>
          <p:cNvSpPr>
            <a:spLocks noChangeAspect="1" noChangeArrowheads="1"/>
          </p:cNvSpPr>
          <p:nvPr/>
        </p:nvSpPr>
        <p:spPr bwMode="auto">
          <a:xfrm>
            <a:off x="1343025"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46094" name="Oval 13"/>
          <p:cNvSpPr>
            <a:spLocks noChangeAspect="1" noChangeArrowheads="1"/>
          </p:cNvSpPr>
          <p:nvPr/>
        </p:nvSpPr>
        <p:spPr bwMode="auto">
          <a:xfrm>
            <a:off x="2200275" y="1341438"/>
            <a:ext cx="458788"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6095" name="Rectangle 14"/>
          <p:cNvSpPr>
            <a:spLocks noChangeAspect="1" noChangeArrowheads="1"/>
          </p:cNvSpPr>
          <p:nvPr/>
        </p:nvSpPr>
        <p:spPr bwMode="auto">
          <a:xfrm>
            <a:off x="2243138"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3</a:t>
            </a:r>
            <a:endParaRPr lang="en-US" altLang="zh-CN" b="1">
              <a:ea typeface="宋体" panose="02010600030101010101" pitchFamily="2" charset="-122"/>
            </a:endParaRPr>
          </a:p>
        </p:txBody>
      </p:sp>
      <p:sp>
        <p:nvSpPr>
          <p:cNvPr id="46096" name="Oval 15"/>
          <p:cNvSpPr>
            <a:spLocks noChangeAspect="1" noChangeArrowheads="1"/>
          </p:cNvSpPr>
          <p:nvPr/>
        </p:nvSpPr>
        <p:spPr bwMode="auto">
          <a:xfrm>
            <a:off x="2222500" y="2106613"/>
            <a:ext cx="458788"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6097" name="Rectangle 16"/>
          <p:cNvSpPr>
            <a:spLocks noChangeAspect="1" noChangeArrowheads="1"/>
          </p:cNvSpPr>
          <p:nvPr/>
        </p:nvSpPr>
        <p:spPr bwMode="auto">
          <a:xfrm>
            <a:off x="2246313" y="2141538"/>
            <a:ext cx="365125"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4</a:t>
            </a:r>
            <a:endParaRPr lang="en-US" altLang="zh-CN" b="1">
              <a:solidFill>
                <a:schemeClr val="bg1"/>
              </a:solidFill>
              <a:ea typeface="宋体" panose="02010600030101010101" pitchFamily="2" charset="-122"/>
            </a:endParaRPr>
          </a:p>
        </p:txBody>
      </p:sp>
      <p:sp>
        <p:nvSpPr>
          <p:cNvPr id="46098" name="Oval 17"/>
          <p:cNvSpPr>
            <a:spLocks noChangeAspect="1" noChangeArrowheads="1"/>
          </p:cNvSpPr>
          <p:nvPr/>
        </p:nvSpPr>
        <p:spPr bwMode="auto">
          <a:xfrm>
            <a:off x="1320800" y="1341438"/>
            <a:ext cx="460375"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6099" name="Rectangle 18"/>
          <p:cNvSpPr>
            <a:spLocks noChangeAspect="1" noChangeArrowheads="1"/>
          </p:cNvSpPr>
          <p:nvPr/>
        </p:nvSpPr>
        <p:spPr bwMode="auto">
          <a:xfrm>
            <a:off x="1362075"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2</a:t>
            </a:r>
            <a:endParaRPr lang="en-US" altLang="zh-CN" b="1">
              <a:solidFill>
                <a:schemeClr val="bg1"/>
              </a:solidFill>
              <a:ea typeface="宋体" panose="02010600030101010101" pitchFamily="2" charset="-122"/>
            </a:endParaRPr>
          </a:p>
        </p:txBody>
      </p:sp>
      <p:sp>
        <p:nvSpPr>
          <p:cNvPr id="46100" name="Oval 19"/>
          <p:cNvSpPr>
            <a:spLocks noChangeAspect="1" noChangeArrowheads="1"/>
          </p:cNvSpPr>
          <p:nvPr/>
        </p:nvSpPr>
        <p:spPr bwMode="auto">
          <a:xfrm>
            <a:off x="2200275"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6101" name="Rectangle 20"/>
          <p:cNvSpPr>
            <a:spLocks noChangeAspect="1" noChangeArrowheads="1"/>
          </p:cNvSpPr>
          <p:nvPr/>
        </p:nvSpPr>
        <p:spPr bwMode="auto">
          <a:xfrm>
            <a:off x="2243138"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6102" name="Text Box 21"/>
          <p:cNvSpPr txBox="1">
            <a:spLocks noChangeAspect="1" noChangeArrowheads="1"/>
          </p:cNvSpPr>
          <p:nvPr/>
        </p:nvSpPr>
        <p:spPr bwMode="auto">
          <a:xfrm>
            <a:off x="687388" y="1395413"/>
            <a:ext cx="542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i="1"/>
              <a:t>B</a:t>
            </a:r>
            <a:endParaRPr lang="en-US" altLang="zh-CN" i="1">
              <a:ea typeface="宋体" panose="02010600030101010101" pitchFamily="2" charset="-122"/>
            </a:endParaRPr>
          </a:p>
        </p:txBody>
      </p:sp>
      <p:sp>
        <p:nvSpPr>
          <p:cNvPr id="46103" name="Text Box 22"/>
          <p:cNvSpPr txBox="1">
            <a:spLocks noChangeAspect="1" noChangeArrowheads="1"/>
          </p:cNvSpPr>
          <p:nvPr/>
        </p:nvSpPr>
        <p:spPr bwMode="auto">
          <a:xfrm>
            <a:off x="2554288" y="1403350"/>
            <a:ext cx="6492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i="1"/>
              <a:t>A</a:t>
            </a:r>
            <a:endParaRPr lang="en-US" altLang="zh-CN" i="1">
              <a:ea typeface="宋体" panose="02010600030101010101" pitchFamily="2" charset="-122"/>
            </a:endParaRPr>
          </a:p>
        </p:txBody>
      </p:sp>
      <p:sp>
        <p:nvSpPr>
          <p:cNvPr id="46104" name="Text Box 23"/>
          <p:cNvSpPr txBox="1">
            <a:spLocks noChangeAspect="1" noChangeArrowheads="1"/>
          </p:cNvSpPr>
          <p:nvPr/>
        </p:nvSpPr>
        <p:spPr bwMode="auto">
          <a:xfrm>
            <a:off x="1222375"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6105" name="Text Box 24"/>
          <p:cNvSpPr txBox="1">
            <a:spLocks noChangeAspect="1" noChangeArrowheads="1"/>
          </p:cNvSpPr>
          <p:nvPr/>
        </p:nvSpPr>
        <p:spPr bwMode="auto">
          <a:xfrm>
            <a:off x="1731963" y="2036763"/>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6106" name="Text Box 25"/>
          <p:cNvSpPr txBox="1">
            <a:spLocks noChangeAspect="1" noChangeArrowheads="1"/>
          </p:cNvSpPr>
          <p:nvPr/>
        </p:nvSpPr>
        <p:spPr bwMode="auto">
          <a:xfrm>
            <a:off x="1644650" y="2533650"/>
            <a:ext cx="3016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6107" name="Text Box 26"/>
          <p:cNvSpPr txBox="1">
            <a:spLocks noChangeAspect="1" noChangeArrowheads="1"/>
          </p:cNvSpPr>
          <p:nvPr/>
        </p:nvSpPr>
        <p:spPr bwMode="auto">
          <a:xfrm>
            <a:off x="1701800" y="2781300"/>
            <a:ext cx="3651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6108" name="Text Box 27"/>
          <p:cNvSpPr txBox="1">
            <a:spLocks noChangeAspect="1" noChangeArrowheads="1"/>
          </p:cNvSpPr>
          <p:nvPr/>
        </p:nvSpPr>
        <p:spPr bwMode="auto">
          <a:xfrm>
            <a:off x="2190750"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6109" name="Line 29"/>
          <p:cNvSpPr>
            <a:spLocks noChangeAspect="1" noChangeShapeType="1"/>
          </p:cNvSpPr>
          <p:nvPr/>
        </p:nvSpPr>
        <p:spPr bwMode="auto">
          <a:xfrm>
            <a:off x="1928813" y="1392238"/>
            <a:ext cx="0" cy="41116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6110" name="Line 30"/>
          <p:cNvSpPr>
            <a:spLocks noChangeShapeType="1"/>
          </p:cNvSpPr>
          <p:nvPr/>
        </p:nvSpPr>
        <p:spPr bwMode="auto">
          <a:xfrm>
            <a:off x="1928813" y="1803400"/>
            <a:ext cx="850900" cy="9525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46111" name="Text Box 31"/>
          <p:cNvSpPr txBox="1">
            <a:spLocks noChangeArrowheads="1"/>
          </p:cNvSpPr>
          <p:nvPr/>
        </p:nvSpPr>
        <p:spPr bwMode="auto">
          <a:xfrm>
            <a:off x="3132138" y="1206500"/>
            <a:ext cx="1387475"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3</a:t>
            </a:r>
          </a:p>
          <a:p>
            <a:endParaRPr lang="en-US" altLang="zh-CN">
              <a:ea typeface="宋体" panose="02010600030101010101" pitchFamily="2" charset="-122"/>
            </a:endParaRPr>
          </a:p>
        </p:txBody>
      </p:sp>
      <p:sp>
        <p:nvSpPr>
          <p:cNvPr id="46112" name="Rectangle 33"/>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6176"/>
                                        </p:tgtEl>
                                        <p:attrNameLst>
                                          <p:attrName>style.visibility</p:attrName>
                                        </p:attrNameLst>
                                      </p:cBhvr>
                                      <p:to>
                                        <p:strVal val="visible"/>
                                      </p:to>
                                    </p:set>
                                    <p:animEffect transition="in" filter="dissolve">
                                      <p:cBhvr>
                                        <p:cTn id="7" dur="500"/>
                                        <p:tgtEl>
                                          <p:spTgt spid="64617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46148"/>
                                        </p:tgtEl>
                                        <p:attrNameLst>
                                          <p:attrName>style.visibility</p:attrName>
                                        </p:attrNameLst>
                                      </p:cBhvr>
                                      <p:to>
                                        <p:strVal val="visible"/>
                                      </p:to>
                                    </p:set>
                                    <p:animEffect transition="in" filter="dissolve">
                                      <p:cBhvr>
                                        <p:cTn id="10" dur="500"/>
                                        <p:tgtEl>
                                          <p:spTgt spid="64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6176" grpId="0" animBg="1"/>
      <p:bldP spid="64614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34321D32-ACCA-4C49-91FC-C8BC4FCA2ADC}" type="slidenum">
              <a:rPr lang="en-US" altLang="de-DE" sz="1000">
                <a:solidFill>
                  <a:srgbClr val="C0C0C0"/>
                </a:solidFill>
              </a:rPr>
              <a:pPr/>
              <a:t>52</a:t>
            </a:fld>
            <a:endParaRPr lang="en-US" altLang="de-DE" sz="1000">
              <a:solidFill>
                <a:srgbClr val="C0C0C0"/>
              </a:solidFill>
            </a:endParaRPr>
          </a:p>
        </p:txBody>
      </p:sp>
      <p:sp>
        <p:nvSpPr>
          <p:cNvPr id="648223" name="Rectangle 31"/>
          <p:cNvSpPr>
            <a:spLocks noChangeArrowheads="1"/>
          </p:cNvSpPr>
          <p:nvPr/>
        </p:nvSpPr>
        <p:spPr bwMode="auto">
          <a:xfrm>
            <a:off x="684213" y="3933825"/>
            <a:ext cx="7559675" cy="2303463"/>
          </a:xfrm>
          <a:prstGeom prst="rect">
            <a:avLst/>
          </a:prstGeom>
          <a:solidFill>
            <a:srgbClr val="DDDDDD"/>
          </a:solidFill>
          <a:ln w="9525" algn="ctr">
            <a:solidFill>
              <a:srgbClr val="DDDDDD"/>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108" name="Rectangle 3"/>
          <p:cNvSpPr>
            <a:spLocks noChangeArrowheads="1"/>
          </p:cNvSpPr>
          <p:nvPr/>
        </p:nvSpPr>
        <p:spPr bwMode="auto">
          <a:xfrm>
            <a:off x="3170238" y="1993900"/>
            <a:ext cx="2414587" cy="41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tabLst>
                <a:tab pos="252413" algn="l"/>
              </a:tabLst>
              <a:defRPr sz="1700">
                <a:solidFill>
                  <a:schemeClr val="tx1"/>
                </a:solidFill>
                <a:latin typeface="Arial" panose="020B0604020202020204" pitchFamily="34" charset="0"/>
              </a:defRPr>
            </a:lvl1pPr>
            <a:lvl2pPr marL="742950" indent="-285750">
              <a:tabLst>
                <a:tab pos="252413" algn="l"/>
              </a:tabLst>
              <a:defRPr sz="1700">
                <a:solidFill>
                  <a:schemeClr val="tx1"/>
                </a:solidFill>
                <a:latin typeface="Arial" panose="020B0604020202020204" pitchFamily="34" charset="0"/>
              </a:defRPr>
            </a:lvl2pPr>
            <a:lvl3pPr marL="1143000" indent="-228600">
              <a:tabLst>
                <a:tab pos="252413" algn="l"/>
              </a:tabLst>
              <a:defRPr sz="1700">
                <a:solidFill>
                  <a:schemeClr val="tx1"/>
                </a:solidFill>
                <a:latin typeface="Arial" panose="020B0604020202020204" pitchFamily="34" charset="0"/>
              </a:defRPr>
            </a:lvl3pPr>
            <a:lvl4pPr marL="1600200" indent="-228600">
              <a:tabLst>
                <a:tab pos="252413" algn="l"/>
              </a:tabLst>
              <a:defRPr sz="1700">
                <a:solidFill>
                  <a:schemeClr val="tx1"/>
                </a:solidFill>
                <a:latin typeface="Arial" panose="020B0604020202020204" pitchFamily="34" charset="0"/>
              </a:defRPr>
            </a:lvl4pPr>
            <a:lvl5pPr marL="2057400" indent="-228600">
              <a:tabLst>
                <a:tab pos="252413" algn="l"/>
              </a:tabLst>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tabLst>
                <a:tab pos="252413" algn="l"/>
              </a:tabLst>
              <a:defRPr sz="1700">
                <a:solidFill>
                  <a:schemeClr val="tx1"/>
                </a:solidFill>
                <a:latin typeface="Arial" panose="020B0604020202020204" pitchFamily="34" charset="0"/>
              </a:defRPr>
            </a:lvl9pPr>
          </a:lstStyle>
          <a:p>
            <a:pPr algn="l"/>
            <a:r>
              <a:rPr lang="nl-NL" altLang="de-DE" sz="1500">
                <a:sym typeface="Symbol" panose="05050102010706020507" pitchFamily="18" charset="2"/>
              </a:rPr>
              <a:t>Cell 5:      </a:t>
            </a:r>
            <a:r>
              <a:rPr lang="de-DE" altLang="de-DE" sz="1500">
                <a:sym typeface="Symbol" panose="05050102010706020507" pitchFamily="18" charset="2"/>
              </a:rPr>
              <a:t></a:t>
            </a:r>
            <a:r>
              <a:rPr lang="de-DE" altLang="de-DE" sz="1500" i="1"/>
              <a:t>g</a:t>
            </a:r>
            <a:r>
              <a:rPr lang="nl-NL" altLang="de-DE" sz="1500">
                <a:sym typeface="Symbol" panose="05050102010706020507" pitchFamily="18" charset="2"/>
              </a:rPr>
              <a:t>(Cell_5) = -1</a:t>
            </a:r>
            <a:endParaRPr lang="de-DE" altLang="de-DE" sz="1500">
              <a:solidFill>
                <a:srgbClr val="CC0000"/>
              </a:solidFill>
            </a:endParaRPr>
          </a:p>
        </p:txBody>
      </p:sp>
      <p:sp>
        <p:nvSpPr>
          <p:cNvPr id="648196" name="Rectangle 4"/>
          <p:cNvSpPr>
            <a:spLocks noChangeArrowheads="1"/>
          </p:cNvSpPr>
          <p:nvPr/>
        </p:nvSpPr>
        <p:spPr bwMode="auto">
          <a:xfrm>
            <a:off x="611188" y="3933825"/>
            <a:ext cx="7059612" cy="1604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5</a:t>
            </a:r>
            <a:br>
              <a:rPr lang="en-US" altLang="zh-CN" sz="1500">
                <a:solidFill>
                  <a:srgbClr val="CC0000"/>
                </a:solidFill>
                <a:ea typeface="宋体" panose="02010600030101010101" pitchFamily="2" charset="-122"/>
              </a:rPr>
            </a:br>
            <a:endParaRPr lang="en-US" altLang="zh-CN" sz="1500">
              <a:solidFill>
                <a:srgbClr val="CC0000"/>
              </a:solidFill>
              <a:ea typeface="宋体" panose="02010600030101010101" pitchFamily="2" charset="-122"/>
            </a:endParaRPr>
          </a:p>
          <a:p>
            <a:pPr algn="l"/>
            <a:r>
              <a:rPr lang="en-US" altLang="zh-CN" sz="1500">
                <a:ea typeface="宋体" panose="02010600030101010101" pitchFamily="2" charset="-122"/>
              </a:rPr>
              <a:t>Cell 5 has maximum gain </a:t>
            </a:r>
            <a:r>
              <a:rPr lang="en-US" altLang="zh-CN" sz="1500">
                <a:ea typeface="宋体" panose="02010600030101010101" pitchFamily="2" charset="-122"/>
                <a:sym typeface="Symbol" panose="05050102010706020507" pitchFamily="18" charset="2"/>
              </a:rPr>
              <a:t></a:t>
            </a:r>
            <a:r>
              <a:rPr lang="en-US" altLang="zh-CN" sz="1500" i="1">
                <a:ea typeface="宋体" panose="02010600030101010101" pitchFamily="2" charset="-122"/>
              </a:rPr>
              <a:t>g</a:t>
            </a:r>
            <a:r>
              <a:rPr lang="en-US" altLang="zh-CN" sz="1500" baseline="-25000">
                <a:ea typeface="宋体" panose="02010600030101010101" pitchFamily="2" charset="-122"/>
              </a:rPr>
              <a:t>5 </a:t>
            </a:r>
            <a:r>
              <a:rPr lang="en-US" altLang="zh-CN" sz="1500">
                <a:ea typeface="宋体" panose="02010600030101010101" pitchFamily="2" charset="-122"/>
              </a:rPr>
              <a:t>= -1, </a:t>
            </a:r>
            <a:r>
              <a:rPr lang="en-US" altLang="zh-CN" sz="1500" i="1">
                <a:ea typeface="宋体" panose="02010600030101010101" pitchFamily="2" charset="-122"/>
              </a:rPr>
              <a:t>area</a:t>
            </a:r>
            <a:r>
              <a:rPr lang="en-US" altLang="zh-CN" sz="1500">
                <a:ea typeface="宋体" panose="02010600030101010101" pitchFamily="2" charset="-122"/>
              </a:rPr>
              <a:t>(</a:t>
            </a:r>
            <a:r>
              <a:rPr lang="en-US" altLang="zh-CN" sz="1500" i="1">
                <a:ea typeface="宋体" panose="02010600030101010101" pitchFamily="2" charset="-122"/>
              </a:rPr>
              <a:t>A</a:t>
            </a:r>
            <a:r>
              <a:rPr lang="en-US" altLang="zh-CN" sz="1500">
                <a:ea typeface="宋体" panose="02010600030101010101" pitchFamily="2" charset="-122"/>
              </a:rPr>
              <a:t>) = 10, balance criterion is met.</a:t>
            </a:r>
            <a:br>
              <a:rPr lang="en-US" altLang="zh-CN" sz="1500">
                <a:ea typeface="宋体" panose="02010600030101010101" pitchFamily="2" charset="-122"/>
                <a:sym typeface="Symbol" panose="05050102010706020507" pitchFamily="18" charset="2"/>
              </a:rPr>
            </a:br>
            <a:br>
              <a:rPr lang="en-US" altLang="zh-CN" sz="1500">
                <a:ea typeface="宋体" panose="02010600030101010101" pitchFamily="2" charset="-122"/>
                <a:sym typeface="Symbol" panose="05050102010706020507" pitchFamily="18" charset="2"/>
              </a:rPr>
            </a:br>
            <a:r>
              <a:rPr lang="en-US" altLang="zh-CN" sz="1500">
                <a:ea typeface="宋体" panose="02010600030101010101" pitchFamily="2" charset="-122"/>
                <a:sym typeface="Symbol" panose="05050102010706020507" pitchFamily="18" charset="2"/>
              </a:rPr>
              <a:t>Move cell 5, updated partitions: </a:t>
            </a:r>
            <a:r>
              <a:rPr lang="en-US" altLang="zh-CN" sz="1500" i="1">
                <a:ea typeface="宋体" panose="02010600030101010101" pitchFamily="2" charset="-122"/>
                <a:sym typeface="Symbol" panose="05050102010706020507" pitchFamily="18" charset="2"/>
              </a:rPr>
              <a:t>A</a:t>
            </a:r>
            <a:r>
              <a:rPr lang="en-US" altLang="zh-CN" sz="1500" baseline="-25000">
                <a:ea typeface="宋体" panose="02010600030101010101" pitchFamily="2" charset="-122"/>
                <a:sym typeface="Symbol" panose="05050102010706020507" pitchFamily="18" charset="2"/>
              </a:rPr>
              <a:t>4</a:t>
            </a:r>
            <a:r>
              <a:rPr lang="en-US" altLang="zh-CN" sz="1500">
                <a:ea typeface="宋体" panose="02010600030101010101" pitchFamily="2" charset="-122"/>
                <a:sym typeface="Symbol" panose="05050102010706020507" pitchFamily="18" charset="2"/>
              </a:rPr>
              <a:t> = {3,4,5}, </a:t>
            </a:r>
            <a:r>
              <a:rPr lang="en-US" altLang="zh-CN" sz="1500" i="1">
                <a:ea typeface="宋体" panose="02010600030101010101" pitchFamily="2" charset="-122"/>
                <a:sym typeface="Symbol" panose="05050102010706020507" pitchFamily="18" charset="2"/>
              </a:rPr>
              <a:t>B</a:t>
            </a:r>
            <a:r>
              <a:rPr lang="en-US" altLang="zh-CN" sz="1500" baseline="-25000">
                <a:ea typeface="宋体" panose="02010600030101010101" pitchFamily="2" charset="-122"/>
                <a:sym typeface="Symbol" panose="05050102010706020507" pitchFamily="18" charset="2"/>
              </a:rPr>
              <a:t>3</a:t>
            </a:r>
            <a:r>
              <a:rPr lang="en-US" altLang="zh-CN" sz="1500">
                <a:ea typeface="宋体" panose="02010600030101010101" pitchFamily="2" charset="-122"/>
                <a:sym typeface="Symbol" panose="05050102010706020507" pitchFamily="18" charset="2"/>
              </a:rPr>
              <a:t> = {1,2}, </a:t>
            </a:r>
            <a:r>
              <a:rPr lang="en-US" altLang="zh-CN" sz="1500">
                <a:solidFill>
                  <a:srgbClr val="CC0000"/>
                </a:solidFill>
                <a:ea typeface="宋体" panose="02010600030101010101" pitchFamily="2" charset="-122"/>
                <a:sym typeface="Symbol" panose="05050102010706020507" pitchFamily="18" charset="2"/>
              </a:rPr>
              <a:t>all cells {1,2,3,4,5} fixed.</a:t>
            </a:r>
            <a:r>
              <a:rPr lang="en-US" altLang="zh-CN" sz="1500">
                <a:ea typeface="宋体" panose="02010600030101010101" pitchFamily="2" charset="-122"/>
                <a:sym typeface="Symbol" panose="05050102010706020507" pitchFamily="18" charset="2"/>
              </a:rPr>
              <a:t> </a:t>
            </a:r>
          </a:p>
        </p:txBody>
      </p:sp>
      <p:sp>
        <p:nvSpPr>
          <p:cNvPr id="47110" name="Line 5"/>
          <p:cNvSpPr>
            <a:spLocks noChangeAspect="1" noChangeShapeType="1"/>
          </p:cNvSpPr>
          <p:nvPr/>
        </p:nvSpPr>
        <p:spPr bwMode="auto">
          <a:xfrm flipV="1">
            <a:off x="1638300" y="1555750"/>
            <a:ext cx="798513" cy="73501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7111" name="Line 6"/>
          <p:cNvSpPr>
            <a:spLocks noChangeAspect="1" noChangeShapeType="1"/>
          </p:cNvSpPr>
          <p:nvPr/>
        </p:nvSpPr>
        <p:spPr bwMode="auto">
          <a:xfrm flipH="1">
            <a:off x="1638300" y="1677988"/>
            <a:ext cx="0" cy="14112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112" name="Line 7"/>
          <p:cNvSpPr>
            <a:spLocks noChangeAspect="1" noChangeShapeType="1"/>
          </p:cNvSpPr>
          <p:nvPr/>
        </p:nvSpPr>
        <p:spPr bwMode="auto">
          <a:xfrm>
            <a:off x="2438400" y="1527175"/>
            <a:ext cx="0" cy="7651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113" name="Line 8"/>
          <p:cNvSpPr>
            <a:spLocks noChangeAspect="1" noChangeShapeType="1"/>
          </p:cNvSpPr>
          <p:nvPr/>
        </p:nvSpPr>
        <p:spPr bwMode="auto">
          <a:xfrm flipH="1">
            <a:off x="1455738" y="1555750"/>
            <a:ext cx="0" cy="1411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114" name="Line 9"/>
          <p:cNvSpPr>
            <a:spLocks noChangeAspect="1" noChangeShapeType="1"/>
          </p:cNvSpPr>
          <p:nvPr/>
        </p:nvSpPr>
        <p:spPr bwMode="auto">
          <a:xfrm flipH="1">
            <a:off x="1608138" y="2328863"/>
            <a:ext cx="811212" cy="6985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115" name="Line 10"/>
          <p:cNvSpPr>
            <a:spLocks noChangeAspect="1" noChangeShapeType="1"/>
          </p:cNvSpPr>
          <p:nvPr/>
        </p:nvSpPr>
        <p:spPr bwMode="auto">
          <a:xfrm>
            <a:off x="1590675" y="3089275"/>
            <a:ext cx="9175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116" name="Oval 11"/>
          <p:cNvSpPr>
            <a:spLocks noChangeAspect="1" noChangeArrowheads="1"/>
          </p:cNvSpPr>
          <p:nvPr/>
        </p:nvSpPr>
        <p:spPr bwMode="auto">
          <a:xfrm>
            <a:off x="1301750" y="2874963"/>
            <a:ext cx="460375" cy="458787"/>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117" name="Rectangle 12"/>
          <p:cNvSpPr>
            <a:spLocks noChangeAspect="1" noChangeArrowheads="1"/>
          </p:cNvSpPr>
          <p:nvPr/>
        </p:nvSpPr>
        <p:spPr bwMode="auto">
          <a:xfrm>
            <a:off x="1343025" y="2911475"/>
            <a:ext cx="368300"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47118" name="Oval 13"/>
          <p:cNvSpPr>
            <a:spLocks noChangeAspect="1" noChangeArrowheads="1"/>
          </p:cNvSpPr>
          <p:nvPr/>
        </p:nvSpPr>
        <p:spPr bwMode="auto">
          <a:xfrm>
            <a:off x="2200275" y="1341438"/>
            <a:ext cx="458788"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119" name="Rectangle 14"/>
          <p:cNvSpPr>
            <a:spLocks noChangeAspect="1" noChangeArrowheads="1"/>
          </p:cNvSpPr>
          <p:nvPr/>
        </p:nvSpPr>
        <p:spPr bwMode="auto">
          <a:xfrm>
            <a:off x="2243138" y="1385888"/>
            <a:ext cx="368300" cy="369887"/>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3</a:t>
            </a:r>
            <a:endParaRPr lang="en-US" altLang="zh-CN" b="1">
              <a:ea typeface="宋体" panose="02010600030101010101" pitchFamily="2" charset="-122"/>
            </a:endParaRPr>
          </a:p>
        </p:txBody>
      </p:sp>
      <p:sp>
        <p:nvSpPr>
          <p:cNvPr id="47120" name="Oval 15"/>
          <p:cNvSpPr>
            <a:spLocks noChangeAspect="1" noChangeArrowheads="1"/>
          </p:cNvSpPr>
          <p:nvPr/>
        </p:nvSpPr>
        <p:spPr bwMode="auto">
          <a:xfrm>
            <a:off x="2222500" y="2106613"/>
            <a:ext cx="458788" cy="460375"/>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121" name="Rectangle 16"/>
          <p:cNvSpPr>
            <a:spLocks noChangeAspect="1" noChangeArrowheads="1"/>
          </p:cNvSpPr>
          <p:nvPr/>
        </p:nvSpPr>
        <p:spPr bwMode="auto">
          <a:xfrm>
            <a:off x="2246313" y="2141538"/>
            <a:ext cx="365125" cy="365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4</a:t>
            </a:r>
            <a:endParaRPr lang="en-US" altLang="zh-CN" b="1">
              <a:ea typeface="宋体" panose="02010600030101010101" pitchFamily="2" charset="-122"/>
            </a:endParaRPr>
          </a:p>
        </p:txBody>
      </p:sp>
      <p:sp>
        <p:nvSpPr>
          <p:cNvPr id="47122" name="Oval 17"/>
          <p:cNvSpPr>
            <a:spLocks noChangeAspect="1" noChangeArrowheads="1"/>
          </p:cNvSpPr>
          <p:nvPr/>
        </p:nvSpPr>
        <p:spPr bwMode="auto">
          <a:xfrm>
            <a:off x="1320800" y="1341438"/>
            <a:ext cx="460375" cy="460375"/>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123" name="Rectangle 18"/>
          <p:cNvSpPr>
            <a:spLocks noChangeAspect="1" noChangeArrowheads="1"/>
          </p:cNvSpPr>
          <p:nvPr/>
        </p:nvSpPr>
        <p:spPr bwMode="auto">
          <a:xfrm>
            <a:off x="1362075" y="1392238"/>
            <a:ext cx="368300" cy="36988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2</a:t>
            </a:r>
            <a:endParaRPr lang="en-US" altLang="zh-CN" b="1">
              <a:solidFill>
                <a:schemeClr val="bg1"/>
              </a:solidFill>
              <a:ea typeface="宋体" panose="02010600030101010101" pitchFamily="2" charset="-122"/>
            </a:endParaRPr>
          </a:p>
        </p:txBody>
      </p:sp>
      <p:sp>
        <p:nvSpPr>
          <p:cNvPr id="47124" name="Oval 19"/>
          <p:cNvSpPr>
            <a:spLocks noChangeAspect="1" noChangeArrowheads="1"/>
          </p:cNvSpPr>
          <p:nvPr/>
        </p:nvSpPr>
        <p:spPr bwMode="auto">
          <a:xfrm>
            <a:off x="2200275" y="2873375"/>
            <a:ext cx="458788" cy="458788"/>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7125" name="Rectangle 20"/>
          <p:cNvSpPr>
            <a:spLocks noChangeAspect="1" noChangeArrowheads="1"/>
          </p:cNvSpPr>
          <p:nvPr/>
        </p:nvSpPr>
        <p:spPr bwMode="auto">
          <a:xfrm>
            <a:off x="2243138" y="2919413"/>
            <a:ext cx="368300" cy="368300"/>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7126" name="Text Box 21"/>
          <p:cNvSpPr txBox="1">
            <a:spLocks noChangeAspect="1" noChangeArrowheads="1"/>
          </p:cNvSpPr>
          <p:nvPr/>
        </p:nvSpPr>
        <p:spPr bwMode="auto">
          <a:xfrm>
            <a:off x="687388" y="1395413"/>
            <a:ext cx="542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i="1"/>
              <a:t>B</a:t>
            </a:r>
            <a:endParaRPr lang="en-US" altLang="zh-CN" i="1">
              <a:ea typeface="宋体" panose="02010600030101010101" pitchFamily="2" charset="-122"/>
            </a:endParaRPr>
          </a:p>
        </p:txBody>
      </p:sp>
      <p:sp>
        <p:nvSpPr>
          <p:cNvPr id="47127" name="Text Box 22"/>
          <p:cNvSpPr txBox="1">
            <a:spLocks noChangeAspect="1" noChangeArrowheads="1"/>
          </p:cNvSpPr>
          <p:nvPr/>
        </p:nvSpPr>
        <p:spPr bwMode="auto">
          <a:xfrm>
            <a:off x="2554288" y="1403350"/>
            <a:ext cx="649287"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i="1"/>
              <a:t>A</a:t>
            </a:r>
            <a:endParaRPr lang="en-US" altLang="zh-CN" i="1">
              <a:ea typeface="宋体" panose="02010600030101010101" pitchFamily="2" charset="-122"/>
            </a:endParaRPr>
          </a:p>
        </p:txBody>
      </p:sp>
      <p:sp>
        <p:nvSpPr>
          <p:cNvPr id="47128" name="Text Box 23"/>
          <p:cNvSpPr txBox="1">
            <a:spLocks noChangeAspect="1" noChangeArrowheads="1"/>
          </p:cNvSpPr>
          <p:nvPr/>
        </p:nvSpPr>
        <p:spPr bwMode="auto">
          <a:xfrm>
            <a:off x="1222375" y="2046288"/>
            <a:ext cx="293688" cy="277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7129" name="Text Box 24"/>
          <p:cNvSpPr txBox="1">
            <a:spLocks noChangeAspect="1" noChangeArrowheads="1"/>
          </p:cNvSpPr>
          <p:nvPr/>
        </p:nvSpPr>
        <p:spPr bwMode="auto">
          <a:xfrm>
            <a:off x="1731963" y="2036763"/>
            <a:ext cx="463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7130" name="Text Box 25"/>
          <p:cNvSpPr txBox="1">
            <a:spLocks noChangeAspect="1" noChangeArrowheads="1"/>
          </p:cNvSpPr>
          <p:nvPr/>
        </p:nvSpPr>
        <p:spPr bwMode="auto">
          <a:xfrm>
            <a:off x="1644650" y="2533650"/>
            <a:ext cx="301625"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7131" name="Text Box 26"/>
          <p:cNvSpPr txBox="1">
            <a:spLocks noChangeAspect="1" noChangeArrowheads="1"/>
          </p:cNvSpPr>
          <p:nvPr/>
        </p:nvSpPr>
        <p:spPr bwMode="auto">
          <a:xfrm>
            <a:off x="1701800" y="2781300"/>
            <a:ext cx="365125"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7132" name="Text Box 27"/>
          <p:cNvSpPr txBox="1">
            <a:spLocks noChangeAspect="1" noChangeArrowheads="1"/>
          </p:cNvSpPr>
          <p:nvPr/>
        </p:nvSpPr>
        <p:spPr bwMode="auto">
          <a:xfrm>
            <a:off x="2190750" y="1803400"/>
            <a:ext cx="574675"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7133" name="Line 28"/>
          <p:cNvSpPr>
            <a:spLocks noChangeAspect="1" noChangeShapeType="1"/>
          </p:cNvSpPr>
          <p:nvPr/>
        </p:nvSpPr>
        <p:spPr bwMode="auto">
          <a:xfrm>
            <a:off x="1928813" y="1392238"/>
            <a:ext cx="0" cy="41116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7134" name="Line 29"/>
          <p:cNvSpPr>
            <a:spLocks noChangeShapeType="1"/>
          </p:cNvSpPr>
          <p:nvPr/>
        </p:nvSpPr>
        <p:spPr bwMode="auto">
          <a:xfrm>
            <a:off x="1928813" y="1803400"/>
            <a:ext cx="317500" cy="9779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sp>
        <p:nvSpPr>
          <p:cNvPr id="47135" name="Text Box 30"/>
          <p:cNvSpPr txBox="1">
            <a:spLocks noChangeArrowheads="1"/>
          </p:cNvSpPr>
          <p:nvPr/>
        </p:nvSpPr>
        <p:spPr bwMode="auto">
          <a:xfrm>
            <a:off x="3132138" y="1206500"/>
            <a:ext cx="1387475" cy="709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en-US" altLang="zh-CN" sz="1500">
                <a:solidFill>
                  <a:srgbClr val="CC0000"/>
                </a:solidFill>
                <a:ea typeface="宋体" panose="02010600030101010101" pitchFamily="2" charset="-122"/>
              </a:rPr>
              <a:t>Iteration </a:t>
            </a:r>
            <a:r>
              <a:rPr lang="en-US" altLang="zh-CN" sz="1500" i="1">
                <a:solidFill>
                  <a:srgbClr val="CC0000"/>
                </a:solidFill>
                <a:ea typeface="宋体" panose="02010600030101010101" pitchFamily="2" charset="-122"/>
              </a:rPr>
              <a:t>i</a:t>
            </a:r>
            <a:r>
              <a:rPr lang="en-US" altLang="zh-CN" sz="1500">
                <a:solidFill>
                  <a:srgbClr val="CC0000"/>
                </a:solidFill>
                <a:ea typeface="宋体" panose="02010600030101010101" pitchFamily="2" charset="-122"/>
              </a:rPr>
              <a:t> = 4</a:t>
            </a:r>
          </a:p>
          <a:p>
            <a:endParaRPr lang="en-US" altLang="zh-CN">
              <a:ea typeface="宋体" panose="02010600030101010101" pitchFamily="2" charset="-122"/>
            </a:endParaRPr>
          </a:p>
        </p:txBody>
      </p:sp>
      <p:sp>
        <p:nvSpPr>
          <p:cNvPr id="47136" name="Rectangle 32"/>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48223"/>
                                        </p:tgtEl>
                                        <p:attrNameLst>
                                          <p:attrName>style.visibility</p:attrName>
                                        </p:attrNameLst>
                                      </p:cBhvr>
                                      <p:to>
                                        <p:strVal val="visible"/>
                                      </p:to>
                                    </p:set>
                                    <p:animEffect transition="in" filter="dissolve">
                                      <p:cBhvr>
                                        <p:cTn id="7" dur="500"/>
                                        <p:tgtEl>
                                          <p:spTgt spid="64822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648196"/>
                                        </p:tgtEl>
                                        <p:attrNameLst>
                                          <p:attrName>style.visibility</p:attrName>
                                        </p:attrNameLst>
                                      </p:cBhvr>
                                      <p:to>
                                        <p:strVal val="visible"/>
                                      </p:to>
                                    </p:set>
                                    <p:animEffect transition="in" filter="dissolve">
                                      <p:cBhvr>
                                        <p:cTn id="10" dur="500"/>
                                        <p:tgtEl>
                                          <p:spTgt spid="648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223" grpId="0" animBg="1"/>
      <p:bldP spid="64819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DF72B8F-D417-423F-B618-B4220A31459C}" type="slidenum">
              <a:rPr lang="en-US" altLang="de-DE" sz="1000">
                <a:solidFill>
                  <a:srgbClr val="C0C0C0"/>
                </a:solidFill>
              </a:rPr>
              <a:pPr/>
              <a:t>53</a:t>
            </a:fld>
            <a:endParaRPr lang="en-US" altLang="de-DE" sz="1000">
              <a:solidFill>
                <a:srgbClr val="C0C0C0"/>
              </a:solidFill>
            </a:endParaRPr>
          </a:p>
        </p:txBody>
      </p:sp>
      <p:sp>
        <p:nvSpPr>
          <p:cNvPr id="48131" name="Rectangle 5"/>
          <p:cNvSpPr>
            <a:spLocks noChangeArrowheads="1"/>
          </p:cNvSpPr>
          <p:nvPr/>
        </p:nvSpPr>
        <p:spPr bwMode="auto">
          <a:xfrm>
            <a:off x="841375" y="1341438"/>
            <a:ext cx="3856038" cy="1903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a:r>
              <a:rPr lang="de-DE" altLang="de-DE" sz="1500" b="1">
                <a:solidFill>
                  <a:srgbClr val="CC0000"/>
                </a:solidFill>
              </a:rPr>
              <a:t>Step 5</a:t>
            </a:r>
            <a:r>
              <a:rPr lang="de-DE" altLang="de-DE" sz="1500">
                <a:solidFill>
                  <a:srgbClr val="CC0000"/>
                </a:solidFill>
              </a:rPr>
              <a:t>:</a:t>
            </a:r>
            <a:r>
              <a:rPr lang="de-DE" altLang="de-DE" sz="1500"/>
              <a:t> Find best move sequence c</a:t>
            </a:r>
            <a:r>
              <a:rPr lang="de-DE" altLang="de-DE" sz="1500" baseline="-25000"/>
              <a:t>1</a:t>
            </a:r>
            <a:r>
              <a:rPr lang="de-DE" altLang="de-DE" sz="1500"/>
              <a:t> … c</a:t>
            </a:r>
            <a:r>
              <a:rPr lang="de-DE" altLang="de-DE" sz="1500" i="1" baseline="-25000"/>
              <a:t>m</a:t>
            </a:r>
            <a:endParaRPr lang="en-US" altLang="zh-CN" sz="1500" baseline="-25000">
              <a:ea typeface="宋体" panose="02010600030101010101" pitchFamily="2" charset="-122"/>
            </a:endParaRPr>
          </a:p>
          <a:p>
            <a:pPr algn="l"/>
            <a:r>
              <a:rPr lang="de-DE" altLang="de-DE" sz="1500" i="1"/>
              <a:t>G</a:t>
            </a:r>
            <a:r>
              <a:rPr lang="de-DE" altLang="de-DE" sz="1500" baseline="-25000"/>
              <a:t>1</a:t>
            </a:r>
            <a:r>
              <a:rPr lang="de-DE" altLang="de-DE" sz="1500"/>
              <a:t> = </a:t>
            </a:r>
            <a:r>
              <a:rPr lang="de-DE" altLang="de-DE" sz="1500">
                <a:sym typeface="Symbol" panose="05050102010706020507" pitchFamily="18" charset="2"/>
              </a:rPr>
              <a:t></a:t>
            </a:r>
            <a:r>
              <a:rPr lang="de-DE" altLang="de-DE" sz="1500" i="1"/>
              <a:t>g</a:t>
            </a:r>
            <a:r>
              <a:rPr lang="de-DE" altLang="de-DE" sz="1500" baseline="-25000">
                <a:sym typeface="Symbol" panose="05050102010706020507" pitchFamily="18" charset="2"/>
              </a:rPr>
              <a:t>1</a:t>
            </a:r>
            <a:r>
              <a:rPr lang="de-DE" altLang="de-DE" sz="1500">
                <a:sym typeface="Symbol" panose="05050102010706020507" pitchFamily="18" charset="2"/>
              </a:rPr>
              <a:t> = 1</a:t>
            </a:r>
            <a:br>
              <a:rPr lang="de-DE" altLang="de-DE" sz="1500">
                <a:sym typeface="Symbol" panose="05050102010706020507" pitchFamily="18" charset="2"/>
              </a:rPr>
            </a:br>
            <a:r>
              <a:rPr lang="de-DE" altLang="de-DE" sz="1500" i="1">
                <a:sym typeface="Symbol" panose="05050102010706020507" pitchFamily="18" charset="2"/>
              </a:rPr>
              <a:t>G</a:t>
            </a:r>
            <a:r>
              <a:rPr lang="de-DE" altLang="de-DE" sz="1500" baseline="-25000">
                <a:sym typeface="Symbol" panose="05050102010706020507" pitchFamily="18" charset="2"/>
              </a:rPr>
              <a:t>2</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1</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2</a:t>
            </a:r>
            <a:r>
              <a:rPr lang="de-DE" altLang="de-DE" sz="1500">
                <a:sym typeface="Symbol" panose="05050102010706020507" pitchFamily="18" charset="2"/>
              </a:rPr>
              <a:t> = 0</a:t>
            </a:r>
            <a:br>
              <a:rPr lang="de-DE" altLang="de-DE" sz="1500">
                <a:sym typeface="Symbol" panose="05050102010706020507" pitchFamily="18" charset="2"/>
              </a:rPr>
            </a:br>
            <a:r>
              <a:rPr lang="de-DE" altLang="de-DE" sz="1500" i="1">
                <a:sym typeface="Symbol" panose="05050102010706020507" pitchFamily="18" charset="2"/>
              </a:rPr>
              <a:t>G</a:t>
            </a:r>
            <a:r>
              <a:rPr lang="de-DE" altLang="de-DE" sz="1500" baseline="-25000">
                <a:sym typeface="Symbol" panose="05050102010706020507" pitchFamily="18" charset="2"/>
              </a:rPr>
              <a:t>3</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1</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2</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3</a:t>
            </a:r>
            <a:r>
              <a:rPr lang="de-DE" altLang="de-DE" sz="1500">
                <a:sym typeface="Symbol" panose="05050102010706020507" pitchFamily="18" charset="2"/>
              </a:rPr>
              <a:t> = 1</a:t>
            </a:r>
            <a:br>
              <a:rPr lang="de-DE" altLang="de-DE" sz="1500">
                <a:sym typeface="Symbol" panose="05050102010706020507" pitchFamily="18" charset="2"/>
              </a:rPr>
            </a:br>
            <a:r>
              <a:rPr lang="de-DE" altLang="de-DE" sz="1500" i="1">
                <a:sym typeface="Symbol" panose="05050102010706020507" pitchFamily="18" charset="2"/>
              </a:rPr>
              <a:t>G</a:t>
            </a:r>
            <a:r>
              <a:rPr lang="de-DE" altLang="de-DE" sz="1500" baseline="-25000">
                <a:sym typeface="Symbol" panose="05050102010706020507" pitchFamily="18" charset="2"/>
              </a:rPr>
              <a:t>4</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1</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2</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3</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4</a:t>
            </a:r>
            <a:r>
              <a:rPr lang="de-DE" altLang="de-DE" sz="1500">
                <a:sym typeface="Symbol" panose="05050102010706020507" pitchFamily="18" charset="2"/>
              </a:rPr>
              <a:t> = 1</a:t>
            </a:r>
            <a:br>
              <a:rPr lang="de-DE" altLang="de-DE" sz="1500">
                <a:sym typeface="Symbol" panose="05050102010706020507" pitchFamily="18" charset="2"/>
              </a:rPr>
            </a:br>
            <a:r>
              <a:rPr lang="de-DE" altLang="de-DE" sz="1500" i="1">
                <a:sym typeface="Symbol" panose="05050102010706020507" pitchFamily="18" charset="2"/>
              </a:rPr>
              <a:t>G</a:t>
            </a:r>
            <a:r>
              <a:rPr lang="de-DE" altLang="de-DE" sz="1500" baseline="-25000">
                <a:sym typeface="Symbol" panose="05050102010706020507" pitchFamily="18" charset="2"/>
              </a:rPr>
              <a:t>5</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1</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2</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3</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4</a:t>
            </a:r>
            <a:r>
              <a:rPr lang="de-DE" altLang="de-DE" sz="1500">
                <a:sym typeface="Symbol" panose="05050102010706020507" pitchFamily="18" charset="2"/>
              </a:rPr>
              <a:t> + </a:t>
            </a:r>
            <a:r>
              <a:rPr lang="de-DE" altLang="de-DE" sz="1500" i="1"/>
              <a:t>g</a:t>
            </a:r>
            <a:r>
              <a:rPr lang="de-DE" altLang="de-DE" sz="1500" baseline="-25000">
                <a:sym typeface="Symbol" panose="05050102010706020507" pitchFamily="18" charset="2"/>
              </a:rPr>
              <a:t>5</a:t>
            </a:r>
            <a:r>
              <a:rPr lang="de-DE" altLang="de-DE" sz="1500">
                <a:sym typeface="Symbol" panose="05050102010706020507" pitchFamily="18" charset="2"/>
              </a:rPr>
              <a:t> = 0.</a:t>
            </a:r>
          </a:p>
        </p:txBody>
      </p:sp>
      <p:sp>
        <p:nvSpPr>
          <p:cNvPr id="523271" name="Rectangle 7"/>
          <p:cNvSpPr>
            <a:spLocks noChangeArrowheads="1"/>
          </p:cNvSpPr>
          <p:nvPr/>
        </p:nvSpPr>
        <p:spPr bwMode="auto">
          <a:xfrm>
            <a:off x="841375" y="3940175"/>
            <a:ext cx="3240088" cy="341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cs typeface="Times New Roman" panose="02020603050405020304" pitchFamily="18" charset="0"/>
              </a:rPr>
              <a:t>Maximum positive cumulative gain </a:t>
            </a:r>
          </a:p>
        </p:txBody>
      </p:sp>
      <p:graphicFrame>
        <p:nvGraphicFramePr>
          <p:cNvPr id="523270" name="Object 6"/>
          <p:cNvGraphicFramePr>
            <a:graphicFrameLocks noChangeAspect="1"/>
          </p:cNvGraphicFramePr>
          <p:nvPr/>
        </p:nvGraphicFramePr>
        <p:xfrm>
          <a:off x="4005263" y="3748088"/>
          <a:ext cx="1574800" cy="833437"/>
        </p:xfrm>
        <a:graphic>
          <a:graphicData uri="http://schemas.openxmlformats.org/presentationml/2006/ole">
            <mc:AlternateContent xmlns:mc="http://schemas.openxmlformats.org/markup-compatibility/2006">
              <mc:Choice xmlns:v="urn:schemas-microsoft-com:vml" Requires="v">
                <p:oleObj spid="_x0000_s48171" name="Formel" r:id="rId4" imgW="812447" imgH="431613" progId="Equation.3">
                  <p:embed/>
                </p:oleObj>
              </mc:Choice>
              <mc:Fallback>
                <p:oleObj name="Formel" r:id="rId4" imgW="812447" imgH="431613"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05263" y="3748088"/>
                        <a:ext cx="1574800"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23272" name="Rectangle 8"/>
          <p:cNvSpPr>
            <a:spLocks noChangeArrowheads="1"/>
          </p:cNvSpPr>
          <p:nvPr/>
        </p:nvSpPr>
        <p:spPr bwMode="auto">
          <a:xfrm>
            <a:off x="866775" y="4478338"/>
            <a:ext cx="7593013" cy="1484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nchor="ct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500">
                <a:ea typeface="宋体" panose="02010600030101010101" pitchFamily="2" charset="-122"/>
                <a:cs typeface="Times New Roman" panose="02020603050405020304" pitchFamily="18" charset="0"/>
              </a:rPr>
              <a:t>found in iterations 1, 3 and 4.</a:t>
            </a:r>
            <a:br>
              <a:rPr lang="en-US" altLang="zh-CN" sz="1500">
                <a:ea typeface="宋体" panose="02010600030101010101" pitchFamily="2" charset="-122"/>
                <a:cs typeface="Times New Roman" panose="02020603050405020304" pitchFamily="18" charset="0"/>
              </a:rPr>
            </a:br>
            <a:r>
              <a:rPr lang="en-US" altLang="zh-CN" sz="1500">
                <a:ea typeface="宋体" panose="02010600030101010101" pitchFamily="2" charset="-122"/>
                <a:cs typeface="Times New Roman" panose="02020603050405020304" pitchFamily="18" charset="0"/>
              </a:rPr>
              <a:t> </a:t>
            </a:r>
          </a:p>
          <a:p>
            <a:pPr algn="l">
              <a:lnSpc>
                <a:spcPct val="100000"/>
              </a:lnSpc>
            </a:pPr>
            <a:r>
              <a:rPr lang="en-US" altLang="zh-CN" sz="1500">
                <a:ea typeface="宋体" panose="02010600030101010101" pitchFamily="2" charset="-122"/>
                <a:cs typeface="Times New Roman" panose="02020603050405020304" pitchFamily="18" charset="0"/>
              </a:rPr>
              <a:t>The move prefix </a:t>
            </a:r>
            <a:r>
              <a:rPr lang="en-US" altLang="zh-CN" sz="1500" i="1">
                <a:ea typeface="宋体" panose="02010600030101010101" pitchFamily="2" charset="-122"/>
                <a:cs typeface="Times New Roman" panose="02020603050405020304" pitchFamily="18" charset="0"/>
              </a:rPr>
              <a:t>m</a:t>
            </a:r>
            <a:r>
              <a:rPr lang="en-US" altLang="zh-CN" sz="1500">
                <a:ea typeface="宋体" panose="02010600030101010101" pitchFamily="2" charset="-122"/>
                <a:cs typeface="Times New Roman" panose="02020603050405020304" pitchFamily="18" charset="0"/>
              </a:rPr>
              <a:t> = 4 is selected due to the better balance ratio (</a:t>
            </a:r>
            <a:r>
              <a:rPr lang="en-US" altLang="zh-CN" sz="1500" i="1">
                <a:ea typeface="宋体" panose="02010600030101010101" pitchFamily="2" charset="-122"/>
                <a:cs typeface="Times New Roman" panose="02020603050405020304" pitchFamily="18" charset="0"/>
              </a:rPr>
              <a:t>area</a:t>
            </a:r>
            <a:r>
              <a:rPr lang="en-US" altLang="zh-CN" sz="1500">
                <a:ea typeface="宋体" panose="02010600030101010101" pitchFamily="2" charset="-122"/>
                <a:cs typeface="Times New Roman" panose="02020603050405020304" pitchFamily="18" charset="0"/>
              </a:rPr>
              <a:t>(</a:t>
            </a:r>
            <a:r>
              <a:rPr lang="en-US" altLang="zh-CN" sz="1500" i="1">
                <a:ea typeface="宋体" panose="02010600030101010101" pitchFamily="2" charset="-122"/>
                <a:cs typeface="Times New Roman" panose="02020603050405020304" pitchFamily="18" charset="0"/>
              </a:rPr>
              <a:t>A</a:t>
            </a:r>
            <a:r>
              <a:rPr lang="en-US" altLang="zh-CN" sz="1500">
                <a:ea typeface="宋体" panose="02010600030101010101" pitchFamily="2" charset="-122"/>
                <a:cs typeface="Times New Roman" panose="02020603050405020304" pitchFamily="18" charset="0"/>
              </a:rPr>
              <a:t>) = 5); </a:t>
            </a:r>
            <a:br>
              <a:rPr lang="en-US" altLang="zh-CN" sz="1500">
                <a:ea typeface="宋体" panose="02010600030101010101" pitchFamily="2" charset="-122"/>
                <a:cs typeface="Times New Roman" panose="02020603050405020304" pitchFamily="18" charset="0"/>
              </a:rPr>
            </a:br>
            <a:r>
              <a:rPr lang="en-US" altLang="zh-CN" sz="1500">
                <a:ea typeface="宋体" panose="02010600030101010101" pitchFamily="2" charset="-122"/>
                <a:cs typeface="Times New Roman" panose="02020603050405020304" pitchFamily="18" charset="0"/>
              </a:rPr>
              <a:t>the four cells 1, 2, 3</a:t>
            </a:r>
            <a:r>
              <a:rPr lang="en-US" altLang="zh-CN" sz="1500" i="1">
                <a:ea typeface="宋体" panose="02010600030101010101" pitchFamily="2" charset="-122"/>
                <a:cs typeface="Times New Roman" panose="02020603050405020304" pitchFamily="18" charset="0"/>
              </a:rPr>
              <a:t> </a:t>
            </a:r>
            <a:r>
              <a:rPr lang="en-US" altLang="zh-CN" sz="1500">
                <a:ea typeface="宋体" panose="02010600030101010101" pitchFamily="2" charset="-122"/>
                <a:cs typeface="Times New Roman" panose="02020603050405020304" pitchFamily="18" charset="0"/>
              </a:rPr>
              <a:t>and 4 are then moved.</a:t>
            </a:r>
            <a:br>
              <a:rPr lang="en-US" altLang="zh-CN" sz="1500">
                <a:ea typeface="宋体" panose="02010600030101010101" pitchFamily="2" charset="-122"/>
                <a:cs typeface="Times New Roman" panose="02020603050405020304" pitchFamily="18" charset="0"/>
              </a:rPr>
            </a:br>
            <a:endParaRPr lang="en-US" altLang="zh-CN" sz="1500">
              <a:ea typeface="宋体" panose="02010600030101010101" pitchFamily="2" charset="-122"/>
              <a:cs typeface="Times New Roman" panose="02020603050405020304" pitchFamily="18" charset="0"/>
            </a:endParaRPr>
          </a:p>
          <a:p>
            <a:pPr algn="l">
              <a:lnSpc>
                <a:spcPct val="100000"/>
              </a:lnSpc>
            </a:pPr>
            <a:r>
              <a:rPr lang="en-US" altLang="zh-CN" sz="1500">
                <a:solidFill>
                  <a:srgbClr val="CC0000"/>
                </a:solidFill>
                <a:ea typeface="宋体" panose="02010600030101010101" pitchFamily="2" charset="-122"/>
                <a:cs typeface="Times New Roman" panose="02020603050405020304" pitchFamily="18" charset="0"/>
              </a:rPr>
              <a:t>Result of Pass 1: Current partitions: </a:t>
            </a:r>
            <a:r>
              <a:rPr lang="en-US" altLang="zh-CN" sz="1500" i="1">
                <a:solidFill>
                  <a:srgbClr val="CC0000"/>
                </a:solidFill>
                <a:ea typeface="宋体" panose="02010600030101010101" pitchFamily="2" charset="-122"/>
                <a:cs typeface="Times New Roman" panose="02020603050405020304" pitchFamily="18" charset="0"/>
              </a:rPr>
              <a:t>A </a:t>
            </a:r>
            <a:r>
              <a:rPr lang="en-US" altLang="zh-CN" sz="1500">
                <a:solidFill>
                  <a:srgbClr val="CC0000"/>
                </a:solidFill>
                <a:ea typeface="宋体" panose="02010600030101010101" pitchFamily="2" charset="-122"/>
                <a:cs typeface="Times New Roman" panose="02020603050405020304" pitchFamily="18" charset="0"/>
              </a:rPr>
              <a:t>= {3,4}, </a:t>
            </a:r>
            <a:r>
              <a:rPr lang="en-US" altLang="zh-CN" sz="1500" i="1">
                <a:solidFill>
                  <a:srgbClr val="CC0000"/>
                </a:solidFill>
                <a:ea typeface="宋体" panose="02010600030101010101" pitchFamily="2" charset="-122"/>
                <a:cs typeface="Times New Roman" panose="02020603050405020304" pitchFamily="18" charset="0"/>
              </a:rPr>
              <a:t>B </a:t>
            </a:r>
            <a:r>
              <a:rPr lang="en-US" altLang="zh-CN" sz="1500">
                <a:solidFill>
                  <a:srgbClr val="CC0000"/>
                </a:solidFill>
                <a:ea typeface="宋体" panose="02010600030101010101" pitchFamily="2" charset="-122"/>
                <a:cs typeface="Times New Roman" panose="02020603050405020304" pitchFamily="18" charset="0"/>
              </a:rPr>
              <a:t>= {</a:t>
            </a:r>
            <a:r>
              <a:rPr lang="en-US" altLang="zh-CN" sz="1500" i="1">
                <a:solidFill>
                  <a:srgbClr val="CC0000"/>
                </a:solidFill>
                <a:ea typeface="宋体" panose="02010600030101010101" pitchFamily="2" charset="-122"/>
                <a:cs typeface="Times New Roman" panose="02020603050405020304" pitchFamily="18" charset="0"/>
              </a:rPr>
              <a:t>1,2,5</a:t>
            </a:r>
            <a:r>
              <a:rPr lang="en-US" altLang="zh-CN" sz="1500">
                <a:solidFill>
                  <a:srgbClr val="CC0000"/>
                </a:solidFill>
                <a:ea typeface="宋体" panose="02010600030101010101" pitchFamily="2" charset="-122"/>
                <a:cs typeface="Times New Roman" panose="02020603050405020304" pitchFamily="18" charset="0"/>
              </a:rPr>
              <a:t>}, cut cost reduced from 3 to 2.</a:t>
            </a:r>
          </a:p>
        </p:txBody>
      </p:sp>
      <p:grpSp>
        <p:nvGrpSpPr>
          <p:cNvPr id="523324" name="Group 60"/>
          <p:cNvGrpSpPr>
            <a:grpSpLocks/>
          </p:cNvGrpSpPr>
          <p:nvPr/>
        </p:nvGrpSpPr>
        <p:grpSpPr bwMode="auto">
          <a:xfrm>
            <a:off x="5580063" y="1420813"/>
            <a:ext cx="2516187" cy="1992312"/>
            <a:chOff x="3515" y="895"/>
            <a:chExt cx="1585" cy="1255"/>
          </a:xfrm>
        </p:grpSpPr>
        <p:sp>
          <p:nvSpPr>
            <p:cNvPr id="48137" name="Line 34"/>
            <p:cNvSpPr>
              <a:spLocks noChangeAspect="1" noChangeShapeType="1"/>
            </p:cNvSpPr>
            <p:nvPr/>
          </p:nvSpPr>
          <p:spPr bwMode="auto">
            <a:xfrm flipV="1">
              <a:off x="4114" y="1030"/>
              <a:ext cx="503" cy="463"/>
            </a:xfrm>
            <a:prstGeom prst="line">
              <a:avLst/>
            </a:prstGeom>
            <a:noFill/>
            <a:ln w="952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de-DE"/>
            </a:p>
          </p:txBody>
        </p:sp>
        <p:sp>
          <p:nvSpPr>
            <p:cNvPr id="48138" name="Line 35"/>
            <p:cNvSpPr>
              <a:spLocks noChangeAspect="1" noChangeShapeType="1"/>
            </p:cNvSpPr>
            <p:nvPr/>
          </p:nvSpPr>
          <p:spPr bwMode="auto">
            <a:xfrm flipH="1">
              <a:off x="4114" y="1107"/>
              <a:ext cx="0" cy="8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8139" name="Line 36"/>
            <p:cNvSpPr>
              <a:spLocks noChangeAspect="1" noChangeShapeType="1"/>
            </p:cNvSpPr>
            <p:nvPr/>
          </p:nvSpPr>
          <p:spPr bwMode="auto">
            <a:xfrm>
              <a:off x="4618" y="1012"/>
              <a:ext cx="0" cy="4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8140" name="Line 37"/>
            <p:cNvSpPr>
              <a:spLocks noChangeAspect="1" noChangeShapeType="1"/>
            </p:cNvSpPr>
            <p:nvPr/>
          </p:nvSpPr>
          <p:spPr bwMode="auto">
            <a:xfrm flipH="1">
              <a:off x="3999" y="1030"/>
              <a:ext cx="0" cy="8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8141" name="Line 38"/>
            <p:cNvSpPr>
              <a:spLocks noChangeAspect="1" noChangeShapeType="1"/>
            </p:cNvSpPr>
            <p:nvPr/>
          </p:nvSpPr>
          <p:spPr bwMode="auto">
            <a:xfrm flipH="1">
              <a:off x="4095" y="1517"/>
              <a:ext cx="511" cy="4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8142" name="Line 39"/>
            <p:cNvSpPr>
              <a:spLocks noChangeAspect="1" noChangeShapeType="1"/>
            </p:cNvSpPr>
            <p:nvPr/>
          </p:nvSpPr>
          <p:spPr bwMode="auto">
            <a:xfrm>
              <a:off x="4084" y="1996"/>
              <a:ext cx="57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8143" name="Oval 40"/>
            <p:cNvSpPr>
              <a:spLocks noChangeAspect="1" noChangeArrowheads="1"/>
            </p:cNvSpPr>
            <p:nvPr/>
          </p:nvSpPr>
          <p:spPr bwMode="auto">
            <a:xfrm>
              <a:off x="3902" y="1861"/>
              <a:ext cx="290" cy="289"/>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8144" name="Rectangle 41"/>
            <p:cNvSpPr>
              <a:spLocks noChangeAspect="1" noChangeArrowheads="1"/>
            </p:cNvSpPr>
            <p:nvPr/>
          </p:nvSpPr>
          <p:spPr bwMode="auto">
            <a:xfrm>
              <a:off x="3928" y="1884"/>
              <a:ext cx="232"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1</a:t>
              </a:r>
              <a:endParaRPr lang="en-US" altLang="zh-CN" b="1">
                <a:solidFill>
                  <a:schemeClr val="bg1"/>
                </a:solidFill>
                <a:ea typeface="宋体" panose="02010600030101010101" pitchFamily="2" charset="-122"/>
              </a:endParaRPr>
            </a:p>
          </p:txBody>
        </p:sp>
        <p:sp>
          <p:nvSpPr>
            <p:cNvPr id="48145" name="Oval 42"/>
            <p:cNvSpPr>
              <a:spLocks noChangeAspect="1" noChangeArrowheads="1"/>
            </p:cNvSpPr>
            <p:nvPr/>
          </p:nvSpPr>
          <p:spPr bwMode="auto">
            <a:xfrm>
              <a:off x="4468" y="895"/>
              <a:ext cx="289" cy="29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8146" name="Rectangle 43"/>
            <p:cNvSpPr>
              <a:spLocks noChangeAspect="1" noChangeArrowheads="1"/>
            </p:cNvSpPr>
            <p:nvPr/>
          </p:nvSpPr>
          <p:spPr bwMode="auto">
            <a:xfrm>
              <a:off x="4495" y="923"/>
              <a:ext cx="232" cy="233"/>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3</a:t>
              </a:r>
              <a:endParaRPr lang="en-US" altLang="zh-CN" b="1">
                <a:ea typeface="宋体" panose="02010600030101010101" pitchFamily="2" charset="-122"/>
              </a:endParaRPr>
            </a:p>
          </p:txBody>
        </p:sp>
        <p:sp>
          <p:nvSpPr>
            <p:cNvPr id="48147" name="Oval 44"/>
            <p:cNvSpPr>
              <a:spLocks noChangeAspect="1" noChangeArrowheads="1"/>
            </p:cNvSpPr>
            <p:nvPr/>
          </p:nvSpPr>
          <p:spPr bwMode="auto">
            <a:xfrm>
              <a:off x="4482" y="1377"/>
              <a:ext cx="289" cy="290"/>
            </a:xfrm>
            <a:prstGeom prst="ellipse">
              <a:avLst/>
            </a:prstGeom>
            <a:solidFill>
              <a:srgbClr val="FFD1D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8148" name="Rectangle 45"/>
            <p:cNvSpPr>
              <a:spLocks noChangeAspect="1" noChangeArrowheads="1"/>
            </p:cNvSpPr>
            <p:nvPr/>
          </p:nvSpPr>
          <p:spPr bwMode="auto">
            <a:xfrm>
              <a:off x="4497" y="1399"/>
              <a:ext cx="230" cy="23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t>4</a:t>
              </a:r>
              <a:endParaRPr lang="en-US" altLang="zh-CN" b="1">
                <a:ea typeface="宋体" panose="02010600030101010101" pitchFamily="2" charset="-122"/>
              </a:endParaRPr>
            </a:p>
          </p:txBody>
        </p:sp>
        <p:sp>
          <p:nvSpPr>
            <p:cNvPr id="48149" name="Oval 46"/>
            <p:cNvSpPr>
              <a:spLocks noChangeAspect="1" noChangeArrowheads="1"/>
            </p:cNvSpPr>
            <p:nvPr/>
          </p:nvSpPr>
          <p:spPr bwMode="auto">
            <a:xfrm>
              <a:off x="3914" y="895"/>
              <a:ext cx="290" cy="290"/>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8150" name="Rectangle 47"/>
            <p:cNvSpPr>
              <a:spLocks noChangeAspect="1" noChangeArrowheads="1"/>
            </p:cNvSpPr>
            <p:nvPr/>
          </p:nvSpPr>
          <p:spPr bwMode="auto">
            <a:xfrm>
              <a:off x="3940" y="927"/>
              <a:ext cx="232" cy="2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2</a:t>
              </a:r>
              <a:endParaRPr lang="en-US" altLang="zh-CN" b="1">
                <a:solidFill>
                  <a:schemeClr val="bg1"/>
                </a:solidFill>
                <a:ea typeface="宋体" panose="02010600030101010101" pitchFamily="2" charset="-122"/>
              </a:endParaRPr>
            </a:p>
          </p:txBody>
        </p:sp>
        <p:sp>
          <p:nvSpPr>
            <p:cNvPr id="48151" name="Oval 48"/>
            <p:cNvSpPr>
              <a:spLocks noChangeAspect="1" noChangeArrowheads="1"/>
            </p:cNvSpPr>
            <p:nvPr/>
          </p:nvSpPr>
          <p:spPr bwMode="auto">
            <a:xfrm>
              <a:off x="4468" y="1860"/>
              <a:ext cx="289" cy="289"/>
            </a:xfrm>
            <a:prstGeom prst="ellipse">
              <a:avLst/>
            </a:prstGeom>
            <a:solidFill>
              <a:srgbClr val="0C325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48152" name="Rectangle 49"/>
            <p:cNvSpPr>
              <a:spLocks noChangeAspect="1" noChangeArrowheads="1"/>
            </p:cNvSpPr>
            <p:nvPr/>
          </p:nvSpPr>
          <p:spPr bwMode="auto">
            <a:xfrm>
              <a:off x="4495" y="1889"/>
              <a:ext cx="232" cy="232"/>
            </a:xfrm>
            <a:prstGeom prst="rect">
              <a:avLst/>
            </a:prstGeom>
            <a:noFill/>
            <a:ln>
              <a:noFill/>
            </a:ln>
            <a:effectLst/>
            <a:extLst>
              <a:ext uri="{909E8E84-426E-40DD-AFC4-6F175D3DCCD1}">
                <a14:hiddenFill xmlns:a14="http://schemas.microsoft.com/office/drawing/2010/main">
                  <a:solidFill>
                    <a:srgbClr val="5F5F5F"/>
                  </a:solidFill>
                </a14:hiddenFill>
              </a:ext>
              <a:ext uri="{91240B29-F687-4F45-9708-019B960494DF}">
                <a14:hiddenLine xmlns:a14="http://schemas.microsoft.com/office/drawing/2010/main" w="12700">
                  <a:solidFill>
                    <a:schemeClr val="tx2"/>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6808" tIns="48404" rIns="96808" bIns="48404" anchor="ctr"/>
            <a:lstStyle>
              <a:lvl1pPr marL="363538" indent="-363538"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nSpc>
                  <a:spcPct val="100000"/>
                </a:lnSpc>
                <a:spcBef>
                  <a:spcPct val="20000"/>
                </a:spcBef>
                <a:buClr>
                  <a:schemeClr val="tx2"/>
                </a:buClr>
                <a:buSzPct val="75000"/>
                <a:buFont typeface="Monotype Sorts" pitchFamily="2" charset="2"/>
                <a:buNone/>
              </a:pPr>
              <a:r>
                <a:rPr lang="de-DE" altLang="de-DE">
                  <a:solidFill>
                    <a:schemeClr val="bg1"/>
                  </a:solidFill>
                </a:rPr>
                <a:t>5</a:t>
              </a:r>
              <a:endParaRPr lang="en-US" altLang="zh-CN" b="1">
                <a:solidFill>
                  <a:schemeClr val="bg1"/>
                </a:solidFill>
                <a:ea typeface="宋体" panose="02010600030101010101" pitchFamily="2" charset="-122"/>
              </a:endParaRPr>
            </a:p>
          </p:txBody>
        </p:sp>
        <p:sp>
          <p:nvSpPr>
            <p:cNvPr id="48153" name="Text Box 50"/>
            <p:cNvSpPr txBox="1">
              <a:spLocks noChangeAspect="1" noChangeArrowheads="1"/>
            </p:cNvSpPr>
            <p:nvPr/>
          </p:nvSpPr>
          <p:spPr bwMode="auto">
            <a:xfrm>
              <a:off x="3515" y="929"/>
              <a:ext cx="34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i="1"/>
                <a:t>B</a:t>
              </a:r>
              <a:endParaRPr lang="en-US" altLang="zh-CN" i="1">
                <a:ea typeface="宋体" panose="02010600030101010101" pitchFamily="2" charset="-122"/>
              </a:endParaRPr>
            </a:p>
          </p:txBody>
        </p:sp>
        <p:sp>
          <p:nvSpPr>
            <p:cNvPr id="48154" name="Text Box 51"/>
            <p:cNvSpPr txBox="1">
              <a:spLocks noChangeAspect="1" noChangeArrowheads="1"/>
            </p:cNvSpPr>
            <p:nvPr/>
          </p:nvSpPr>
          <p:spPr bwMode="auto">
            <a:xfrm>
              <a:off x="4691" y="934"/>
              <a:ext cx="409" cy="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de-DE" i="1"/>
                <a:t>A</a:t>
              </a:r>
              <a:endParaRPr lang="en-US" altLang="zh-CN" i="1">
                <a:ea typeface="宋体" panose="02010600030101010101" pitchFamily="2" charset="-122"/>
              </a:endParaRPr>
            </a:p>
          </p:txBody>
        </p:sp>
        <p:sp>
          <p:nvSpPr>
            <p:cNvPr id="48155" name="Text Box 52"/>
            <p:cNvSpPr txBox="1">
              <a:spLocks noChangeAspect="1" noChangeArrowheads="1"/>
            </p:cNvSpPr>
            <p:nvPr/>
          </p:nvSpPr>
          <p:spPr bwMode="auto">
            <a:xfrm>
              <a:off x="3852" y="1339"/>
              <a:ext cx="185"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a</a:t>
              </a:r>
            </a:p>
          </p:txBody>
        </p:sp>
        <p:sp>
          <p:nvSpPr>
            <p:cNvPr id="48156" name="Text Box 53"/>
            <p:cNvSpPr txBox="1">
              <a:spLocks noChangeAspect="1" noChangeArrowheads="1"/>
            </p:cNvSpPr>
            <p:nvPr/>
          </p:nvSpPr>
          <p:spPr bwMode="auto">
            <a:xfrm>
              <a:off x="4173" y="1333"/>
              <a:ext cx="2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b</a:t>
              </a:r>
            </a:p>
          </p:txBody>
        </p:sp>
        <p:sp>
          <p:nvSpPr>
            <p:cNvPr id="48157" name="Text Box 54"/>
            <p:cNvSpPr txBox="1">
              <a:spLocks noChangeAspect="1" noChangeArrowheads="1"/>
            </p:cNvSpPr>
            <p:nvPr/>
          </p:nvSpPr>
          <p:spPr bwMode="auto">
            <a:xfrm>
              <a:off x="4118" y="1646"/>
              <a:ext cx="19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c</a:t>
              </a:r>
            </a:p>
          </p:txBody>
        </p:sp>
        <p:sp>
          <p:nvSpPr>
            <p:cNvPr id="48158" name="Text Box 55"/>
            <p:cNvSpPr txBox="1">
              <a:spLocks noChangeAspect="1" noChangeArrowheads="1"/>
            </p:cNvSpPr>
            <p:nvPr/>
          </p:nvSpPr>
          <p:spPr bwMode="auto">
            <a:xfrm>
              <a:off x="4154" y="1802"/>
              <a:ext cx="23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d</a:t>
              </a:r>
            </a:p>
          </p:txBody>
        </p:sp>
        <p:sp>
          <p:nvSpPr>
            <p:cNvPr id="48159" name="Text Box 56"/>
            <p:cNvSpPr txBox="1">
              <a:spLocks noChangeAspect="1" noChangeArrowheads="1"/>
            </p:cNvSpPr>
            <p:nvPr/>
          </p:nvSpPr>
          <p:spPr bwMode="auto">
            <a:xfrm>
              <a:off x="4462" y="1186"/>
              <a:ext cx="362"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808" tIns="48404" rIns="96808" bIns="48404"/>
            <a:lstStyle>
              <a:lvl1pPr defTabSz="968375">
                <a:defRPr sz="1700">
                  <a:solidFill>
                    <a:schemeClr val="tx1"/>
                  </a:solidFill>
                  <a:latin typeface="Arial" panose="020B0604020202020204" pitchFamily="34" charset="0"/>
                </a:defRPr>
              </a:lvl1pPr>
              <a:lvl2pPr marL="742950" indent="-285750" defTabSz="968375">
                <a:defRPr sz="1700">
                  <a:solidFill>
                    <a:schemeClr val="tx1"/>
                  </a:solidFill>
                  <a:latin typeface="Arial" panose="020B0604020202020204" pitchFamily="34" charset="0"/>
                </a:defRPr>
              </a:lvl2pPr>
              <a:lvl3pPr marL="1143000" indent="-228600" defTabSz="968375">
                <a:defRPr sz="1700">
                  <a:solidFill>
                    <a:schemeClr val="tx1"/>
                  </a:solidFill>
                  <a:latin typeface="Arial" panose="020B0604020202020204" pitchFamily="34" charset="0"/>
                </a:defRPr>
              </a:lvl3pPr>
              <a:lvl4pPr marL="1600200" indent="-228600" defTabSz="968375">
                <a:defRPr sz="1700">
                  <a:solidFill>
                    <a:schemeClr val="tx1"/>
                  </a:solidFill>
                  <a:latin typeface="Arial" panose="020B0604020202020204" pitchFamily="34" charset="0"/>
                </a:defRPr>
              </a:lvl4pPr>
              <a:lvl5pPr marL="2057400" indent="-228600" defTabSz="968375">
                <a:defRPr sz="1700">
                  <a:solidFill>
                    <a:schemeClr val="tx1"/>
                  </a:solidFill>
                  <a:latin typeface="Arial" panose="020B0604020202020204" pitchFamily="34" charset="0"/>
                </a:defRPr>
              </a:lvl5pPr>
              <a:lvl6pPr marL="25146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9683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i="1">
                  <a:ea typeface="宋体" panose="02010600030101010101" pitchFamily="2" charset="-122"/>
                </a:rPr>
                <a:t>e</a:t>
              </a:r>
            </a:p>
          </p:txBody>
        </p:sp>
        <p:sp>
          <p:nvSpPr>
            <p:cNvPr id="48160" name="Line 57"/>
            <p:cNvSpPr>
              <a:spLocks noChangeAspect="1" noChangeShapeType="1"/>
            </p:cNvSpPr>
            <p:nvPr/>
          </p:nvSpPr>
          <p:spPr bwMode="auto">
            <a:xfrm>
              <a:off x="4297" y="927"/>
              <a:ext cx="0" cy="259"/>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48161" name="Line 58"/>
            <p:cNvSpPr>
              <a:spLocks noChangeShapeType="1"/>
            </p:cNvSpPr>
            <p:nvPr/>
          </p:nvSpPr>
          <p:spPr bwMode="auto">
            <a:xfrm>
              <a:off x="4297" y="1186"/>
              <a:ext cx="200" cy="61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500" tIns="42449" rIns="84899" bIns="64178">
              <a:spAutoFit/>
            </a:bodyPr>
            <a:lstStyle/>
            <a:p>
              <a:endParaRPr lang="de-DE"/>
            </a:p>
          </p:txBody>
        </p:sp>
      </p:grpSp>
      <p:sp>
        <p:nvSpPr>
          <p:cNvPr id="48136" name="Rectangle 59"/>
          <p:cNvSpPr>
            <a:spLocks noGrp="1" noChangeArrowheads="1"/>
          </p:cNvSpPr>
          <p:nvPr>
            <p:ph type="title"/>
          </p:nvPr>
        </p:nvSpPr>
        <p:spPr/>
        <p:txBody>
          <a:bodyPr/>
          <a:lstStyle/>
          <a:p>
            <a:r>
              <a:rPr lang="de-DE" altLang="de-DE"/>
              <a:t>2.4.3	Fiduccia-Mattheyses (FM) Algorithm – Example</a:t>
            </a:r>
            <a:endParaRPr lang="en-US" altLang="zh-CN">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23271"/>
                                        </p:tgtEl>
                                        <p:attrNameLst>
                                          <p:attrName>style.visibility</p:attrName>
                                        </p:attrNameLst>
                                      </p:cBhvr>
                                      <p:to>
                                        <p:strVal val="visible"/>
                                      </p:to>
                                    </p:set>
                                    <p:animEffect transition="in" filter="dissolve">
                                      <p:cBhvr>
                                        <p:cTn id="7" dur="500"/>
                                        <p:tgtEl>
                                          <p:spTgt spid="523271"/>
                                        </p:tgtEl>
                                      </p:cBhvr>
                                    </p:animEffect>
                                  </p:childTnLst>
                                </p:cTn>
                              </p:par>
                              <p:par>
                                <p:cTn id="8" presetID="9" presetClass="entr" presetSubtype="0" fill="hold" nodeType="withEffect">
                                  <p:stCondLst>
                                    <p:cond delay="0"/>
                                  </p:stCondLst>
                                  <p:childTnLst>
                                    <p:set>
                                      <p:cBhvr>
                                        <p:cTn id="9" dur="1" fill="hold">
                                          <p:stCondLst>
                                            <p:cond delay="0"/>
                                          </p:stCondLst>
                                        </p:cTn>
                                        <p:tgtEl>
                                          <p:spTgt spid="523270"/>
                                        </p:tgtEl>
                                        <p:attrNameLst>
                                          <p:attrName>style.visibility</p:attrName>
                                        </p:attrNameLst>
                                      </p:cBhvr>
                                      <p:to>
                                        <p:strVal val="visible"/>
                                      </p:to>
                                    </p:set>
                                    <p:animEffect transition="in" filter="dissolve">
                                      <p:cBhvr>
                                        <p:cTn id="10" dur="500"/>
                                        <p:tgtEl>
                                          <p:spTgt spid="523270"/>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23272"/>
                                        </p:tgtEl>
                                        <p:attrNameLst>
                                          <p:attrName>style.visibility</p:attrName>
                                        </p:attrNameLst>
                                      </p:cBhvr>
                                      <p:to>
                                        <p:strVal val="visible"/>
                                      </p:to>
                                    </p:set>
                                    <p:animEffect transition="in" filter="dissolve">
                                      <p:cBhvr>
                                        <p:cTn id="13" dur="500"/>
                                        <p:tgtEl>
                                          <p:spTgt spid="52327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523324"/>
                                        </p:tgtEl>
                                        <p:attrNameLst>
                                          <p:attrName>style.visibility</p:attrName>
                                        </p:attrNameLst>
                                      </p:cBhvr>
                                      <p:to>
                                        <p:strVal val="visible"/>
                                      </p:to>
                                    </p:set>
                                    <p:animEffect transition="in" filter="dissolve">
                                      <p:cBhvr>
                                        <p:cTn id="18" dur="500"/>
                                        <p:tgtEl>
                                          <p:spTgt spid="523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3271" grpId="0"/>
      <p:bldP spid="523272" grpId="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54</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p:txBody>
          <a:bodyPr/>
          <a:lstStyle/>
          <a:p>
            <a:pPr marL="0" indent="0"/>
            <a:r>
              <a:rPr lang="en-US" altLang="zh-CN">
                <a:ea typeface="宋体" panose="02010600030101010101" pitchFamily="2" charset="-122"/>
              </a:rPr>
              <a:t> Runtime of partitioning algorithms</a:t>
            </a:r>
          </a:p>
          <a:p>
            <a:pPr lvl="1" indent="0"/>
            <a:r>
              <a:rPr lang="en-US" altLang="zh-CN">
                <a:ea typeface="宋体" panose="02010600030101010101" pitchFamily="2" charset="-122"/>
              </a:rPr>
              <a:t> KL is sensitive to the number of nodes and edges</a:t>
            </a:r>
          </a:p>
          <a:p>
            <a:pPr lvl="1" indent="0"/>
            <a:r>
              <a:rPr lang="en-US" altLang="zh-CN">
                <a:ea typeface="宋体" panose="02010600030101010101" pitchFamily="2" charset="-122"/>
              </a:rPr>
              <a:t> FM is sensitive to the number of nodes and nets (hyperedges)</a:t>
            </a:r>
          </a:p>
          <a:p>
            <a:pPr marL="0" indent="0"/>
            <a:endParaRPr lang="en-US" altLang="zh-CN">
              <a:ea typeface="宋体" panose="02010600030101010101" pitchFamily="2" charset="-122"/>
            </a:endParaRPr>
          </a:p>
          <a:p>
            <a:pPr marL="0" indent="0"/>
            <a:r>
              <a:rPr lang="en-US" altLang="zh-CN">
                <a:ea typeface="宋体" panose="02010600030101010101" pitchFamily="2" charset="-122"/>
              </a:rPr>
              <a:t> Asymptotic complexity of partitioning algorithms</a:t>
            </a:r>
          </a:p>
          <a:p>
            <a:pPr lvl="1" indent="0"/>
            <a:r>
              <a:rPr lang="en-US" altLang="zh-CN">
                <a:ea typeface="宋体" panose="02010600030101010101" pitchFamily="2" charset="-122"/>
              </a:rPr>
              <a:t> KL has cubic time complexity </a:t>
            </a:r>
            <a:r>
              <a:rPr lang="en-US" altLang="zh-CN" i="1">
                <a:ea typeface="宋体" panose="02010600030101010101" pitchFamily="2" charset="-122"/>
              </a:rPr>
              <a:t>per pass</a:t>
            </a:r>
          </a:p>
          <a:p>
            <a:pPr lvl="1" indent="0"/>
            <a:r>
              <a:rPr lang="en-US" altLang="zh-CN">
                <a:ea typeface="宋体" panose="02010600030101010101" pitchFamily="2" charset="-122"/>
              </a:rPr>
              <a:t> FM has linear time complexity </a:t>
            </a:r>
            <a:r>
              <a:rPr lang="en-US" altLang="zh-CN" i="1">
                <a:ea typeface="宋体" panose="02010600030101010101" pitchFamily="2" charset="-122"/>
              </a:rPr>
              <a:t>per pass</a:t>
            </a: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54</a:t>
            </a:fld>
            <a:endParaRPr lang="en-US" altLang="de-DE" sz="1000">
              <a:solidFill>
                <a:srgbClr val="C0C0C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156">
                                            <p:txEl>
                                              <p:pRg st="1" end="1"/>
                                            </p:txEl>
                                          </p:spTgt>
                                        </p:tgtEl>
                                        <p:attrNameLst>
                                          <p:attrName>style.visibility</p:attrName>
                                        </p:attrNameLst>
                                      </p:cBhvr>
                                      <p:to>
                                        <p:strVal val="visible"/>
                                      </p:to>
                                    </p:set>
                                    <p:animEffect transition="in" filter="dissolve">
                                      <p:cBhvr>
                                        <p:cTn id="12" dur="500"/>
                                        <p:tgtEl>
                                          <p:spTgt spid="49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156">
                                            <p:txEl>
                                              <p:pRg st="2" end="2"/>
                                            </p:txEl>
                                          </p:spTgt>
                                        </p:tgtEl>
                                        <p:attrNameLst>
                                          <p:attrName>style.visibility</p:attrName>
                                        </p:attrNameLst>
                                      </p:cBhvr>
                                      <p:to>
                                        <p:strVal val="visible"/>
                                      </p:to>
                                    </p:set>
                                    <p:animEffect transition="in" filter="dissolve">
                                      <p:cBhvr>
                                        <p:cTn id="17" dur="500"/>
                                        <p:tgtEl>
                                          <p:spTgt spid="49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9156">
                                            <p:txEl>
                                              <p:pRg st="4" end="4"/>
                                            </p:txEl>
                                          </p:spTgt>
                                        </p:tgtEl>
                                        <p:attrNameLst>
                                          <p:attrName>style.visibility</p:attrName>
                                        </p:attrNameLst>
                                      </p:cBhvr>
                                      <p:to>
                                        <p:strVal val="visible"/>
                                      </p:to>
                                    </p:set>
                                    <p:animEffect transition="in" filter="dissolve">
                                      <p:cBhvr>
                                        <p:cTn id="22" dur="500"/>
                                        <p:tgtEl>
                                          <p:spTgt spid="4915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156">
                                            <p:txEl>
                                              <p:pRg st="5" end="5"/>
                                            </p:txEl>
                                          </p:spTgt>
                                        </p:tgtEl>
                                        <p:attrNameLst>
                                          <p:attrName>style.visibility</p:attrName>
                                        </p:attrNameLst>
                                      </p:cBhvr>
                                      <p:to>
                                        <p:strVal val="visible"/>
                                      </p:to>
                                    </p:set>
                                    <p:animEffect transition="in" filter="dissolve">
                                      <p:cBhvr>
                                        <p:cTn id="27" dur="500"/>
                                        <p:tgtEl>
                                          <p:spTgt spid="49156">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9156">
                                            <p:txEl>
                                              <p:pRg st="6" end="6"/>
                                            </p:txEl>
                                          </p:spTgt>
                                        </p:tgtEl>
                                        <p:attrNameLst>
                                          <p:attrName>style.visibility</p:attrName>
                                        </p:attrNameLst>
                                      </p:cBhvr>
                                      <p:to>
                                        <p:strVal val="visible"/>
                                      </p:to>
                                    </p:set>
                                    <p:animEffect transition="in" filter="dissolve">
                                      <p:cBhvr>
                                        <p:cTn id="32" dur="500"/>
                                        <p:tgtEl>
                                          <p:spTgt spid="4915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55</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p:txBody>
          <a:bodyPr/>
          <a:lstStyle/>
          <a:p>
            <a:pPr marL="0" indent="0"/>
            <a:r>
              <a:rPr lang="en-US" altLang="zh-CN" dirty="0">
                <a:ea typeface="宋体" panose="02010600030101010101" pitchFamily="2" charset="-122"/>
              </a:rPr>
              <a:t>​​ </a:t>
            </a:r>
            <a:r>
              <a:rPr lang="en-US" altLang="zh-CN" b="1" dirty="0">
                <a:ea typeface="宋体" panose="02010600030101010101" pitchFamily="2" charset="-122"/>
              </a:rPr>
              <a:t>Advantages:</a:t>
            </a:r>
            <a:r>
              <a:rPr lang="en-US" altLang="zh-CN" dirty="0">
                <a:ea typeface="宋体" panose="02010600030101010101" pitchFamily="2" charset="-122"/>
              </a:rPr>
              <a:t>​​</a:t>
            </a:r>
          </a:p>
          <a:p>
            <a:pPr marL="0" indent="0">
              <a:buNone/>
            </a:pPr>
            <a:r>
              <a:rPr lang="en-US" altLang="zh-CN" dirty="0">
                <a:ea typeface="宋体" panose="02010600030101010101" pitchFamily="2" charset="-122"/>
              </a:rPr>
              <a:t>	High efficiency:​​ Time complexity is O(P), where P is the total number of pins in the hypergraph.</a:t>
            </a:r>
          </a:p>
          <a:p>
            <a:pPr marL="0" indent="0">
              <a:buNone/>
            </a:pPr>
            <a:r>
              <a:rPr lang="en-US" altLang="zh-CN" dirty="0">
                <a:ea typeface="宋体" panose="02010600030101010101" pitchFamily="2" charset="-122"/>
              </a:rPr>
              <a:t>	​​High-quality solutions:​​ Often finds near-optimal partitions.</a:t>
            </a:r>
          </a:p>
          <a:p>
            <a:pPr marL="0" indent="0">
              <a:buNone/>
            </a:pPr>
            <a:r>
              <a:rPr lang="en-US" altLang="zh-CN" dirty="0">
                <a:ea typeface="宋体" panose="02010600030101010101" pitchFamily="2" charset="-122"/>
              </a:rPr>
              <a:t>	​​Balance constraints:​​ Capable of handling partition size limitations.</a:t>
            </a:r>
          </a:p>
          <a:p>
            <a:pPr marL="0" indent="0">
              <a:buNone/>
            </a:pPr>
            <a:r>
              <a:rPr lang="en-US" altLang="zh-CN" dirty="0">
                <a:ea typeface="宋体" panose="02010600030101010101" pitchFamily="2" charset="-122"/>
              </a:rPr>
              <a:t>	​​Flexibility:​​ Applicable to various hypergraph structures.</a:t>
            </a:r>
          </a:p>
          <a:p>
            <a:pPr marL="0" indent="0"/>
            <a:r>
              <a:rPr lang="en-US" altLang="zh-CN" dirty="0">
                <a:ea typeface="宋体" panose="02010600030101010101" pitchFamily="2" charset="-122"/>
              </a:rPr>
              <a:t>​​ </a:t>
            </a:r>
            <a:r>
              <a:rPr lang="en-US" altLang="zh-CN" b="1" dirty="0">
                <a:ea typeface="宋体" panose="02010600030101010101" pitchFamily="2" charset="-122"/>
              </a:rPr>
              <a:t>Disadvantages:​​</a:t>
            </a:r>
          </a:p>
          <a:p>
            <a:pPr marL="0" indent="0">
              <a:buNone/>
            </a:pPr>
            <a:r>
              <a:rPr lang="en-US" altLang="zh-CN" dirty="0">
                <a:ea typeface="宋体" panose="02010600030101010101" pitchFamily="2" charset="-122"/>
              </a:rPr>
              <a:t>	​​Local optima:​​ May get trapped in local optimal solutions.</a:t>
            </a:r>
          </a:p>
          <a:p>
            <a:pPr marL="0" indent="0">
              <a:buNone/>
            </a:pPr>
            <a:r>
              <a:rPr lang="en-US" altLang="zh-CN" dirty="0">
                <a:ea typeface="宋体" panose="02010600030101010101" pitchFamily="2" charset="-122"/>
              </a:rPr>
              <a:t>	Dependency on initial solution:​​ The quality of the solution is influenced by the initial partition.</a:t>
            </a:r>
          </a:p>
          <a:p>
            <a:pPr marL="0" indent="0">
              <a:buNone/>
            </a:pPr>
            <a:r>
              <a:rPr lang="en-US" altLang="zh-CN" dirty="0">
                <a:ea typeface="宋体" panose="02010600030101010101" pitchFamily="2" charset="-122"/>
              </a:rPr>
              <a:t>	Parameter sensitivity:​​ Performance is affected by the balance factor ε.</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55</a:t>
            </a:fld>
            <a:endParaRPr lang="en-US" altLang="de-DE" sz="1000">
              <a:solidFill>
                <a:srgbClr val="C0C0C0"/>
              </a:solidFill>
            </a:endParaRPr>
          </a:p>
        </p:txBody>
      </p:sp>
    </p:spTree>
    <p:extLst>
      <p:ext uri="{BB962C8B-B14F-4D97-AF65-F5344CB8AC3E}">
        <p14:creationId xmlns:p14="http://schemas.microsoft.com/office/powerpoint/2010/main" val="1506402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156">
                                            <p:txEl>
                                              <p:pRg st="1" end="1"/>
                                            </p:txEl>
                                          </p:spTgt>
                                        </p:tgtEl>
                                        <p:attrNameLst>
                                          <p:attrName>style.visibility</p:attrName>
                                        </p:attrNameLst>
                                      </p:cBhvr>
                                      <p:to>
                                        <p:strVal val="visible"/>
                                      </p:to>
                                    </p:set>
                                    <p:animEffect transition="in" filter="dissolve">
                                      <p:cBhvr>
                                        <p:cTn id="12" dur="500"/>
                                        <p:tgtEl>
                                          <p:spTgt spid="49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156">
                                            <p:txEl>
                                              <p:pRg st="2" end="2"/>
                                            </p:txEl>
                                          </p:spTgt>
                                        </p:tgtEl>
                                        <p:attrNameLst>
                                          <p:attrName>style.visibility</p:attrName>
                                        </p:attrNameLst>
                                      </p:cBhvr>
                                      <p:to>
                                        <p:strVal val="visible"/>
                                      </p:to>
                                    </p:set>
                                    <p:animEffect transition="in" filter="dissolve">
                                      <p:cBhvr>
                                        <p:cTn id="17" dur="500"/>
                                        <p:tgtEl>
                                          <p:spTgt spid="49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9156">
                                            <p:txEl>
                                              <p:pRg st="3" end="3"/>
                                            </p:txEl>
                                          </p:spTgt>
                                        </p:tgtEl>
                                        <p:attrNameLst>
                                          <p:attrName>style.visibility</p:attrName>
                                        </p:attrNameLst>
                                      </p:cBhvr>
                                      <p:to>
                                        <p:strVal val="visible"/>
                                      </p:to>
                                    </p:set>
                                    <p:animEffect transition="in" filter="dissolve">
                                      <p:cBhvr>
                                        <p:cTn id="22" dur="500"/>
                                        <p:tgtEl>
                                          <p:spTgt spid="49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156">
                                            <p:txEl>
                                              <p:pRg st="4" end="4"/>
                                            </p:txEl>
                                          </p:spTgt>
                                        </p:tgtEl>
                                        <p:attrNameLst>
                                          <p:attrName>style.visibility</p:attrName>
                                        </p:attrNameLst>
                                      </p:cBhvr>
                                      <p:to>
                                        <p:strVal val="visible"/>
                                      </p:to>
                                    </p:set>
                                    <p:animEffect transition="in" filter="dissolve">
                                      <p:cBhvr>
                                        <p:cTn id="27" dur="500"/>
                                        <p:tgtEl>
                                          <p:spTgt spid="491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9156">
                                            <p:txEl>
                                              <p:pRg st="5" end="5"/>
                                            </p:txEl>
                                          </p:spTgt>
                                        </p:tgtEl>
                                        <p:attrNameLst>
                                          <p:attrName>style.visibility</p:attrName>
                                        </p:attrNameLst>
                                      </p:cBhvr>
                                      <p:to>
                                        <p:strVal val="visible"/>
                                      </p:to>
                                    </p:set>
                                    <p:animEffect transition="in" filter="dissolve">
                                      <p:cBhvr>
                                        <p:cTn id="32" dur="500"/>
                                        <p:tgtEl>
                                          <p:spTgt spid="491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9156">
                                            <p:txEl>
                                              <p:pRg st="6" end="6"/>
                                            </p:txEl>
                                          </p:spTgt>
                                        </p:tgtEl>
                                        <p:attrNameLst>
                                          <p:attrName>style.visibility</p:attrName>
                                        </p:attrNameLst>
                                      </p:cBhvr>
                                      <p:to>
                                        <p:strVal val="visible"/>
                                      </p:to>
                                    </p:set>
                                    <p:animEffect transition="in" filter="dissolve">
                                      <p:cBhvr>
                                        <p:cTn id="37" dur="500"/>
                                        <p:tgtEl>
                                          <p:spTgt spid="4915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9156">
                                            <p:txEl>
                                              <p:pRg st="7" end="7"/>
                                            </p:txEl>
                                          </p:spTgt>
                                        </p:tgtEl>
                                        <p:attrNameLst>
                                          <p:attrName>style.visibility</p:attrName>
                                        </p:attrNameLst>
                                      </p:cBhvr>
                                      <p:to>
                                        <p:strVal val="visible"/>
                                      </p:to>
                                    </p:set>
                                    <p:animEffect transition="in" filter="dissolve">
                                      <p:cBhvr>
                                        <p:cTn id="42" dur="500"/>
                                        <p:tgtEl>
                                          <p:spTgt spid="4915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9156">
                                            <p:txEl>
                                              <p:pRg st="8" end="8"/>
                                            </p:txEl>
                                          </p:spTgt>
                                        </p:tgtEl>
                                        <p:attrNameLst>
                                          <p:attrName>style.visibility</p:attrName>
                                        </p:attrNameLst>
                                      </p:cBhvr>
                                      <p:to>
                                        <p:strVal val="visible"/>
                                      </p:to>
                                    </p:set>
                                    <p:animEffect transition="in" filter="dissolve">
                                      <p:cBhvr>
                                        <p:cTn id="47" dur="500"/>
                                        <p:tgtEl>
                                          <p:spTgt spid="4915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56</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279417" y="1052736"/>
            <a:ext cx="8193087" cy="5461000"/>
          </a:xfrm>
        </p:spPr>
        <p:txBody>
          <a:bodyPr/>
          <a:lstStyle/>
          <a:p>
            <a:pPr marL="0" indent="0"/>
            <a:r>
              <a:rPr lang="en-US" altLang="zh-CN" dirty="0">
                <a:ea typeface="宋体" panose="02010600030101010101" pitchFamily="2" charset="-122"/>
              </a:rPr>
              <a:t>​​ </a:t>
            </a:r>
            <a:r>
              <a:rPr lang="en-US" altLang="zh-CN" b="1" dirty="0">
                <a:solidFill>
                  <a:srgbClr val="FF0000"/>
                </a:solidFill>
                <a:ea typeface="宋体" panose="02010600030101010101" pitchFamily="2" charset="-122"/>
              </a:rPr>
              <a:t>FM and KL algorithm comparison</a:t>
            </a:r>
          </a:p>
          <a:p>
            <a:pPr marL="0" indent="0">
              <a:buNone/>
            </a:pPr>
            <a:r>
              <a:rPr lang="en-US" altLang="zh-CN" b="1" dirty="0">
                <a:ea typeface="宋体" panose="02010600030101010101" pitchFamily="2" charset="-122"/>
              </a:rPr>
              <a:t>1. ​​Movement Strategy​​</a:t>
            </a:r>
          </a:p>
          <a:p>
            <a:pPr marL="0" indent="0">
              <a:buNone/>
            </a:pPr>
            <a:r>
              <a:rPr lang="en-US" altLang="zh-CN" dirty="0">
                <a:ea typeface="宋体" panose="02010600030101010101" pitchFamily="2" charset="-122"/>
              </a:rPr>
              <a:t>​​KL​​: Requires finding and swapping vertex pairs (both from different partitions)</a:t>
            </a:r>
          </a:p>
          <a:p>
            <a:pPr marL="0" indent="0">
              <a:buNone/>
            </a:pPr>
            <a:r>
              <a:rPr lang="en-US" altLang="zh-CN" dirty="0">
                <a:ea typeface="宋体" panose="02010600030101010101" pitchFamily="2" charset="-122"/>
              </a:rPr>
              <a:t>​​FM​​: Moves single vertices across partitions, which is more flexible and efficient</a:t>
            </a:r>
          </a:p>
          <a:p>
            <a:pPr marL="0" indent="0">
              <a:buNone/>
            </a:pPr>
            <a:r>
              <a:rPr lang="en-US" altLang="zh-CN" b="1" dirty="0">
                <a:ea typeface="宋体" panose="02010600030101010101" pitchFamily="2" charset="-122"/>
              </a:rPr>
              <a:t>2. ​​Time Complexity​​</a:t>
            </a:r>
          </a:p>
          <a:p>
            <a:pPr marL="0" indent="0">
              <a:buNone/>
            </a:pPr>
            <a:r>
              <a:rPr lang="en-US" altLang="zh-CN" dirty="0">
                <a:ea typeface="宋体" panose="02010600030101010101" pitchFamily="2" charset="-122"/>
              </a:rPr>
              <a:t>​​KL​​: O(n³) - Becomes impractical for large graphs</a:t>
            </a:r>
          </a:p>
          <a:p>
            <a:pPr marL="0" indent="0">
              <a:buNone/>
            </a:pPr>
            <a:r>
              <a:rPr lang="en-US" altLang="zh-CN" dirty="0">
                <a:ea typeface="宋体" panose="02010600030101010101" pitchFamily="2" charset="-122"/>
              </a:rPr>
              <a:t>​​FM​​: O(P) - Linear in the number of pins, making it suitable for large hypergraphs</a:t>
            </a:r>
          </a:p>
          <a:p>
            <a:pPr marL="0" indent="0">
              <a:buNone/>
            </a:pPr>
            <a:r>
              <a:rPr lang="en-US" altLang="zh-CN" b="1" dirty="0">
                <a:ea typeface="宋体" panose="02010600030101010101" pitchFamily="2" charset="-122"/>
              </a:rPr>
              <a:t>3. ​​Data Structures​​</a:t>
            </a:r>
          </a:p>
          <a:p>
            <a:pPr marL="0" indent="0">
              <a:buNone/>
            </a:pPr>
            <a:r>
              <a:rPr lang="en-US" altLang="zh-CN" dirty="0">
                <a:ea typeface="宋体" panose="02010600030101010101" pitchFamily="2" charset="-122"/>
              </a:rPr>
              <a:t>​​KL​​: Uses simple lists to track vertices and gains</a:t>
            </a:r>
          </a:p>
          <a:p>
            <a:pPr marL="0" indent="0">
              <a:buNone/>
            </a:pPr>
            <a:r>
              <a:rPr lang="en-US" altLang="zh-CN" dirty="0">
                <a:ea typeface="宋体" panose="02010600030101010101" pitchFamily="2" charset="-122"/>
              </a:rPr>
              <a:t>​​FM​​: Employs sophisticated gain buckets that allow O(1) access to the highest-gain vertex</a:t>
            </a:r>
          </a:p>
          <a:p>
            <a:pPr marL="0" indent="0">
              <a:buNone/>
            </a:pPr>
            <a:r>
              <a:rPr lang="en-US" altLang="zh-CN" b="1" dirty="0">
                <a:ea typeface="宋体" panose="02010600030101010101" pitchFamily="2" charset="-122"/>
              </a:rPr>
              <a:t>4. ​​Balance Maintenance​​</a:t>
            </a:r>
          </a:p>
          <a:p>
            <a:pPr marL="0" indent="0">
              <a:buNone/>
            </a:pPr>
            <a:r>
              <a:rPr lang="en-US" altLang="zh-CN" dirty="0">
                <a:ea typeface="宋体" panose="02010600030101010101" pitchFamily="2" charset="-122"/>
              </a:rPr>
              <a:t>​​KL​​: Often requires separate balancing steps after optimization</a:t>
            </a:r>
          </a:p>
          <a:p>
            <a:pPr marL="0" indent="0">
              <a:buNone/>
            </a:pPr>
            <a:r>
              <a:rPr lang="en-US" altLang="zh-CN" dirty="0">
                <a:ea typeface="宋体" panose="02010600030101010101" pitchFamily="2" charset="-122"/>
              </a:rPr>
              <a:t>​​FM​​: Maintains balance constraints throughout the optimization process</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56</a:t>
            </a:fld>
            <a:endParaRPr lang="en-US" altLang="de-DE" sz="1000">
              <a:solidFill>
                <a:srgbClr val="C0C0C0"/>
              </a:solidFill>
            </a:endParaRPr>
          </a:p>
        </p:txBody>
      </p:sp>
    </p:spTree>
    <p:extLst>
      <p:ext uri="{BB962C8B-B14F-4D97-AF65-F5344CB8AC3E}">
        <p14:creationId xmlns:p14="http://schemas.microsoft.com/office/powerpoint/2010/main" val="17851683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9156">
                                            <p:txEl>
                                              <p:pRg st="1" end="1"/>
                                            </p:txEl>
                                          </p:spTgt>
                                        </p:tgtEl>
                                        <p:attrNameLst>
                                          <p:attrName>style.visibility</p:attrName>
                                        </p:attrNameLst>
                                      </p:cBhvr>
                                      <p:to>
                                        <p:strVal val="visible"/>
                                      </p:to>
                                    </p:set>
                                    <p:animEffect transition="in" filter="dissolve">
                                      <p:cBhvr>
                                        <p:cTn id="12" dur="500"/>
                                        <p:tgtEl>
                                          <p:spTgt spid="4915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49156">
                                            <p:txEl>
                                              <p:pRg st="2" end="2"/>
                                            </p:txEl>
                                          </p:spTgt>
                                        </p:tgtEl>
                                        <p:attrNameLst>
                                          <p:attrName>style.visibility</p:attrName>
                                        </p:attrNameLst>
                                      </p:cBhvr>
                                      <p:to>
                                        <p:strVal val="visible"/>
                                      </p:to>
                                    </p:set>
                                    <p:animEffect transition="in" filter="dissolve">
                                      <p:cBhvr>
                                        <p:cTn id="17" dur="500"/>
                                        <p:tgtEl>
                                          <p:spTgt spid="4915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9156">
                                            <p:txEl>
                                              <p:pRg st="3" end="3"/>
                                            </p:txEl>
                                          </p:spTgt>
                                        </p:tgtEl>
                                        <p:attrNameLst>
                                          <p:attrName>style.visibility</p:attrName>
                                        </p:attrNameLst>
                                      </p:cBhvr>
                                      <p:to>
                                        <p:strVal val="visible"/>
                                      </p:to>
                                    </p:set>
                                    <p:animEffect transition="in" filter="dissolve">
                                      <p:cBhvr>
                                        <p:cTn id="22" dur="500"/>
                                        <p:tgtEl>
                                          <p:spTgt spid="4915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156">
                                            <p:txEl>
                                              <p:pRg st="4" end="4"/>
                                            </p:txEl>
                                          </p:spTgt>
                                        </p:tgtEl>
                                        <p:attrNameLst>
                                          <p:attrName>style.visibility</p:attrName>
                                        </p:attrNameLst>
                                      </p:cBhvr>
                                      <p:to>
                                        <p:strVal val="visible"/>
                                      </p:to>
                                    </p:set>
                                    <p:animEffect transition="in" filter="dissolve">
                                      <p:cBhvr>
                                        <p:cTn id="27" dur="500"/>
                                        <p:tgtEl>
                                          <p:spTgt spid="4915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49156">
                                            <p:txEl>
                                              <p:pRg st="5" end="5"/>
                                            </p:txEl>
                                          </p:spTgt>
                                        </p:tgtEl>
                                        <p:attrNameLst>
                                          <p:attrName>style.visibility</p:attrName>
                                        </p:attrNameLst>
                                      </p:cBhvr>
                                      <p:to>
                                        <p:strVal val="visible"/>
                                      </p:to>
                                    </p:set>
                                    <p:animEffect transition="in" filter="dissolve">
                                      <p:cBhvr>
                                        <p:cTn id="32" dur="500"/>
                                        <p:tgtEl>
                                          <p:spTgt spid="49156">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49156">
                                            <p:txEl>
                                              <p:pRg st="6" end="6"/>
                                            </p:txEl>
                                          </p:spTgt>
                                        </p:tgtEl>
                                        <p:attrNameLst>
                                          <p:attrName>style.visibility</p:attrName>
                                        </p:attrNameLst>
                                      </p:cBhvr>
                                      <p:to>
                                        <p:strVal val="visible"/>
                                      </p:to>
                                    </p:set>
                                    <p:animEffect transition="in" filter="dissolve">
                                      <p:cBhvr>
                                        <p:cTn id="37" dur="500"/>
                                        <p:tgtEl>
                                          <p:spTgt spid="4915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49156">
                                            <p:txEl>
                                              <p:pRg st="7" end="7"/>
                                            </p:txEl>
                                          </p:spTgt>
                                        </p:tgtEl>
                                        <p:attrNameLst>
                                          <p:attrName>style.visibility</p:attrName>
                                        </p:attrNameLst>
                                      </p:cBhvr>
                                      <p:to>
                                        <p:strVal val="visible"/>
                                      </p:to>
                                    </p:set>
                                    <p:animEffect transition="in" filter="dissolve">
                                      <p:cBhvr>
                                        <p:cTn id="42" dur="500"/>
                                        <p:tgtEl>
                                          <p:spTgt spid="4915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9156">
                                            <p:txEl>
                                              <p:pRg st="8" end="8"/>
                                            </p:txEl>
                                          </p:spTgt>
                                        </p:tgtEl>
                                        <p:attrNameLst>
                                          <p:attrName>style.visibility</p:attrName>
                                        </p:attrNameLst>
                                      </p:cBhvr>
                                      <p:to>
                                        <p:strVal val="visible"/>
                                      </p:to>
                                    </p:set>
                                    <p:animEffect transition="in" filter="dissolve">
                                      <p:cBhvr>
                                        <p:cTn id="47" dur="500"/>
                                        <p:tgtEl>
                                          <p:spTgt spid="4915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49156">
                                            <p:txEl>
                                              <p:pRg st="9" end="9"/>
                                            </p:txEl>
                                          </p:spTgt>
                                        </p:tgtEl>
                                        <p:attrNameLst>
                                          <p:attrName>style.visibility</p:attrName>
                                        </p:attrNameLst>
                                      </p:cBhvr>
                                      <p:to>
                                        <p:strVal val="visible"/>
                                      </p:to>
                                    </p:set>
                                    <p:animEffect transition="in" filter="dissolve">
                                      <p:cBhvr>
                                        <p:cTn id="52" dur="500"/>
                                        <p:tgtEl>
                                          <p:spTgt spid="49156">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49156">
                                            <p:txEl>
                                              <p:pRg st="10" end="10"/>
                                            </p:txEl>
                                          </p:spTgt>
                                        </p:tgtEl>
                                        <p:attrNameLst>
                                          <p:attrName>style.visibility</p:attrName>
                                        </p:attrNameLst>
                                      </p:cBhvr>
                                      <p:to>
                                        <p:strVal val="visible"/>
                                      </p:to>
                                    </p:set>
                                    <p:animEffect transition="in" filter="dissolve">
                                      <p:cBhvr>
                                        <p:cTn id="57" dur="500"/>
                                        <p:tgtEl>
                                          <p:spTgt spid="49156">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grpId="0" nodeType="clickEffect">
                                  <p:stCondLst>
                                    <p:cond delay="0"/>
                                  </p:stCondLst>
                                  <p:childTnLst>
                                    <p:set>
                                      <p:cBhvr>
                                        <p:cTn id="61" dur="1" fill="hold">
                                          <p:stCondLst>
                                            <p:cond delay="0"/>
                                          </p:stCondLst>
                                        </p:cTn>
                                        <p:tgtEl>
                                          <p:spTgt spid="49156">
                                            <p:txEl>
                                              <p:pRg st="11" end="11"/>
                                            </p:txEl>
                                          </p:spTgt>
                                        </p:tgtEl>
                                        <p:attrNameLst>
                                          <p:attrName>style.visibility</p:attrName>
                                        </p:attrNameLst>
                                      </p:cBhvr>
                                      <p:to>
                                        <p:strVal val="visible"/>
                                      </p:to>
                                    </p:set>
                                    <p:animEffect transition="in" filter="dissolve">
                                      <p:cBhvr>
                                        <p:cTn id="62" dur="500"/>
                                        <p:tgtEl>
                                          <p:spTgt spid="49156">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grpId="0" nodeType="clickEffect">
                                  <p:stCondLst>
                                    <p:cond delay="0"/>
                                  </p:stCondLst>
                                  <p:childTnLst>
                                    <p:set>
                                      <p:cBhvr>
                                        <p:cTn id="66" dur="1" fill="hold">
                                          <p:stCondLst>
                                            <p:cond delay="0"/>
                                          </p:stCondLst>
                                        </p:cTn>
                                        <p:tgtEl>
                                          <p:spTgt spid="49156">
                                            <p:txEl>
                                              <p:pRg st="12" end="12"/>
                                            </p:txEl>
                                          </p:spTgt>
                                        </p:tgtEl>
                                        <p:attrNameLst>
                                          <p:attrName>style.visibility</p:attrName>
                                        </p:attrNameLst>
                                      </p:cBhvr>
                                      <p:to>
                                        <p:strVal val="visible"/>
                                      </p:to>
                                    </p:set>
                                    <p:animEffect transition="in" filter="dissolve">
                                      <p:cBhvr>
                                        <p:cTn id="67" dur="500"/>
                                        <p:tgtEl>
                                          <p:spTgt spid="4915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57</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279417" y="1052736"/>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5. ​​Application Scope​​</a:t>
            </a:r>
          </a:p>
          <a:p>
            <a:pPr marL="0" indent="0">
              <a:buNone/>
            </a:pPr>
            <a:r>
              <a:rPr lang="en-US" altLang="zh-CN" dirty="0">
                <a:ea typeface="宋体" panose="02010600030101010101" pitchFamily="2" charset="-122"/>
              </a:rPr>
              <a:t>KL​​: Primarily designed for regular graphs</a:t>
            </a:r>
          </a:p>
          <a:p>
            <a:pPr marL="0" indent="0">
              <a:buNone/>
            </a:pPr>
            <a:r>
              <a:rPr lang="en-US" altLang="zh-CN" dirty="0">
                <a:ea typeface="宋体" panose="02010600030101010101" pitchFamily="2" charset="-122"/>
              </a:rPr>
              <a:t>​​FM​​: Specifically designed for hypergraphs (common in VLSI design)</a:t>
            </a:r>
          </a:p>
          <a:p>
            <a:pPr marL="0" indent="0">
              <a:buNone/>
            </a:pPr>
            <a:r>
              <a:rPr lang="en-US" altLang="zh-CN" b="1" dirty="0">
                <a:ea typeface="宋体" panose="02010600030101010101" pitchFamily="2" charset="-122"/>
              </a:rPr>
              <a:t>6. ​​Implementation Complexity​​</a:t>
            </a:r>
          </a:p>
          <a:p>
            <a:pPr marL="0" indent="0">
              <a:buNone/>
            </a:pPr>
            <a:r>
              <a:rPr lang="en-US" altLang="zh-CN" dirty="0">
                <a:ea typeface="宋体" panose="02010600030101010101" pitchFamily="2" charset="-122"/>
              </a:rPr>
              <a:t>​​KL​​: More complex to implement due to pair selection logic</a:t>
            </a:r>
          </a:p>
          <a:p>
            <a:pPr marL="0" indent="0">
              <a:buNone/>
            </a:pPr>
            <a:r>
              <a:rPr lang="en-US" altLang="zh-CN" dirty="0">
                <a:ea typeface="宋体" panose="02010600030101010101" pitchFamily="2" charset="-122"/>
              </a:rPr>
              <a:t>​​FM​​: Relatively simpler implementation with gain buckets</a:t>
            </a:r>
          </a:p>
          <a:p>
            <a:pPr marL="0" indent="0">
              <a:buNone/>
            </a:pPr>
            <a:r>
              <a:rPr lang="en-US" altLang="zh-CN" b="1" dirty="0">
                <a:ea typeface="宋体" panose="02010600030101010101" pitchFamily="2" charset="-122"/>
              </a:rPr>
              <a:t>7. ​​Solution Quality​​</a:t>
            </a:r>
          </a:p>
          <a:p>
            <a:pPr marL="0" indent="0">
              <a:buNone/>
            </a:pPr>
            <a:r>
              <a:rPr lang="en-US" altLang="zh-CN" dirty="0">
                <a:ea typeface="宋体" panose="02010600030101010101" pitchFamily="2" charset="-122"/>
              </a:rPr>
              <a:t>​​KL​​: Can find good solutions but may be slower</a:t>
            </a:r>
          </a:p>
          <a:p>
            <a:pPr marL="0" indent="0">
              <a:buNone/>
            </a:pPr>
            <a:r>
              <a:rPr lang="en-US" altLang="zh-CN" dirty="0">
                <a:ea typeface="宋体" panose="02010600030101010101" pitchFamily="2" charset="-122"/>
              </a:rPr>
              <a:t>​​FM​​: Typically finds high-quality solutions more efficiently</a:t>
            </a:r>
          </a:p>
          <a:p>
            <a:pPr marL="0" indent="0">
              <a:buNone/>
            </a:pPr>
            <a:r>
              <a:rPr lang="en-US" altLang="zh-CN" b="1" dirty="0">
                <a:ea typeface="宋体" panose="02010600030101010101" pitchFamily="2" charset="-122"/>
              </a:rPr>
              <a:t>8. ​​Practical Usage​​</a:t>
            </a:r>
          </a:p>
          <a:p>
            <a:pPr marL="0" indent="0">
              <a:buNone/>
            </a:pPr>
            <a:r>
              <a:rPr lang="en-US" altLang="zh-CN" dirty="0">
                <a:ea typeface="宋体" panose="02010600030101010101" pitchFamily="2" charset="-122"/>
              </a:rPr>
              <a:t>​​KL​​: Foundational algorithm but less used in modern applications</a:t>
            </a:r>
          </a:p>
          <a:p>
            <a:pPr marL="0" indent="0">
              <a:buNone/>
            </a:pPr>
            <a:r>
              <a:rPr lang="en-US" altLang="zh-CN" dirty="0">
                <a:ea typeface="宋体" panose="02010600030101010101" pitchFamily="2" charset="-122"/>
              </a:rPr>
              <a:t>​​FM​​: Widely used in VLSI design tools and other practical applications</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57</a:t>
            </a:fld>
            <a:endParaRPr lang="en-US" altLang="de-DE" sz="1000">
              <a:solidFill>
                <a:srgbClr val="C0C0C0"/>
              </a:solidFill>
            </a:endParaRPr>
          </a:p>
        </p:txBody>
      </p:sp>
    </p:spTree>
    <p:extLst>
      <p:ext uri="{BB962C8B-B14F-4D97-AF65-F5344CB8AC3E}">
        <p14:creationId xmlns:p14="http://schemas.microsoft.com/office/powerpoint/2010/main" val="17747173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58</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279417" y="1052736"/>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Conclusion</a:t>
            </a:r>
          </a:p>
          <a:p>
            <a:pPr marL="0" indent="0">
              <a:buNone/>
            </a:pPr>
            <a:r>
              <a:rPr lang="en-US" altLang="zh-CN" dirty="0">
                <a:ea typeface="宋体" panose="02010600030101010101" pitchFamily="2" charset="-122"/>
              </a:rPr>
              <a:t>The FM algorithm represents a significant improvement over the KL algorithm by:</a:t>
            </a:r>
          </a:p>
          <a:p>
            <a:pPr marL="0" indent="0">
              <a:buNone/>
            </a:pPr>
            <a:r>
              <a:rPr lang="en-US" altLang="zh-CN" dirty="0">
                <a:ea typeface="宋体" panose="02010600030101010101" pitchFamily="2" charset="-122"/>
              </a:rPr>
              <a:t>Using single vertex moves instead of pairs</a:t>
            </a:r>
          </a:p>
          <a:p>
            <a:pPr marL="0" indent="0">
              <a:buNone/>
            </a:pPr>
            <a:r>
              <a:rPr lang="en-US" altLang="zh-CN" dirty="0">
                <a:ea typeface="宋体" panose="02010600030101010101" pitchFamily="2" charset="-122"/>
              </a:rPr>
              <a:t>Employing efficient gain bucket data structures</a:t>
            </a:r>
          </a:p>
          <a:p>
            <a:pPr marL="0" indent="0">
              <a:buNone/>
            </a:pPr>
            <a:r>
              <a:rPr lang="en-US" altLang="zh-CN" dirty="0">
                <a:ea typeface="宋体" panose="02010600030101010101" pitchFamily="2" charset="-122"/>
              </a:rPr>
              <a:t>Achieving linear time complexity</a:t>
            </a:r>
          </a:p>
          <a:p>
            <a:pPr marL="0" indent="0">
              <a:buNone/>
            </a:pPr>
            <a:r>
              <a:rPr lang="en-US" altLang="zh-CN" dirty="0">
                <a:ea typeface="宋体" panose="02010600030101010101" pitchFamily="2" charset="-122"/>
              </a:rPr>
              <a:t>Better handling hypergraph structures</a:t>
            </a:r>
          </a:p>
          <a:p>
            <a:pPr marL="0" indent="0">
              <a:buNone/>
            </a:pPr>
            <a:r>
              <a:rPr lang="en-US" altLang="zh-CN" dirty="0">
                <a:ea typeface="宋体" panose="02010600030101010101" pitchFamily="2" charset="-122"/>
              </a:rPr>
              <a:t>Maintaining balance constraints during optimization</a:t>
            </a:r>
          </a:p>
          <a:p>
            <a:pPr marL="0" indent="0">
              <a:buNone/>
            </a:pPr>
            <a:endParaRPr lang="en-US" altLang="zh-CN" dirty="0">
              <a:ea typeface="宋体" panose="02010600030101010101" pitchFamily="2" charset="-122"/>
            </a:endParaRPr>
          </a:p>
          <a:p>
            <a:pPr marL="0" indent="0">
              <a:buNone/>
            </a:pPr>
            <a:r>
              <a:rPr lang="en-US" altLang="zh-CN" dirty="0">
                <a:ea typeface="宋体" panose="02010600030101010101" pitchFamily="2" charset="-122"/>
              </a:rPr>
              <a:t>While KL remains an important historical algorithm, FM is generally preferred for practical applications, particularly in VLSI design and large-scale hypergraph partitioning problems where efficiency and scalability are crucial.</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58</a:t>
            </a:fld>
            <a:endParaRPr lang="en-US" altLang="de-DE" sz="1000">
              <a:solidFill>
                <a:srgbClr val="C0C0C0"/>
              </a:solidFill>
            </a:endParaRPr>
          </a:p>
        </p:txBody>
      </p:sp>
    </p:spTree>
    <p:extLst>
      <p:ext uri="{BB962C8B-B14F-4D97-AF65-F5344CB8AC3E}">
        <p14:creationId xmlns:p14="http://schemas.microsoft.com/office/powerpoint/2010/main" val="410815623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59</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279417" y="1052736"/>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Question</a:t>
            </a:r>
          </a:p>
          <a:p>
            <a:pPr marL="0" indent="0">
              <a:buNone/>
            </a:pPr>
            <a:r>
              <a:rPr lang="en-US" altLang="zh-CN" dirty="0">
                <a:ea typeface="宋体" panose="02010600030101010101" pitchFamily="2" charset="-122"/>
              </a:rPr>
              <a:t>Why the algorithm complexity of KL is O(n³) and the FM is O(p)</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59</a:t>
            </a:fld>
            <a:endParaRPr lang="en-US" altLang="de-DE" sz="1000">
              <a:solidFill>
                <a:srgbClr val="C0C0C0"/>
              </a:solidFill>
            </a:endParaRPr>
          </a:p>
        </p:txBody>
      </p:sp>
    </p:spTree>
    <p:extLst>
      <p:ext uri="{BB962C8B-B14F-4D97-AF65-F5344CB8AC3E}">
        <p14:creationId xmlns:p14="http://schemas.microsoft.com/office/powerpoint/2010/main" val="33114828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60</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279417" y="1052736"/>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Question</a:t>
            </a:r>
          </a:p>
          <a:p>
            <a:pPr marL="0" indent="0">
              <a:buNone/>
            </a:pPr>
            <a:r>
              <a:rPr lang="en-US" altLang="zh-CN" dirty="0">
                <a:ea typeface="宋体" panose="02010600030101010101" pitchFamily="2" charset="-122"/>
              </a:rPr>
              <a:t>Why the algorithm complexity of KL is O(n³) and the FM is O(p)</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60</a:t>
            </a:fld>
            <a:endParaRPr lang="en-US" altLang="de-DE" sz="1000">
              <a:solidFill>
                <a:srgbClr val="C0C0C0"/>
              </a:solidFill>
            </a:endParaRPr>
          </a:p>
        </p:txBody>
      </p:sp>
      <p:sp>
        <p:nvSpPr>
          <p:cNvPr id="2" name="矩形 1">
            <a:extLst>
              <a:ext uri="{FF2B5EF4-FFF2-40B4-BE49-F238E27FC236}">
                <a16:creationId xmlns:a16="http://schemas.microsoft.com/office/drawing/2014/main" id="{B3D6F6D1-261D-4B4A-BEF7-5DE0EA0E7A6E}"/>
              </a:ext>
            </a:extLst>
          </p:cNvPr>
          <p:cNvSpPr/>
          <p:nvPr/>
        </p:nvSpPr>
        <p:spPr>
          <a:xfrm>
            <a:off x="279418" y="2204864"/>
            <a:ext cx="8193086" cy="2219454"/>
          </a:xfrm>
          <a:prstGeom prst="rect">
            <a:avLst/>
          </a:prstGeom>
        </p:spPr>
        <p:txBody>
          <a:bodyPr wrap="square">
            <a:spAutoFit/>
          </a:bodyPr>
          <a:lstStyle/>
          <a:p>
            <a:pPr algn="l"/>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 Kernighan-Lin (KL)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算法为什么是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O(n³)</a:t>
            </a:r>
          </a:p>
          <a:p>
            <a:pPr algn="l"/>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KL</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算法的核心操作是​​交换一对顶点​​（一个来自分区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，一个来自分区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B</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）。它的复杂度主要来自以下几个步骤：</a:t>
            </a:r>
          </a:p>
          <a:p>
            <a:pPr algn="l"/>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a)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初始化：</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计算所有顶点的增益。这需要遍历每个顶点，并查看其所有边。对于稀疏图，这大约是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O(n *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平均度数</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O(n²)</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a:p>
            <a:pPr algn="l"/>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b)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主循环</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（这是复杂度的主要来源）：​​</a:t>
            </a:r>
            <a:endParaRPr lang="en-US"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gn="l"/>
            <a:endParaRPr lang="zh-CN" altLang="en-US" dirty="0"/>
          </a:p>
        </p:txBody>
      </p:sp>
      <p:sp>
        <p:nvSpPr>
          <p:cNvPr id="3" name="矩形 2">
            <a:extLst>
              <a:ext uri="{FF2B5EF4-FFF2-40B4-BE49-F238E27FC236}">
                <a16:creationId xmlns:a16="http://schemas.microsoft.com/office/drawing/2014/main" id="{D6722B98-F99C-4C41-8D11-E0534D3A97B8}"/>
              </a:ext>
            </a:extLst>
          </p:cNvPr>
          <p:cNvSpPr/>
          <p:nvPr/>
        </p:nvSpPr>
        <p:spPr>
          <a:xfrm>
            <a:off x="264682" y="4227056"/>
            <a:ext cx="8560272" cy="2246769"/>
          </a:xfrm>
          <a:prstGeom prst="rect">
            <a:avLst/>
          </a:prstGeom>
        </p:spPr>
        <p:txBody>
          <a:bodyPr wrap="square">
            <a:spAutoFit/>
          </a:bodyPr>
          <a:lstStyle/>
          <a:p>
            <a:pPr algn="l"/>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KL</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算法的一个“通行”（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pass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）会进行大约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n/2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次交换。在每一次交换中，它需要：</a:t>
            </a:r>
          </a:p>
          <a:p>
            <a:pPr algn="l"/>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）寻找最佳顶点对：</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为了找到增益最高的那一对顶点，算法需要检查所有​​可能的候选对​​。在最坏情况下，这需要检查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 * |B|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对顶点。在算法开始时，</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 ≈ |B| ≈ n/2</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，所以这一步的复杂度是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O((n/2) * (n/2)) = ​​O(n²)​​</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a:p>
            <a:pPr algn="l"/>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）交换并锁定顶点：</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交换选中的顶点对，并将它们锁定（在本轮后续过程中不再考虑）。</a:t>
            </a:r>
          </a:p>
        </p:txBody>
      </p:sp>
    </p:spTree>
    <p:extLst>
      <p:ext uri="{BB962C8B-B14F-4D97-AF65-F5344CB8AC3E}">
        <p14:creationId xmlns:p14="http://schemas.microsoft.com/office/powerpoint/2010/main" val="33621840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61</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279417" y="1052736"/>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Question</a:t>
            </a:r>
          </a:p>
          <a:p>
            <a:pPr marL="0" indent="0">
              <a:buNone/>
            </a:pPr>
            <a:r>
              <a:rPr lang="en-US" altLang="zh-CN" dirty="0">
                <a:ea typeface="宋体" panose="02010600030101010101" pitchFamily="2" charset="-122"/>
              </a:rPr>
              <a:t>Why the algorithm complexity of KL is O(n³) and the FM is O(p)</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61</a:t>
            </a:fld>
            <a:endParaRPr lang="en-US" altLang="de-DE" sz="1000">
              <a:solidFill>
                <a:srgbClr val="C0C0C0"/>
              </a:solidFill>
            </a:endParaRPr>
          </a:p>
        </p:txBody>
      </p:sp>
      <p:sp>
        <p:nvSpPr>
          <p:cNvPr id="2" name="矩形 1">
            <a:extLst>
              <a:ext uri="{FF2B5EF4-FFF2-40B4-BE49-F238E27FC236}">
                <a16:creationId xmlns:a16="http://schemas.microsoft.com/office/drawing/2014/main" id="{B3D6F6D1-261D-4B4A-BEF7-5DE0EA0E7A6E}"/>
              </a:ext>
            </a:extLst>
          </p:cNvPr>
          <p:cNvSpPr/>
          <p:nvPr/>
        </p:nvSpPr>
        <p:spPr>
          <a:xfrm>
            <a:off x="323528" y="2204864"/>
            <a:ext cx="8424936" cy="3170099"/>
          </a:xfrm>
          <a:prstGeom prst="rect">
            <a:avLst/>
          </a:prstGeom>
        </p:spPr>
        <p:txBody>
          <a:bodyPr wrap="square">
            <a:spAutoFit/>
          </a:bodyPr>
          <a:lstStyle/>
          <a:p>
            <a:pPr algn="l"/>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更新增益：</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 这对顶点的移动会影响它们邻居的增益。因此需要更新所有与这两个顶点相连的顶点的增益。对于稀疏图，每个顶点的邻居数量是常数，所以这步大约是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O(1)</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，但严格来说是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O(</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平均度数</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a:p>
            <a:pPr algn="l"/>
            <a:endParaRPr lang="zh-CN" altLang="en-US" b="1" dirty="0">
              <a:latin typeface="Times New Roman" panose="02020603050405020304" pitchFamily="18" charset="0"/>
              <a:ea typeface="楷体" panose="02010609060101010101" pitchFamily="49" charset="-122"/>
              <a:cs typeface="Times New Roman" panose="02020603050405020304" pitchFamily="18" charset="0"/>
            </a:endParaRPr>
          </a:p>
          <a:p>
            <a:pPr algn="l"/>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​​复杂度计算：</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a:p>
            <a:pPr algn="l"/>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主循环有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n/2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次迭代（每次交换一对顶点）。</a:t>
            </a:r>
          </a:p>
          <a:p>
            <a:pPr algn="l"/>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在每次迭代中，​​寻找最佳顶点对​​的操作就需要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O(n²) </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时间。</a:t>
            </a:r>
          </a:p>
          <a:p>
            <a:pPr algn="l"/>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因此，一个完整通行（</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pass</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）的总时间复杂度是：​​</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(n/2) * O(n²) = O(n³)​​</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a:p>
            <a:pPr algn="l"/>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​​核心问题：​​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KL</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算法在每一轮迭代中，为了找一对最好的顶点，都需要进行一次全局搜索，扫描所有可能的配对。这个全局搜索的代价非常高。</a:t>
            </a:r>
          </a:p>
        </p:txBody>
      </p:sp>
    </p:spTree>
    <p:extLst>
      <p:ext uri="{BB962C8B-B14F-4D97-AF65-F5344CB8AC3E}">
        <p14:creationId xmlns:p14="http://schemas.microsoft.com/office/powerpoint/2010/main" val="23865069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62</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179512" y="836712"/>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Question</a:t>
            </a:r>
          </a:p>
          <a:p>
            <a:pPr marL="0" indent="0">
              <a:buNone/>
            </a:pPr>
            <a:r>
              <a:rPr lang="en-US" altLang="zh-CN" dirty="0">
                <a:ea typeface="宋体" panose="02010600030101010101" pitchFamily="2" charset="-122"/>
              </a:rPr>
              <a:t>Why the algorithm complexity of KL is O(n³) and the FM is O(p)</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62</a:t>
            </a:fld>
            <a:endParaRPr lang="en-US" altLang="de-DE" sz="1000">
              <a:solidFill>
                <a:srgbClr val="C0C0C0"/>
              </a:solidFill>
            </a:endParaRPr>
          </a:p>
        </p:txBody>
      </p:sp>
      <p:sp>
        <p:nvSpPr>
          <p:cNvPr id="2" name="矩形 1">
            <a:extLst>
              <a:ext uri="{FF2B5EF4-FFF2-40B4-BE49-F238E27FC236}">
                <a16:creationId xmlns:a16="http://schemas.microsoft.com/office/drawing/2014/main" id="{B3D6F6D1-261D-4B4A-BEF7-5DE0EA0E7A6E}"/>
              </a:ext>
            </a:extLst>
          </p:cNvPr>
          <p:cNvSpPr/>
          <p:nvPr/>
        </p:nvSpPr>
        <p:spPr>
          <a:xfrm>
            <a:off x="251520" y="1988761"/>
            <a:ext cx="8424936" cy="400110"/>
          </a:xfrm>
          <a:prstGeom prst="rect">
            <a:avLst/>
          </a:prstGeom>
        </p:spPr>
        <p:txBody>
          <a:bodyPr wrap="square">
            <a:spAutoFit/>
          </a:bodyPr>
          <a:lstStyle/>
          <a:p>
            <a:pPr algn="l"/>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Fiduccia-</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Mattheyses</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(FM)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算法为什么是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O(P)</a:t>
            </a:r>
          </a:p>
        </p:txBody>
      </p:sp>
      <p:sp>
        <p:nvSpPr>
          <p:cNvPr id="3" name="矩形 2">
            <a:extLst>
              <a:ext uri="{FF2B5EF4-FFF2-40B4-BE49-F238E27FC236}">
                <a16:creationId xmlns:a16="http://schemas.microsoft.com/office/drawing/2014/main" id="{11BAA323-1903-4A2E-8C0F-3CD3545595E4}"/>
              </a:ext>
            </a:extLst>
          </p:cNvPr>
          <p:cNvSpPr/>
          <p:nvPr/>
        </p:nvSpPr>
        <p:spPr>
          <a:xfrm>
            <a:off x="319474" y="2461536"/>
            <a:ext cx="8505051" cy="4372672"/>
          </a:xfrm>
          <a:prstGeom prst="rect">
            <a:avLst/>
          </a:prstGeom>
        </p:spPr>
        <p:txBody>
          <a:bodyPr wrap="square">
            <a:spAutoFit/>
          </a:bodyPr>
          <a:lstStyle/>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FM算法是KL算法的改进版，它的核心操作是​​移动单个顶点​​（而不是交换一对）。它通过一个名为 ​​“增益桶”（Gain Bucket）​​ 的数据结构彻底解决了KL算法的性能瓶颈。</a:t>
            </a:r>
          </a:p>
          <a:p>
            <a:pPr algn="l"/>
            <a:r>
              <a:rPr lang="zh-CN" altLang="en-US" b="1" dirty="0">
                <a:latin typeface="Times New Roman" panose="02020603050405020304" pitchFamily="18" charset="0"/>
                <a:ea typeface="楷体" panose="02010609060101010101" pitchFamily="49" charset="-122"/>
                <a:cs typeface="Times New Roman" panose="02020603050405020304" pitchFamily="18" charset="0"/>
              </a:rPr>
              <a:t>​​a) 关键改进1：单顶点移动​​</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移动一个顶点比交换一对顶点更灵活，决策空间更大。</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平衡约束通过限制分区大小来维护，而不是必须成对交换。</a:t>
            </a:r>
          </a:p>
          <a:p>
            <a:pPr algn="l"/>
            <a:r>
              <a:rPr lang="zh-CN" altLang="en-US" b="1" dirty="0">
                <a:latin typeface="Times New Roman" panose="02020603050405020304" pitchFamily="18" charset="0"/>
                <a:ea typeface="楷体" panose="02010609060101010101" pitchFamily="49" charset="-122"/>
                <a:cs typeface="Times New Roman" panose="02020603050405020304" pitchFamily="18" charset="0"/>
              </a:rPr>
              <a:t>​​b) 关键改进2：增益桶数据结构（核心！）​​</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这是FM算法效率飞跃的根本原因。增益桶是一个将增益值作为索引的数组（或字典），每个桶里存放所有具有该增益值的顶点。</a:t>
            </a:r>
          </a:p>
          <a:p>
            <a:pPr algn="l"/>
            <a:r>
              <a:rPr lang="zh-CN" altLang="en-US" b="1" dirty="0">
                <a:latin typeface="Times New Roman" panose="02020603050405020304" pitchFamily="18" charset="0"/>
                <a:ea typeface="楷体" panose="02010609060101010101" pitchFamily="49" charset="-122"/>
                <a:cs typeface="Times New Roman" panose="02020603050405020304" pitchFamily="18" charset="0"/>
              </a:rPr>
              <a:t>​​初始化：​​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算法开始时，计算所有顶点的增益，并将它们放入对应的增益桶中。​​这是一个O(P)的操作​​，因为需要计算每个顶点的增益，而计算一个顶点的增益需要查看其所有连接的边（即“引脚”）。P= 超图中所有超边的“引脚”数量之和。对于普通图，P就是边数乘以2（因为每条边有两个连接）</a:t>
            </a:r>
          </a:p>
          <a:p>
            <a:pPr algn="l"/>
            <a:r>
              <a:rPr lang="zh-CN" altLang="en-US" b="1" dirty="0">
                <a:latin typeface="Times New Roman" panose="02020603050405020304" pitchFamily="18" charset="0"/>
                <a:ea typeface="楷体" panose="02010609060101010101" pitchFamily="49" charset="-122"/>
                <a:cs typeface="Times New Roman" panose="02020603050405020304" pitchFamily="18" charset="0"/>
              </a:rPr>
              <a:t>​​寻找最佳移动顶点：</a:t>
            </a:r>
            <a:r>
              <a:rPr lang="zh-CN" altLang="en-US" dirty="0">
                <a:latin typeface="Times New Roman" panose="02020603050405020304" pitchFamily="18" charset="0"/>
                <a:ea typeface="楷体" panose="02010609060101010101" pitchFamily="49" charset="-122"/>
                <a:cs typeface="Times New Roman" panose="02020603050405020304" pitchFamily="18" charset="0"/>
              </a:rPr>
              <a:t>​​ 在KL中，这一步需要O(n²)。而在FM中，由于增益桶的存在，​​这一步是O(1)​​！你只需要直接查看最高增益对应的那个桶，并从里面取一个顶点即可。</a:t>
            </a:r>
          </a:p>
        </p:txBody>
      </p:sp>
    </p:spTree>
    <p:extLst>
      <p:ext uri="{BB962C8B-B14F-4D97-AF65-F5344CB8AC3E}">
        <p14:creationId xmlns:p14="http://schemas.microsoft.com/office/powerpoint/2010/main" val="15976590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5BE42E85-D9A3-418D-AF38-701983649A56}" type="slidenum">
              <a:rPr lang="en-US" altLang="de-DE" sz="1000">
                <a:solidFill>
                  <a:srgbClr val="C0C0C0"/>
                </a:solidFill>
              </a:rPr>
              <a:pPr/>
              <a:t>63</a:t>
            </a:fld>
            <a:endParaRPr lang="en-US" altLang="de-DE" sz="1000">
              <a:solidFill>
                <a:srgbClr val="C0C0C0"/>
              </a:solidFill>
            </a:endParaRPr>
          </a:p>
        </p:txBody>
      </p:sp>
      <p:sp>
        <p:nvSpPr>
          <p:cNvPr id="49155" name="Title 1"/>
          <p:cNvSpPr>
            <a:spLocks noGrp="1"/>
          </p:cNvSpPr>
          <p:nvPr>
            <p:ph type="title" idx="4294967295"/>
          </p:nvPr>
        </p:nvSpPr>
        <p:spPr/>
        <p:txBody>
          <a:bodyPr/>
          <a:lstStyle/>
          <a:p>
            <a:r>
              <a:rPr lang="en-US" altLang="zh-CN">
                <a:ea typeface="宋体" panose="02010600030101010101" pitchFamily="2" charset="-122"/>
              </a:rPr>
              <a:t>Runtime difference between KL &amp; FM</a:t>
            </a:r>
          </a:p>
        </p:txBody>
      </p:sp>
      <p:sp>
        <p:nvSpPr>
          <p:cNvPr id="49156" name="Content Placeholder 2"/>
          <p:cNvSpPr>
            <a:spLocks noGrp="1"/>
          </p:cNvSpPr>
          <p:nvPr>
            <p:ph idx="4294967295"/>
          </p:nvPr>
        </p:nvSpPr>
        <p:spPr>
          <a:xfrm>
            <a:off x="179512" y="836712"/>
            <a:ext cx="8193087" cy="5461000"/>
          </a:xfrm>
        </p:spPr>
        <p:txBody>
          <a:bodyPr/>
          <a:lstStyle/>
          <a:p>
            <a:pPr marL="0" indent="0"/>
            <a:r>
              <a:rPr lang="en-US" altLang="zh-CN" b="1" dirty="0">
                <a:solidFill>
                  <a:srgbClr val="FF0000"/>
                </a:solidFill>
                <a:ea typeface="宋体" panose="02010600030101010101" pitchFamily="2" charset="-122"/>
              </a:rPr>
              <a:t>​​ FM and KL algorithm comparison</a:t>
            </a:r>
          </a:p>
          <a:p>
            <a:pPr marL="0" indent="0">
              <a:buNone/>
            </a:pPr>
            <a:r>
              <a:rPr lang="en-US" altLang="zh-CN" b="1" dirty="0">
                <a:ea typeface="宋体" panose="02010600030101010101" pitchFamily="2" charset="-122"/>
              </a:rPr>
              <a:t>Question</a:t>
            </a:r>
          </a:p>
          <a:p>
            <a:pPr marL="0" indent="0">
              <a:buNone/>
            </a:pPr>
            <a:r>
              <a:rPr lang="en-US" altLang="zh-CN" dirty="0">
                <a:ea typeface="宋体" panose="02010600030101010101" pitchFamily="2" charset="-122"/>
              </a:rPr>
              <a:t>Why the algorithm complexity of KL is O(n³) and the FM is O(p)</a:t>
            </a:r>
            <a:endParaRPr lang="en-US" altLang="zh-CN" i="1" dirty="0">
              <a:ea typeface="宋体" panose="02010600030101010101" pitchFamily="2" charset="-122"/>
            </a:endParaRPr>
          </a:p>
        </p:txBody>
      </p:sp>
      <p:sp>
        <p:nvSpPr>
          <p:cNvPr id="49157"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E6F5B272-16F8-440C-A81E-9829D2A75215}" type="slidenum">
              <a:rPr lang="en-US" altLang="de-DE" sz="1000">
                <a:solidFill>
                  <a:srgbClr val="C0C0C0"/>
                </a:solidFill>
              </a:rPr>
              <a:pPr algn="r">
                <a:lnSpc>
                  <a:spcPct val="100000"/>
                </a:lnSpc>
              </a:pPr>
              <a:t>63</a:t>
            </a:fld>
            <a:endParaRPr lang="en-US" altLang="de-DE" sz="1000">
              <a:solidFill>
                <a:srgbClr val="C0C0C0"/>
              </a:solidFill>
            </a:endParaRPr>
          </a:p>
        </p:txBody>
      </p:sp>
      <p:sp>
        <p:nvSpPr>
          <p:cNvPr id="2" name="矩形 1">
            <a:extLst>
              <a:ext uri="{FF2B5EF4-FFF2-40B4-BE49-F238E27FC236}">
                <a16:creationId xmlns:a16="http://schemas.microsoft.com/office/drawing/2014/main" id="{B3D6F6D1-261D-4B4A-BEF7-5DE0EA0E7A6E}"/>
              </a:ext>
            </a:extLst>
          </p:cNvPr>
          <p:cNvSpPr/>
          <p:nvPr/>
        </p:nvSpPr>
        <p:spPr>
          <a:xfrm>
            <a:off x="251520" y="1988761"/>
            <a:ext cx="8424936" cy="400110"/>
          </a:xfrm>
          <a:prstGeom prst="rect">
            <a:avLst/>
          </a:prstGeom>
        </p:spPr>
        <p:txBody>
          <a:bodyPr wrap="square">
            <a:spAutoFit/>
          </a:bodyPr>
          <a:lstStyle/>
          <a:p>
            <a:pPr algn="l"/>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Fiduccia-</a:t>
            </a:r>
            <a:r>
              <a:rPr lang="en-US" altLang="zh-CN" sz="2000" b="1" dirty="0" err="1">
                <a:latin typeface="Times New Roman" panose="02020603050405020304" pitchFamily="18" charset="0"/>
                <a:ea typeface="楷体" panose="02010609060101010101" pitchFamily="49" charset="-122"/>
                <a:cs typeface="Times New Roman" panose="02020603050405020304" pitchFamily="18" charset="0"/>
              </a:rPr>
              <a:t>Mattheyses</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 (FM) </a:t>
            </a:r>
            <a:r>
              <a:rPr lang="zh-CN" altLang="en-US" sz="2000" b="1" dirty="0">
                <a:latin typeface="Times New Roman" panose="02020603050405020304" pitchFamily="18" charset="0"/>
                <a:ea typeface="楷体" panose="02010609060101010101" pitchFamily="49" charset="-122"/>
                <a:cs typeface="Times New Roman" panose="02020603050405020304" pitchFamily="18" charset="0"/>
              </a:rPr>
              <a:t>算法为什么是 </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O(P)</a:t>
            </a:r>
          </a:p>
        </p:txBody>
      </p:sp>
      <p:sp>
        <p:nvSpPr>
          <p:cNvPr id="3" name="矩形 2">
            <a:extLst>
              <a:ext uri="{FF2B5EF4-FFF2-40B4-BE49-F238E27FC236}">
                <a16:creationId xmlns:a16="http://schemas.microsoft.com/office/drawing/2014/main" id="{11BAA323-1903-4A2E-8C0F-3CD3545595E4}"/>
              </a:ext>
            </a:extLst>
          </p:cNvPr>
          <p:cNvSpPr/>
          <p:nvPr/>
        </p:nvSpPr>
        <p:spPr>
          <a:xfrm>
            <a:off x="251520" y="2395207"/>
            <a:ext cx="8505051" cy="4372672"/>
          </a:xfrm>
          <a:prstGeom prst="rect">
            <a:avLst/>
          </a:prstGeom>
        </p:spPr>
        <p:txBody>
          <a:bodyPr wrap="square">
            <a:spAutoFit/>
          </a:bodyPr>
          <a:lstStyle/>
          <a:p>
            <a:pPr algn="l"/>
            <a:r>
              <a:rPr lang="zh-CN" altLang="en-US" b="1" dirty="0">
                <a:latin typeface="Times New Roman" panose="02020603050405020304" pitchFamily="18" charset="0"/>
                <a:ea typeface="楷体" panose="02010609060101010101" pitchFamily="49" charset="-122"/>
                <a:cs typeface="Times New Roman" panose="02020603050405020304" pitchFamily="18" charset="0"/>
              </a:rPr>
              <a:t>移动顶点和更新增益：​​ </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移动一个顶点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后，所有与</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相连的顶点的增益都会改变。</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KL</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中，更新增益需要全局扫描。在</a:t>
            </a:r>
            <a:r>
              <a:rPr lang="en-US" altLang="zh-CN" dirty="0">
                <a:latin typeface="Times New Roman" panose="02020603050405020304" pitchFamily="18" charset="0"/>
                <a:ea typeface="楷体" panose="02010609060101010101" pitchFamily="49" charset="-122"/>
                <a:cs typeface="Times New Roman" panose="02020603050405020304" pitchFamily="18" charset="0"/>
              </a:rPr>
              <a:t>FM</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中，更新操作非常高效：</a:t>
            </a:r>
          </a:p>
          <a:p>
            <a:pPr algn="l"/>
            <a:r>
              <a:rPr lang="en-US" altLang="zh-CN" dirty="0">
                <a:latin typeface="Times New Roman" panose="02020603050405020304" pitchFamily="18" charset="0"/>
                <a:ea typeface="楷体" panose="02010609060101010101" pitchFamily="49" charset="-122"/>
                <a:cs typeface="Times New Roman" panose="02020603050405020304" pitchFamily="18" charset="0"/>
              </a:rPr>
              <a:t>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将受影响的顶点从它们当前所在的增益桶中移除。</a:t>
            </a:r>
          </a:p>
          <a:p>
            <a:pPr algn="l"/>
            <a:r>
              <a:rPr lang="en-US" altLang="zh-CN" dirty="0">
                <a:latin typeface="Times New Roman" panose="02020603050405020304" pitchFamily="18" charset="0"/>
                <a:ea typeface="楷体" panose="02010609060101010101" pitchFamily="49" charset="-122"/>
                <a:cs typeface="Times New Roman" panose="02020603050405020304" pitchFamily="18" charset="0"/>
              </a:rPr>
              <a:t>2.</a:t>
            </a:r>
            <a:r>
              <a:rPr lang="zh-CN" altLang="en-US" dirty="0">
                <a:latin typeface="Times New Roman" panose="02020603050405020304" pitchFamily="18" charset="0"/>
                <a:ea typeface="楷体" panose="02010609060101010101" pitchFamily="49" charset="-122"/>
                <a:cs typeface="Times New Roman" panose="02020603050405020304" pitchFamily="18" charset="0"/>
              </a:rPr>
              <a:t>计算它们新的增益值。</a:t>
            </a:r>
          </a:p>
          <a:p>
            <a:pPr algn="l"/>
            <a:r>
              <a:rPr lang="en-US" altLang="zh-CN" dirty="0">
                <a:latin typeface="Times New Roman" panose="02020603050405020304" pitchFamily="18" charset="0"/>
                <a:ea typeface="楷体" panose="02010609060101010101" pitchFamily="49" charset="-122"/>
                <a:cs typeface="Times New Roman" panose="02020603050405020304" pitchFamily="18" charset="0"/>
              </a:rPr>
              <a:t>3.</a:t>
            </a:r>
            <a:r>
              <a:rPr lang="zh-CN" altLang="en-US" dirty="0">
                <a:latin typeface="Times New Roman" panose="02020603050405020304" pitchFamily="18" charset="0"/>
                <a:ea typeface="楷体" panose="02010609060101010101" pitchFamily="49" charset="-122"/>
                <a:cs typeface="Times New Roman" panose="02020603050405020304" pitchFamily="18" charset="0"/>
              </a:rPr>
              <a:t>将它们插入到新的增益值对应的桶中。</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每个受影响的顶点的更新操作是​​常数时间</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O(1)​​</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一个顶点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的移动，会影响所有与它共享超边的顶点。这些顶点数量的总和，正好就是顶点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的​​引脚数​​。</a:t>
            </a:r>
          </a:p>
          <a:p>
            <a:pPr algn="l"/>
            <a:r>
              <a:rPr lang="zh-CN" altLang="en-US" b="1"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latin typeface="Times New Roman" panose="02020603050405020304" pitchFamily="18" charset="0"/>
                <a:ea typeface="楷体" panose="02010609060101010101" pitchFamily="49" charset="-122"/>
                <a:cs typeface="Times New Roman" panose="02020603050405020304" pitchFamily="18" charset="0"/>
              </a:rPr>
              <a:t>c) </a:t>
            </a:r>
            <a:r>
              <a:rPr lang="zh-CN" altLang="en-US" b="1" dirty="0">
                <a:latin typeface="Times New Roman" panose="02020603050405020304" pitchFamily="18" charset="0"/>
                <a:ea typeface="楷体" panose="02010609060101010101" pitchFamily="49" charset="-122"/>
                <a:cs typeface="Times New Roman" panose="02020603050405020304" pitchFamily="18" charset="0"/>
              </a:rPr>
              <a:t>复杂度计算：​​</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算法的一个通行（</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pass</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）会移动最多</a:t>
            </a:r>
            <a:r>
              <a:rPr lang="en-US" altLang="zh-CN"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dirty="0">
                <a:latin typeface="Times New Roman" panose="02020603050405020304" pitchFamily="18" charset="0"/>
                <a:ea typeface="楷体" panose="02010609060101010101" pitchFamily="49" charset="-122"/>
                <a:cs typeface="Times New Roman" panose="02020603050405020304" pitchFamily="18" charset="0"/>
              </a:rPr>
              <a:t>个顶点。</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处理整个通行所需的总工作量，是​​所有被移动顶点的影响代价之和​​。</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移动一个顶点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v</a:t>
            </a:r>
            <a:r>
              <a:rPr lang="zh-CN" altLang="en-US" dirty="0">
                <a:latin typeface="Times New Roman" panose="02020603050405020304" pitchFamily="18" charset="0"/>
                <a:ea typeface="楷体" panose="02010609060101010101" pitchFamily="49" charset="-122"/>
                <a:cs typeface="Times New Roman" panose="02020603050405020304" pitchFamily="18" charset="0"/>
              </a:rPr>
              <a:t>的代价 ≈ 它的引脚数。</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因此，一个通行处理所有顶点的总代价 ≈ ​​所有顶点的引脚数之和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P​​</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p>
          <a:p>
            <a:pPr algn="l"/>
            <a:r>
              <a:rPr lang="zh-CN" altLang="en-US" dirty="0">
                <a:latin typeface="Times New Roman" panose="02020603050405020304" pitchFamily="18" charset="0"/>
                <a:ea typeface="楷体" panose="02010609060101010101" pitchFamily="49" charset="-122"/>
                <a:cs typeface="Times New Roman" panose="02020603050405020304" pitchFamily="18" charset="0"/>
              </a:rPr>
              <a:t>所以，总时间复杂度为 ​​</a:t>
            </a:r>
            <a:r>
              <a:rPr lang="en-US" altLang="zh-CN" dirty="0">
                <a:latin typeface="Times New Roman" panose="02020603050405020304" pitchFamily="18" charset="0"/>
                <a:ea typeface="楷体" panose="02010609060101010101" pitchFamily="49" charset="-122"/>
                <a:cs typeface="Times New Roman" panose="02020603050405020304" pitchFamily="18" charset="0"/>
              </a:rPr>
              <a:t>O(P)​​</a:t>
            </a:r>
            <a:r>
              <a:rPr lang="zh-CN" altLang="en-US"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375205745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9156">
                                            <p:txEl>
                                              <p:pRg st="0" end="0"/>
                                            </p:txEl>
                                          </p:spTgt>
                                        </p:tgtEl>
                                        <p:attrNameLst>
                                          <p:attrName>style.visibility</p:attrName>
                                        </p:attrNameLst>
                                      </p:cBhvr>
                                      <p:to>
                                        <p:strVal val="visible"/>
                                      </p:to>
                                    </p:set>
                                    <p:animEffect transition="in" filter="dissolve">
                                      <p:cBhvr>
                                        <p:cTn id="7" dur="500"/>
                                        <p:tgtEl>
                                          <p:spTgt spid="491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6" grpId="0" build="p"/>
    </p:bldLst>
  </p:timing>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985A7A6-7ACA-42DC-9F1B-E1B39139FF67}" type="slidenum">
              <a:rPr lang="en-US" altLang="de-DE" sz="1000">
                <a:solidFill>
                  <a:srgbClr val="C0C0C0"/>
                </a:solidFill>
              </a:rPr>
              <a:pPr/>
              <a:t>64</a:t>
            </a:fld>
            <a:endParaRPr lang="en-US" altLang="de-DE" sz="1000">
              <a:solidFill>
                <a:srgbClr val="C0C0C0"/>
              </a:solidFill>
            </a:endParaRPr>
          </a:p>
        </p:txBody>
      </p:sp>
      <p:sp>
        <p:nvSpPr>
          <p:cNvPr id="50179" name="Rectangle 2"/>
          <p:cNvSpPr>
            <a:spLocks noGrp="1" noChangeArrowheads="1"/>
          </p:cNvSpPr>
          <p:nvPr>
            <p:ph type="title"/>
          </p:nvPr>
        </p:nvSpPr>
        <p:spPr/>
        <p:txBody>
          <a:bodyPr/>
          <a:lstStyle/>
          <a:p>
            <a:r>
              <a:rPr lang="en-US" altLang="zh-CN">
                <a:ea typeface="宋体" panose="02010600030101010101" pitchFamily="2" charset="-122"/>
              </a:rPr>
              <a:t>Chapter 2 – Netlist and System Partitioning</a:t>
            </a:r>
          </a:p>
        </p:txBody>
      </p:sp>
      <p:sp>
        <p:nvSpPr>
          <p:cNvPr id="50180" name="Rectangle 3"/>
          <p:cNvSpPr>
            <a:spLocks noGrp="1" noChangeArrowheads="1"/>
          </p:cNvSpPr>
          <p:nvPr>
            <p:ph type="body" idx="1"/>
          </p:nvPr>
        </p:nvSpPr>
        <p:spPr>
          <a:xfrm>
            <a:off x="608013" y="1341438"/>
            <a:ext cx="8193087" cy="5032375"/>
          </a:xfrm>
        </p:spPr>
        <p:txBody>
          <a:bodyPr/>
          <a:lstStyle/>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2.1	Introduction</a:t>
            </a: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2.2	Terminology</a:t>
            </a: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2.3	Optimization Goals</a:t>
            </a:r>
          </a:p>
          <a:p>
            <a:pPr marL="0" indent="0">
              <a:lnSpc>
                <a:spcPct val="100000"/>
              </a:lnSpc>
              <a:buFont typeface="Symbol" panose="05050102010706020507" pitchFamily="18" charset="2"/>
              <a:buNone/>
            </a:pPr>
            <a:r>
              <a:rPr lang="en-US" altLang="zh-CN">
                <a:solidFill>
                  <a:srgbClr val="C0C0C0"/>
                </a:solidFill>
                <a:ea typeface="宋体" panose="02010600030101010101" pitchFamily="2" charset="-122"/>
              </a:rPr>
              <a:t>2.4	Partitioning Algorithms</a:t>
            </a:r>
          </a:p>
          <a:p>
            <a:pPr lvl="1" indent="0">
              <a:lnSpc>
                <a:spcPct val="100000"/>
              </a:lnSpc>
              <a:spcBef>
                <a:spcPct val="20000"/>
              </a:spcBef>
              <a:buFont typeface="Symbol" panose="05050102010706020507" pitchFamily="18" charset="2"/>
              <a:buNone/>
            </a:pPr>
            <a:r>
              <a:rPr lang="en-US" altLang="zh-CN">
                <a:solidFill>
                  <a:srgbClr val="C0C0C0"/>
                </a:solidFill>
                <a:ea typeface="宋体" panose="02010600030101010101" pitchFamily="2" charset="-122"/>
              </a:rPr>
              <a:t>    2.4.1  Kernighan-Lin (KL) Algorithm</a:t>
            </a:r>
          </a:p>
          <a:p>
            <a:pPr lvl="1" indent="0">
              <a:lnSpc>
                <a:spcPct val="100000"/>
              </a:lnSpc>
              <a:spcBef>
                <a:spcPct val="20000"/>
              </a:spcBef>
              <a:buFont typeface="Symbol" panose="05050102010706020507" pitchFamily="18" charset="2"/>
              <a:buNone/>
            </a:pPr>
            <a:r>
              <a:rPr lang="en-US" altLang="zh-CN">
                <a:solidFill>
                  <a:srgbClr val="C0C0C0"/>
                </a:solidFill>
                <a:ea typeface="宋体" panose="02010600030101010101" pitchFamily="2" charset="-122"/>
              </a:rPr>
              <a:t>    2.4.2  Extensions of the Kernighan-Lin Algorithm</a:t>
            </a:r>
          </a:p>
          <a:p>
            <a:pPr lvl="1" indent="0">
              <a:lnSpc>
                <a:spcPct val="100000"/>
              </a:lnSpc>
              <a:spcBef>
                <a:spcPct val="20000"/>
              </a:spcBef>
              <a:buFont typeface="Symbol" panose="05050102010706020507" pitchFamily="18" charset="2"/>
              <a:buNone/>
            </a:pPr>
            <a:r>
              <a:rPr lang="en-US" altLang="zh-CN">
                <a:solidFill>
                  <a:srgbClr val="C0C0C0"/>
                </a:solidFill>
                <a:ea typeface="宋体" panose="02010600030101010101" pitchFamily="2" charset="-122"/>
              </a:rPr>
              <a:t>    2.4.3  Fiduccia-Mattheyses (FM) Algorithm</a:t>
            </a:r>
            <a:endParaRPr lang="en-US" altLang="zh-CN" sz="800">
              <a:solidFill>
                <a:srgbClr val="C0C0C0"/>
              </a:solidFill>
              <a:ea typeface="宋体" panose="02010600030101010101" pitchFamily="2" charset="-122"/>
            </a:endParaRPr>
          </a:p>
          <a:p>
            <a:pPr marL="0" indent="0">
              <a:lnSpc>
                <a:spcPct val="100000"/>
              </a:lnSpc>
              <a:buFont typeface="Symbol" panose="05050102010706020507" pitchFamily="18" charset="2"/>
              <a:buNone/>
            </a:pPr>
            <a:r>
              <a:rPr lang="en-US" altLang="zh-CN">
                <a:ea typeface="宋体" panose="02010600030101010101" pitchFamily="2" charset="-122"/>
              </a:rPr>
              <a:t>2.5	Framework for Multilevel Partitioning</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2.5.1  Clustering</a:t>
            </a:r>
          </a:p>
          <a:p>
            <a:pPr lvl="1" indent="0">
              <a:lnSpc>
                <a:spcPct val="100000"/>
              </a:lnSpc>
              <a:spcBef>
                <a:spcPct val="20000"/>
              </a:spcBef>
              <a:buFont typeface="Symbol" panose="05050102010706020507" pitchFamily="18" charset="2"/>
              <a:buNone/>
            </a:pPr>
            <a:r>
              <a:rPr lang="en-US" altLang="zh-CN">
                <a:ea typeface="宋体" panose="02010600030101010101" pitchFamily="2" charset="-122"/>
              </a:rPr>
              <a:t>    2.5.2  Multilevel Partitioning</a:t>
            </a:r>
          </a:p>
          <a:p>
            <a:pPr marL="0" indent="0">
              <a:lnSpc>
                <a:spcPct val="100000"/>
              </a:lnSpc>
              <a:buFont typeface="Symbol" panose="05050102010706020507" pitchFamily="18" charset="2"/>
              <a:buNone/>
            </a:pPr>
            <a:r>
              <a:rPr lang="en-US" altLang="zh-CN">
                <a:ea typeface="宋体" panose="02010600030101010101" pitchFamily="2" charset="-122"/>
              </a:rPr>
              <a:t>2.6	System Partitioning onto Multiple FPGAs</a:t>
            </a:r>
          </a:p>
          <a:p>
            <a:pPr marL="0" indent="0">
              <a:lnSpc>
                <a:spcPct val="100000"/>
              </a:lnSpc>
              <a:buFont typeface="Symbol" panose="05050102010706020507" pitchFamily="18" charset="2"/>
              <a:buNone/>
            </a:pPr>
            <a:endParaRPr lang="de-DE" altLang="de-DE"/>
          </a:p>
        </p:txBody>
      </p:sp>
      <p:sp>
        <p:nvSpPr>
          <p:cNvPr id="50181" name="Line 4"/>
          <p:cNvSpPr>
            <a:spLocks noChangeShapeType="1"/>
          </p:cNvSpPr>
          <p:nvPr/>
        </p:nvSpPr>
        <p:spPr bwMode="auto">
          <a:xfrm>
            <a:off x="249238" y="3933825"/>
            <a:ext cx="411162" cy="0"/>
          </a:xfrm>
          <a:prstGeom prst="line">
            <a:avLst/>
          </a:prstGeom>
          <a:noFill/>
          <a:ln w="57150">
            <a:solidFill>
              <a:srgbClr val="CC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67941">
            <a:spAutoFit/>
          </a:bodyPr>
          <a:lstStyle/>
          <a:p>
            <a:endParaRPr lang="de-DE"/>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3B66B1D7-FD28-44DF-8E0C-A89C4E4269B4}" type="slidenum">
              <a:rPr lang="en-US" altLang="de-DE" sz="1000">
                <a:solidFill>
                  <a:srgbClr val="C0C0C0"/>
                </a:solidFill>
              </a:rPr>
              <a:pPr/>
              <a:t>65</a:t>
            </a:fld>
            <a:endParaRPr lang="en-US" altLang="de-DE" sz="1000">
              <a:solidFill>
                <a:srgbClr val="C0C0C0"/>
              </a:solidFill>
            </a:endParaRPr>
          </a:p>
        </p:txBody>
      </p:sp>
      <p:sp>
        <p:nvSpPr>
          <p:cNvPr id="51203" name="Title 1"/>
          <p:cNvSpPr>
            <a:spLocks noGrp="1"/>
          </p:cNvSpPr>
          <p:nvPr>
            <p:ph type="title" idx="4294967295"/>
          </p:nvPr>
        </p:nvSpPr>
        <p:spPr/>
        <p:txBody>
          <a:bodyPr/>
          <a:lstStyle/>
          <a:p>
            <a:r>
              <a:rPr lang="de-DE" altLang="de-DE"/>
              <a:t>2.5.1	Clustering</a:t>
            </a:r>
            <a:endParaRPr lang="en-US" altLang="zh-CN">
              <a:ea typeface="宋体" panose="02010600030101010101" pitchFamily="2" charset="-122"/>
            </a:endParaRPr>
          </a:p>
        </p:txBody>
      </p:sp>
      <p:sp>
        <p:nvSpPr>
          <p:cNvPr id="51204" name="Slide Number Placeholder 3"/>
          <p:cNvSpPr txBox="1">
            <a:spLocks noGrp="1"/>
          </p:cNvSpPr>
          <p:nvPr/>
        </p:nvSpPr>
        <p:spPr bwMode="auto">
          <a:xfrm>
            <a:off x="7910513" y="6473825"/>
            <a:ext cx="1081087"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1882" tIns="50941" rIns="101882" bIns="50941"/>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r">
              <a:lnSpc>
                <a:spcPct val="100000"/>
              </a:lnSpc>
            </a:pPr>
            <a:fld id="{DE21AC2C-5529-47C5-826F-D1CFA1E51F99}" type="slidenum">
              <a:rPr lang="en-US" altLang="de-DE" sz="1000">
                <a:solidFill>
                  <a:srgbClr val="C0C0C0"/>
                </a:solidFill>
              </a:rPr>
              <a:pPr algn="r">
                <a:lnSpc>
                  <a:spcPct val="100000"/>
                </a:lnSpc>
              </a:pPr>
              <a:t>65</a:t>
            </a:fld>
            <a:endParaRPr lang="en-US" altLang="de-DE" sz="1000">
              <a:solidFill>
                <a:srgbClr val="C0C0C0"/>
              </a:solidFill>
            </a:endParaRPr>
          </a:p>
        </p:txBody>
      </p:sp>
      <p:sp>
        <p:nvSpPr>
          <p:cNvPr id="51205" name="Content Placeholder 2"/>
          <p:cNvSpPr>
            <a:spLocks/>
          </p:cNvSpPr>
          <p:nvPr/>
        </p:nvSpPr>
        <p:spPr bwMode="auto">
          <a:xfrm>
            <a:off x="608013" y="1293813"/>
            <a:ext cx="8193087" cy="438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91084" tIns="44939" rIns="89877" bIns="44939"/>
          <a:lstStyle>
            <a:lvl1pPr defTabSz="898525">
              <a:tabLst>
                <a:tab pos="301625" algn="l"/>
                <a:tab pos="542925" algn="l"/>
              </a:tabLst>
              <a:defRPr sz="1700">
                <a:solidFill>
                  <a:schemeClr val="tx1"/>
                </a:solidFill>
                <a:latin typeface="Arial" panose="020B0604020202020204" pitchFamily="34" charset="0"/>
              </a:defRPr>
            </a:lvl1pPr>
            <a:lvl2pPr marL="742950" indent="-285750" defTabSz="898525">
              <a:tabLst>
                <a:tab pos="301625" algn="l"/>
                <a:tab pos="542925" algn="l"/>
              </a:tabLst>
              <a:defRPr sz="1700">
                <a:solidFill>
                  <a:schemeClr val="tx1"/>
                </a:solidFill>
                <a:latin typeface="Arial" panose="020B0604020202020204" pitchFamily="34" charset="0"/>
              </a:defRPr>
            </a:lvl2pPr>
            <a:lvl3pPr marL="1143000" indent="-228600" defTabSz="898525">
              <a:tabLst>
                <a:tab pos="301625" algn="l"/>
                <a:tab pos="542925" algn="l"/>
              </a:tabLst>
              <a:defRPr sz="1700">
                <a:solidFill>
                  <a:schemeClr val="tx1"/>
                </a:solidFill>
                <a:latin typeface="Arial" panose="020B0604020202020204" pitchFamily="34" charset="0"/>
              </a:defRPr>
            </a:lvl3pPr>
            <a:lvl4pPr marL="1600200" indent="-228600" defTabSz="898525">
              <a:tabLst>
                <a:tab pos="301625" algn="l"/>
                <a:tab pos="542925" algn="l"/>
              </a:tabLst>
              <a:defRPr sz="1700">
                <a:solidFill>
                  <a:schemeClr val="tx1"/>
                </a:solidFill>
                <a:latin typeface="Arial" panose="020B0604020202020204" pitchFamily="34" charset="0"/>
              </a:defRPr>
            </a:lvl4pPr>
            <a:lvl5pPr marL="2057400" indent="-228600" defTabSz="898525">
              <a:tabLst>
                <a:tab pos="301625" algn="l"/>
                <a:tab pos="542925" algn="l"/>
              </a:tabLst>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tabLst>
                <a:tab pos="301625" algn="l"/>
                <a:tab pos="542925" algn="l"/>
              </a:tabLs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tabLst>
                <a:tab pos="301625" algn="l"/>
                <a:tab pos="542925" algn="l"/>
              </a:tabLs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tabLst>
                <a:tab pos="301625" algn="l"/>
                <a:tab pos="542925" algn="l"/>
              </a:tabLs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tabLst>
                <a:tab pos="301625" algn="l"/>
                <a:tab pos="542925" algn="l"/>
              </a:tabLst>
              <a:defRPr sz="1700">
                <a:solidFill>
                  <a:schemeClr val="tx1"/>
                </a:solidFill>
                <a:latin typeface="Arial" panose="020B0604020202020204" pitchFamily="34" charset="0"/>
              </a:defRPr>
            </a:lvl9pPr>
          </a:lstStyle>
          <a:p>
            <a:pPr algn="l">
              <a:lnSpc>
                <a:spcPct val="102000"/>
              </a:lnSpc>
              <a:spcBef>
                <a:spcPct val="50000"/>
              </a:spcBef>
              <a:buClr>
                <a:srgbClr val="CC0000"/>
              </a:buClr>
              <a:buFont typeface="Symbol" panose="05050102010706020507" pitchFamily="18" charset="2"/>
              <a:buChar char="·"/>
            </a:pPr>
            <a:r>
              <a:rPr lang="en-US" altLang="zh-CN">
                <a:ea typeface="宋体" panose="02010600030101010101" pitchFamily="2" charset="-122"/>
                <a:sym typeface="Symbol" panose="05050102010706020507" pitchFamily="18" charset="2"/>
              </a:rPr>
              <a:t> To simplify the problem, groups of tightly-connected nodes can be clustered,</a:t>
            </a:r>
            <a:br>
              <a:rPr lang="en-US" altLang="zh-CN">
                <a:ea typeface="宋体" panose="02010600030101010101" pitchFamily="2" charset="-122"/>
                <a:sym typeface="Symbol" panose="05050102010706020507" pitchFamily="18" charset="2"/>
              </a:rPr>
            </a:br>
            <a:r>
              <a:rPr lang="en-US" altLang="zh-CN">
                <a:ea typeface="宋体" panose="02010600030101010101" pitchFamily="2" charset="-122"/>
                <a:sym typeface="Symbol" panose="05050102010706020507" pitchFamily="18" charset="2"/>
              </a:rPr>
              <a:t>   absorbing connections between these nodes</a:t>
            </a:r>
          </a:p>
          <a:p>
            <a:pPr algn="l">
              <a:lnSpc>
                <a:spcPct val="102000"/>
              </a:lnSpc>
              <a:spcBef>
                <a:spcPct val="50000"/>
              </a:spcBef>
              <a:buClr>
                <a:srgbClr val="CC0000"/>
              </a:buClr>
              <a:buFont typeface="Symbol" panose="05050102010706020507" pitchFamily="18" charset="2"/>
              <a:buChar char="·"/>
            </a:pPr>
            <a:endParaRPr lang="en-US" altLang="zh-CN">
              <a:ea typeface="宋体" panose="02010600030101010101" pitchFamily="2" charset="-122"/>
              <a:sym typeface="Symbol" panose="05050102010706020507" pitchFamily="18" charset="2"/>
            </a:endParaRPr>
          </a:p>
          <a:p>
            <a:pPr algn="l">
              <a:lnSpc>
                <a:spcPct val="102000"/>
              </a:lnSpc>
              <a:spcBef>
                <a:spcPct val="50000"/>
              </a:spcBef>
              <a:buClr>
                <a:srgbClr val="CC0000"/>
              </a:buClr>
              <a:buFont typeface="Symbol" panose="05050102010706020507" pitchFamily="18" charset="2"/>
              <a:buChar char="·"/>
            </a:pPr>
            <a:r>
              <a:rPr lang="en-US" altLang="zh-CN">
                <a:ea typeface="宋体" panose="02010600030101010101" pitchFamily="2" charset="-122"/>
                <a:sym typeface="Symbol" panose="05050102010706020507" pitchFamily="18" charset="2"/>
              </a:rPr>
              <a:t> Size of each cluster is often limited so as to prevent degenerate clustering, </a:t>
            </a:r>
            <a:br>
              <a:rPr lang="en-US" altLang="zh-CN">
                <a:ea typeface="宋体" panose="02010600030101010101" pitchFamily="2" charset="-122"/>
                <a:sym typeface="Symbol" panose="05050102010706020507" pitchFamily="18" charset="2"/>
              </a:rPr>
            </a:br>
            <a:r>
              <a:rPr lang="en-US" altLang="zh-CN">
                <a:ea typeface="宋体" panose="02010600030101010101" pitchFamily="2" charset="-122"/>
                <a:sym typeface="Symbol" panose="05050102010706020507" pitchFamily="18" charset="2"/>
              </a:rPr>
              <a:t>   i.e. a single large cluster dominates other clusters</a:t>
            </a:r>
          </a:p>
          <a:p>
            <a:pPr algn="l">
              <a:lnSpc>
                <a:spcPct val="102000"/>
              </a:lnSpc>
              <a:spcBef>
                <a:spcPct val="50000"/>
              </a:spcBef>
              <a:buClr>
                <a:srgbClr val="CC0000"/>
              </a:buClr>
              <a:buFont typeface="Symbol" panose="05050102010706020507" pitchFamily="18" charset="2"/>
              <a:buChar char="·"/>
            </a:pPr>
            <a:endParaRPr lang="en-US" altLang="zh-CN">
              <a:ea typeface="宋体" panose="02010600030101010101" pitchFamily="2" charset="-122"/>
              <a:sym typeface="Symbol" panose="05050102010706020507" pitchFamily="18" charset="2"/>
            </a:endParaRPr>
          </a:p>
          <a:p>
            <a:pPr algn="l">
              <a:lnSpc>
                <a:spcPct val="102000"/>
              </a:lnSpc>
              <a:spcBef>
                <a:spcPct val="50000"/>
              </a:spcBef>
              <a:buClr>
                <a:srgbClr val="CC0000"/>
              </a:buClr>
              <a:buFont typeface="Symbol" panose="05050102010706020507" pitchFamily="18" charset="2"/>
              <a:buChar char="·"/>
            </a:pPr>
            <a:r>
              <a:rPr lang="en-US" altLang="zh-CN">
                <a:ea typeface="宋体" panose="02010600030101010101" pitchFamily="2" charset="-122"/>
                <a:sym typeface="Symbol" panose="05050102010706020507" pitchFamily="18" charset="2"/>
              </a:rPr>
              <a:t> Refinement should satisfy balance criteria</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1838D113-D3B2-46F3-95DF-134C2EDA1A55}" type="slidenum">
              <a:rPr lang="en-US" altLang="de-DE" sz="1000">
                <a:solidFill>
                  <a:srgbClr val="C0C0C0"/>
                </a:solidFill>
              </a:rPr>
              <a:pPr/>
              <a:t>66</a:t>
            </a:fld>
            <a:endParaRPr lang="en-US" altLang="de-DE" sz="1000">
              <a:solidFill>
                <a:srgbClr val="C0C0C0"/>
              </a:solidFill>
            </a:endParaRPr>
          </a:p>
        </p:txBody>
      </p:sp>
      <p:sp>
        <p:nvSpPr>
          <p:cNvPr id="52227" name="Rectangle 31"/>
          <p:cNvSpPr>
            <a:spLocks noGrp="1" noChangeArrowheads="1"/>
          </p:cNvSpPr>
          <p:nvPr>
            <p:ph type="title"/>
          </p:nvPr>
        </p:nvSpPr>
        <p:spPr/>
        <p:txBody>
          <a:bodyPr/>
          <a:lstStyle/>
          <a:p>
            <a:r>
              <a:rPr lang="de-DE" altLang="de-DE"/>
              <a:t>2.5.1	Clustering	</a:t>
            </a:r>
            <a:endParaRPr lang="en-US" altLang="zh-CN">
              <a:ea typeface="宋体" panose="02010600030101010101" pitchFamily="2" charset="-122"/>
            </a:endParaRPr>
          </a:p>
        </p:txBody>
      </p:sp>
      <p:sp>
        <p:nvSpPr>
          <p:cNvPr id="52228" name="Line 32"/>
          <p:cNvSpPr>
            <a:spLocks noChangeShapeType="1"/>
          </p:cNvSpPr>
          <p:nvPr/>
        </p:nvSpPr>
        <p:spPr bwMode="auto">
          <a:xfrm>
            <a:off x="1111250" y="2616200"/>
            <a:ext cx="123666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29" name="Line 33"/>
          <p:cNvSpPr>
            <a:spLocks noChangeShapeType="1"/>
          </p:cNvSpPr>
          <p:nvPr/>
        </p:nvSpPr>
        <p:spPr bwMode="auto">
          <a:xfrm>
            <a:off x="1079500" y="2644775"/>
            <a:ext cx="0" cy="9969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0" name="Line 34"/>
          <p:cNvSpPr>
            <a:spLocks noChangeShapeType="1"/>
          </p:cNvSpPr>
          <p:nvPr/>
        </p:nvSpPr>
        <p:spPr bwMode="auto">
          <a:xfrm>
            <a:off x="1076325" y="3721100"/>
            <a:ext cx="120491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1" name="Line 35"/>
          <p:cNvSpPr>
            <a:spLocks noChangeShapeType="1"/>
          </p:cNvSpPr>
          <p:nvPr/>
        </p:nvSpPr>
        <p:spPr bwMode="auto">
          <a:xfrm>
            <a:off x="2284413" y="3690938"/>
            <a:ext cx="12509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2" name="Line 36"/>
          <p:cNvSpPr>
            <a:spLocks noChangeShapeType="1"/>
          </p:cNvSpPr>
          <p:nvPr/>
        </p:nvSpPr>
        <p:spPr bwMode="auto">
          <a:xfrm>
            <a:off x="2355850" y="3778250"/>
            <a:ext cx="1184275"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3" name="Line 37"/>
          <p:cNvSpPr>
            <a:spLocks noChangeShapeType="1"/>
          </p:cNvSpPr>
          <p:nvPr/>
        </p:nvSpPr>
        <p:spPr bwMode="auto">
          <a:xfrm>
            <a:off x="1146175" y="2625725"/>
            <a:ext cx="1079500" cy="10795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4" name="Line 38"/>
          <p:cNvSpPr>
            <a:spLocks noChangeShapeType="1"/>
          </p:cNvSpPr>
          <p:nvPr/>
        </p:nvSpPr>
        <p:spPr bwMode="auto">
          <a:xfrm flipV="1">
            <a:off x="5580063" y="2535238"/>
            <a:ext cx="657225" cy="657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5" name="Line 39"/>
          <p:cNvSpPr>
            <a:spLocks noChangeShapeType="1"/>
          </p:cNvSpPr>
          <p:nvPr/>
        </p:nvSpPr>
        <p:spPr bwMode="auto">
          <a:xfrm>
            <a:off x="5503863" y="3198813"/>
            <a:ext cx="757237" cy="75723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6" name="Line 40"/>
          <p:cNvSpPr>
            <a:spLocks noChangeShapeType="1"/>
          </p:cNvSpPr>
          <p:nvPr/>
        </p:nvSpPr>
        <p:spPr bwMode="auto">
          <a:xfrm>
            <a:off x="7375525" y="2687638"/>
            <a:ext cx="9556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7" name="Line 41"/>
          <p:cNvSpPr>
            <a:spLocks noChangeShapeType="1"/>
          </p:cNvSpPr>
          <p:nvPr/>
        </p:nvSpPr>
        <p:spPr bwMode="auto">
          <a:xfrm>
            <a:off x="7315200" y="2752725"/>
            <a:ext cx="0" cy="9461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8" name="Line 42"/>
          <p:cNvSpPr>
            <a:spLocks noChangeShapeType="1"/>
          </p:cNvSpPr>
          <p:nvPr/>
        </p:nvSpPr>
        <p:spPr bwMode="auto">
          <a:xfrm>
            <a:off x="7370763" y="3786188"/>
            <a:ext cx="10096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39" name="Line 43"/>
          <p:cNvSpPr>
            <a:spLocks noChangeShapeType="1"/>
          </p:cNvSpPr>
          <p:nvPr/>
        </p:nvSpPr>
        <p:spPr bwMode="auto">
          <a:xfrm>
            <a:off x="7331075" y="2703513"/>
            <a:ext cx="1001713" cy="100171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2240" name="Oval 44"/>
          <p:cNvSpPr>
            <a:spLocks noChangeArrowheads="1"/>
          </p:cNvSpPr>
          <p:nvPr/>
        </p:nvSpPr>
        <p:spPr bwMode="auto">
          <a:xfrm>
            <a:off x="841375" y="2382838"/>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41" name="Text Box 45"/>
          <p:cNvSpPr txBox="1">
            <a:spLocks noChangeArrowheads="1"/>
          </p:cNvSpPr>
          <p:nvPr/>
        </p:nvSpPr>
        <p:spPr bwMode="auto">
          <a:xfrm>
            <a:off x="825500" y="2406650"/>
            <a:ext cx="498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a</a:t>
            </a:r>
          </a:p>
        </p:txBody>
      </p:sp>
      <p:sp>
        <p:nvSpPr>
          <p:cNvPr id="52242" name="Oval 46"/>
          <p:cNvSpPr>
            <a:spLocks noChangeArrowheads="1"/>
          </p:cNvSpPr>
          <p:nvPr/>
        </p:nvSpPr>
        <p:spPr bwMode="auto">
          <a:xfrm>
            <a:off x="850900" y="3495675"/>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43" name="Text Box 47"/>
          <p:cNvSpPr txBox="1">
            <a:spLocks noChangeArrowheads="1"/>
          </p:cNvSpPr>
          <p:nvPr/>
        </p:nvSpPr>
        <p:spPr bwMode="auto">
          <a:xfrm>
            <a:off x="839788" y="3538538"/>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b</a:t>
            </a:r>
          </a:p>
        </p:txBody>
      </p:sp>
      <p:sp>
        <p:nvSpPr>
          <p:cNvPr id="52244" name="Oval 48"/>
          <p:cNvSpPr>
            <a:spLocks noChangeArrowheads="1"/>
          </p:cNvSpPr>
          <p:nvPr/>
        </p:nvSpPr>
        <p:spPr bwMode="auto">
          <a:xfrm>
            <a:off x="2068513" y="3502025"/>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45" name="Text Box 49"/>
          <p:cNvSpPr txBox="1">
            <a:spLocks noChangeArrowheads="1"/>
          </p:cNvSpPr>
          <p:nvPr/>
        </p:nvSpPr>
        <p:spPr bwMode="auto">
          <a:xfrm>
            <a:off x="2043113" y="3530600"/>
            <a:ext cx="498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c</a:t>
            </a:r>
          </a:p>
        </p:txBody>
      </p:sp>
      <p:sp>
        <p:nvSpPr>
          <p:cNvPr id="52246" name="Oval 50"/>
          <p:cNvSpPr>
            <a:spLocks noChangeArrowheads="1"/>
          </p:cNvSpPr>
          <p:nvPr/>
        </p:nvSpPr>
        <p:spPr bwMode="auto">
          <a:xfrm>
            <a:off x="2074863" y="2390775"/>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47" name="Text Box 51"/>
          <p:cNvSpPr txBox="1">
            <a:spLocks noChangeArrowheads="1"/>
          </p:cNvSpPr>
          <p:nvPr/>
        </p:nvSpPr>
        <p:spPr bwMode="auto">
          <a:xfrm>
            <a:off x="2054225" y="2428875"/>
            <a:ext cx="498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d</a:t>
            </a:r>
          </a:p>
        </p:txBody>
      </p:sp>
      <p:sp>
        <p:nvSpPr>
          <p:cNvPr id="52248" name="Oval 52"/>
          <p:cNvSpPr>
            <a:spLocks noChangeArrowheads="1"/>
          </p:cNvSpPr>
          <p:nvPr/>
        </p:nvSpPr>
        <p:spPr bwMode="auto">
          <a:xfrm>
            <a:off x="3295650" y="3495675"/>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49" name="Text Box 53"/>
          <p:cNvSpPr txBox="1">
            <a:spLocks noChangeArrowheads="1"/>
          </p:cNvSpPr>
          <p:nvPr/>
        </p:nvSpPr>
        <p:spPr bwMode="auto">
          <a:xfrm>
            <a:off x="3284538" y="3524250"/>
            <a:ext cx="498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e</a:t>
            </a:r>
          </a:p>
        </p:txBody>
      </p:sp>
      <p:sp>
        <p:nvSpPr>
          <p:cNvPr id="52250" name="Oval 54"/>
          <p:cNvSpPr>
            <a:spLocks noChangeAspect="1" noChangeArrowheads="1"/>
          </p:cNvSpPr>
          <p:nvPr/>
        </p:nvSpPr>
        <p:spPr bwMode="auto">
          <a:xfrm>
            <a:off x="4884738" y="2795588"/>
            <a:ext cx="914400" cy="941387"/>
          </a:xfrm>
          <a:prstGeom prst="ellipse">
            <a:avLst/>
          </a:prstGeom>
          <a:gradFill rotWithShape="1">
            <a:gsLst>
              <a:gs pos="0">
                <a:srgbClr val="FFFFFF"/>
              </a:gs>
              <a:gs pos="100000">
                <a:srgbClr val="777777"/>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51" name="Text Box 55"/>
          <p:cNvSpPr txBox="1">
            <a:spLocks noChangeArrowheads="1"/>
          </p:cNvSpPr>
          <p:nvPr/>
        </p:nvSpPr>
        <p:spPr bwMode="auto">
          <a:xfrm>
            <a:off x="4994275" y="3059113"/>
            <a:ext cx="679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zh-CN" sz="1800" i="1">
                <a:ea typeface="宋体" panose="02010600030101010101" pitchFamily="2" charset="-122"/>
              </a:rPr>
              <a:t>a</a:t>
            </a:r>
            <a:r>
              <a:rPr lang="de-DE" altLang="zh-CN" sz="1800">
                <a:ea typeface="宋体" panose="02010600030101010101" pitchFamily="2" charset="-122"/>
              </a:rPr>
              <a:t>,</a:t>
            </a:r>
            <a:r>
              <a:rPr lang="de-DE" altLang="zh-CN" sz="1800" i="1">
                <a:ea typeface="宋体" panose="02010600030101010101" pitchFamily="2" charset="-122"/>
              </a:rPr>
              <a:t>b</a:t>
            </a:r>
            <a:r>
              <a:rPr lang="de-DE" altLang="zh-CN" sz="1800">
                <a:ea typeface="宋体" panose="02010600030101010101" pitchFamily="2" charset="-122"/>
              </a:rPr>
              <a:t>,</a:t>
            </a:r>
            <a:r>
              <a:rPr lang="de-DE" altLang="zh-CN" sz="1800" i="1">
                <a:ea typeface="宋体" panose="02010600030101010101" pitchFamily="2" charset="-122"/>
              </a:rPr>
              <a:t>c</a:t>
            </a:r>
            <a:endParaRPr lang="en-US" altLang="zh-CN" sz="1800" i="1">
              <a:ea typeface="宋体" panose="02010600030101010101" pitchFamily="2" charset="-122"/>
            </a:endParaRPr>
          </a:p>
        </p:txBody>
      </p:sp>
      <p:sp>
        <p:nvSpPr>
          <p:cNvPr id="52252" name="Oval 56"/>
          <p:cNvSpPr>
            <a:spLocks noChangeArrowheads="1"/>
          </p:cNvSpPr>
          <p:nvPr/>
        </p:nvSpPr>
        <p:spPr bwMode="auto">
          <a:xfrm>
            <a:off x="5938838" y="2428875"/>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53" name="Text Box 57"/>
          <p:cNvSpPr txBox="1">
            <a:spLocks noChangeArrowheads="1"/>
          </p:cNvSpPr>
          <p:nvPr/>
        </p:nvSpPr>
        <p:spPr bwMode="auto">
          <a:xfrm>
            <a:off x="5918200" y="2471738"/>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d</a:t>
            </a:r>
          </a:p>
        </p:txBody>
      </p:sp>
      <p:sp>
        <p:nvSpPr>
          <p:cNvPr id="52254" name="Oval 58"/>
          <p:cNvSpPr>
            <a:spLocks noChangeArrowheads="1"/>
          </p:cNvSpPr>
          <p:nvPr/>
        </p:nvSpPr>
        <p:spPr bwMode="auto">
          <a:xfrm>
            <a:off x="5937250" y="3619500"/>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55" name="Text Box 59"/>
          <p:cNvSpPr txBox="1">
            <a:spLocks noChangeArrowheads="1"/>
          </p:cNvSpPr>
          <p:nvPr/>
        </p:nvSpPr>
        <p:spPr bwMode="auto">
          <a:xfrm>
            <a:off x="5921375" y="3652838"/>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e</a:t>
            </a:r>
          </a:p>
        </p:txBody>
      </p:sp>
      <p:sp>
        <p:nvSpPr>
          <p:cNvPr id="52256" name="Oval 60"/>
          <p:cNvSpPr>
            <a:spLocks noChangeArrowheads="1"/>
          </p:cNvSpPr>
          <p:nvPr/>
        </p:nvSpPr>
        <p:spPr bwMode="auto">
          <a:xfrm>
            <a:off x="7085013" y="2451100"/>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57" name="Text Box 61"/>
          <p:cNvSpPr txBox="1">
            <a:spLocks noChangeArrowheads="1"/>
          </p:cNvSpPr>
          <p:nvPr/>
        </p:nvSpPr>
        <p:spPr bwMode="auto">
          <a:xfrm>
            <a:off x="7069138" y="2474913"/>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a</a:t>
            </a:r>
          </a:p>
        </p:txBody>
      </p:sp>
      <p:sp>
        <p:nvSpPr>
          <p:cNvPr id="52258" name="Oval 62"/>
          <p:cNvSpPr>
            <a:spLocks noChangeArrowheads="1"/>
          </p:cNvSpPr>
          <p:nvPr/>
        </p:nvSpPr>
        <p:spPr bwMode="auto">
          <a:xfrm>
            <a:off x="7085013" y="3554413"/>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59" name="Text Box 63"/>
          <p:cNvSpPr txBox="1">
            <a:spLocks noChangeArrowheads="1"/>
          </p:cNvSpPr>
          <p:nvPr/>
        </p:nvSpPr>
        <p:spPr bwMode="auto">
          <a:xfrm>
            <a:off x="7069138" y="3592513"/>
            <a:ext cx="498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b</a:t>
            </a:r>
          </a:p>
        </p:txBody>
      </p:sp>
      <p:sp>
        <p:nvSpPr>
          <p:cNvPr id="52260" name="Oval 64"/>
          <p:cNvSpPr>
            <a:spLocks noChangeArrowheads="1"/>
          </p:cNvSpPr>
          <p:nvPr/>
        </p:nvSpPr>
        <p:spPr bwMode="auto">
          <a:xfrm>
            <a:off x="8105775" y="2459038"/>
            <a:ext cx="454025" cy="457200"/>
          </a:xfrm>
          <a:prstGeom prst="ellipse">
            <a:avLst/>
          </a:prstGeom>
          <a:gradFill rotWithShape="1">
            <a:gsLst>
              <a:gs pos="0">
                <a:srgbClr val="FFFFFF"/>
              </a:gs>
              <a:gs pos="100000">
                <a:srgbClr val="B2B2B2"/>
              </a:gs>
            </a:gsLst>
            <a:path path="shape">
              <a:fillToRect l="50000" t="50000" r="50000" b="50000"/>
            </a:path>
          </a:gradFill>
          <a:ln>
            <a:noFill/>
          </a:ln>
          <a:effectLst/>
          <a:extLs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61" name="Text Box 65"/>
          <p:cNvSpPr txBox="1">
            <a:spLocks noChangeArrowheads="1"/>
          </p:cNvSpPr>
          <p:nvPr/>
        </p:nvSpPr>
        <p:spPr bwMode="auto">
          <a:xfrm>
            <a:off x="8085138" y="2501900"/>
            <a:ext cx="4984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spcBef>
                <a:spcPct val="50000"/>
              </a:spcBef>
            </a:pPr>
            <a:r>
              <a:rPr lang="de-DE" altLang="de-DE" sz="1800" i="1">
                <a:ea typeface="宋体" panose="02010600030101010101" pitchFamily="2" charset="-122"/>
              </a:rPr>
              <a:t>d</a:t>
            </a:r>
          </a:p>
        </p:txBody>
      </p:sp>
      <p:sp>
        <p:nvSpPr>
          <p:cNvPr id="52262" name="Oval 66"/>
          <p:cNvSpPr>
            <a:spLocks noChangeAspect="1" noChangeArrowheads="1"/>
          </p:cNvSpPr>
          <p:nvPr/>
        </p:nvSpPr>
        <p:spPr bwMode="auto">
          <a:xfrm>
            <a:off x="7989888" y="3443288"/>
            <a:ext cx="685800" cy="704850"/>
          </a:xfrm>
          <a:prstGeom prst="ellipse">
            <a:avLst/>
          </a:prstGeom>
          <a:gradFill rotWithShape="1">
            <a:gsLst>
              <a:gs pos="0">
                <a:srgbClr val="FFFFFF"/>
              </a:gs>
              <a:gs pos="100000">
                <a:srgbClr val="777777"/>
              </a:gs>
            </a:gsLst>
            <a:path path="shape">
              <a:fillToRect l="50000" t="50000" r="50000" b="50000"/>
            </a:path>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2263" name="Text Box 67"/>
          <p:cNvSpPr txBox="1">
            <a:spLocks noChangeArrowheads="1"/>
          </p:cNvSpPr>
          <p:nvPr/>
        </p:nvSpPr>
        <p:spPr bwMode="auto">
          <a:xfrm>
            <a:off x="8086725" y="3592513"/>
            <a:ext cx="4889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de-DE" altLang="zh-CN" sz="1800" i="1">
                <a:ea typeface="宋体" panose="02010600030101010101" pitchFamily="2" charset="-122"/>
              </a:rPr>
              <a:t>c</a:t>
            </a:r>
            <a:r>
              <a:rPr lang="de-DE" altLang="zh-CN" sz="1800">
                <a:ea typeface="宋体" panose="02010600030101010101" pitchFamily="2" charset="-122"/>
              </a:rPr>
              <a:t>,</a:t>
            </a:r>
            <a:r>
              <a:rPr lang="de-DE" altLang="zh-CN" sz="1800" i="1">
                <a:ea typeface="宋体" panose="02010600030101010101" pitchFamily="2" charset="-122"/>
              </a:rPr>
              <a:t>e</a:t>
            </a:r>
            <a:endParaRPr lang="en-US" altLang="zh-CN" sz="1800" i="1">
              <a:ea typeface="宋体" panose="02010600030101010101" pitchFamily="2" charset="-122"/>
            </a:endParaRPr>
          </a:p>
        </p:txBody>
      </p:sp>
      <p:sp>
        <p:nvSpPr>
          <p:cNvPr id="52264" name="Text Box 69"/>
          <p:cNvSpPr txBox="1">
            <a:spLocks noChangeArrowheads="1"/>
          </p:cNvSpPr>
          <p:nvPr/>
        </p:nvSpPr>
        <p:spPr bwMode="auto">
          <a:xfrm>
            <a:off x="827088" y="4818063"/>
            <a:ext cx="1460500" cy="41116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de-DE" altLang="de-DE"/>
              <a:t>Initital graph</a:t>
            </a:r>
            <a:endParaRPr lang="en-US" altLang="zh-CN">
              <a:ea typeface="宋体" panose="02010600030101010101" pitchFamily="2" charset="-122"/>
            </a:endParaRPr>
          </a:p>
        </p:txBody>
      </p:sp>
      <p:sp>
        <p:nvSpPr>
          <p:cNvPr id="52265" name="Text Box 70"/>
          <p:cNvSpPr txBox="1">
            <a:spLocks noChangeArrowheads="1"/>
          </p:cNvSpPr>
          <p:nvPr/>
        </p:nvSpPr>
        <p:spPr bwMode="auto">
          <a:xfrm>
            <a:off x="4413250" y="4808538"/>
            <a:ext cx="4479925" cy="411162"/>
          </a:xfrm>
          <a:prstGeom prst="rect">
            <a:avLst/>
          </a:prstGeom>
          <a:solidFill>
            <a:srgbClr val="CCCC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1084" tIns="44939" rIns="89877" bIns="67941">
            <a:spAutoFit/>
          </a:bodyPr>
          <a:lstStyle>
            <a:lvl1pPr defTabSz="898525">
              <a:defRPr sz="1700">
                <a:solidFill>
                  <a:schemeClr val="tx1"/>
                </a:solidFill>
                <a:latin typeface="Arial" panose="020B0604020202020204" pitchFamily="34" charset="0"/>
              </a:defRPr>
            </a:lvl1pPr>
            <a:lvl2pPr marL="742950" indent="-285750" defTabSz="898525">
              <a:defRPr sz="1700">
                <a:solidFill>
                  <a:schemeClr val="tx1"/>
                </a:solidFill>
                <a:latin typeface="Arial" panose="020B0604020202020204" pitchFamily="34" charset="0"/>
              </a:defRPr>
            </a:lvl2pPr>
            <a:lvl3pPr marL="1143000" indent="-228600" defTabSz="898525">
              <a:defRPr sz="1700">
                <a:solidFill>
                  <a:schemeClr val="tx1"/>
                </a:solidFill>
                <a:latin typeface="Arial" panose="020B0604020202020204" pitchFamily="34" charset="0"/>
              </a:defRPr>
            </a:lvl3pPr>
            <a:lvl4pPr marL="1600200" indent="-228600" defTabSz="898525">
              <a:defRPr sz="1700">
                <a:solidFill>
                  <a:schemeClr val="tx1"/>
                </a:solidFill>
                <a:latin typeface="Arial" panose="020B0604020202020204" pitchFamily="34" charset="0"/>
              </a:defRPr>
            </a:lvl4pPr>
            <a:lvl5pPr marL="2057400" indent="-228600" defTabSz="898525">
              <a:defRPr sz="1700">
                <a:solidFill>
                  <a:schemeClr val="tx1"/>
                </a:solidFill>
                <a:latin typeface="Arial" panose="020B0604020202020204" pitchFamily="34" charset="0"/>
              </a:defRPr>
            </a:lvl5pPr>
            <a:lvl6pPr marL="25146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9852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r>
              <a:rPr lang="en-US" altLang="zh-CN">
                <a:ea typeface="宋体" panose="02010600030101010101" pitchFamily="2" charset="-122"/>
              </a:rPr>
              <a:t>Possible clustering hierarchies of the graph </a:t>
            </a:r>
          </a:p>
        </p:txBody>
      </p:sp>
      <p:sp>
        <p:nvSpPr>
          <p:cNvPr id="52266" name="AutoShape 72"/>
          <p:cNvSpPr>
            <a:spLocks noChangeArrowheads="1"/>
          </p:cNvSpPr>
          <p:nvPr/>
        </p:nvSpPr>
        <p:spPr bwMode="auto">
          <a:xfrm rot="31880" flipH="1">
            <a:off x="4065588" y="2851150"/>
            <a:ext cx="452437" cy="768350"/>
          </a:xfrm>
          <a:prstGeom prst="leftArrow">
            <a:avLst>
              <a:gd name="adj1" fmla="val 50000"/>
              <a:gd name="adj2" fmla="val 25000"/>
            </a:avLst>
          </a:prstGeom>
          <a:gradFill rotWithShape="1">
            <a:gsLst>
              <a:gs pos="0">
                <a:schemeClr val="tx1"/>
              </a:gs>
              <a:gs pos="100000">
                <a:srgbClr val="EAEAEA"/>
              </a:gs>
            </a:gsLst>
            <a:lin ang="0" scaled="1"/>
          </a:gra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500" tIns="42449" rIns="84899" bIns="64178"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C06B56C4-BF4C-4685-B270-8E62415C6D13}" type="slidenum">
              <a:rPr lang="en-US" altLang="de-DE" sz="1000">
                <a:solidFill>
                  <a:srgbClr val="C0C0C0"/>
                </a:solidFill>
              </a:rPr>
              <a:pPr/>
              <a:t>67</a:t>
            </a:fld>
            <a:endParaRPr lang="en-US" altLang="de-DE" sz="1000">
              <a:solidFill>
                <a:srgbClr val="C0C0C0"/>
              </a:solidFill>
            </a:endParaRPr>
          </a:p>
        </p:txBody>
      </p:sp>
      <p:sp>
        <p:nvSpPr>
          <p:cNvPr id="53251" name="Rectangle 2"/>
          <p:cNvSpPr>
            <a:spLocks noGrp="1" noChangeArrowheads="1"/>
          </p:cNvSpPr>
          <p:nvPr>
            <p:ph type="title"/>
          </p:nvPr>
        </p:nvSpPr>
        <p:spPr/>
        <p:txBody>
          <a:bodyPr/>
          <a:lstStyle/>
          <a:p>
            <a:r>
              <a:rPr lang="de-DE" altLang="de-DE"/>
              <a:t>2.5.2	Multilevel Partitioning	</a:t>
            </a:r>
            <a:endParaRPr lang="en-US" altLang="zh-CN">
              <a:ea typeface="宋体" panose="02010600030101010101" pitchFamily="2" charset="-122"/>
            </a:endParaRPr>
          </a:p>
        </p:txBody>
      </p:sp>
      <p:grpSp>
        <p:nvGrpSpPr>
          <p:cNvPr id="53252" name="Group 316"/>
          <p:cNvGrpSpPr>
            <a:grpSpLocks/>
          </p:cNvGrpSpPr>
          <p:nvPr/>
        </p:nvGrpSpPr>
        <p:grpSpPr bwMode="auto">
          <a:xfrm>
            <a:off x="1190625" y="1462088"/>
            <a:ext cx="6694488" cy="4703762"/>
            <a:chOff x="750" y="921"/>
            <a:chExt cx="4217" cy="2963"/>
          </a:xfrm>
        </p:grpSpPr>
        <p:sp>
          <p:nvSpPr>
            <p:cNvPr id="53254" name="AutoShape 182"/>
            <p:cNvSpPr>
              <a:spLocks noChangeAspect="1" noChangeArrowheads="1"/>
            </p:cNvSpPr>
            <p:nvPr/>
          </p:nvSpPr>
          <p:spPr bwMode="auto">
            <a:xfrm>
              <a:off x="4026" y="3046"/>
              <a:ext cx="900" cy="620"/>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255" name="Rectangle 183"/>
            <p:cNvSpPr>
              <a:spLocks noChangeAspect="1" noChangeArrowheads="1"/>
            </p:cNvSpPr>
            <p:nvPr/>
          </p:nvSpPr>
          <p:spPr bwMode="auto">
            <a:xfrm>
              <a:off x="4003" y="3640"/>
              <a:ext cx="283" cy="244"/>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56" name="Oval 184"/>
            <p:cNvSpPr>
              <a:spLocks noChangeAspect="1" noChangeArrowheads="1"/>
            </p:cNvSpPr>
            <p:nvPr/>
          </p:nvSpPr>
          <p:spPr bwMode="auto">
            <a:xfrm>
              <a:off x="4094" y="3604"/>
              <a:ext cx="133" cy="56"/>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57" name="Oval 185"/>
            <p:cNvSpPr>
              <a:spLocks noChangeAspect="1" noChangeArrowheads="1"/>
            </p:cNvSpPr>
            <p:nvPr/>
          </p:nvSpPr>
          <p:spPr bwMode="auto">
            <a:xfrm>
              <a:off x="4154" y="3406"/>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58" name="Oval 186"/>
            <p:cNvSpPr>
              <a:spLocks noChangeAspect="1" noChangeArrowheads="1"/>
            </p:cNvSpPr>
            <p:nvPr/>
          </p:nvSpPr>
          <p:spPr bwMode="auto">
            <a:xfrm>
              <a:off x="4206" y="3292"/>
              <a:ext cx="58"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59" name="Oval 187"/>
            <p:cNvSpPr>
              <a:spLocks noChangeAspect="1" noChangeArrowheads="1"/>
            </p:cNvSpPr>
            <p:nvPr/>
          </p:nvSpPr>
          <p:spPr bwMode="auto">
            <a:xfrm>
              <a:off x="4265" y="3418"/>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0" name="Oval 188"/>
            <p:cNvSpPr>
              <a:spLocks noChangeAspect="1" noChangeArrowheads="1"/>
            </p:cNvSpPr>
            <p:nvPr/>
          </p:nvSpPr>
          <p:spPr bwMode="auto">
            <a:xfrm>
              <a:off x="4285" y="323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1" name="Oval 189"/>
            <p:cNvSpPr>
              <a:spLocks noChangeAspect="1" noChangeArrowheads="1"/>
            </p:cNvSpPr>
            <p:nvPr/>
          </p:nvSpPr>
          <p:spPr bwMode="auto">
            <a:xfrm>
              <a:off x="4420" y="325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2" name="Oval 190"/>
            <p:cNvSpPr>
              <a:spLocks noChangeAspect="1" noChangeArrowheads="1"/>
            </p:cNvSpPr>
            <p:nvPr/>
          </p:nvSpPr>
          <p:spPr bwMode="auto">
            <a:xfrm>
              <a:off x="4635" y="3123"/>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3" name="Oval 191"/>
            <p:cNvSpPr>
              <a:spLocks noChangeAspect="1" noChangeArrowheads="1"/>
            </p:cNvSpPr>
            <p:nvPr/>
          </p:nvSpPr>
          <p:spPr bwMode="auto">
            <a:xfrm>
              <a:off x="4738" y="3307"/>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4" name="Oval 192"/>
            <p:cNvSpPr>
              <a:spLocks noChangeAspect="1" noChangeArrowheads="1"/>
            </p:cNvSpPr>
            <p:nvPr/>
          </p:nvSpPr>
          <p:spPr bwMode="auto">
            <a:xfrm>
              <a:off x="4645" y="3347"/>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5" name="Oval 193"/>
            <p:cNvSpPr>
              <a:spLocks noChangeAspect="1" noChangeArrowheads="1"/>
            </p:cNvSpPr>
            <p:nvPr/>
          </p:nvSpPr>
          <p:spPr bwMode="auto">
            <a:xfrm>
              <a:off x="4524" y="3153"/>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6" name="Oval 194"/>
            <p:cNvSpPr>
              <a:spLocks noChangeAspect="1" noChangeArrowheads="1"/>
            </p:cNvSpPr>
            <p:nvPr/>
          </p:nvSpPr>
          <p:spPr bwMode="auto">
            <a:xfrm>
              <a:off x="4310" y="336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7" name="Oval 195"/>
            <p:cNvSpPr>
              <a:spLocks noChangeAspect="1" noChangeArrowheads="1"/>
            </p:cNvSpPr>
            <p:nvPr/>
          </p:nvSpPr>
          <p:spPr bwMode="auto">
            <a:xfrm>
              <a:off x="4659" y="346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8" name="Oval 196"/>
            <p:cNvSpPr>
              <a:spLocks noChangeAspect="1" noChangeArrowheads="1"/>
            </p:cNvSpPr>
            <p:nvPr/>
          </p:nvSpPr>
          <p:spPr bwMode="auto">
            <a:xfrm>
              <a:off x="4480" y="3467"/>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69" name="Oval 197"/>
            <p:cNvSpPr>
              <a:spLocks noChangeAspect="1" noChangeArrowheads="1"/>
            </p:cNvSpPr>
            <p:nvPr/>
          </p:nvSpPr>
          <p:spPr bwMode="auto">
            <a:xfrm>
              <a:off x="4560" y="331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0" name="Oval 198"/>
            <p:cNvSpPr>
              <a:spLocks noChangeAspect="1" noChangeArrowheads="1"/>
            </p:cNvSpPr>
            <p:nvPr/>
          </p:nvSpPr>
          <p:spPr bwMode="auto">
            <a:xfrm>
              <a:off x="4216" y="315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1" name="Oval 199"/>
            <p:cNvSpPr>
              <a:spLocks noChangeAspect="1" noChangeArrowheads="1"/>
            </p:cNvSpPr>
            <p:nvPr/>
          </p:nvSpPr>
          <p:spPr bwMode="auto">
            <a:xfrm>
              <a:off x="4370" y="3457"/>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2" name="Oval 200"/>
            <p:cNvSpPr>
              <a:spLocks noChangeAspect="1" noChangeArrowheads="1"/>
            </p:cNvSpPr>
            <p:nvPr/>
          </p:nvSpPr>
          <p:spPr bwMode="auto">
            <a:xfrm>
              <a:off x="4186" y="348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3" name="Oval 201"/>
            <p:cNvSpPr>
              <a:spLocks noChangeAspect="1" noChangeArrowheads="1"/>
            </p:cNvSpPr>
            <p:nvPr/>
          </p:nvSpPr>
          <p:spPr bwMode="auto">
            <a:xfrm>
              <a:off x="4340" y="315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4" name="Oval 202"/>
            <p:cNvSpPr>
              <a:spLocks noChangeAspect="1" noChangeArrowheads="1"/>
            </p:cNvSpPr>
            <p:nvPr/>
          </p:nvSpPr>
          <p:spPr bwMode="auto">
            <a:xfrm>
              <a:off x="4735" y="3193"/>
              <a:ext cx="58"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5" name="Oval 203"/>
            <p:cNvSpPr>
              <a:spLocks noChangeAspect="1" noChangeArrowheads="1"/>
            </p:cNvSpPr>
            <p:nvPr/>
          </p:nvSpPr>
          <p:spPr bwMode="auto">
            <a:xfrm>
              <a:off x="4604" y="3243"/>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6" name="Oval 204"/>
            <p:cNvSpPr>
              <a:spLocks noChangeAspect="1" noChangeArrowheads="1"/>
            </p:cNvSpPr>
            <p:nvPr/>
          </p:nvSpPr>
          <p:spPr bwMode="auto">
            <a:xfrm>
              <a:off x="4131" y="3193"/>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7" name="AutoShape 207"/>
            <p:cNvSpPr>
              <a:spLocks noChangeAspect="1" noChangeArrowheads="1"/>
            </p:cNvSpPr>
            <p:nvPr/>
          </p:nvSpPr>
          <p:spPr bwMode="auto">
            <a:xfrm>
              <a:off x="3571" y="1636"/>
              <a:ext cx="900" cy="619"/>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278" name="Rectangle 208"/>
            <p:cNvSpPr>
              <a:spLocks noChangeAspect="1" noChangeArrowheads="1"/>
            </p:cNvSpPr>
            <p:nvPr/>
          </p:nvSpPr>
          <p:spPr bwMode="auto">
            <a:xfrm>
              <a:off x="3548" y="2235"/>
              <a:ext cx="283" cy="243"/>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79" name="Oval 209"/>
            <p:cNvSpPr>
              <a:spLocks noChangeAspect="1" noChangeArrowheads="1"/>
            </p:cNvSpPr>
            <p:nvPr/>
          </p:nvSpPr>
          <p:spPr bwMode="auto">
            <a:xfrm>
              <a:off x="3639" y="2194"/>
              <a:ext cx="133" cy="55"/>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0" name="Oval 210"/>
            <p:cNvSpPr>
              <a:spLocks noChangeAspect="1" noChangeArrowheads="1"/>
            </p:cNvSpPr>
            <p:nvPr/>
          </p:nvSpPr>
          <p:spPr bwMode="auto">
            <a:xfrm>
              <a:off x="4181" y="1703"/>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1" name="Oval 211"/>
            <p:cNvSpPr>
              <a:spLocks noChangeAspect="1" noChangeArrowheads="1"/>
            </p:cNvSpPr>
            <p:nvPr/>
          </p:nvSpPr>
          <p:spPr bwMode="auto">
            <a:xfrm>
              <a:off x="4183" y="1954"/>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2" name="Oval 212"/>
            <p:cNvSpPr>
              <a:spLocks noChangeAspect="1" noChangeArrowheads="1"/>
            </p:cNvSpPr>
            <p:nvPr/>
          </p:nvSpPr>
          <p:spPr bwMode="auto">
            <a:xfrm>
              <a:off x="3900" y="1725"/>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3" name="Oval 213"/>
            <p:cNvSpPr>
              <a:spLocks noChangeAspect="1" noChangeArrowheads="1"/>
            </p:cNvSpPr>
            <p:nvPr/>
          </p:nvSpPr>
          <p:spPr bwMode="auto">
            <a:xfrm>
              <a:off x="3698" y="1752"/>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4" name="Oval 214"/>
            <p:cNvSpPr>
              <a:spLocks noChangeAspect="1" noChangeArrowheads="1"/>
            </p:cNvSpPr>
            <p:nvPr/>
          </p:nvSpPr>
          <p:spPr bwMode="auto">
            <a:xfrm>
              <a:off x="3663" y="1942"/>
              <a:ext cx="149"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5" name="Oval 215"/>
            <p:cNvSpPr>
              <a:spLocks noChangeAspect="1" noChangeArrowheads="1"/>
            </p:cNvSpPr>
            <p:nvPr/>
          </p:nvSpPr>
          <p:spPr bwMode="auto">
            <a:xfrm>
              <a:off x="3923" y="1978"/>
              <a:ext cx="149"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6" name="AutoShape 218"/>
            <p:cNvSpPr>
              <a:spLocks noChangeAspect="1" noChangeArrowheads="1"/>
            </p:cNvSpPr>
            <p:nvPr/>
          </p:nvSpPr>
          <p:spPr bwMode="auto">
            <a:xfrm>
              <a:off x="3830" y="2363"/>
              <a:ext cx="899" cy="619"/>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287" name="Rectangle 219"/>
            <p:cNvSpPr>
              <a:spLocks noChangeAspect="1" noChangeArrowheads="1"/>
            </p:cNvSpPr>
            <p:nvPr/>
          </p:nvSpPr>
          <p:spPr bwMode="auto">
            <a:xfrm>
              <a:off x="3807" y="2960"/>
              <a:ext cx="282" cy="243"/>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8" name="Oval 220"/>
            <p:cNvSpPr>
              <a:spLocks noChangeAspect="1" noChangeArrowheads="1"/>
            </p:cNvSpPr>
            <p:nvPr/>
          </p:nvSpPr>
          <p:spPr bwMode="auto">
            <a:xfrm>
              <a:off x="3898" y="2921"/>
              <a:ext cx="133" cy="55"/>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89" name="Oval 221"/>
            <p:cNvSpPr>
              <a:spLocks noChangeAspect="1" noChangeArrowheads="1"/>
            </p:cNvSpPr>
            <p:nvPr/>
          </p:nvSpPr>
          <p:spPr bwMode="auto">
            <a:xfrm>
              <a:off x="4518" y="2427"/>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0" name="Oval 222"/>
            <p:cNvSpPr>
              <a:spLocks noChangeAspect="1" noChangeArrowheads="1"/>
            </p:cNvSpPr>
            <p:nvPr/>
          </p:nvSpPr>
          <p:spPr bwMode="auto">
            <a:xfrm>
              <a:off x="4441" y="2591"/>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1" name="Oval 223"/>
            <p:cNvSpPr>
              <a:spLocks noChangeAspect="1" noChangeArrowheads="1"/>
            </p:cNvSpPr>
            <p:nvPr/>
          </p:nvSpPr>
          <p:spPr bwMode="auto">
            <a:xfrm>
              <a:off x="4095" y="2523"/>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2" name="Oval 224"/>
            <p:cNvSpPr>
              <a:spLocks noChangeAspect="1" noChangeArrowheads="1"/>
            </p:cNvSpPr>
            <p:nvPr/>
          </p:nvSpPr>
          <p:spPr bwMode="auto">
            <a:xfrm>
              <a:off x="4317" y="2654"/>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3" name="Oval 225"/>
            <p:cNvSpPr>
              <a:spLocks noChangeAspect="1" noChangeArrowheads="1"/>
            </p:cNvSpPr>
            <p:nvPr/>
          </p:nvSpPr>
          <p:spPr bwMode="auto">
            <a:xfrm>
              <a:off x="3963" y="2480"/>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4" name="Oval 226"/>
            <p:cNvSpPr>
              <a:spLocks noChangeAspect="1" noChangeArrowheads="1"/>
            </p:cNvSpPr>
            <p:nvPr/>
          </p:nvSpPr>
          <p:spPr bwMode="auto">
            <a:xfrm>
              <a:off x="3954" y="2660"/>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5" name="Oval 227"/>
            <p:cNvSpPr>
              <a:spLocks noChangeAspect="1" noChangeArrowheads="1"/>
            </p:cNvSpPr>
            <p:nvPr/>
          </p:nvSpPr>
          <p:spPr bwMode="auto">
            <a:xfrm>
              <a:off x="4567" y="2542"/>
              <a:ext cx="88" cy="8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6" name="Oval 228"/>
            <p:cNvSpPr>
              <a:spLocks noChangeAspect="1" noChangeArrowheads="1"/>
            </p:cNvSpPr>
            <p:nvPr/>
          </p:nvSpPr>
          <p:spPr bwMode="auto">
            <a:xfrm>
              <a:off x="4085" y="2736"/>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7" name="Oval 229"/>
            <p:cNvSpPr>
              <a:spLocks noChangeAspect="1" noChangeArrowheads="1"/>
            </p:cNvSpPr>
            <p:nvPr/>
          </p:nvSpPr>
          <p:spPr bwMode="auto">
            <a:xfrm>
              <a:off x="4202" y="2733"/>
              <a:ext cx="89" cy="8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8" name="Oval 230"/>
            <p:cNvSpPr>
              <a:spLocks noChangeAspect="1" noChangeArrowheads="1"/>
            </p:cNvSpPr>
            <p:nvPr/>
          </p:nvSpPr>
          <p:spPr bwMode="auto">
            <a:xfrm>
              <a:off x="4497" y="2739"/>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299" name="AutoShape 233"/>
            <p:cNvSpPr>
              <a:spLocks noChangeAspect="1" noChangeArrowheads="1"/>
            </p:cNvSpPr>
            <p:nvPr/>
          </p:nvSpPr>
          <p:spPr bwMode="auto">
            <a:xfrm>
              <a:off x="2937" y="921"/>
              <a:ext cx="899" cy="619"/>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300" name="Rectangle 234"/>
            <p:cNvSpPr>
              <a:spLocks noChangeAspect="1" noChangeArrowheads="1"/>
            </p:cNvSpPr>
            <p:nvPr/>
          </p:nvSpPr>
          <p:spPr bwMode="auto">
            <a:xfrm>
              <a:off x="2914" y="1509"/>
              <a:ext cx="282" cy="243"/>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1" name="Oval 235"/>
            <p:cNvSpPr>
              <a:spLocks noChangeAspect="1" noChangeArrowheads="1"/>
            </p:cNvSpPr>
            <p:nvPr/>
          </p:nvSpPr>
          <p:spPr bwMode="auto">
            <a:xfrm>
              <a:off x="3005" y="1479"/>
              <a:ext cx="133" cy="55"/>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2" name="Oval 236"/>
            <p:cNvSpPr>
              <a:spLocks noChangeAspect="1" noChangeArrowheads="1"/>
            </p:cNvSpPr>
            <p:nvPr/>
          </p:nvSpPr>
          <p:spPr bwMode="auto">
            <a:xfrm>
              <a:off x="3549" y="1012"/>
              <a:ext cx="222" cy="223"/>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3" name="Oval 237"/>
            <p:cNvSpPr>
              <a:spLocks noChangeAspect="1" noChangeArrowheads="1"/>
            </p:cNvSpPr>
            <p:nvPr/>
          </p:nvSpPr>
          <p:spPr bwMode="auto">
            <a:xfrm>
              <a:off x="3020" y="1142"/>
              <a:ext cx="222" cy="222"/>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4" name="Oval 238"/>
            <p:cNvSpPr>
              <a:spLocks noChangeAspect="1" noChangeArrowheads="1"/>
            </p:cNvSpPr>
            <p:nvPr/>
          </p:nvSpPr>
          <p:spPr bwMode="auto">
            <a:xfrm>
              <a:off x="3270" y="1113"/>
              <a:ext cx="223" cy="222"/>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5" name="AutoShape 241"/>
            <p:cNvSpPr>
              <a:spLocks noChangeAspect="1" noChangeArrowheads="1"/>
            </p:cNvSpPr>
            <p:nvPr/>
          </p:nvSpPr>
          <p:spPr bwMode="auto">
            <a:xfrm>
              <a:off x="1834" y="921"/>
              <a:ext cx="899" cy="619"/>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306" name="Rectangle 242"/>
            <p:cNvSpPr>
              <a:spLocks noChangeAspect="1" noChangeArrowheads="1"/>
            </p:cNvSpPr>
            <p:nvPr/>
          </p:nvSpPr>
          <p:spPr bwMode="auto">
            <a:xfrm>
              <a:off x="1811" y="1509"/>
              <a:ext cx="282" cy="243"/>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7" name="Oval 243"/>
            <p:cNvSpPr>
              <a:spLocks noChangeAspect="1" noChangeArrowheads="1"/>
            </p:cNvSpPr>
            <p:nvPr/>
          </p:nvSpPr>
          <p:spPr bwMode="auto">
            <a:xfrm>
              <a:off x="1902" y="1479"/>
              <a:ext cx="133" cy="55"/>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8" name="Oval 244"/>
            <p:cNvSpPr>
              <a:spLocks noChangeAspect="1" noChangeArrowheads="1"/>
            </p:cNvSpPr>
            <p:nvPr/>
          </p:nvSpPr>
          <p:spPr bwMode="auto">
            <a:xfrm>
              <a:off x="2403" y="987"/>
              <a:ext cx="222" cy="223"/>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09" name="Oval 245"/>
            <p:cNvSpPr>
              <a:spLocks noChangeAspect="1" noChangeArrowheads="1"/>
            </p:cNvSpPr>
            <p:nvPr/>
          </p:nvSpPr>
          <p:spPr bwMode="auto">
            <a:xfrm>
              <a:off x="1962" y="1057"/>
              <a:ext cx="223" cy="222"/>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0" name="Oval 246"/>
            <p:cNvSpPr>
              <a:spLocks noChangeAspect="1" noChangeArrowheads="1"/>
            </p:cNvSpPr>
            <p:nvPr/>
          </p:nvSpPr>
          <p:spPr bwMode="auto">
            <a:xfrm>
              <a:off x="2197" y="1198"/>
              <a:ext cx="223" cy="222"/>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1" name="AutoShape 249"/>
            <p:cNvSpPr>
              <a:spLocks noChangeAspect="1" noChangeArrowheads="1"/>
            </p:cNvSpPr>
            <p:nvPr/>
          </p:nvSpPr>
          <p:spPr bwMode="auto">
            <a:xfrm>
              <a:off x="1133" y="1636"/>
              <a:ext cx="899" cy="619"/>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312" name="Rectangle 250"/>
            <p:cNvSpPr>
              <a:spLocks noChangeAspect="1" noChangeArrowheads="1"/>
            </p:cNvSpPr>
            <p:nvPr/>
          </p:nvSpPr>
          <p:spPr bwMode="auto">
            <a:xfrm>
              <a:off x="1110" y="2235"/>
              <a:ext cx="282" cy="243"/>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3" name="Oval 251"/>
            <p:cNvSpPr>
              <a:spLocks noChangeAspect="1" noChangeArrowheads="1"/>
            </p:cNvSpPr>
            <p:nvPr/>
          </p:nvSpPr>
          <p:spPr bwMode="auto">
            <a:xfrm>
              <a:off x="1201" y="2194"/>
              <a:ext cx="133" cy="55"/>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4" name="Oval 252"/>
            <p:cNvSpPr>
              <a:spLocks noChangeAspect="1" noChangeArrowheads="1"/>
            </p:cNvSpPr>
            <p:nvPr/>
          </p:nvSpPr>
          <p:spPr bwMode="auto">
            <a:xfrm>
              <a:off x="1733" y="1748"/>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5" name="Oval 253"/>
            <p:cNvSpPr>
              <a:spLocks noChangeAspect="1" noChangeArrowheads="1"/>
            </p:cNvSpPr>
            <p:nvPr/>
          </p:nvSpPr>
          <p:spPr bwMode="auto">
            <a:xfrm>
              <a:off x="1705" y="1954"/>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6" name="Oval 254"/>
            <p:cNvSpPr>
              <a:spLocks noChangeAspect="1" noChangeArrowheads="1"/>
            </p:cNvSpPr>
            <p:nvPr/>
          </p:nvSpPr>
          <p:spPr bwMode="auto">
            <a:xfrm>
              <a:off x="1501" y="1735"/>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7" name="Oval 255"/>
            <p:cNvSpPr>
              <a:spLocks noChangeAspect="1" noChangeArrowheads="1"/>
            </p:cNvSpPr>
            <p:nvPr/>
          </p:nvSpPr>
          <p:spPr bwMode="auto">
            <a:xfrm>
              <a:off x="1260" y="1752"/>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8" name="Oval 256"/>
            <p:cNvSpPr>
              <a:spLocks noChangeAspect="1" noChangeArrowheads="1"/>
            </p:cNvSpPr>
            <p:nvPr/>
          </p:nvSpPr>
          <p:spPr bwMode="auto">
            <a:xfrm>
              <a:off x="1285" y="1996"/>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19" name="Oval 257"/>
            <p:cNvSpPr>
              <a:spLocks noChangeAspect="1" noChangeArrowheads="1"/>
            </p:cNvSpPr>
            <p:nvPr/>
          </p:nvSpPr>
          <p:spPr bwMode="auto">
            <a:xfrm>
              <a:off x="1485" y="1913"/>
              <a:ext cx="148" cy="14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20" name="Oval 267"/>
            <p:cNvSpPr>
              <a:spLocks noChangeAspect="1" noChangeArrowheads="1"/>
            </p:cNvSpPr>
            <p:nvPr/>
          </p:nvSpPr>
          <p:spPr bwMode="auto">
            <a:xfrm>
              <a:off x="1105" y="2480"/>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21" name="Oval 268"/>
            <p:cNvSpPr>
              <a:spLocks noChangeAspect="1" noChangeArrowheads="1"/>
            </p:cNvSpPr>
            <p:nvPr/>
          </p:nvSpPr>
          <p:spPr bwMode="auto">
            <a:xfrm>
              <a:off x="1096" y="2660"/>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22" name="Freeform 273"/>
            <p:cNvSpPr>
              <a:spLocks noChangeAspect="1"/>
            </p:cNvSpPr>
            <p:nvPr/>
          </p:nvSpPr>
          <p:spPr bwMode="auto">
            <a:xfrm>
              <a:off x="3407" y="939"/>
              <a:ext cx="97" cy="523"/>
            </a:xfrm>
            <a:custGeom>
              <a:avLst/>
              <a:gdLst>
                <a:gd name="T0" fmla="*/ 1 w 112"/>
                <a:gd name="T1" fmla="*/ 0 h 636"/>
                <a:gd name="T2" fmla="*/ 23 w 112"/>
                <a:gd name="T3" fmla="*/ 77 h 636"/>
                <a:gd name="T4" fmla="*/ 41 w 112"/>
                <a:gd name="T5" fmla="*/ 110 h 636"/>
                <a:gd name="T6" fmla="*/ 64 w 112"/>
                <a:gd name="T7" fmla="*/ 237 h 636"/>
                <a:gd name="T8" fmla="*/ 81 w 112"/>
                <a:gd name="T9" fmla="*/ 303 h 636"/>
                <a:gd name="T10" fmla="*/ 94 w 112"/>
                <a:gd name="T11" fmla="*/ 336 h 636"/>
                <a:gd name="T12" fmla="*/ 94 w 112"/>
                <a:gd name="T13" fmla="*/ 523 h 6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636">
                  <a:moveTo>
                    <a:pt x="1" y="0"/>
                  </a:moveTo>
                  <a:cubicBezTo>
                    <a:pt x="5" y="42"/>
                    <a:pt x="0" y="65"/>
                    <a:pt x="27" y="94"/>
                  </a:cubicBezTo>
                  <a:cubicBezTo>
                    <a:pt x="32" y="108"/>
                    <a:pt x="45" y="119"/>
                    <a:pt x="47" y="134"/>
                  </a:cubicBezTo>
                  <a:cubicBezTo>
                    <a:pt x="56" y="197"/>
                    <a:pt x="34" y="245"/>
                    <a:pt x="74" y="288"/>
                  </a:cubicBezTo>
                  <a:cubicBezTo>
                    <a:pt x="112" y="397"/>
                    <a:pt x="67" y="260"/>
                    <a:pt x="94" y="368"/>
                  </a:cubicBezTo>
                  <a:cubicBezTo>
                    <a:pt x="97" y="382"/>
                    <a:pt x="108" y="408"/>
                    <a:pt x="108" y="408"/>
                  </a:cubicBezTo>
                  <a:cubicBezTo>
                    <a:pt x="98" y="485"/>
                    <a:pt x="108" y="558"/>
                    <a:pt x="108" y="636"/>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3" name="Freeform 274"/>
            <p:cNvSpPr>
              <a:spLocks noChangeAspect="1"/>
            </p:cNvSpPr>
            <p:nvPr/>
          </p:nvSpPr>
          <p:spPr bwMode="auto">
            <a:xfrm>
              <a:off x="4064" y="1649"/>
              <a:ext cx="84" cy="556"/>
            </a:xfrm>
            <a:custGeom>
              <a:avLst/>
              <a:gdLst>
                <a:gd name="T0" fmla="*/ 1 w 112"/>
                <a:gd name="T1" fmla="*/ 0 h 636"/>
                <a:gd name="T2" fmla="*/ 20 w 112"/>
                <a:gd name="T3" fmla="*/ 82 h 636"/>
                <a:gd name="T4" fmla="*/ 35 w 112"/>
                <a:gd name="T5" fmla="*/ 117 h 636"/>
                <a:gd name="T6" fmla="*/ 56 w 112"/>
                <a:gd name="T7" fmla="*/ 252 h 636"/>
                <a:gd name="T8" fmla="*/ 71 w 112"/>
                <a:gd name="T9" fmla="*/ 322 h 636"/>
                <a:gd name="T10" fmla="*/ 81 w 112"/>
                <a:gd name="T11" fmla="*/ 357 h 636"/>
                <a:gd name="T12" fmla="*/ 81 w 112"/>
                <a:gd name="T13" fmla="*/ 556 h 6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636">
                  <a:moveTo>
                    <a:pt x="1" y="0"/>
                  </a:moveTo>
                  <a:cubicBezTo>
                    <a:pt x="5" y="42"/>
                    <a:pt x="0" y="65"/>
                    <a:pt x="27" y="94"/>
                  </a:cubicBezTo>
                  <a:cubicBezTo>
                    <a:pt x="32" y="108"/>
                    <a:pt x="45" y="119"/>
                    <a:pt x="47" y="134"/>
                  </a:cubicBezTo>
                  <a:cubicBezTo>
                    <a:pt x="56" y="197"/>
                    <a:pt x="34" y="245"/>
                    <a:pt x="74" y="288"/>
                  </a:cubicBezTo>
                  <a:cubicBezTo>
                    <a:pt x="112" y="397"/>
                    <a:pt x="67" y="260"/>
                    <a:pt x="94" y="368"/>
                  </a:cubicBezTo>
                  <a:cubicBezTo>
                    <a:pt x="97" y="382"/>
                    <a:pt x="108" y="408"/>
                    <a:pt x="108" y="408"/>
                  </a:cubicBezTo>
                  <a:cubicBezTo>
                    <a:pt x="98" y="485"/>
                    <a:pt x="108" y="558"/>
                    <a:pt x="108" y="636"/>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4" name="Freeform 275"/>
            <p:cNvSpPr>
              <a:spLocks noChangeAspect="1"/>
            </p:cNvSpPr>
            <p:nvPr/>
          </p:nvSpPr>
          <p:spPr bwMode="auto">
            <a:xfrm>
              <a:off x="3846" y="1636"/>
              <a:ext cx="304" cy="553"/>
            </a:xfrm>
            <a:custGeom>
              <a:avLst/>
              <a:gdLst>
                <a:gd name="T0" fmla="*/ 295 w 407"/>
                <a:gd name="T1" fmla="*/ 0 h 618"/>
                <a:gd name="T2" fmla="*/ 270 w 407"/>
                <a:gd name="T3" fmla="*/ 204 h 618"/>
                <a:gd name="T4" fmla="*/ 211 w 407"/>
                <a:gd name="T5" fmla="*/ 234 h 618"/>
                <a:gd name="T6" fmla="*/ 100 w 407"/>
                <a:gd name="T7" fmla="*/ 276 h 618"/>
                <a:gd name="T8" fmla="*/ 75 w 407"/>
                <a:gd name="T9" fmla="*/ 282 h 618"/>
                <a:gd name="T10" fmla="*/ 50 w 407"/>
                <a:gd name="T11" fmla="*/ 324 h 618"/>
                <a:gd name="T12" fmla="*/ 35 w 407"/>
                <a:gd name="T13" fmla="*/ 473 h 618"/>
                <a:gd name="T14" fmla="*/ 10 w 407"/>
                <a:gd name="T15" fmla="*/ 522 h 618"/>
                <a:gd name="T16" fmla="*/ 0 w 407"/>
                <a:gd name="T17" fmla="*/ 551 h 6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618">
                  <a:moveTo>
                    <a:pt x="395" y="0"/>
                  </a:moveTo>
                  <a:cubicBezTo>
                    <a:pt x="393" y="44"/>
                    <a:pt x="407" y="173"/>
                    <a:pt x="362" y="228"/>
                  </a:cubicBezTo>
                  <a:cubicBezTo>
                    <a:pt x="346" y="248"/>
                    <a:pt x="305" y="253"/>
                    <a:pt x="282" y="261"/>
                  </a:cubicBezTo>
                  <a:cubicBezTo>
                    <a:pt x="231" y="312"/>
                    <a:pt x="216" y="301"/>
                    <a:pt x="134" y="308"/>
                  </a:cubicBezTo>
                  <a:cubicBezTo>
                    <a:pt x="123" y="310"/>
                    <a:pt x="111" y="311"/>
                    <a:pt x="101" y="315"/>
                  </a:cubicBezTo>
                  <a:cubicBezTo>
                    <a:pt x="83" y="323"/>
                    <a:pt x="81" y="348"/>
                    <a:pt x="67" y="362"/>
                  </a:cubicBezTo>
                  <a:cubicBezTo>
                    <a:pt x="48" y="427"/>
                    <a:pt x="56" y="434"/>
                    <a:pt x="47" y="529"/>
                  </a:cubicBezTo>
                  <a:cubicBezTo>
                    <a:pt x="45" y="550"/>
                    <a:pt x="25" y="567"/>
                    <a:pt x="14" y="583"/>
                  </a:cubicBezTo>
                  <a:cubicBezTo>
                    <a:pt x="7" y="618"/>
                    <a:pt x="18" y="616"/>
                    <a:pt x="0" y="616"/>
                  </a:cubicBezTo>
                </a:path>
              </a:pathLst>
            </a:custGeom>
            <a:noFill/>
            <a:ln w="31750"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5" name="Freeform 276"/>
            <p:cNvSpPr>
              <a:spLocks noChangeAspect="1"/>
            </p:cNvSpPr>
            <p:nvPr/>
          </p:nvSpPr>
          <p:spPr bwMode="auto">
            <a:xfrm>
              <a:off x="4169" y="2396"/>
              <a:ext cx="146" cy="565"/>
            </a:xfrm>
            <a:custGeom>
              <a:avLst/>
              <a:gdLst>
                <a:gd name="T0" fmla="*/ 1 w 112"/>
                <a:gd name="T1" fmla="*/ 0 h 636"/>
                <a:gd name="T2" fmla="*/ 35 w 112"/>
                <a:gd name="T3" fmla="*/ 84 h 636"/>
                <a:gd name="T4" fmla="*/ 61 w 112"/>
                <a:gd name="T5" fmla="*/ 119 h 636"/>
                <a:gd name="T6" fmla="*/ 96 w 112"/>
                <a:gd name="T7" fmla="*/ 256 h 636"/>
                <a:gd name="T8" fmla="*/ 123 w 112"/>
                <a:gd name="T9" fmla="*/ 327 h 636"/>
                <a:gd name="T10" fmla="*/ 141 w 112"/>
                <a:gd name="T11" fmla="*/ 362 h 636"/>
                <a:gd name="T12" fmla="*/ 141 w 112"/>
                <a:gd name="T13" fmla="*/ 565 h 63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12" h="636">
                  <a:moveTo>
                    <a:pt x="1" y="0"/>
                  </a:moveTo>
                  <a:cubicBezTo>
                    <a:pt x="5" y="42"/>
                    <a:pt x="0" y="65"/>
                    <a:pt x="27" y="94"/>
                  </a:cubicBezTo>
                  <a:cubicBezTo>
                    <a:pt x="32" y="108"/>
                    <a:pt x="45" y="119"/>
                    <a:pt x="47" y="134"/>
                  </a:cubicBezTo>
                  <a:cubicBezTo>
                    <a:pt x="56" y="197"/>
                    <a:pt x="34" y="245"/>
                    <a:pt x="74" y="288"/>
                  </a:cubicBezTo>
                  <a:cubicBezTo>
                    <a:pt x="112" y="397"/>
                    <a:pt x="67" y="260"/>
                    <a:pt x="94" y="368"/>
                  </a:cubicBezTo>
                  <a:cubicBezTo>
                    <a:pt x="97" y="382"/>
                    <a:pt x="108" y="408"/>
                    <a:pt x="108" y="408"/>
                  </a:cubicBezTo>
                  <a:cubicBezTo>
                    <a:pt x="98" y="485"/>
                    <a:pt x="108" y="558"/>
                    <a:pt x="108" y="636"/>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6" name="Freeform 277"/>
            <p:cNvSpPr>
              <a:spLocks noChangeAspect="1"/>
            </p:cNvSpPr>
            <p:nvPr/>
          </p:nvSpPr>
          <p:spPr bwMode="auto">
            <a:xfrm>
              <a:off x="4168" y="2376"/>
              <a:ext cx="224" cy="565"/>
            </a:xfrm>
            <a:custGeom>
              <a:avLst/>
              <a:gdLst>
                <a:gd name="T0" fmla="*/ 196 w 222"/>
                <a:gd name="T1" fmla="*/ 0 h 610"/>
                <a:gd name="T2" fmla="*/ 135 w 222"/>
                <a:gd name="T3" fmla="*/ 193 h 610"/>
                <a:gd name="T4" fmla="*/ 81 w 222"/>
                <a:gd name="T5" fmla="*/ 217 h 610"/>
                <a:gd name="T6" fmla="*/ 53 w 222"/>
                <a:gd name="T7" fmla="*/ 242 h 610"/>
                <a:gd name="T8" fmla="*/ 0 w 222"/>
                <a:gd name="T9" fmla="*/ 329 h 610"/>
                <a:gd name="T10" fmla="*/ 27 w 222"/>
                <a:gd name="T11" fmla="*/ 434 h 610"/>
                <a:gd name="T12" fmla="*/ 20 w 222"/>
                <a:gd name="T13" fmla="*/ 565 h 6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22" h="610">
                  <a:moveTo>
                    <a:pt x="194" y="0"/>
                  </a:moveTo>
                  <a:cubicBezTo>
                    <a:pt x="169" y="72"/>
                    <a:pt x="222" y="177"/>
                    <a:pt x="134" y="208"/>
                  </a:cubicBezTo>
                  <a:cubicBezTo>
                    <a:pt x="117" y="224"/>
                    <a:pt x="102" y="227"/>
                    <a:pt x="80" y="234"/>
                  </a:cubicBezTo>
                  <a:cubicBezTo>
                    <a:pt x="71" y="243"/>
                    <a:pt x="60" y="250"/>
                    <a:pt x="53" y="261"/>
                  </a:cubicBezTo>
                  <a:cubicBezTo>
                    <a:pt x="29" y="300"/>
                    <a:pt x="41" y="329"/>
                    <a:pt x="0" y="355"/>
                  </a:cubicBezTo>
                  <a:cubicBezTo>
                    <a:pt x="7" y="425"/>
                    <a:pt x="9" y="419"/>
                    <a:pt x="27" y="469"/>
                  </a:cubicBezTo>
                  <a:cubicBezTo>
                    <a:pt x="25" y="516"/>
                    <a:pt x="20" y="610"/>
                    <a:pt x="20" y="610"/>
                  </a:cubicBezTo>
                </a:path>
              </a:pathLst>
            </a:custGeom>
            <a:noFill/>
            <a:ln w="31750"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7" name="Freeform 278"/>
            <p:cNvSpPr>
              <a:spLocks noChangeAspect="1"/>
            </p:cNvSpPr>
            <p:nvPr/>
          </p:nvSpPr>
          <p:spPr bwMode="auto">
            <a:xfrm>
              <a:off x="4443" y="3070"/>
              <a:ext cx="63" cy="584"/>
            </a:xfrm>
            <a:custGeom>
              <a:avLst/>
              <a:gdLst>
                <a:gd name="T0" fmla="*/ 30 w 127"/>
                <a:gd name="T1" fmla="*/ 12 h 629"/>
                <a:gd name="T2" fmla="*/ 43 w 127"/>
                <a:gd name="T3" fmla="*/ 43 h 629"/>
                <a:gd name="T4" fmla="*/ 46 w 127"/>
                <a:gd name="T5" fmla="*/ 61 h 629"/>
                <a:gd name="T6" fmla="*/ 63 w 127"/>
                <a:gd name="T7" fmla="*/ 86 h 629"/>
                <a:gd name="T8" fmla="*/ 53 w 127"/>
                <a:gd name="T9" fmla="*/ 199 h 629"/>
                <a:gd name="T10" fmla="*/ 43 w 127"/>
                <a:gd name="T11" fmla="*/ 317 h 629"/>
                <a:gd name="T12" fmla="*/ 33 w 127"/>
                <a:gd name="T13" fmla="*/ 323 h 629"/>
                <a:gd name="T14" fmla="*/ 6 w 127"/>
                <a:gd name="T15" fmla="*/ 409 h 629"/>
                <a:gd name="T16" fmla="*/ 0 w 127"/>
                <a:gd name="T17" fmla="*/ 584 h 62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27" h="629">
                  <a:moveTo>
                    <a:pt x="60" y="13"/>
                  </a:moveTo>
                  <a:cubicBezTo>
                    <a:pt x="79" y="66"/>
                    <a:pt x="51" y="0"/>
                    <a:pt x="87" y="46"/>
                  </a:cubicBezTo>
                  <a:cubicBezTo>
                    <a:pt x="91" y="51"/>
                    <a:pt x="89" y="60"/>
                    <a:pt x="93" y="66"/>
                  </a:cubicBezTo>
                  <a:cubicBezTo>
                    <a:pt x="100" y="77"/>
                    <a:pt x="117" y="87"/>
                    <a:pt x="127" y="93"/>
                  </a:cubicBezTo>
                  <a:cubicBezTo>
                    <a:pt x="122" y="147"/>
                    <a:pt x="123" y="170"/>
                    <a:pt x="107" y="214"/>
                  </a:cubicBezTo>
                  <a:cubicBezTo>
                    <a:pt x="106" y="220"/>
                    <a:pt x="103" y="320"/>
                    <a:pt x="87" y="341"/>
                  </a:cubicBezTo>
                  <a:cubicBezTo>
                    <a:pt x="83" y="347"/>
                    <a:pt x="74" y="346"/>
                    <a:pt x="67" y="348"/>
                  </a:cubicBezTo>
                  <a:cubicBezTo>
                    <a:pt x="55" y="381"/>
                    <a:pt x="39" y="417"/>
                    <a:pt x="13" y="441"/>
                  </a:cubicBezTo>
                  <a:cubicBezTo>
                    <a:pt x="0" y="503"/>
                    <a:pt x="0" y="629"/>
                    <a:pt x="0" y="629"/>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8" name="Freeform 279"/>
            <p:cNvSpPr>
              <a:spLocks noChangeAspect="1"/>
            </p:cNvSpPr>
            <p:nvPr/>
          </p:nvSpPr>
          <p:spPr bwMode="auto">
            <a:xfrm>
              <a:off x="4463" y="3084"/>
              <a:ext cx="81" cy="567"/>
            </a:xfrm>
            <a:custGeom>
              <a:avLst/>
              <a:gdLst>
                <a:gd name="T0" fmla="*/ 69 w 73"/>
                <a:gd name="T1" fmla="*/ 0 h 623"/>
                <a:gd name="T2" fmla="*/ 39 w 73"/>
                <a:gd name="T3" fmla="*/ 97 h 623"/>
                <a:gd name="T4" fmla="*/ 2 w 73"/>
                <a:gd name="T5" fmla="*/ 231 h 623"/>
                <a:gd name="T6" fmla="*/ 10 w 73"/>
                <a:gd name="T7" fmla="*/ 268 h 623"/>
                <a:gd name="T8" fmla="*/ 77 w 73"/>
                <a:gd name="T9" fmla="*/ 299 h 623"/>
                <a:gd name="T10" fmla="*/ 77 w 73"/>
                <a:gd name="T11" fmla="*/ 567 h 6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 h="623">
                  <a:moveTo>
                    <a:pt x="62" y="0"/>
                  </a:moveTo>
                  <a:cubicBezTo>
                    <a:pt x="58" y="44"/>
                    <a:pt x="66" y="78"/>
                    <a:pt x="35" y="107"/>
                  </a:cubicBezTo>
                  <a:cubicBezTo>
                    <a:pt x="20" y="156"/>
                    <a:pt x="19" y="206"/>
                    <a:pt x="2" y="254"/>
                  </a:cubicBezTo>
                  <a:cubicBezTo>
                    <a:pt x="4" y="268"/>
                    <a:pt x="0" y="284"/>
                    <a:pt x="9" y="295"/>
                  </a:cubicBezTo>
                  <a:cubicBezTo>
                    <a:pt x="15" y="302"/>
                    <a:pt x="68" y="303"/>
                    <a:pt x="69" y="328"/>
                  </a:cubicBezTo>
                  <a:cubicBezTo>
                    <a:pt x="73" y="426"/>
                    <a:pt x="69" y="525"/>
                    <a:pt x="69" y="623"/>
                  </a:cubicBezTo>
                </a:path>
              </a:pathLst>
            </a:custGeom>
            <a:noFill/>
            <a:ln w="31750" cap="flat">
              <a:solidFill>
                <a:schemeClr val="tx1"/>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de-DE"/>
            </a:p>
          </p:txBody>
        </p:sp>
        <p:sp>
          <p:nvSpPr>
            <p:cNvPr id="53329" name="AutoShape 284"/>
            <p:cNvSpPr>
              <a:spLocks noChangeAspect="1" noChangeArrowheads="1"/>
            </p:cNvSpPr>
            <p:nvPr/>
          </p:nvSpPr>
          <p:spPr bwMode="auto">
            <a:xfrm>
              <a:off x="2733" y="924"/>
              <a:ext cx="265" cy="178"/>
            </a:xfrm>
            <a:prstGeom prst="rightArrow">
              <a:avLst>
                <a:gd name="adj1" fmla="val 50009"/>
                <a:gd name="adj2" fmla="val 37385"/>
              </a:avLst>
            </a:pr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30" name="AutoShape 310"/>
            <p:cNvSpPr>
              <a:spLocks noChangeAspect="1" noChangeArrowheads="1"/>
            </p:cNvSpPr>
            <p:nvPr/>
          </p:nvSpPr>
          <p:spPr bwMode="auto">
            <a:xfrm>
              <a:off x="1498" y="1230"/>
              <a:ext cx="273" cy="290"/>
            </a:xfrm>
            <a:custGeom>
              <a:avLst/>
              <a:gdLst>
                <a:gd name="T0" fmla="*/ 191 w 21600"/>
                <a:gd name="T1" fmla="*/ 0 h 21600"/>
                <a:gd name="T2" fmla="*/ 191 w 21600"/>
                <a:gd name="T3" fmla="*/ 163 h 21600"/>
                <a:gd name="T4" fmla="*/ 41 w 21600"/>
                <a:gd name="T5" fmla="*/ 290 h 21600"/>
                <a:gd name="T6" fmla="*/ 273 w 21600"/>
                <a:gd name="T7" fmla="*/ 82 h 21600"/>
                <a:gd name="T8" fmla="*/ 17694720 60000 65536"/>
                <a:gd name="T9" fmla="*/ 5898240 60000 65536"/>
                <a:gd name="T10" fmla="*/ 5898240 60000 65536"/>
                <a:gd name="T11" fmla="*/ 0 60000 65536"/>
                <a:gd name="T12" fmla="*/ 12422 w 21600"/>
                <a:gd name="T13" fmla="*/ 2905 h 21600"/>
                <a:gd name="T14" fmla="*/ 18198 w 21600"/>
                <a:gd name="T15" fmla="*/ 923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3331" name="AutoShape 311"/>
            <p:cNvSpPr>
              <a:spLocks noChangeAspect="1" noChangeArrowheads="1"/>
            </p:cNvSpPr>
            <p:nvPr/>
          </p:nvSpPr>
          <p:spPr bwMode="auto">
            <a:xfrm rot="-2644107">
              <a:off x="916" y="2069"/>
              <a:ext cx="273" cy="290"/>
            </a:xfrm>
            <a:custGeom>
              <a:avLst/>
              <a:gdLst>
                <a:gd name="T0" fmla="*/ 191 w 21600"/>
                <a:gd name="T1" fmla="*/ 0 h 21600"/>
                <a:gd name="T2" fmla="*/ 191 w 21600"/>
                <a:gd name="T3" fmla="*/ 163 h 21600"/>
                <a:gd name="T4" fmla="*/ 41 w 21600"/>
                <a:gd name="T5" fmla="*/ 290 h 21600"/>
                <a:gd name="T6" fmla="*/ 273 w 21600"/>
                <a:gd name="T7" fmla="*/ 82 h 21600"/>
                <a:gd name="T8" fmla="*/ 17694720 60000 65536"/>
                <a:gd name="T9" fmla="*/ 5898240 60000 65536"/>
                <a:gd name="T10" fmla="*/ 5898240 60000 65536"/>
                <a:gd name="T11" fmla="*/ 0 60000 65536"/>
                <a:gd name="T12" fmla="*/ 12422 w 21600"/>
                <a:gd name="T13" fmla="*/ 2905 h 21600"/>
                <a:gd name="T14" fmla="*/ 18198 w 21600"/>
                <a:gd name="T15" fmla="*/ 923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3332" name="AutoShape 312"/>
            <p:cNvSpPr>
              <a:spLocks noChangeAspect="1" noChangeArrowheads="1"/>
            </p:cNvSpPr>
            <p:nvPr/>
          </p:nvSpPr>
          <p:spPr bwMode="auto">
            <a:xfrm rot="-2644107">
              <a:off x="750" y="2770"/>
              <a:ext cx="272" cy="289"/>
            </a:xfrm>
            <a:custGeom>
              <a:avLst/>
              <a:gdLst>
                <a:gd name="T0" fmla="*/ 190 w 21600"/>
                <a:gd name="T1" fmla="*/ 0 h 21600"/>
                <a:gd name="T2" fmla="*/ 190 w 21600"/>
                <a:gd name="T3" fmla="*/ 163 h 21600"/>
                <a:gd name="T4" fmla="*/ 41 w 21600"/>
                <a:gd name="T5" fmla="*/ 289 h 21600"/>
                <a:gd name="T6" fmla="*/ 272 w 21600"/>
                <a:gd name="T7" fmla="*/ 81 h 21600"/>
                <a:gd name="T8" fmla="*/ 17694720 60000 65536"/>
                <a:gd name="T9" fmla="*/ 5898240 60000 65536"/>
                <a:gd name="T10" fmla="*/ 5898240 60000 65536"/>
                <a:gd name="T11" fmla="*/ 0 60000 65536"/>
                <a:gd name="T12" fmla="*/ 12388 w 21600"/>
                <a:gd name="T13" fmla="*/ 2915 h 21600"/>
                <a:gd name="T14" fmla="*/ 18265 w 21600"/>
                <a:gd name="T15" fmla="*/ 926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3333" name="AutoShape 313"/>
            <p:cNvSpPr>
              <a:spLocks noChangeAspect="1" noChangeArrowheads="1"/>
            </p:cNvSpPr>
            <p:nvPr/>
          </p:nvSpPr>
          <p:spPr bwMode="auto">
            <a:xfrm rot="5400000">
              <a:off x="3913" y="1253"/>
              <a:ext cx="272" cy="289"/>
            </a:xfrm>
            <a:custGeom>
              <a:avLst/>
              <a:gdLst>
                <a:gd name="T0" fmla="*/ 190 w 21600"/>
                <a:gd name="T1" fmla="*/ 0 h 21600"/>
                <a:gd name="T2" fmla="*/ 190 w 21600"/>
                <a:gd name="T3" fmla="*/ 163 h 21600"/>
                <a:gd name="T4" fmla="*/ 41 w 21600"/>
                <a:gd name="T5" fmla="*/ 289 h 21600"/>
                <a:gd name="T6" fmla="*/ 272 w 21600"/>
                <a:gd name="T7" fmla="*/ 81 h 21600"/>
                <a:gd name="T8" fmla="*/ 17694720 60000 65536"/>
                <a:gd name="T9" fmla="*/ 5898240 60000 65536"/>
                <a:gd name="T10" fmla="*/ 5898240 60000 65536"/>
                <a:gd name="T11" fmla="*/ 0 60000 65536"/>
                <a:gd name="T12" fmla="*/ 12388 w 21600"/>
                <a:gd name="T13" fmla="*/ 2915 h 21600"/>
                <a:gd name="T14" fmla="*/ 18265 w 21600"/>
                <a:gd name="T15" fmla="*/ 9268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3334" name="AutoShape 314"/>
            <p:cNvSpPr>
              <a:spLocks noChangeAspect="1" noChangeArrowheads="1"/>
            </p:cNvSpPr>
            <p:nvPr/>
          </p:nvSpPr>
          <p:spPr bwMode="auto">
            <a:xfrm rot="7200000">
              <a:off x="4452" y="2019"/>
              <a:ext cx="272" cy="290"/>
            </a:xfrm>
            <a:custGeom>
              <a:avLst/>
              <a:gdLst>
                <a:gd name="T0" fmla="*/ 190 w 21600"/>
                <a:gd name="T1" fmla="*/ 0 h 21600"/>
                <a:gd name="T2" fmla="*/ 190 w 21600"/>
                <a:gd name="T3" fmla="*/ 163 h 21600"/>
                <a:gd name="T4" fmla="*/ 41 w 21600"/>
                <a:gd name="T5" fmla="*/ 290 h 21600"/>
                <a:gd name="T6" fmla="*/ 272 w 21600"/>
                <a:gd name="T7" fmla="*/ 82 h 21600"/>
                <a:gd name="T8" fmla="*/ 17694720 60000 65536"/>
                <a:gd name="T9" fmla="*/ 5898240 60000 65536"/>
                <a:gd name="T10" fmla="*/ 5898240 60000 65536"/>
                <a:gd name="T11" fmla="*/ 0 60000 65536"/>
                <a:gd name="T12" fmla="*/ 12388 w 21600"/>
                <a:gd name="T13" fmla="*/ 2905 h 21600"/>
                <a:gd name="T14" fmla="*/ 18265 w 21600"/>
                <a:gd name="T15" fmla="*/ 923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3335" name="AutoShape 315"/>
            <p:cNvSpPr>
              <a:spLocks noChangeAspect="1" noChangeArrowheads="1"/>
            </p:cNvSpPr>
            <p:nvPr/>
          </p:nvSpPr>
          <p:spPr bwMode="auto">
            <a:xfrm rot="7200000">
              <a:off x="4686" y="2722"/>
              <a:ext cx="272" cy="290"/>
            </a:xfrm>
            <a:custGeom>
              <a:avLst/>
              <a:gdLst>
                <a:gd name="T0" fmla="*/ 190 w 21600"/>
                <a:gd name="T1" fmla="*/ 0 h 21600"/>
                <a:gd name="T2" fmla="*/ 190 w 21600"/>
                <a:gd name="T3" fmla="*/ 163 h 21600"/>
                <a:gd name="T4" fmla="*/ 41 w 21600"/>
                <a:gd name="T5" fmla="*/ 290 h 21600"/>
                <a:gd name="T6" fmla="*/ 272 w 21600"/>
                <a:gd name="T7" fmla="*/ 82 h 21600"/>
                <a:gd name="T8" fmla="*/ 17694720 60000 65536"/>
                <a:gd name="T9" fmla="*/ 5898240 60000 65536"/>
                <a:gd name="T10" fmla="*/ 5898240 60000 65536"/>
                <a:gd name="T11" fmla="*/ 0 60000 65536"/>
                <a:gd name="T12" fmla="*/ 12388 w 21600"/>
                <a:gd name="T13" fmla="*/ 2905 h 21600"/>
                <a:gd name="T14" fmla="*/ 18265 w 21600"/>
                <a:gd name="T15" fmla="*/ 9236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lnTo>
                    <a:pt x="21600" y="6079"/>
                  </a:lnTo>
                  <a:close/>
                </a:path>
              </a:pathLst>
            </a:custGeom>
            <a:gradFill rotWithShape="1">
              <a:gsLst>
                <a:gs pos="0">
                  <a:srgbClr val="EDEDED"/>
                </a:gs>
                <a:gs pos="100000">
                  <a:schemeClr val="tx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de-DE"/>
            </a:p>
          </p:txBody>
        </p:sp>
        <p:sp>
          <p:nvSpPr>
            <p:cNvPr id="53336" name="AutoShape 260"/>
            <p:cNvSpPr>
              <a:spLocks noChangeAspect="1" noChangeArrowheads="1"/>
            </p:cNvSpPr>
            <p:nvPr/>
          </p:nvSpPr>
          <p:spPr bwMode="auto">
            <a:xfrm>
              <a:off x="972" y="2363"/>
              <a:ext cx="899" cy="619"/>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337" name="Rectangle 261"/>
            <p:cNvSpPr>
              <a:spLocks noChangeAspect="1" noChangeArrowheads="1"/>
            </p:cNvSpPr>
            <p:nvPr/>
          </p:nvSpPr>
          <p:spPr bwMode="auto">
            <a:xfrm>
              <a:off x="949" y="2960"/>
              <a:ext cx="282" cy="243"/>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38" name="AutoShape 287"/>
            <p:cNvSpPr>
              <a:spLocks noChangeAspect="1" noChangeArrowheads="1"/>
            </p:cNvSpPr>
            <p:nvPr/>
          </p:nvSpPr>
          <p:spPr bwMode="auto">
            <a:xfrm>
              <a:off x="798" y="3046"/>
              <a:ext cx="900" cy="620"/>
            </a:xfrm>
            <a:prstGeom prst="cloudCallout">
              <a:avLst>
                <a:gd name="adj1" fmla="val -43750"/>
                <a:gd name="adj2" fmla="val 70000"/>
              </a:avLst>
            </a:prstGeom>
            <a:solidFill>
              <a:srgbClr val="DDDDDD"/>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en-US" altLang="zh-CN" sz="2200">
                <a:ea typeface="宋体" panose="02010600030101010101" pitchFamily="2" charset="-122"/>
              </a:endParaRPr>
            </a:p>
          </p:txBody>
        </p:sp>
        <p:sp>
          <p:nvSpPr>
            <p:cNvPr id="53339" name="Rectangle 288"/>
            <p:cNvSpPr>
              <a:spLocks noChangeAspect="1" noChangeArrowheads="1"/>
            </p:cNvSpPr>
            <p:nvPr/>
          </p:nvSpPr>
          <p:spPr bwMode="auto">
            <a:xfrm>
              <a:off x="775" y="3640"/>
              <a:ext cx="283" cy="244"/>
            </a:xfrm>
            <a:prstGeom prst="rect">
              <a:avLst/>
            </a:prstGeom>
            <a:solidFill>
              <a:srgbClr val="EDEDED"/>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0" name="Oval 263"/>
            <p:cNvSpPr>
              <a:spLocks noChangeAspect="1" noChangeArrowheads="1"/>
            </p:cNvSpPr>
            <p:nvPr/>
          </p:nvSpPr>
          <p:spPr bwMode="auto">
            <a:xfrm>
              <a:off x="1600" y="2477"/>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1" name="Oval 264"/>
            <p:cNvSpPr>
              <a:spLocks noChangeAspect="1" noChangeArrowheads="1"/>
            </p:cNvSpPr>
            <p:nvPr/>
          </p:nvSpPr>
          <p:spPr bwMode="auto">
            <a:xfrm>
              <a:off x="1583" y="2591"/>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2" name="Oval 265"/>
            <p:cNvSpPr>
              <a:spLocks noChangeAspect="1" noChangeArrowheads="1"/>
            </p:cNvSpPr>
            <p:nvPr/>
          </p:nvSpPr>
          <p:spPr bwMode="auto">
            <a:xfrm>
              <a:off x="1422" y="2562"/>
              <a:ext cx="89" cy="8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3" name="Oval 266"/>
            <p:cNvSpPr>
              <a:spLocks noChangeAspect="1" noChangeArrowheads="1"/>
            </p:cNvSpPr>
            <p:nvPr/>
          </p:nvSpPr>
          <p:spPr bwMode="auto">
            <a:xfrm>
              <a:off x="1474" y="2698"/>
              <a:ext cx="88" cy="8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4" name="Oval 269"/>
            <p:cNvSpPr>
              <a:spLocks noChangeAspect="1" noChangeArrowheads="1"/>
            </p:cNvSpPr>
            <p:nvPr/>
          </p:nvSpPr>
          <p:spPr bwMode="auto">
            <a:xfrm>
              <a:off x="1256" y="2573"/>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5" name="Oval 270"/>
            <p:cNvSpPr>
              <a:spLocks noChangeAspect="1" noChangeArrowheads="1"/>
            </p:cNvSpPr>
            <p:nvPr/>
          </p:nvSpPr>
          <p:spPr bwMode="auto">
            <a:xfrm>
              <a:off x="1227" y="2736"/>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6" name="Oval 271"/>
            <p:cNvSpPr>
              <a:spLocks noChangeAspect="1" noChangeArrowheads="1"/>
            </p:cNvSpPr>
            <p:nvPr/>
          </p:nvSpPr>
          <p:spPr bwMode="auto">
            <a:xfrm>
              <a:off x="1369" y="2430"/>
              <a:ext cx="89"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7" name="Oval 272"/>
            <p:cNvSpPr>
              <a:spLocks noChangeAspect="1" noChangeArrowheads="1"/>
            </p:cNvSpPr>
            <p:nvPr/>
          </p:nvSpPr>
          <p:spPr bwMode="auto">
            <a:xfrm>
              <a:off x="1639" y="2739"/>
              <a:ext cx="88" cy="8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8" name="Oval 290"/>
            <p:cNvSpPr>
              <a:spLocks noChangeAspect="1" noChangeArrowheads="1"/>
            </p:cNvSpPr>
            <p:nvPr/>
          </p:nvSpPr>
          <p:spPr bwMode="auto">
            <a:xfrm>
              <a:off x="926" y="3406"/>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49" name="Oval 291"/>
            <p:cNvSpPr>
              <a:spLocks noChangeAspect="1" noChangeArrowheads="1"/>
            </p:cNvSpPr>
            <p:nvPr/>
          </p:nvSpPr>
          <p:spPr bwMode="auto">
            <a:xfrm>
              <a:off x="978" y="3292"/>
              <a:ext cx="58"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0" name="Oval 292"/>
            <p:cNvSpPr>
              <a:spLocks noChangeAspect="1" noChangeArrowheads="1"/>
            </p:cNvSpPr>
            <p:nvPr/>
          </p:nvSpPr>
          <p:spPr bwMode="auto">
            <a:xfrm>
              <a:off x="1037" y="3418"/>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1" name="Oval 293"/>
            <p:cNvSpPr>
              <a:spLocks noChangeAspect="1" noChangeArrowheads="1"/>
            </p:cNvSpPr>
            <p:nvPr/>
          </p:nvSpPr>
          <p:spPr bwMode="auto">
            <a:xfrm>
              <a:off x="1092" y="3263"/>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2" name="Oval 294"/>
            <p:cNvSpPr>
              <a:spLocks noChangeAspect="1" noChangeArrowheads="1"/>
            </p:cNvSpPr>
            <p:nvPr/>
          </p:nvSpPr>
          <p:spPr bwMode="auto">
            <a:xfrm>
              <a:off x="1192" y="325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3" name="Oval 295"/>
            <p:cNvSpPr>
              <a:spLocks noChangeAspect="1" noChangeArrowheads="1"/>
            </p:cNvSpPr>
            <p:nvPr/>
          </p:nvSpPr>
          <p:spPr bwMode="auto">
            <a:xfrm>
              <a:off x="1407" y="322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4" name="Oval 296"/>
            <p:cNvSpPr>
              <a:spLocks noChangeAspect="1" noChangeArrowheads="1"/>
            </p:cNvSpPr>
            <p:nvPr/>
          </p:nvSpPr>
          <p:spPr bwMode="auto">
            <a:xfrm>
              <a:off x="1510" y="3307"/>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5" name="Oval 297"/>
            <p:cNvSpPr>
              <a:spLocks noChangeAspect="1" noChangeArrowheads="1"/>
            </p:cNvSpPr>
            <p:nvPr/>
          </p:nvSpPr>
          <p:spPr bwMode="auto">
            <a:xfrm>
              <a:off x="1412" y="332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6" name="Oval 298"/>
            <p:cNvSpPr>
              <a:spLocks noChangeAspect="1" noChangeArrowheads="1"/>
            </p:cNvSpPr>
            <p:nvPr/>
          </p:nvSpPr>
          <p:spPr bwMode="auto">
            <a:xfrm>
              <a:off x="1296" y="3153"/>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7" name="Oval 299"/>
            <p:cNvSpPr>
              <a:spLocks noChangeAspect="1" noChangeArrowheads="1"/>
            </p:cNvSpPr>
            <p:nvPr/>
          </p:nvSpPr>
          <p:spPr bwMode="auto">
            <a:xfrm>
              <a:off x="1307" y="335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8" name="Oval 300"/>
            <p:cNvSpPr>
              <a:spLocks noChangeAspect="1" noChangeArrowheads="1"/>
            </p:cNvSpPr>
            <p:nvPr/>
          </p:nvSpPr>
          <p:spPr bwMode="auto">
            <a:xfrm>
              <a:off x="1381" y="344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59" name="Oval 301"/>
            <p:cNvSpPr>
              <a:spLocks noChangeAspect="1" noChangeArrowheads="1"/>
            </p:cNvSpPr>
            <p:nvPr/>
          </p:nvSpPr>
          <p:spPr bwMode="auto">
            <a:xfrm>
              <a:off x="1262" y="3427"/>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0" name="Oval 302"/>
            <p:cNvSpPr>
              <a:spLocks noChangeAspect="1" noChangeArrowheads="1"/>
            </p:cNvSpPr>
            <p:nvPr/>
          </p:nvSpPr>
          <p:spPr bwMode="auto">
            <a:xfrm>
              <a:off x="1153" y="3348"/>
              <a:ext cx="59" cy="58"/>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1" name="Oval 303"/>
            <p:cNvSpPr>
              <a:spLocks noChangeAspect="1" noChangeArrowheads="1"/>
            </p:cNvSpPr>
            <p:nvPr/>
          </p:nvSpPr>
          <p:spPr bwMode="auto">
            <a:xfrm>
              <a:off x="988" y="315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2" name="Oval 304"/>
            <p:cNvSpPr>
              <a:spLocks noChangeAspect="1" noChangeArrowheads="1"/>
            </p:cNvSpPr>
            <p:nvPr/>
          </p:nvSpPr>
          <p:spPr bwMode="auto">
            <a:xfrm>
              <a:off x="1142" y="3457"/>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3" name="Oval 305"/>
            <p:cNvSpPr>
              <a:spLocks noChangeAspect="1" noChangeArrowheads="1"/>
            </p:cNvSpPr>
            <p:nvPr/>
          </p:nvSpPr>
          <p:spPr bwMode="auto">
            <a:xfrm>
              <a:off x="958" y="348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4" name="Oval 306"/>
            <p:cNvSpPr>
              <a:spLocks noChangeAspect="1" noChangeArrowheads="1"/>
            </p:cNvSpPr>
            <p:nvPr/>
          </p:nvSpPr>
          <p:spPr bwMode="auto">
            <a:xfrm>
              <a:off x="1112" y="3158"/>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5" name="Oval 307"/>
            <p:cNvSpPr>
              <a:spLocks noChangeAspect="1" noChangeArrowheads="1"/>
            </p:cNvSpPr>
            <p:nvPr/>
          </p:nvSpPr>
          <p:spPr bwMode="auto">
            <a:xfrm>
              <a:off x="1507" y="3193"/>
              <a:ext cx="58"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6" name="Oval 308"/>
            <p:cNvSpPr>
              <a:spLocks noChangeAspect="1" noChangeArrowheads="1"/>
            </p:cNvSpPr>
            <p:nvPr/>
          </p:nvSpPr>
          <p:spPr bwMode="auto">
            <a:xfrm>
              <a:off x="1307" y="3252"/>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7" name="Oval 309"/>
            <p:cNvSpPr>
              <a:spLocks noChangeAspect="1" noChangeArrowheads="1"/>
            </p:cNvSpPr>
            <p:nvPr/>
          </p:nvSpPr>
          <p:spPr bwMode="auto">
            <a:xfrm>
              <a:off x="903" y="3193"/>
              <a:ext cx="59" cy="59"/>
            </a:xfrm>
            <a:prstGeom prst="ellipse">
              <a:avLst/>
            </a:prstGeom>
            <a:solidFill>
              <a:srgbClr val="777777"/>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8" name="Oval 289"/>
            <p:cNvSpPr>
              <a:spLocks noChangeAspect="1" noChangeArrowheads="1"/>
            </p:cNvSpPr>
            <p:nvPr/>
          </p:nvSpPr>
          <p:spPr bwMode="auto">
            <a:xfrm>
              <a:off x="866" y="3604"/>
              <a:ext cx="133" cy="56"/>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sp>
          <p:nvSpPr>
            <p:cNvPr id="53369" name="Oval 262"/>
            <p:cNvSpPr>
              <a:spLocks noChangeAspect="1" noChangeArrowheads="1"/>
            </p:cNvSpPr>
            <p:nvPr/>
          </p:nvSpPr>
          <p:spPr bwMode="auto">
            <a:xfrm>
              <a:off x="1040" y="2921"/>
              <a:ext cx="133" cy="55"/>
            </a:xfrm>
            <a:prstGeom prst="ellipse">
              <a:avLst/>
            </a:prstGeom>
            <a:solidFill>
              <a:srgbClr val="EDEDED"/>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endParaRPr lang="de-DE" altLang="de-DE"/>
            </a:p>
          </p:txBody>
        </p:sp>
      </p:grpSp>
      <p:sp>
        <p:nvSpPr>
          <p:cNvPr id="53253" name="Text Box 317"/>
          <p:cNvSpPr txBox="1">
            <a:spLocks noChangeArrowheads="1"/>
          </p:cNvSpPr>
          <p:nvPr/>
        </p:nvSpPr>
        <p:spPr bwMode="auto">
          <a:xfrm rot="-5400000">
            <a:off x="8237048" y="5525241"/>
            <a:ext cx="1256691" cy="21124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635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87281" tIns="43641" rIns="87281" bIns="43641">
            <a:spAutoFit/>
          </a:bodyPr>
          <a:lstStyle>
            <a:lvl1pPr defTabSz="871538">
              <a:defRPr sz="1700">
                <a:solidFill>
                  <a:schemeClr val="tx1"/>
                </a:solidFill>
                <a:latin typeface="Arial" panose="020B0604020202020204" pitchFamily="34" charset="0"/>
              </a:defRPr>
            </a:lvl1pPr>
            <a:lvl2pPr marL="742950" indent="-285750" defTabSz="871538">
              <a:defRPr sz="1700">
                <a:solidFill>
                  <a:schemeClr val="tx1"/>
                </a:solidFill>
                <a:latin typeface="Arial" panose="020B0604020202020204" pitchFamily="34" charset="0"/>
              </a:defRPr>
            </a:lvl2pPr>
            <a:lvl3pPr marL="1143000" indent="-228600" defTabSz="871538">
              <a:defRPr sz="1700">
                <a:solidFill>
                  <a:schemeClr val="tx1"/>
                </a:solidFill>
                <a:latin typeface="Arial" panose="020B0604020202020204" pitchFamily="34" charset="0"/>
              </a:defRPr>
            </a:lvl3pPr>
            <a:lvl4pPr marL="1600200" indent="-228600" defTabSz="871538">
              <a:defRPr sz="1700">
                <a:solidFill>
                  <a:schemeClr val="tx1"/>
                </a:solidFill>
                <a:latin typeface="Arial" panose="020B0604020202020204" pitchFamily="34" charset="0"/>
              </a:defRPr>
            </a:lvl4pPr>
            <a:lvl5pPr marL="2057400" indent="-228600" defTabSz="871538">
              <a:defRPr sz="1700">
                <a:solidFill>
                  <a:schemeClr val="tx1"/>
                </a:solidFill>
                <a:latin typeface="Arial" panose="020B0604020202020204" pitchFamily="34" charset="0"/>
              </a:defRPr>
            </a:lvl5pPr>
            <a:lvl6pPr marL="25146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871538"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de-DE" altLang="de-DE" sz="800" dirty="0">
                <a:solidFill>
                  <a:srgbClr val="C0C0C0"/>
                </a:solidFill>
              </a:rPr>
              <a:t>© 2022 Springer Verlag</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07C94A94-A2E8-49D8-9AF2-9373E47D2271}" type="slidenum">
              <a:rPr lang="en-US" altLang="de-DE" sz="1000">
                <a:solidFill>
                  <a:srgbClr val="C0C0C0"/>
                </a:solidFill>
              </a:rPr>
              <a:pPr/>
              <a:t>68</a:t>
            </a:fld>
            <a:endParaRPr lang="en-US" altLang="de-DE" sz="1000">
              <a:solidFill>
                <a:srgbClr val="C0C0C0"/>
              </a:solidFill>
            </a:endParaRPr>
          </a:p>
        </p:txBody>
      </p:sp>
      <p:sp>
        <p:nvSpPr>
          <p:cNvPr id="54275" name="Rectangle 2"/>
          <p:cNvSpPr>
            <a:spLocks noGrp="1" noChangeArrowheads="1"/>
          </p:cNvSpPr>
          <p:nvPr>
            <p:ph type="title"/>
          </p:nvPr>
        </p:nvSpPr>
        <p:spPr/>
        <p:txBody>
          <a:bodyPr/>
          <a:lstStyle/>
          <a:p>
            <a:r>
              <a:rPr lang="de-DE" altLang="de-DE"/>
              <a:t>2.6	System Partitioning onto Multiple FPGAs	</a:t>
            </a:r>
            <a:endParaRPr lang="en-US" altLang="zh-CN">
              <a:ea typeface="宋体" panose="02010600030101010101" pitchFamily="2" charset="-122"/>
            </a:endParaRPr>
          </a:p>
        </p:txBody>
      </p:sp>
      <p:sp>
        <p:nvSpPr>
          <p:cNvPr id="54276" name="Rectangle 3"/>
          <p:cNvSpPr>
            <a:spLocks noChangeArrowheads="1"/>
          </p:cNvSpPr>
          <p:nvPr/>
        </p:nvSpPr>
        <p:spPr bwMode="auto">
          <a:xfrm>
            <a:off x="352425" y="23288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FPGA</a:t>
            </a:r>
          </a:p>
        </p:txBody>
      </p:sp>
      <p:sp>
        <p:nvSpPr>
          <p:cNvPr id="54277" name="Rectangle 10"/>
          <p:cNvSpPr>
            <a:spLocks noChangeArrowheads="1"/>
          </p:cNvSpPr>
          <p:nvPr/>
        </p:nvSpPr>
        <p:spPr bwMode="auto">
          <a:xfrm>
            <a:off x="1385888" y="23288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FPGA</a:t>
            </a:r>
          </a:p>
        </p:txBody>
      </p:sp>
      <p:sp>
        <p:nvSpPr>
          <p:cNvPr id="54278" name="Rectangle 11"/>
          <p:cNvSpPr>
            <a:spLocks noChangeArrowheads="1"/>
          </p:cNvSpPr>
          <p:nvPr/>
        </p:nvSpPr>
        <p:spPr bwMode="auto">
          <a:xfrm>
            <a:off x="2420938" y="23288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FPGA</a:t>
            </a:r>
          </a:p>
        </p:txBody>
      </p:sp>
      <p:sp>
        <p:nvSpPr>
          <p:cNvPr id="54279" name="Rectangle 12"/>
          <p:cNvSpPr>
            <a:spLocks noChangeArrowheads="1"/>
          </p:cNvSpPr>
          <p:nvPr/>
        </p:nvSpPr>
        <p:spPr bwMode="auto">
          <a:xfrm>
            <a:off x="3454400" y="23288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FPGA</a:t>
            </a:r>
          </a:p>
        </p:txBody>
      </p:sp>
      <p:sp>
        <p:nvSpPr>
          <p:cNvPr id="54280" name="Rectangle 13"/>
          <p:cNvSpPr>
            <a:spLocks noChangeArrowheads="1"/>
          </p:cNvSpPr>
          <p:nvPr/>
        </p:nvSpPr>
        <p:spPr bwMode="auto">
          <a:xfrm>
            <a:off x="352425" y="32559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FPIC</a:t>
            </a:r>
          </a:p>
        </p:txBody>
      </p:sp>
      <p:sp>
        <p:nvSpPr>
          <p:cNvPr id="54281" name="Rectangle 14"/>
          <p:cNvSpPr>
            <a:spLocks noChangeArrowheads="1"/>
          </p:cNvSpPr>
          <p:nvPr/>
        </p:nvSpPr>
        <p:spPr bwMode="auto">
          <a:xfrm>
            <a:off x="1385888" y="32559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FPIC</a:t>
            </a:r>
          </a:p>
        </p:txBody>
      </p:sp>
      <p:sp>
        <p:nvSpPr>
          <p:cNvPr id="54282" name="Rectangle 15"/>
          <p:cNvSpPr>
            <a:spLocks noChangeArrowheads="1"/>
          </p:cNvSpPr>
          <p:nvPr/>
        </p:nvSpPr>
        <p:spPr bwMode="auto">
          <a:xfrm>
            <a:off x="2420938" y="32559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FPIC</a:t>
            </a:r>
          </a:p>
        </p:txBody>
      </p:sp>
      <p:sp>
        <p:nvSpPr>
          <p:cNvPr id="54283" name="Rectangle 16"/>
          <p:cNvSpPr>
            <a:spLocks noChangeArrowheads="1"/>
          </p:cNvSpPr>
          <p:nvPr/>
        </p:nvSpPr>
        <p:spPr bwMode="auto">
          <a:xfrm>
            <a:off x="3454400" y="3255963"/>
            <a:ext cx="936625" cy="463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sz="1800">
                <a:ea typeface="宋体" panose="02010600030101010101" pitchFamily="2" charset="-122"/>
                <a:cs typeface="Arial" panose="020B0604020202020204" pitchFamily="34" charset="0"/>
              </a:rPr>
              <a:t>FPIC</a:t>
            </a:r>
          </a:p>
        </p:txBody>
      </p:sp>
      <p:cxnSp>
        <p:nvCxnSpPr>
          <p:cNvPr id="54284" name="Straight Connector 18"/>
          <p:cNvCxnSpPr>
            <a:cxnSpLocks noChangeShapeType="1"/>
            <a:stCxn id="54276" idx="2"/>
            <a:endCxn id="54283" idx="0"/>
          </p:cNvCxnSpPr>
          <p:nvPr/>
        </p:nvCxnSpPr>
        <p:spPr bwMode="auto">
          <a:xfrm>
            <a:off x="820738" y="2805113"/>
            <a:ext cx="3101975"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85" name="Straight Connector 20"/>
          <p:cNvCxnSpPr>
            <a:cxnSpLocks noChangeShapeType="1"/>
            <a:stCxn id="54276" idx="2"/>
            <a:endCxn id="54282" idx="0"/>
          </p:cNvCxnSpPr>
          <p:nvPr/>
        </p:nvCxnSpPr>
        <p:spPr bwMode="auto">
          <a:xfrm>
            <a:off x="820738" y="2805113"/>
            <a:ext cx="2068512"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86" name="Straight Connector 22"/>
          <p:cNvCxnSpPr>
            <a:cxnSpLocks noChangeShapeType="1"/>
            <a:stCxn id="54276" idx="2"/>
            <a:endCxn id="54281" idx="0"/>
          </p:cNvCxnSpPr>
          <p:nvPr/>
        </p:nvCxnSpPr>
        <p:spPr bwMode="auto">
          <a:xfrm>
            <a:off x="820738" y="2805113"/>
            <a:ext cx="1033462"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87" name="Straight Connector 24"/>
          <p:cNvCxnSpPr>
            <a:cxnSpLocks noChangeShapeType="1"/>
            <a:stCxn id="54276" idx="2"/>
            <a:endCxn id="54280" idx="0"/>
          </p:cNvCxnSpPr>
          <p:nvPr/>
        </p:nvCxnSpPr>
        <p:spPr bwMode="auto">
          <a:xfrm>
            <a:off x="820738" y="2805113"/>
            <a:ext cx="0"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88" name="Straight Connector 26"/>
          <p:cNvCxnSpPr>
            <a:cxnSpLocks noChangeShapeType="1"/>
            <a:stCxn id="54277" idx="2"/>
            <a:endCxn id="54281" idx="0"/>
          </p:cNvCxnSpPr>
          <p:nvPr/>
        </p:nvCxnSpPr>
        <p:spPr bwMode="auto">
          <a:xfrm>
            <a:off x="1854200" y="2805113"/>
            <a:ext cx="0"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89" name="Straight Connector 28"/>
          <p:cNvCxnSpPr>
            <a:cxnSpLocks noChangeShapeType="1"/>
            <a:stCxn id="54277" idx="2"/>
            <a:endCxn id="54280" idx="0"/>
          </p:cNvCxnSpPr>
          <p:nvPr/>
        </p:nvCxnSpPr>
        <p:spPr bwMode="auto">
          <a:xfrm flipH="1">
            <a:off x="820738" y="2805113"/>
            <a:ext cx="1033462"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0" name="Straight Connector 30"/>
          <p:cNvCxnSpPr>
            <a:cxnSpLocks noChangeShapeType="1"/>
            <a:stCxn id="54277" idx="2"/>
            <a:endCxn id="54282" idx="0"/>
          </p:cNvCxnSpPr>
          <p:nvPr/>
        </p:nvCxnSpPr>
        <p:spPr bwMode="auto">
          <a:xfrm>
            <a:off x="1854200" y="2805113"/>
            <a:ext cx="1035050"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1" name="Straight Connector 32"/>
          <p:cNvCxnSpPr>
            <a:cxnSpLocks noChangeShapeType="1"/>
            <a:stCxn id="54277" idx="2"/>
            <a:endCxn id="54283" idx="0"/>
          </p:cNvCxnSpPr>
          <p:nvPr/>
        </p:nvCxnSpPr>
        <p:spPr bwMode="auto">
          <a:xfrm>
            <a:off x="1854200" y="2805113"/>
            <a:ext cx="2068513"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2" name="Straight Connector 34"/>
          <p:cNvCxnSpPr>
            <a:cxnSpLocks noChangeShapeType="1"/>
            <a:stCxn id="54278" idx="2"/>
            <a:endCxn id="54280" idx="0"/>
          </p:cNvCxnSpPr>
          <p:nvPr/>
        </p:nvCxnSpPr>
        <p:spPr bwMode="auto">
          <a:xfrm flipH="1">
            <a:off x="820738" y="2805113"/>
            <a:ext cx="2068512"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3" name="Straight Connector 36"/>
          <p:cNvCxnSpPr>
            <a:cxnSpLocks noChangeShapeType="1"/>
            <a:stCxn id="54278" idx="2"/>
            <a:endCxn id="54281" idx="0"/>
          </p:cNvCxnSpPr>
          <p:nvPr/>
        </p:nvCxnSpPr>
        <p:spPr bwMode="auto">
          <a:xfrm flipH="1">
            <a:off x="1854200" y="2805113"/>
            <a:ext cx="1035050"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4" name="Straight Connector 38"/>
          <p:cNvCxnSpPr>
            <a:cxnSpLocks noChangeShapeType="1"/>
            <a:stCxn id="54278" idx="2"/>
            <a:endCxn id="54282" idx="0"/>
          </p:cNvCxnSpPr>
          <p:nvPr/>
        </p:nvCxnSpPr>
        <p:spPr bwMode="auto">
          <a:xfrm>
            <a:off x="2889250" y="2805113"/>
            <a:ext cx="0"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5" name="Straight Connector 40"/>
          <p:cNvCxnSpPr>
            <a:cxnSpLocks noChangeShapeType="1"/>
            <a:stCxn id="54278" idx="2"/>
            <a:endCxn id="54283" idx="0"/>
          </p:cNvCxnSpPr>
          <p:nvPr/>
        </p:nvCxnSpPr>
        <p:spPr bwMode="auto">
          <a:xfrm>
            <a:off x="2889250" y="2805113"/>
            <a:ext cx="1033463"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6" name="Straight Connector 42"/>
          <p:cNvCxnSpPr>
            <a:cxnSpLocks noChangeShapeType="1"/>
            <a:stCxn id="54279" idx="2"/>
            <a:endCxn id="54280" idx="0"/>
          </p:cNvCxnSpPr>
          <p:nvPr/>
        </p:nvCxnSpPr>
        <p:spPr bwMode="auto">
          <a:xfrm flipH="1">
            <a:off x="820738" y="2805113"/>
            <a:ext cx="3101975"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7" name="Straight Connector 44"/>
          <p:cNvCxnSpPr>
            <a:cxnSpLocks noChangeShapeType="1"/>
            <a:stCxn id="54279" idx="2"/>
            <a:endCxn id="54281" idx="0"/>
          </p:cNvCxnSpPr>
          <p:nvPr/>
        </p:nvCxnSpPr>
        <p:spPr bwMode="auto">
          <a:xfrm flipH="1">
            <a:off x="1854200" y="2805113"/>
            <a:ext cx="2068513"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8" name="Straight Connector 46"/>
          <p:cNvCxnSpPr>
            <a:cxnSpLocks noChangeShapeType="1"/>
            <a:stCxn id="54279" idx="2"/>
            <a:endCxn id="54282" idx="0"/>
          </p:cNvCxnSpPr>
          <p:nvPr/>
        </p:nvCxnSpPr>
        <p:spPr bwMode="auto">
          <a:xfrm flipH="1">
            <a:off x="2889250" y="2805113"/>
            <a:ext cx="1033463"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54299" name="Straight Connector 48"/>
          <p:cNvCxnSpPr>
            <a:cxnSpLocks noChangeShapeType="1"/>
            <a:stCxn id="54279" idx="2"/>
            <a:endCxn id="54283" idx="0"/>
          </p:cNvCxnSpPr>
          <p:nvPr/>
        </p:nvCxnSpPr>
        <p:spPr bwMode="auto">
          <a:xfrm>
            <a:off x="3922713" y="2805113"/>
            <a:ext cx="0" cy="43815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88" name="Freeform 87"/>
          <p:cNvSpPr/>
          <p:nvPr/>
        </p:nvSpPr>
        <p:spPr>
          <a:xfrm>
            <a:off x="882650" y="3719513"/>
            <a:ext cx="693738" cy="187325"/>
          </a:xfrm>
          <a:custGeom>
            <a:avLst/>
            <a:gdLst>
              <a:gd name="connsiteX0" fmla="*/ 0 w 971550"/>
              <a:gd name="connsiteY0" fmla="*/ 9525 h 306388"/>
              <a:gd name="connsiteX1" fmla="*/ 476250 w 971550"/>
              <a:gd name="connsiteY1" fmla="*/ 304800 h 306388"/>
              <a:gd name="connsiteX2" fmla="*/ 971550 w 971550"/>
              <a:gd name="connsiteY2" fmla="*/ 0 h 306388"/>
            </a:gdLst>
            <a:ahLst/>
            <a:cxnLst>
              <a:cxn ang="0">
                <a:pos x="connsiteX0" y="connsiteY0"/>
              </a:cxn>
              <a:cxn ang="0">
                <a:pos x="connsiteX1" y="connsiteY1"/>
              </a:cxn>
              <a:cxn ang="0">
                <a:pos x="connsiteX2" y="connsiteY2"/>
              </a:cxn>
            </a:cxnLst>
            <a:rect l="l" t="t" r="r" b="b"/>
            <a:pathLst>
              <a:path w="971550" h="306388">
                <a:moveTo>
                  <a:pt x="0" y="9525"/>
                </a:moveTo>
                <a:cubicBezTo>
                  <a:pt x="157162" y="157956"/>
                  <a:pt x="314325" y="306388"/>
                  <a:pt x="476250" y="304800"/>
                </a:cubicBezTo>
                <a:cubicBezTo>
                  <a:pt x="638175" y="303213"/>
                  <a:pt x="804862" y="151606"/>
                  <a:pt x="971550" y="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eaLnBrk="1" fontAlgn="auto" hangingPunct="1">
              <a:lnSpc>
                <a:spcPct val="100000"/>
              </a:lnSpc>
              <a:spcBef>
                <a:spcPts val="0"/>
              </a:spcBef>
              <a:spcAft>
                <a:spcPts val="0"/>
              </a:spcAft>
              <a:defRPr/>
            </a:pPr>
            <a:endParaRPr lang="en-US" sz="1400">
              <a:cs typeface="Arial" pitchFamily="34" charset="0"/>
            </a:endParaRPr>
          </a:p>
        </p:txBody>
      </p:sp>
      <p:sp>
        <p:nvSpPr>
          <p:cNvPr id="89" name="Freeform 88"/>
          <p:cNvSpPr/>
          <p:nvPr/>
        </p:nvSpPr>
        <p:spPr>
          <a:xfrm>
            <a:off x="528638" y="3725863"/>
            <a:ext cx="3457575" cy="736600"/>
          </a:xfrm>
          <a:custGeom>
            <a:avLst/>
            <a:gdLst>
              <a:gd name="connsiteX0" fmla="*/ 0 w 4838700"/>
              <a:gd name="connsiteY0" fmla="*/ 0 h 1552575"/>
              <a:gd name="connsiteX1" fmla="*/ 2428875 w 4838700"/>
              <a:gd name="connsiteY1" fmla="*/ 1552575 h 1552575"/>
              <a:gd name="connsiteX2" fmla="*/ 4838700 w 4838700"/>
              <a:gd name="connsiteY2" fmla="*/ 0 h 1552575"/>
            </a:gdLst>
            <a:ahLst/>
            <a:cxnLst>
              <a:cxn ang="0">
                <a:pos x="connsiteX0" y="connsiteY0"/>
              </a:cxn>
              <a:cxn ang="0">
                <a:pos x="connsiteX1" y="connsiteY1"/>
              </a:cxn>
              <a:cxn ang="0">
                <a:pos x="connsiteX2" y="connsiteY2"/>
              </a:cxn>
            </a:cxnLst>
            <a:rect l="l" t="t" r="r" b="b"/>
            <a:pathLst>
              <a:path w="4838700" h="1552575">
                <a:moveTo>
                  <a:pt x="0" y="0"/>
                </a:moveTo>
                <a:cubicBezTo>
                  <a:pt x="811212" y="776287"/>
                  <a:pt x="1622425" y="1552575"/>
                  <a:pt x="2428875" y="1552575"/>
                </a:cubicBezTo>
                <a:cubicBezTo>
                  <a:pt x="3235325" y="1552575"/>
                  <a:pt x="4037012" y="776287"/>
                  <a:pt x="4838700" y="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eaLnBrk="1" fontAlgn="auto" hangingPunct="1">
              <a:lnSpc>
                <a:spcPct val="100000"/>
              </a:lnSpc>
              <a:spcBef>
                <a:spcPts val="0"/>
              </a:spcBef>
              <a:spcAft>
                <a:spcPts val="0"/>
              </a:spcAft>
              <a:defRPr/>
            </a:pPr>
            <a:endParaRPr lang="en-US" sz="1400">
              <a:cs typeface="Arial" pitchFamily="34" charset="0"/>
            </a:endParaRPr>
          </a:p>
        </p:txBody>
      </p:sp>
      <p:sp>
        <p:nvSpPr>
          <p:cNvPr id="90" name="Freeform 89"/>
          <p:cNvSpPr/>
          <p:nvPr/>
        </p:nvSpPr>
        <p:spPr>
          <a:xfrm>
            <a:off x="1930400" y="3719513"/>
            <a:ext cx="693738" cy="185737"/>
          </a:xfrm>
          <a:custGeom>
            <a:avLst/>
            <a:gdLst>
              <a:gd name="connsiteX0" fmla="*/ 0 w 971550"/>
              <a:gd name="connsiteY0" fmla="*/ 9525 h 306388"/>
              <a:gd name="connsiteX1" fmla="*/ 476250 w 971550"/>
              <a:gd name="connsiteY1" fmla="*/ 304800 h 306388"/>
              <a:gd name="connsiteX2" fmla="*/ 971550 w 971550"/>
              <a:gd name="connsiteY2" fmla="*/ 0 h 306388"/>
            </a:gdLst>
            <a:ahLst/>
            <a:cxnLst>
              <a:cxn ang="0">
                <a:pos x="connsiteX0" y="connsiteY0"/>
              </a:cxn>
              <a:cxn ang="0">
                <a:pos x="connsiteX1" y="connsiteY1"/>
              </a:cxn>
              <a:cxn ang="0">
                <a:pos x="connsiteX2" y="connsiteY2"/>
              </a:cxn>
            </a:cxnLst>
            <a:rect l="l" t="t" r="r" b="b"/>
            <a:pathLst>
              <a:path w="971550" h="306388">
                <a:moveTo>
                  <a:pt x="0" y="9525"/>
                </a:moveTo>
                <a:cubicBezTo>
                  <a:pt x="157162" y="157956"/>
                  <a:pt x="314325" y="306388"/>
                  <a:pt x="476250" y="304800"/>
                </a:cubicBezTo>
                <a:cubicBezTo>
                  <a:pt x="638175" y="303213"/>
                  <a:pt x="804862" y="151606"/>
                  <a:pt x="971550" y="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eaLnBrk="1" fontAlgn="auto" hangingPunct="1">
              <a:lnSpc>
                <a:spcPct val="100000"/>
              </a:lnSpc>
              <a:spcBef>
                <a:spcPts val="0"/>
              </a:spcBef>
              <a:spcAft>
                <a:spcPts val="0"/>
              </a:spcAft>
              <a:defRPr/>
            </a:pPr>
            <a:endParaRPr lang="en-US" sz="1400">
              <a:cs typeface="Arial" pitchFamily="34" charset="0"/>
            </a:endParaRPr>
          </a:p>
        </p:txBody>
      </p:sp>
      <p:sp>
        <p:nvSpPr>
          <p:cNvPr id="91" name="Freeform 90"/>
          <p:cNvSpPr/>
          <p:nvPr/>
        </p:nvSpPr>
        <p:spPr>
          <a:xfrm>
            <a:off x="2965450" y="3719513"/>
            <a:ext cx="693738" cy="187325"/>
          </a:xfrm>
          <a:custGeom>
            <a:avLst/>
            <a:gdLst>
              <a:gd name="connsiteX0" fmla="*/ 0 w 971550"/>
              <a:gd name="connsiteY0" fmla="*/ 9525 h 306388"/>
              <a:gd name="connsiteX1" fmla="*/ 476250 w 971550"/>
              <a:gd name="connsiteY1" fmla="*/ 304800 h 306388"/>
              <a:gd name="connsiteX2" fmla="*/ 971550 w 971550"/>
              <a:gd name="connsiteY2" fmla="*/ 0 h 306388"/>
            </a:gdLst>
            <a:ahLst/>
            <a:cxnLst>
              <a:cxn ang="0">
                <a:pos x="connsiteX0" y="connsiteY0"/>
              </a:cxn>
              <a:cxn ang="0">
                <a:pos x="connsiteX1" y="connsiteY1"/>
              </a:cxn>
              <a:cxn ang="0">
                <a:pos x="connsiteX2" y="connsiteY2"/>
              </a:cxn>
            </a:cxnLst>
            <a:rect l="l" t="t" r="r" b="b"/>
            <a:pathLst>
              <a:path w="971550" h="306388">
                <a:moveTo>
                  <a:pt x="0" y="9525"/>
                </a:moveTo>
                <a:cubicBezTo>
                  <a:pt x="157162" y="157956"/>
                  <a:pt x="314325" y="306388"/>
                  <a:pt x="476250" y="304800"/>
                </a:cubicBezTo>
                <a:cubicBezTo>
                  <a:pt x="638175" y="303213"/>
                  <a:pt x="804862" y="151606"/>
                  <a:pt x="971550" y="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eaLnBrk="1" fontAlgn="auto" hangingPunct="1">
              <a:lnSpc>
                <a:spcPct val="100000"/>
              </a:lnSpc>
              <a:spcBef>
                <a:spcPts val="0"/>
              </a:spcBef>
              <a:spcAft>
                <a:spcPts val="0"/>
              </a:spcAft>
              <a:defRPr/>
            </a:pPr>
            <a:endParaRPr lang="en-US" sz="1400">
              <a:cs typeface="Arial" pitchFamily="34" charset="0"/>
            </a:endParaRPr>
          </a:p>
        </p:txBody>
      </p:sp>
      <p:sp>
        <p:nvSpPr>
          <p:cNvPr id="93" name="Freeform 92"/>
          <p:cNvSpPr/>
          <p:nvPr/>
        </p:nvSpPr>
        <p:spPr>
          <a:xfrm>
            <a:off x="711200" y="3719513"/>
            <a:ext cx="2068513" cy="463550"/>
          </a:xfrm>
          <a:custGeom>
            <a:avLst/>
            <a:gdLst>
              <a:gd name="connsiteX0" fmla="*/ 0 w 2895600"/>
              <a:gd name="connsiteY0" fmla="*/ 0 h 999490"/>
              <a:gd name="connsiteX1" fmla="*/ 1455420 w 2895600"/>
              <a:gd name="connsiteY1" fmla="*/ 998220 h 999490"/>
              <a:gd name="connsiteX2" fmla="*/ 2895600 w 2895600"/>
              <a:gd name="connsiteY2" fmla="*/ 7620 h 999490"/>
            </a:gdLst>
            <a:ahLst/>
            <a:cxnLst>
              <a:cxn ang="0">
                <a:pos x="connsiteX0" y="connsiteY0"/>
              </a:cxn>
              <a:cxn ang="0">
                <a:pos x="connsiteX1" y="connsiteY1"/>
              </a:cxn>
              <a:cxn ang="0">
                <a:pos x="connsiteX2" y="connsiteY2"/>
              </a:cxn>
            </a:cxnLst>
            <a:rect l="l" t="t" r="r" b="b"/>
            <a:pathLst>
              <a:path w="2895600" h="999490">
                <a:moveTo>
                  <a:pt x="0" y="0"/>
                </a:moveTo>
                <a:cubicBezTo>
                  <a:pt x="486410" y="498475"/>
                  <a:pt x="972820" y="996950"/>
                  <a:pt x="1455420" y="998220"/>
                </a:cubicBezTo>
                <a:cubicBezTo>
                  <a:pt x="1938020" y="999490"/>
                  <a:pt x="2416810" y="503555"/>
                  <a:pt x="2895600" y="762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eaLnBrk="1" fontAlgn="auto" hangingPunct="1">
              <a:lnSpc>
                <a:spcPct val="100000"/>
              </a:lnSpc>
              <a:spcBef>
                <a:spcPts val="0"/>
              </a:spcBef>
              <a:spcAft>
                <a:spcPts val="0"/>
              </a:spcAft>
              <a:defRPr/>
            </a:pPr>
            <a:endParaRPr lang="en-US" sz="1400">
              <a:cs typeface="Arial" pitchFamily="34" charset="0"/>
            </a:endParaRPr>
          </a:p>
        </p:txBody>
      </p:sp>
      <p:sp>
        <p:nvSpPr>
          <p:cNvPr id="94" name="Freeform 93"/>
          <p:cNvSpPr/>
          <p:nvPr/>
        </p:nvSpPr>
        <p:spPr>
          <a:xfrm>
            <a:off x="1739900" y="3719513"/>
            <a:ext cx="2068513" cy="463550"/>
          </a:xfrm>
          <a:custGeom>
            <a:avLst/>
            <a:gdLst>
              <a:gd name="connsiteX0" fmla="*/ 0 w 2895600"/>
              <a:gd name="connsiteY0" fmla="*/ 0 h 1029970"/>
              <a:gd name="connsiteX1" fmla="*/ 1455420 w 2895600"/>
              <a:gd name="connsiteY1" fmla="*/ 1028700 h 1029970"/>
              <a:gd name="connsiteX2" fmla="*/ 2895600 w 2895600"/>
              <a:gd name="connsiteY2" fmla="*/ 7620 h 1029970"/>
            </a:gdLst>
            <a:ahLst/>
            <a:cxnLst>
              <a:cxn ang="0">
                <a:pos x="connsiteX0" y="connsiteY0"/>
              </a:cxn>
              <a:cxn ang="0">
                <a:pos x="connsiteX1" y="connsiteY1"/>
              </a:cxn>
              <a:cxn ang="0">
                <a:pos x="connsiteX2" y="connsiteY2"/>
              </a:cxn>
            </a:cxnLst>
            <a:rect l="l" t="t" r="r" b="b"/>
            <a:pathLst>
              <a:path w="2895600" h="1029970">
                <a:moveTo>
                  <a:pt x="0" y="0"/>
                </a:moveTo>
                <a:cubicBezTo>
                  <a:pt x="486410" y="513715"/>
                  <a:pt x="972820" y="1027430"/>
                  <a:pt x="1455420" y="1028700"/>
                </a:cubicBezTo>
                <a:cubicBezTo>
                  <a:pt x="1938020" y="1029970"/>
                  <a:pt x="2416810" y="518795"/>
                  <a:pt x="2895600" y="7620"/>
                </a:cubicBezTo>
              </a:path>
            </a:pathLst>
          </a:cu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eaLnBrk="1" fontAlgn="auto" hangingPunct="1">
              <a:lnSpc>
                <a:spcPct val="100000"/>
              </a:lnSpc>
              <a:spcBef>
                <a:spcPts val="0"/>
              </a:spcBef>
              <a:spcAft>
                <a:spcPts val="0"/>
              </a:spcAft>
              <a:defRPr/>
            </a:pPr>
            <a:endParaRPr lang="en-US" sz="1400">
              <a:cs typeface="Arial" pitchFamily="34" charset="0"/>
            </a:endParaRPr>
          </a:p>
        </p:txBody>
      </p:sp>
      <p:sp>
        <p:nvSpPr>
          <p:cNvPr id="54306" name="TextBox 171"/>
          <p:cNvSpPr txBox="1">
            <a:spLocks noChangeArrowheads="1"/>
          </p:cNvSpPr>
          <p:nvPr/>
        </p:nvSpPr>
        <p:spPr bwMode="auto">
          <a:xfrm>
            <a:off x="6540500" y="1989138"/>
            <a:ext cx="80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a:ea typeface="宋体" panose="02010600030101010101" pitchFamily="2" charset="-122"/>
                <a:cs typeface="Arial" panose="020B0604020202020204" pitchFamily="34" charset="0"/>
              </a:rPr>
              <a:t>FPGA</a:t>
            </a:r>
          </a:p>
        </p:txBody>
      </p:sp>
      <p:sp>
        <p:nvSpPr>
          <p:cNvPr id="54307" name="TextBox 187"/>
          <p:cNvSpPr txBox="1">
            <a:spLocks noChangeArrowheads="1"/>
          </p:cNvSpPr>
          <p:nvPr/>
        </p:nvSpPr>
        <p:spPr bwMode="auto">
          <a:xfrm>
            <a:off x="7897813" y="1989138"/>
            <a:ext cx="806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algn="l" eaLnBrk="1" hangingPunct="1">
              <a:lnSpc>
                <a:spcPct val="100000"/>
              </a:lnSpc>
            </a:pPr>
            <a:r>
              <a:rPr lang="en-US" altLang="zh-CN" sz="1800">
                <a:ea typeface="宋体" panose="02010600030101010101" pitchFamily="2" charset="-122"/>
                <a:cs typeface="Arial" panose="020B0604020202020204" pitchFamily="34" charset="0"/>
              </a:rPr>
              <a:t>FPGA</a:t>
            </a:r>
          </a:p>
        </p:txBody>
      </p:sp>
      <p:sp>
        <p:nvSpPr>
          <p:cNvPr id="54308" name="Rectangle 204"/>
          <p:cNvSpPr>
            <a:spLocks noChangeArrowheads="1"/>
          </p:cNvSpPr>
          <p:nvPr/>
        </p:nvSpPr>
        <p:spPr bwMode="auto">
          <a:xfrm>
            <a:off x="4933950" y="2290763"/>
            <a:ext cx="1171575" cy="844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400">
              <a:cs typeface="Arial" panose="020B0604020202020204" pitchFamily="34" charset="0"/>
            </a:endParaRPr>
          </a:p>
        </p:txBody>
      </p:sp>
      <p:sp>
        <p:nvSpPr>
          <p:cNvPr id="208" name="Rectangle 207"/>
          <p:cNvSpPr/>
          <p:nvPr/>
        </p:nvSpPr>
        <p:spPr>
          <a:xfrm>
            <a:off x="5551488" y="2833688"/>
            <a:ext cx="492125" cy="241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endParaRPr lang="en-US" sz="1400">
              <a:solidFill>
                <a:schemeClr val="tx1"/>
              </a:solidFill>
              <a:cs typeface="Arial" charset="0"/>
            </a:endParaRPr>
          </a:p>
        </p:txBody>
      </p:sp>
      <p:sp>
        <p:nvSpPr>
          <p:cNvPr id="219" name="Rectangle 218"/>
          <p:cNvSpPr/>
          <p:nvPr/>
        </p:nvSpPr>
        <p:spPr>
          <a:xfrm>
            <a:off x="4995863" y="2351088"/>
            <a:ext cx="1047750" cy="3016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r>
              <a:rPr lang="en-US" altLang="zh-CN" sz="1800">
                <a:solidFill>
                  <a:schemeClr val="tx1"/>
                </a:solidFill>
                <a:ea typeface="宋体" charset="-122"/>
                <a:cs typeface="Arial" charset="0"/>
              </a:rPr>
              <a:t>RAM</a:t>
            </a:r>
          </a:p>
        </p:txBody>
      </p:sp>
      <p:sp>
        <p:nvSpPr>
          <p:cNvPr id="222" name="Rectangle 221"/>
          <p:cNvSpPr/>
          <p:nvPr/>
        </p:nvSpPr>
        <p:spPr>
          <a:xfrm>
            <a:off x="4995863" y="2833688"/>
            <a:ext cx="493712" cy="241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endParaRPr lang="en-US" sz="1400">
              <a:solidFill>
                <a:schemeClr val="tx1"/>
              </a:solidFill>
              <a:cs typeface="Arial" charset="0"/>
            </a:endParaRPr>
          </a:p>
        </p:txBody>
      </p:sp>
      <p:cxnSp>
        <p:nvCxnSpPr>
          <p:cNvPr id="224" name="Straight Connector 223"/>
          <p:cNvCxnSpPr/>
          <p:nvPr/>
        </p:nvCxnSpPr>
        <p:spPr>
          <a:xfrm rot="10800000" flipV="1">
            <a:off x="4995863" y="2833688"/>
            <a:ext cx="493712"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a:off x="4995863" y="2833688"/>
            <a:ext cx="493712"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314" name="Group 291"/>
          <p:cNvGrpSpPr>
            <a:grpSpLocks/>
          </p:cNvGrpSpPr>
          <p:nvPr/>
        </p:nvGrpSpPr>
        <p:grpSpPr bwMode="auto">
          <a:xfrm>
            <a:off x="5057775" y="2652713"/>
            <a:ext cx="925513" cy="177800"/>
            <a:chOff x="4724400" y="3733800"/>
            <a:chExt cx="1143000" cy="228600"/>
          </a:xfrm>
        </p:grpSpPr>
        <p:cxnSp>
          <p:nvCxnSpPr>
            <p:cNvPr id="212" name="Straight Connector 211"/>
            <p:cNvCxnSpPr/>
            <p:nvPr/>
          </p:nvCxnSpPr>
          <p:spPr>
            <a:xfrm rot="5400000">
              <a:off x="5066908" y="3848100"/>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rot="5400000">
              <a:off x="4839485" y="3848100"/>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rot="5400000">
              <a:off x="4610100" y="3848100"/>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rot="5400000">
              <a:off x="5753100" y="3848100"/>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rot="5400000">
              <a:off x="5523715" y="3848100"/>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rot="5400000">
              <a:off x="5296292" y="3848100"/>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43" name="Straight Connector 242"/>
          <p:cNvCxnSpPr/>
          <p:nvPr/>
        </p:nvCxnSpPr>
        <p:spPr>
          <a:xfrm rot="10800000" flipV="1">
            <a:off x="5551488" y="2833688"/>
            <a:ext cx="492125"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p:nvPr/>
        </p:nvCxnSpPr>
        <p:spPr>
          <a:xfrm>
            <a:off x="5551488" y="2833688"/>
            <a:ext cx="492125"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54317" name="Rectangle 245"/>
          <p:cNvSpPr>
            <a:spLocks noChangeArrowheads="1"/>
          </p:cNvSpPr>
          <p:nvPr/>
        </p:nvSpPr>
        <p:spPr bwMode="auto">
          <a:xfrm>
            <a:off x="6291263" y="2290763"/>
            <a:ext cx="1171575" cy="844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400">
              <a:cs typeface="Arial" panose="020B0604020202020204" pitchFamily="34" charset="0"/>
            </a:endParaRPr>
          </a:p>
        </p:txBody>
      </p:sp>
      <p:sp>
        <p:nvSpPr>
          <p:cNvPr id="247" name="Rectangle 246"/>
          <p:cNvSpPr/>
          <p:nvPr/>
        </p:nvSpPr>
        <p:spPr>
          <a:xfrm>
            <a:off x="6907213" y="2833688"/>
            <a:ext cx="493712" cy="241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endParaRPr lang="en-US" sz="1400">
              <a:solidFill>
                <a:schemeClr val="tx1"/>
              </a:solidFill>
              <a:cs typeface="Arial" charset="0"/>
            </a:endParaRPr>
          </a:p>
        </p:txBody>
      </p:sp>
      <p:sp>
        <p:nvSpPr>
          <p:cNvPr id="252" name="Rectangle 251"/>
          <p:cNvSpPr/>
          <p:nvPr/>
        </p:nvSpPr>
        <p:spPr>
          <a:xfrm>
            <a:off x="6353175" y="2833688"/>
            <a:ext cx="493713" cy="241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endParaRPr lang="en-US" sz="1400">
              <a:solidFill>
                <a:schemeClr val="tx1"/>
              </a:solidFill>
              <a:cs typeface="Arial" charset="0"/>
            </a:endParaRPr>
          </a:p>
        </p:txBody>
      </p:sp>
      <p:cxnSp>
        <p:nvCxnSpPr>
          <p:cNvPr id="253" name="Straight Connector 252"/>
          <p:cNvCxnSpPr/>
          <p:nvPr/>
        </p:nvCxnSpPr>
        <p:spPr>
          <a:xfrm rot="10800000" flipV="1">
            <a:off x="6353175" y="2833688"/>
            <a:ext cx="493713"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4" name="Straight Connector 253"/>
          <p:cNvCxnSpPr/>
          <p:nvPr/>
        </p:nvCxnSpPr>
        <p:spPr>
          <a:xfrm>
            <a:off x="6353175" y="2833688"/>
            <a:ext cx="493713"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p:nvPr/>
        </p:nvCxnSpPr>
        <p:spPr>
          <a:xfrm rot="10800000" flipV="1">
            <a:off x="6907213" y="2833688"/>
            <a:ext cx="493712"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p:nvPr/>
        </p:nvCxnSpPr>
        <p:spPr>
          <a:xfrm>
            <a:off x="6907213" y="2833688"/>
            <a:ext cx="493712"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0" name="Rounded Rectangle 259"/>
          <p:cNvSpPr/>
          <p:nvPr/>
        </p:nvSpPr>
        <p:spPr>
          <a:xfrm>
            <a:off x="6353175" y="2351088"/>
            <a:ext cx="1047750" cy="3016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r>
              <a:rPr lang="en-US" altLang="zh-CN" sz="1800">
                <a:solidFill>
                  <a:schemeClr val="tx1"/>
                </a:solidFill>
                <a:ea typeface="宋体" charset="-122"/>
                <a:cs typeface="Arial" charset="0"/>
              </a:rPr>
              <a:t>Logic</a:t>
            </a:r>
          </a:p>
        </p:txBody>
      </p:sp>
      <p:sp>
        <p:nvSpPr>
          <p:cNvPr id="54325" name="Rectangle 260"/>
          <p:cNvSpPr>
            <a:spLocks noChangeArrowheads="1"/>
          </p:cNvSpPr>
          <p:nvPr/>
        </p:nvSpPr>
        <p:spPr bwMode="auto">
          <a:xfrm>
            <a:off x="7648575" y="2290763"/>
            <a:ext cx="1171575" cy="84455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zh-CN" altLang="en-US" sz="1600">
              <a:ea typeface="宋体" panose="02010600030101010101" pitchFamily="2" charset="-122"/>
              <a:cs typeface="Arial" panose="020B0604020202020204" pitchFamily="34" charset="0"/>
            </a:endParaRPr>
          </a:p>
        </p:txBody>
      </p:sp>
      <p:sp>
        <p:nvSpPr>
          <p:cNvPr id="262" name="Rectangle 261"/>
          <p:cNvSpPr/>
          <p:nvPr/>
        </p:nvSpPr>
        <p:spPr>
          <a:xfrm>
            <a:off x="8264525" y="2833688"/>
            <a:ext cx="493713" cy="241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endParaRPr lang="en-US" sz="1400">
              <a:solidFill>
                <a:schemeClr val="tx1"/>
              </a:solidFill>
              <a:cs typeface="Arial" charset="0"/>
            </a:endParaRPr>
          </a:p>
        </p:txBody>
      </p:sp>
      <p:sp>
        <p:nvSpPr>
          <p:cNvPr id="266" name="Rectangle 265"/>
          <p:cNvSpPr/>
          <p:nvPr/>
        </p:nvSpPr>
        <p:spPr>
          <a:xfrm>
            <a:off x="7710488" y="2833688"/>
            <a:ext cx="492125" cy="2413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endParaRPr lang="en-US" sz="1400">
              <a:solidFill>
                <a:schemeClr val="tx1"/>
              </a:solidFill>
              <a:cs typeface="Arial" charset="0"/>
            </a:endParaRPr>
          </a:p>
        </p:txBody>
      </p:sp>
      <p:cxnSp>
        <p:nvCxnSpPr>
          <p:cNvPr id="267" name="Straight Connector 266"/>
          <p:cNvCxnSpPr/>
          <p:nvPr/>
        </p:nvCxnSpPr>
        <p:spPr>
          <a:xfrm rot="10800000" flipV="1">
            <a:off x="7710488" y="2833688"/>
            <a:ext cx="492125"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8" name="Straight Connector 267"/>
          <p:cNvCxnSpPr/>
          <p:nvPr/>
        </p:nvCxnSpPr>
        <p:spPr>
          <a:xfrm>
            <a:off x="7710488" y="2833688"/>
            <a:ext cx="492125"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4330" name="Group 319"/>
          <p:cNvGrpSpPr>
            <a:grpSpLocks/>
          </p:cNvGrpSpPr>
          <p:nvPr/>
        </p:nvGrpSpPr>
        <p:grpSpPr bwMode="auto">
          <a:xfrm>
            <a:off x="6415088" y="2652713"/>
            <a:ext cx="2281237" cy="185737"/>
            <a:chOff x="6400800" y="3733800"/>
            <a:chExt cx="2819400" cy="228600"/>
          </a:xfrm>
        </p:grpSpPr>
        <p:cxnSp>
          <p:nvCxnSpPr>
            <p:cNvPr id="248" name="Straight Connector 247"/>
            <p:cNvCxnSpPr/>
            <p:nvPr/>
          </p:nvCxnSpPr>
          <p:spPr>
            <a:xfrm rot="5400000">
              <a:off x="6743646"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p:nvPr/>
          </p:nvCxnSpPr>
          <p:spPr>
            <a:xfrm rot="5400000">
              <a:off x="6516053"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p:nvPr/>
          </p:nvCxnSpPr>
          <p:spPr>
            <a:xfrm rot="5400000">
              <a:off x="6286499"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5" name="Straight Connector 254"/>
            <p:cNvCxnSpPr/>
            <p:nvPr/>
          </p:nvCxnSpPr>
          <p:spPr>
            <a:xfrm rot="5400000">
              <a:off x="7430347"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6" name="Straight Connector 255"/>
            <p:cNvCxnSpPr/>
            <p:nvPr/>
          </p:nvCxnSpPr>
          <p:spPr>
            <a:xfrm rot="5400000">
              <a:off x="7200794"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7" name="Straight Connector 256"/>
            <p:cNvCxnSpPr/>
            <p:nvPr/>
          </p:nvCxnSpPr>
          <p:spPr>
            <a:xfrm rot="5400000">
              <a:off x="6973201"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p:nvPr/>
          </p:nvCxnSpPr>
          <p:spPr>
            <a:xfrm rot="5400000">
              <a:off x="8419198"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p:nvPr/>
          </p:nvCxnSpPr>
          <p:spPr>
            <a:xfrm rot="5400000">
              <a:off x="8191605"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5" name="Straight Connector 264"/>
            <p:cNvCxnSpPr/>
            <p:nvPr/>
          </p:nvCxnSpPr>
          <p:spPr>
            <a:xfrm rot="5400000">
              <a:off x="7962051"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9" name="Straight Connector 268"/>
            <p:cNvCxnSpPr/>
            <p:nvPr/>
          </p:nvCxnSpPr>
          <p:spPr>
            <a:xfrm rot="5400000">
              <a:off x="9105899"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0" name="Straight Connector 269"/>
            <p:cNvCxnSpPr/>
            <p:nvPr/>
          </p:nvCxnSpPr>
          <p:spPr>
            <a:xfrm rot="5400000">
              <a:off x="8876345"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1" name="Straight Connector 270"/>
            <p:cNvCxnSpPr/>
            <p:nvPr/>
          </p:nvCxnSpPr>
          <p:spPr>
            <a:xfrm rot="5400000">
              <a:off x="8648753" y="3848101"/>
              <a:ext cx="2286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272" name="Straight Connector 271"/>
          <p:cNvCxnSpPr/>
          <p:nvPr/>
        </p:nvCxnSpPr>
        <p:spPr>
          <a:xfrm rot="10800000" flipV="1">
            <a:off x="8264525" y="2833688"/>
            <a:ext cx="493713"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p:nvPr/>
        </p:nvCxnSpPr>
        <p:spPr>
          <a:xfrm>
            <a:off x="8264525" y="2833688"/>
            <a:ext cx="493713" cy="2413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4" name="Rounded Rectangle 273"/>
          <p:cNvSpPr/>
          <p:nvPr/>
        </p:nvSpPr>
        <p:spPr>
          <a:xfrm>
            <a:off x="7710488" y="2351088"/>
            <a:ext cx="1047750" cy="301625"/>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hangingPunct="1">
              <a:lnSpc>
                <a:spcPct val="100000"/>
              </a:lnSpc>
              <a:defRPr/>
            </a:pPr>
            <a:r>
              <a:rPr lang="en-US" altLang="zh-CN" sz="1800">
                <a:solidFill>
                  <a:schemeClr val="tx1"/>
                </a:solidFill>
                <a:ea typeface="宋体" charset="-122"/>
                <a:cs typeface="Arial" charset="0"/>
              </a:rPr>
              <a:t>Logic</a:t>
            </a:r>
          </a:p>
        </p:txBody>
      </p:sp>
      <p:sp>
        <p:nvSpPr>
          <p:cNvPr id="54334" name="Rectangle 274"/>
          <p:cNvSpPr>
            <a:spLocks noChangeArrowheads="1"/>
          </p:cNvSpPr>
          <p:nvPr/>
        </p:nvSpPr>
        <p:spPr bwMode="auto">
          <a:xfrm>
            <a:off x="4995863" y="3738563"/>
            <a:ext cx="1047750" cy="72390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400">
              <a:cs typeface="Arial" panose="020B0604020202020204" pitchFamily="34" charset="0"/>
            </a:endParaRPr>
          </a:p>
        </p:txBody>
      </p:sp>
      <p:sp>
        <p:nvSpPr>
          <p:cNvPr id="54335" name="Rectangle 275"/>
          <p:cNvSpPr>
            <a:spLocks noChangeArrowheads="1"/>
          </p:cNvSpPr>
          <p:nvPr/>
        </p:nvSpPr>
        <p:spPr bwMode="auto">
          <a:xfrm>
            <a:off x="6353175" y="3738563"/>
            <a:ext cx="1047750" cy="72390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400">
              <a:cs typeface="Arial" panose="020B0604020202020204" pitchFamily="34" charset="0"/>
            </a:endParaRPr>
          </a:p>
        </p:txBody>
      </p:sp>
      <p:sp>
        <p:nvSpPr>
          <p:cNvPr id="54336" name="Rectangle 276"/>
          <p:cNvSpPr>
            <a:spLocks noChangeArrowheads="1"/>
          </p:cNvSpPr>
          <p:nvPr/>
        </p:nvSpPr>
        <p:spPr bwMode="auto">
          <a:xfrm>
            <a:off x="7710488" y="3738563"/>
            <a:ext cx="1047750" cy="723900"/>
          </a:xfrm>
          <a:prstGeom prst="rect">
            <a:avLst/>
          </a:prstGeom>
          <a:solidFill>
            <a:srgbClr val="DDDDDD"/>
          </a:solidFill>
          <a:ln w="25400" algn="ctr">
            <a:solidFill>
              <a:schemeClr val="tx1"/>
            </a:solidFill>
            <a:miter lim="800000"/>
            <a:headEnd/>
            <a:tailEnd/>
          </a:ln>
        </p:spPr>
        <p:txBody>
          <a:bodyPr anchor="ct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endParaRPr lang="de-DE" altLang="de-DE" sz="1400">
              <a:cs typeface="Arial" panose="020B0604020202020204" pitchFamily="34" charset="0"/>
            </a:endParaRPr>
          </a:p>
        </p:txBody>
      </p:sp>
      <p:cxnSp>
        <p:nvCxnSpPr>
          <p:cNvPr id="283" name="Straight Connector 282"/>
          <p:cNvCxnSpPr/>
          <p:nvPr/>
        </p:nvCxnSpPr>
        <p:spPr>
          <a:xfrm rot="10800000" flipV="1">
            <a:off x="4995863" y="3738563"/>
            <a:ext cx="1047750" cy="723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p:cNvCxnSpPr/>
          <p:nvPr/>
        </p:nvCxnSpPr>
        <p:spPr>
          <a:xfrm>
            <a:off x="4995863" y="3738563"/>
            <a:ext cx="1047750" cy="723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p:nvPr/>
        </p:nvCxnSpPr>
        <p:spPr>
          <a:xfrm rot="10800000" flipV="1">
            <a:off x="6353175" y="3738563"/>
            <a:ext cx="1047750" cy="723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9" name="Straight Connector 288"/>
          <p:cNvCxnSpPr/>
          <p:nvPr/>
        </p:nvCxnSpPr>
        <p:spPr>
          <a:xfrm>
            <a:off x="6353175" y="3738563"/>
            <a:ext cx="1047750" cy="723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0" name="Straight Connector 289"/>
          <p:cNvCxnSpPr/>
          <p:nvPr/>
        </p:nvCxnSpPr>
        <p:spPr>
          <a:xfrm rot="10800000" flipV="1">
            <a:off x="7710488" y="3738563"/>
            <a:ext cx="1047750" cy="723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1" name="Straight Connector 290"/>
          <p:cNvCxnSpPr/>
          <p:nvPr/>
        </p:nvCxnSpPr>
        <p:spPr>
          <a:xfrm>
            <a:off x="7710488" y="3738563"/>
            <a:ext cx="1047750" cy="72390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8" name="Straight Connector 347"/>
          <p:cNvCxnSpPr/>
          <p:nvPr/>
        </p:nvCxnSpPr>
        <p:spPr>
          <a:xfrm rot="16200000" flipH="1">
            <a:off x="4775994" y="3367881"/>
            <a:ext cx="663575" cy="809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0" name="Straight Connector 349"/>
          <p:cNvCxnSpPr/>
          <p:nvPr/>
        </p:nvCxnSpPr>
        <p:spPr>
          <a:xfrm rot="5400000">
            <a:off x="5126832" y="3247231"/>
            <a:ext cx="658812" cy="3206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2" name="Straight Connector 351"/>
          <p:cNvCxnSpPr/>
          <p:nvPr/>
        </p:nvCxnSpPr>
        <p:spPr>
          <a:xfrm rot="10800000" flipV="1">
            <a:off x="5440363" y="3074988"/>
            <a:ext cx="976312" cy="6683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Straight Connector 355"/>
          <p:cNvCxnSpPr/>
          <p:nvPr/>
        </p:nvCxnSpPr>
        <p:spPr>
          <a:xfrm rot="10800000" flipV="1">
            <a:off x="5599113" y="3078163"/>
            <a:ext cx="1381125" cy="66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9" name="Straight Connector 358"/>
          <p:cNvCxnSpPr/>
          <p:nvPr/>
        </p:nvCxnSpPr>
        <p:spPr>
          <a:xfrm rot="10800000" flipV="1">
            <a:off x="5756275" y="3078163"/>
            <a:ext cx="2025650" cy="6556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1" name="Straight Connector 360"/>
          <p:cNvCxnSpPr/>
          <p:nvPr/>
        </p:nvCxnSpPr>
        <p:spPr>
          <a:xfrm rot="10800000" flipV="1">
            <a:off x="5897563" y="3073400"/>
            <a:ext cx="2433637" cy="6619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3" name="Straight Connector 362"/>
          <p:cNvCxnSpPr>
            <a:stCxn id="222" idx="2"/>
          </p:cNvCxnSpPr>
          <p:nvPr/>
        </p:nvCxnSpPr>
        <p:spPr>
          <a:xfrm rot="16200000" flipH="1">
            <a:off x="5540376" y="2790825"/>
            <a:ext cx="666750" cy="12604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6" name="Straight Connector 365"/>
          <p:cNvCxnSpPr>
            <a:stCxn id="208" idx="2"/>
          </p:cNvCxnSpPr>
          <p:nvPr/>
        </p:nvCxnSpPr>
        <p:spPr>
          <a:xfrm rot="16200000" flipH="1">
            <a:off x="5896769" y="2988469"/>
            <a:ext cx="660400" cy="8588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Straight Connector 367"/>
          <p:cNvCxnSpPr>
            <a:stCxn id="252" idx="2"/>
          </p:cNvCxnSpPr>
          <p:nvPr/>
        </p:nvCxnSpPr>
        <p:spPr>
          <a:xfrm rot="16200000" flipH="1">
            <a:off x="6370638" y="3317875"/>
            <a:ext cx="660400" cy="2000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2" name="Straight Connector 371"/>
          <p:cNvCxnSpPr>
            <a:endCxn id="247" idx="2"/>
          </p:cNvCxnSpPr>
          <p:nvPr/>
        </p:nvCxnSpPr>
        <p:spPr>
          <a:xfrm rot="5400000" flipH="1" flipV="1">
            <a:off x="6722269" y="3321844"/>
            <a:ext cx="666750" cy="1984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6" name="Straight Connector 375"/>
          <p:cNvCxnSpPr>
            <a:endCxn id="266" idx="2"/>
          </p:cNvCxnSpPr>
          <p:nvPr/>
        </p:nvCxnSpPr>
        <p:spPr>
          <a:xfrm flipV="1">
            <a:off x="7108825" y="3087688"/>
            <a:ext cx="847725" cy="6588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8" name="Straight Connector 377"/>
          <p:cNvCxnSpPr>
            <a:endCxn id="262" idx="2"/>
          </p:cNvCxnSpPr>
          <p:nvPr/>
        </p:nvCxnSpPr>
        <p:spPr>
          <a:xfrm flipV="1">
            <a:off x="7245350" y="3087688"/>
            <a:ext cx="1266825" cy="6604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0" name="Straight Connector 379"/>
          <p:cNvCxnSpPr/>
          <p:nvPr/>
        </p:nvCxnSpPr>
        <p:spPr>
          <a:xfrm rot="5400000" flipH="1" flipV="1">
            <a:off x="8322469" y="3363119"/>
            <a:ext cx="663575" cy="904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Straight Connector 382"/>
          <p:cNvCxnSpPr/>
          <p:nvPr/>
        </p:nvCxnSpPr>
        <p:spPr>
          <a:xfrm rot="16200000" flipV="1">
            <a:off x="7973219" y="3244056"/>
            <a:ext cx="655638" cy="3206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6" name="Straight Connector 385"/>
          <p:cNvCxnSpPr/>
          <p:nvPr/>
        </p:nvCxnSpPr>
        <p:spPr>
          <a:xfrm rot="10800000">
            <a:off x="7337425" y="3074988"/>
            <a:ext cx="973138" cy="67151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2" name="Straight Connector 391"/>
          <p:cNvCxnSpPr/>
          <p:nvPr/>
        </p:nvCxnSpPr>
        <p:spPr>
          <a:xfrm rot="10800000">
            <a:off x="6781800" y="3078163"/>
            <a:ext cx="1381125" cy="6635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6" name="Straight Connector 395"/>
          <p:cNvCxnSpPr/>
          <p:nvPr/>
        </p:nvCxnSpPr>
        <p:spPr>
          <a:xfrm rot="10800000">
            <a:off x="5988050" y="3082925"/>
            <a:ext cx="2017713" cy="6556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9" name="Straight Connector 398"/>
          <p:cNvCxnSpPr/>
          <p:nvPr/>
        </p:nvCxnSpPr>
        <p:spPr>
          <a:xfrm rot="10800000">
            <a:off x="5422900" y="3078163"/>
            <a:ext cx="2438400" cy="65722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4361" name="TextBox 402"/>
          <p:cNvSpPr txBox="1">
            <a:spLocks noChangeArrowheads="1"/>
          </p:cNvSpPr>
          <p:nvPr/>
        </p:nvSpPr>
        <p:spPr bwMode="auto">
          <a:xfrm>
            <a:off x="331788" y="5157788"/>
            <a:ext cx="3694112" cy="60960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a:ea typeface="宋体" panose="02010600030101010101" pitchFamily="2" charset="-122"/>
              </a:rPr>
              <a:t>Reconfigurable system with multiple </a:t>
            </a:r>
            <a:br>
              <a:rPr lang="en-US" altLang="zh-CN">
                <a:ea typeface="宋体" panose="02010600030101010101" pitchFamily="2" charset="-122"/>
              </a:rPr>
            </a:br>
            <a:r>
              <a:rPr lang="en-US" altLang="zh-CN">
                <a:ea typeface="宋体" panose="02010600030101010101" pitchFamily="2" charset="-122"/>
              </a:rPr>
              <a:t>FPGA and FPIC devices </a:t>
            </a:r>
          </a:p>
        </p:txBody>
      </p:sp>
      <p:sp>
        <p:nvSpPr>
          <p:cNvPr id="54362" name="TextBox 403"/>
          <p:cNvSpPr txBox="1">
            <a:spLocks noChangeArrowheads="1"/>
          </p:cNvSpPr>
          <p:nvPr/>
        </p:nvSpPr>
        <p:spPr bwMode="auto">
          <a:xfrm>
            <a:off x="4933950" y="5157788"/>
            <a:ext cx="4105275" cy="60960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1700">
                <a:solidFill>
                  <a:schemeClr val="tx1"/>
                </a:solidFill>
                <a:latin typeface="Arial" panose="020B0604020202020204" pitchFamily="34" charset="0"/>
              </a:defRPr>
            </a:lvl1pPr>
            <a:lvl2pPr marL="742950" indent="-285750">
              <a:defRPr sz="1700">
                <a:solidFill>
                  <a:schemeClr val="tx1"/>
                </a:solidFill>
                <a:latin typeface="Arial" panose="020B0604020202020204" pitchFamily="34" charset="0"/>
              </a:defRPr>
            </a:lvl2pPr>
            <a:lvl3pPr marL="1143000" indent="-228600">
              <a:defRPr sz="1700">
                <a:solidFill>
                  <a:schemeClr val="tx1"/>
                </a:solidFill>
                <a:latin typeface="Arial" panose="020B0604020202020204" pitchFamily="34" charset="0"/>
              </a:defRPr>
            </a:lvl3pPr>
            <a:lvl4pPr marL="1600200" indent="-228600">
              <a:defRPr sz="1700">
                <a:solidFill>
                  <a:schemeClr val="tx1"/>
                </a:solidFill>
                <a:latin typeface="Arial" panose="020B0604020202020204" pitchFamily="34" charset="0"/>
              </a:defRPr>
            </a:lvl4pPr>
            <a:lvl5pPr marL="2057400" indent="-228600">
              <a:defRPr sz="1700">
                <a:solidFill>
                  <a:schemeClr val="tx1"/>
                </a:solidFill>
                <a:latin typeface="Arial" panose="020B0604020202020204" pitchFamily="34" charset="0"/>
              </a:defRPr>
            </a:lvl5pPr>
            <a:lvl6pPr marL="25146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pPr eaLnBrk="1" hangingPunct="1">
              <a:lnSpc>
                <a:spcPct val="100000"/>
              </a:lnSpc>
            </a:pPr>
            <a:r>
              <a:rPr lang="en-US" altLang="zh-CN">
                <a:ea typeface="宋体" panose="02010600030101010101" pitchFamily="2" charset="-122"/>
              </a:rPr>
              <a:t>Mapping of a typical system architecture </a:t>
            </a:r>
            <a:br>
              <a:rPr lang="en-US" altLang="zh-CN">
                <a:ea typeface="宋体" panose="02010600030101010101" pitchFamily="2" charset="-122"/>
              </a:rPr>
            </a:br>
            <a:r>
              <a:rPr lang="en-US" altLang="zh-CN">
                <a:ea typeface="宋体" panose="02010600030101010101" pitchFamily="2" charset="-122"/>
              </a:rPr>
              <a:t>onto multiple FPGAs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5298" name="Slide Number Placeholder 3"/>
          <p:cNvSpPr>
            <a:spLocks noGrp="1"/>
          </p:cNvSpPr>
          <p:nvPr>
            <p:ph type="sldNum" sz="quarter" idx="10"/>
          </p:nvPr>
        </p:nvSpPr>
        <p:spPr>
          <a:noFill/>
        </p:spPr>
        <p:txBody>
          <a:bodyPr/>
          <a:lstStyle>
            <a:lvl1pPr defTabSz="1019175">
              <a:defRPr sz="1700">
                <a:solidFill>
                  <a:schemeClr val="tx1"/>
                </a:solidFill>
                <a:latin typeface="Arial" panose="020B0604020202020204" pitchFamily="34" charset="0"/>
              </a:defRPr>
            </a:lvl1pPr>
            <a:lvl2pPr marL="742950" indent="-285750" defTabSz="1019175">
              <a:defRPr sz="1700">
                <a:solidFill>
                  <a:schemeClr val="tx1"/>
                </a:solidFill>
                <a:latin typeface="Arial" panose="020B0604020202020204" pitchFamily="34" charset="0"/>
              </a:defRPr>
            </a:lvl2pPr>
            <a:lvl3pPr marL="1143000" indent="-228600" defTabSz="1019175">
              <a:defRPr sz="1700">
                <a:solidFill>
                  <a:schemeClr val="tx1"/>
                </a:solidFill>
                <a:latin typeface="Arial" panose="020B0604020202020204" pitchFamily="34" charset="0"/>
              </a:defRPr>
            </a:lvl3pPr>
            <a:lvl4pPr marL="1600200" indent="-228600" defTabSz="1019175">
              <a:defRPr sz="1700">
                <a:solidFill>
                  <a:schemeClr val="tx1"/>
                </a:solidFill>
                <a:latin typeface="Arial" panose="020B0604020202020204" pitchFamily="34" charset="0"/>
              </a:defRPr>
            </a:lvl4pPr>
            <a:lvl5pPr marL="2057400" indent="-228600" defTabSz="1019175">
              <a:defRPr sz="1700">
                <a:solidFill>
                  <a:schemeClr val="tx1"/>
                </a:solidFill>
                <a:latin typeface="Arial" panose="020B0604020202020204" pitchFamily="34" charset="0"/>
              </a:defRPr>
            </a:lvl5pPr>
            <a:lvl6pPr marL="25146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6pPr>
            <a:lvl7pPr marL="29718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7pPr>
            <a:lvl8pPr marL="34290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8pPr>
            <a:lvl9pPr marL="3886200" indent="-228600" algn="ctr" defTabSz="1019175" eaLnBrk="0" fontAlgn="base" hangingPunct="0">
              <a:lnSpc>
                <a:spcPts val="2350"/>
              </a:lnSpc>
              <a:spcBef>
                <a:spcPct val="0"/>
              </a:spcBef>
              <a:spcAft>
                <a:spcPct val="0"/>
              </a:spcAft>
              <a:defRPr sz="1700">
                <a:solidFill>
                  <a:schemeClr val="tx1"/>
                </a:solidFill>
                <a:latin typeface="Arial" panose="020B0604020202020204" pitchFamily="34" charset="0"/>
              </a:defRPr>
            </a:lvl9pPr>
          </a:lstStyle>
          <a:p>
            <a:fld id="{6AEB801A-24B4-4C14-8084-292551C4A45D}" type="slidenum">
              <a:rPr lang="en-US" altLang="de-DE" sz="1000">
                <a:solidFill>
                  <a:srgbClr val="C0C0C0"/>
                </a:solidFill>
              </a:rPr>
              <a:pPr/>
              <a:t>69</a:t>
            </a:fld>
            <a:endParaRPr lang="en-US" altLang="de-DE" sz="1000">
              <a:solidFill>
                <a:srgbClr val="C0C0C0"/>
              </a:solidFill>
            </a:endParaRPr>
          </a:p>
        </p:txBody>
      </p:sp>
      <p:sp>
        <p:nvSpPr>
          <p:cNvPr id="55299" name="Rectangle 2"/>
          <p:cNvSpPr>
            <a:spLocks noGrp="1" noChangeArrowheads="1"/>
          </p:cNvSpPr>
          <p:nvPr>
            <p:ph type="title"/>
          </p:nvPr>
        </p:nvSpPr>
        <p:spPr/>
        <p:txBody>
          <a:bodyPr/>
          <a:lstStyle/>
          <a:p>
            <a:r>
              <a:rPr lang="en-US" altLang="zh-CN">
                <a:ea typeface="宋体" panose="02010600030101010101" pitchFamily="2" charset="-122"/>
              </a:rPr>
              <a:t>Summary of Chapter 2 </a:t>
            </a:r>
          </a:p>
        </p:txBody>
      </p:sp>
      <p:sp>
        <p:nvSpPr>
          <p:cNvPr id="659564" name="Rectangle 108"/>
          <p:cNvSpPr>
            <a:spLocks noGrp="1" noChangeArrowheads="1"/>
          </p:cNvSpPr>
          <p:nvPr>
            <p:ph type="body" idx="1"/>
          </p:nvPr>
        </p:nvSpPr>
        <p:spPr>
          <a:xfrm>
            <a:off x="608013" y="981075"/>
            <a:ext cx="8015287" cy="5616575"/>
          </a:xfrm>
          <a:noFill/>
        </p:spPr>
        <p:txBody>
          <a:bodyPr/>
          <a:lstStyle/>
          <a:p>
            <a:pPr marL="323850" indent="-323850" defTabSz="849313">
              <a:tabLst>
                <a:tab pos="284163" algn="l"/>
                <a:tab pos="512763" algn="l"/>
              </a:tabLst>
            </a:pPr>
            <a:r>
              <a:rPr lang="en-US" altLang="zh-CN">
                <a:ea typeface="宋体" panose="02010600030101010101" pitchFamily="2" charset="-122"/>
              </a:rPr>
              <a:t>Circuit netlists can be represented by graphs </a:t>
            </a:r>
            <a:endParaRPr lang="en-US" altLang="zh-CN" sz="600">
              <a:ea typeface="宋体" panose="02010600030101010101" pitchFamily="2" charset="-122"/>
            </a:endParaRPr>
          </a:p>
          <a:p>
            <a:pPr marL="323850" indent="-323850" defTabSz="849313">
              <a:spcBef>
                <a:spcPct val="60000"/>
              </a:spcBef>
              <a:tabLst>
                <a:tab pos="284163" algn="l"/>
                <a:tab pos="512763" algn="l"/>
              </a:tabLst>
            </a:pPr>
            <a:r>
              <a:rPr lang="en-US" altLang="zh-CN">
                <a:ea typeface="宋体" panose="02010600030101010101" pitchFamily="2" charset="-122"/>
              </a:rPr>
              <a:t>Partitioning a graph means assigning nodes to disjoint partitions </a:t>
            </a:r>
          </a:p>
          <a:p>
            <a:pPr marL="588963" lvl="1" indent="-304800" defTabSz="849313">
              <a:spcBef>
                <a:spcPct val="20000"/>
              </a:spcBef>
              <a:tabLst>
                <a:tab pos="284163" algn="l"/>
                <a:tab pos="512763" algn="l"/>
              </a:tabLst>
            </a:pPr>
            <a:r>
              <a:rPr lang="en-US" altLang="zh-CN">
                <a:ea typeface="宋体" panose="02010600030101010101" pitchFamily="2" charset="-122"/>
              </a:rPr>
              <a:t>Total size of each partition (number/area of nodes) is limited </a:t>
            </a:r>
          </a:p>
          <a:p>
            <a:pPr marL="588963" lvl="1" indent="-304800" defTabSz="849313">
              <a:spcBef>
                <a:spcPct val="20000"/>
              </a:spcBef>
              <a:tabLst>
                <a:tab pos="284163" algn="l"/>
                <a:tab pos="512763" algn="l"/>
              </a:tabLst>
            </a:pPr>
            <a:r>
              <a:rPr lang="en-US" altLang="zh-CN">
                <a:ea typeface="宋体" panose="02010600030101010101" pitchFamily="2" charset="-122"/>
              </a:rPr>
              <a:t>Objective: minimize the number connections between partitions </a:t>
            </a:r>
          </a:p>
          <a:p>
            <a:pPr marL="323850" indent="-323850" defTabSz="849313">
              <a:spcBef>
                <a:spcPct val="60000"/>
              </a:spcBef>
              <a:tabLst>
                <a:tab pos="284163" algn="l"/>
                <a:tab pos="512763" algn="l"/>
              </a:tabLst>
            </a:pPr>
            <a:r>
              <a:rPr lang="en-US" altLang="zh-CN">
                <a:ea typeface="宋体" panose="02010600030101010101" pitchFamily="2" charset="-122"/>
              </a:rPr>
              <a:t>Basic partitioning algorithms </a:t>
            </a:r>
          </a:p>
          <a:p>
            <a:pPr marL="588963" lvl="1" indent="-304800" defTabSz="849313">
              <a:spcBef>
                <a:spcPct val="20000"/>
              </a:spcBef>
              <a:tabLst>
                <a:tab pos="284163" algn="l"/>
                <a:tab pos="512763" algn="l"/>
              </a:tabLst>
            </a:pPr>
            <a:r>
              <a:rPr lang="en-US" altLang="zh-CN">
                <a:ea typeface="宋体" panose="02010600030101010101" pitchFamily="2" charset="-122"/>
              </a:rPr>
              <a:t>Move-based, move are organized into passes </a:t>
            </a:r>
          </a:p>
          <a:p>
            <a:pPr marL="588963" lvl="1" indent="-304800" defTabSz="849313">
              <a:spcBef>
                <a:spcPct val="20000"/>
              </a:spcBef>
              <a:tabLst>
                <a:tab pos="284163" algn="l"/>
                <a:tab pos="512763" algn="l"/>
              </a:tabLst>
            </a:pPr>
            <a:r>
              <a:rPr lang="en-US" altLang="zh-CN">
                <a:ea typeface="宋体" panose="02010600030101010101" pitchFamily="2" charset="-122"/>
              </a:rPr>
              <a:t>KL swaps pairs of nodes from different partitions </a:t>
            </a:r>
          </a:p>
          <a:p>
            <a:pPr marL="588963" lvl="1" indent="-304800" defTabSz="849313">
              <a:spcBef>
                <a:spcPct val="20000"/>
              </a:spcBef>
              <a:tabLst>
                <a:tab pos="284163" algn="l"/>
                <a:tab pos="512763" algn="l"/>
              </a:tabLst>
            </a:pPr>
            <a:r>
              <a:rPr lang="en-US" altLang="zh-CN">
                <a:ea typeface="宋体" panose="02010600030101010101" pitchFamily="2" charset="-122"/>
              </a:rPr>
              <a:t>FM re-assigns one node at a time </a:t>
            </a:r>
          </a:p>
          <a:p>
            <a:pPr marL="588963" lvl="1" indent="-304800" defTabSz="849313">
              <a:spcBef>
                <a:spcPct val="20000"/>
              </a:spcBef>
              <a:tabLst>
                <a:tab pos="284163" algn="l"/>
                <a:tab pos="512763" algn="l"/>
              </a:tabLst>
            </a:pPr>
            <a:r>
              <a:rPr lang="en-US" altLang="zh-CN">
                <a:ea typeface="宋体" panose="02010600030101010101" pitchFamily="2" charset="-122"/>
              </a:rPr>
              <a:t>FM is faster, usually more successful </a:t>
            </a:r>
          </a:p>
          <a:p>
            <a:pPr marL="323850" indent="-323850" defTabSz="849313">
              <a:spcBef>
                <a:spcPct val="60000"/>
              </a:spcBef>
              <a:tabLst>
                <a:tab pos="284163" algn="l"/>
                <a:tab pos="512763" algn="l"/>
              </a:tabLst>
            </a:pPr>
            <a:r>
              <a:rPr lang="en-US" altLang="zh-CN">
                <a:ea typeface="宋体" panose="02010600030101010101" pitchFamily="2" charset="-122"/>
              </a:rPr>
              <a:t>Multilevel partitioning </a:t>
            </a:r>
          </a:p>
          <a:p>
            <a:pPr marL="588963" lvl="1" indent="-304800" defTabSz="849313">
              <a:spcBef>
                <a:spcPct val="20000"/>
              </a:spcBef>
              <a:tabLst>
                <a:tab pos="284163" algn="l"/>
                <a:tab pos="512763" algn="l"/>
              </a:tabLst>
            </a:pPr>
            <a:r>
              <a:rPr lang="en-US" altLang="zh-CN">
                <a:ea typeface="宋体" panose="02010600030101010101" pitchFamily="2" charset="-122"/>
              </a:rPr>
              <a:t>Clustering </a:t>
            </a:r>
          </a:p>
          <a:p>
            <a:pPr marL="588963" lvl="1" indent="-304800" defTabSz="849313">
              <a:spcBef>
                <a:spcPct val="20000"/>
              </a:spcBef>
              <a:tabLst>
                <a:tab pos="284163" algn="l"/>
                <a:tab pos="512763" algn="l"/>
              </a:tabLst>
            </a:pPr>
            <a:r>
              <a:rPr lang="en-US" altLang="zh-CN">
                <a:ea typeface="宋体" panose="02010600030101010101" pitchFamily="2" charset="-122"/>
              </a:rPr>
              <a:t>FM partitioning </a:t>
            </a:r>
          </a:p>
          <a:p>
            <a:pPr marL="588963" lvl="1" indent="-304800" defTabSz="849313">
              <a:spcBef>
                <a:spcPct val="20000"/>
              </a:spcBef>
              <a:tabLst>
                <a:tab pos="284163" algn="l"/>
                <a:tab pos="512763" algn="l"/>
              </a:tabLst>
            </a:pPr>
            <a:r>
              <a:rPr lang="en-US" altLang="zh-CN">
                <a:ea typeface="宋体" panose="02010600030101010101" pitchFamily="2" charset="-122"/>
              </a:rPr>
              <a:t>Refinement (also uses FM partitioning) </a:t>
            </a:r>
          </a:p>
          <a:p>
            <a:pPr marL="323850" indent="-323850" defTabSz="849313">
              <a:spcBef>
                <a:spcPct val="60000"/>
              </a:spcBef>
              <a:tabLst>
                <a:tab pos="284163" algn="l"/>
                <a:tab pos="512763" algn="l"/>
              </a:tabLst>
            </a:pPr>
            <a:r>
              <a:rPr lang="en-US" altLang="zh-CN">
                <a:ea typeface="宋体" panose="02010600030101010101" pitchFamily="2" charset="-122"/>
              </a:rPr>
              <a:t>Application: system partitioning into FPGAs </a:t>
            </a:r>
          </a:p>
          <a:p>
            <a:pPr marL="588963" lvl="1" indent="-304800" defTabSz="849313">
              <a:spcBef>
                <a:spcPct val="20000"/>
              </a:spcBef>
              <a:tabLst>
                <a:tab pos="284163" algn="l"/>
                <a:tab pos="512763" algn="l"/>
              </a:tabLst>
            </a:pPr>
            <a:r>
              <a:rPr lang="en-US" altLang="zh-CN">
                <a:ea typeface="宋体" panose="02010600030101010101" pitchFamily="2" charset="-122"/>
              </a:rPr>
              <a:t>Each FPGA is represented by a partition </a:t>
            </a:r>
            <a:endParaRPr lang="de-DE" altLang="de-DE"/>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59564">
                                            <p:txEl>
                                              <p:pRg st="0" end="0"/>
                                            </p:txEl>
                                          </p:spTgt>
                                        </p:tgtEl>
                                        <p:attrNameLst>
                                          <p:attrName>style.visibility</p:attrName>
                                        </p:attrNameLst>
                                      </p:cBhvr>
                                      <p:to>
                                        <p:strVal val="visible"/>
                                      </p:to>
                                    </p:set>
                                    <p:animEffect transition="in" filter="dissolve">
                                      <p:cBhvr>
                                        <p:cTn id="7" dur="500"/>
                                        <p:tgtEl>
                                          <p:spTgt spid="65956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659564">
                                            <p:txEl>
                                              <p:pRg st="1" end="1"/>
                                            </p:txEl>
                                          </p:spTgt>
                                        </p:tgtEl>
                                        <p:attrNameLst>
                                          <p:attrName>style.visibility</p:attrName>
                                        </p:attrNameLst>
                                      </p:cBhvr>
                                      <p:to>
                                        <p:strVal val="visible"/>
                                      </p:to>
                                    </p:set>
                                    <p:animEffect transition="in" filter="dissolve">
                                      <p:cBhvr>
                                        <p:cTn id="12" dur="500"/>
                                        <p:tgtEl>
                                          <p:spTgt spid="659564">
                                            <p:txEl>
                                              <p:pRg st="1" end="1"/>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659564">
                                            <p:txEl>
                                              <p:pRg st="2" end="2"/>
                                            </p:txEl>
                                          </p:spTgt>
                                        </p:tgtEl>
                                        <p:attrNameLst>
                                          <p:attrName>style.visibility</p:attrName>
                                        </p:attrNameLst>
                                      </p:cBhvr>
                                      <p:to>
                                        <p:strVal val="visible"/>
                                      </p:to>
                                    </p:set>
                                    <p:animEffect transition="in" filter="dissolve">
                                      <p:cBhvr>
                                        <p:cTn id="15" dur="500"/>
                                        <p:tgtEl>
                                          <p:spTgt spid="659564">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659564">
                                            <p:txEl>
                                              <p:pRg st="3" end="3"/>
                                            </p:txEl>
                                          </p:spTgt>
                                        </p:tgtEl>
                                        <p:attrNameLst>
                                          <p:attrName>style.visibility</p:attrName>
                                        </p:attrNameLst>
                                      </p:cBhvr>
                                      <p:to>
                                        <p:strVal val="visible"/>
                                      </p:to>
                                    </p:set>
                                    <p:animEffect transition="in" filter="dissolve">
                                      <p:cBhvr>
                                        <p:cTn id="18" dur="500"/>
                                        <p:tgtEl>
                                          <p:spTgt spid="659564">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659564">
                                            <p:txEl>
                                              <p:pRg st="4" end="4"/>
                                            </p:txEl>
                                          </p:spTgt>
                                        </p:tgtEl>
                                        <p:attrNameLst>
                                          <p:attrName>style.visibility</p:attrName>
                                        </p:attrNameLst>
                                      </p:cBhvr>
                                      <p:to>
                                        <p:strVal val="visible"/>
                                      </p:to>
                                    </p:set>
                                    <p:animEffect transition="in" filter="dissolve">
                                      <p:cBhvr>
                                        <p:cTn id="23" dur="500"/>
                                        <p:tgtEl>
                                          <p:spTgt spid="659564">
                                            <p:txEl>
                                              <p:pRg st="4" end="4"/>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659564">
                                            <p:txEl>
                                              <p:pRg st="5" end="5"/>
                                            </p:txEl>
                                          </p:spTgt>
                                        </p:tgtEl>
                                        <p:attrNameLst>
                                          <p:attrName>style.visibility</p:attrName>
                                        </p:attrNameLst>
                                      </p:cBhvr>
                                      <p:to>
                                        <p:strVal val="visible"/>
                                      </p:to>
                                    </p:set>
                                    <p:animEffect transition="in" filter="dissolve">
                                      <p:cBhvr>
                                        <p:cTn id="26" dur="500"/>
                                        <p:tgtEl>
                                          <p:spTgt spid="659564">
                                            <p:txEl>
                                              <p:pRg st="5" end="5"/>
                                            </p:txEl>
                                          </p:spTgt>
                                        </p:tgtEl>
                                      </p:cBhvr>
                                    </p:animEffect>
                                  </p:childTnLst>
                                </p:cTn>
                              </p:par>
                              <p:par>
                                <p:cTn id="27" presetID="9" presetClass="entr" presetSubtype="0" fill="hold" nodeType="withEffect">
                                  <p:stCondLst>
                                    <p:cond delay="0"/>
                                  </p:stCondLst>
                                  <p:childTnLst>
                                    <p:set>
                                      <p:cBhvr>
                                        <p:cTn id="28" dur="1" fill="hold">
                                          <p:stCondLst>
                                            <p:cond delay="0"/>
                                          </p:stCondLst>
                                        </p:cTn>
                                        <p:tgtEl>
                                          <p:spTgt spid="659564">
                                            <p:txEl>
                                              <p:pRg st="6" end="6"/>
                                            </p:txEl>
                                          </p:spTgt>
                                        </p:tgtEl>
                                        <p:attrNameLst>
                                          <p:attrName>style.visibility</p:attrName>
                                        </p:attrNameLst>
                                      </p:cBhvr>
                                      <p:to>
                                        <p:strVal val="visible"/>
                                      </p:to>
                                    </p:set>
                                    <p:animEffect transition="in" filter="dissolve">
                                      <p:cBhvr>
                                        <p:cTn id="29" dur="500"/>
                                        <p:tgtEl>
                                          <p:spTgt spid="659564">
                                            <p:txEl>
                                              <p:pRg st="6" end="6"/>
                                            </p:txEl>
                                          </p:spTgt>
                                        </p:tgtEl>
                                      </p:cBhvr>
                                    </p:animEffect>
                                  </p:childTnLst>
                                </p:cTn>
                              </p:par>
                              <p:par>
                                <p:cTn id="30" presetID="9" presetClass="entr" presetSubtype="0" fill="hold" nodeType="withEffect">
                                  <p:stCondLst>
                                    <p:cond delay="0"/>
                                  </p:stCondLst>
                                  <p:childTnLst>
                                    <p:set>
                                      <p:cBhvr>
                                        <p:cTn id="31" dur="1" fill="hold">
                                          <p:stCondLst>
                                            <p:cond delay="0"/>
                                          </p:stCondLst>
                                        </p:cTn>
                                        <p:tgtEl>
                                          <p:spTgt spid="659564">
                                            <p:txEl>
                                              <p:pRg st="7" end="7"/>
                                            </p:txEl>
                                          </p:spTgt>
                                        </p:tgtEl>
                                        <p:attrNameLst>
                                          <p:attrName>style.visibility</p:attrName>
                                        </p:attrNameLst>
                                      </p:cBhvr>
                                      <p:to>
                                        <p:strVal val="visible"/>
                                      </p:to>
                                    </p:set>
                                    <p:animEffect transition="in" filter="dissolve">
                                      <p:cBhvr>
                                        <p:cTn id="32" dur="500"/>
                                        <p:tgtEl>
                                          <p:spTgt spid="659564">
                                            <p:txEl>
                                              <p:pRg st="7" end="7"/>
                                            </p:txEl>
                                          </p:spTgt>
                                        </p:tgtEl>
                                      </p:cBhvr>
                                    </p:animEffect>
                                  </p:childTnLst>
                                </p:cTn>
                              </p:par>
                              <p:par>
                                <p:cTn id="33" presetID="9" presetClass="entr" presetSubtype="0" fill="hold" nodeType="withEffect">
                                  <p:stCondLst>
                                    <p:cond delay="0"/>
                                  </p:stCondLst>
                                  <p:childTnLst>
                                    <p:set>
                                      <p:cBhvr>
                                        <p:cTn id="34" dur="1" fill="hold">
                                          <p:stCondLst>
                                            <p:cond delay="0"/>
                                          </p:stCondLst>
                                        </p:cTn>
                                        <p:tgtEl>
                                          <p:spTgt spid="659564">
                                            <p:txEl>
                                              <p:pRg st="8" end="8"/>
                                            </p:txEl>
                                          </p:spTgt>
                                        </p:tgtEl>
                                        <p:attrNameLst>
                                          <p:attrName>style.visibility</p:attrName>
                                        </p:attrNameLst>
                                      </p:cBhvr>
                                      <p:to>
                                        <p:strVal val="visible"/>
                                      </p:to>
                                    </p:set>
                                    <p:animEffect transition="in" filter="dissolve">
                                      <p:cBhvr>
                                        <p:cTn id="35" dur="500"/>
                                        <p:tgtEl>
                                          <p:spTgt spid="659564">
                                            <p:txEl>
                                              <p:pRg st="8" end="8"/>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659564">
                                            <p:txEl>
                                              <p:pRg st="9" end="9"/>
                                            </p:txEl>
                                          </p:spTgt>
                                        </p:tgtEl>
                                        <p:attrNameLst>
                                          <p:attrName>style.visibility</p:attrName>
                                        </p:attrNameLst>
                                      </p:cBhvr>
                                      <p:to>
                                        <p:strVal val="visible"/>
                                      </p:to>
                                    </p:set>
                                    <p:animEffect transition="in" filter="dissolve">
                                      <p:cBhvr>
                                        <p:cTn id="40" dur="500"/>
                                        <p:tgtEl>
                                          <p:spTgt spid="659564">
                                            <p:txEl>
                                              <p:pRg st="9" end="9"/>
                                            </p:txEl>
                                          </p:spTgt>
                                        </p:tgtEl>
                                      </p:cBhvr>
                                    </p:animEffect>
                                  </p:childTnLst>
                                </p:cTn>
                              </p:par>
                              <p:par>
                                <p:cTn id="41" presetID="9" presetClass="entr" presetSubtype="0" fill="hold" nodeType="withEffect">
                                  <p:stCondLst>
                                    <p:cond delay="0"/>
                                  </p:stCondLst>
                                  <p:childTnLst>
                                    <p:set>
                                      <p:cBhvr>
                                        <p:cTn id="42" dur="1" fill="hold">
                                          <p:stCondLst>
                                            <p:cond delay="0"/>
                                          </p:stCondLst>
                                        </p:cTn>
                                        <p:tgtEl>
                                          <p:spTgt spid="659564">
                                            <p:txEl>
                                              <p:pRg st="10" end="10"/>
                                            </p:txEl>
                                          </p:spTgt>
                                        </p:tgtEl>
                                        <p:attrNameLst>
                                          <p:attrName>style.visibility</p:attrName>
                                        </p:attrNameLst>
                                      </p:cBhvr>
                                      <p:to>
                                        <p:strVal val="visible"/>
                                      </p:to>
                                    </p:set>
                                    <p:animEffect transition="in" filter="dissolve">
                                      <p:cBhvr>
                                        <p:cTn id="43" dur="500"/>
                                        <p:tgtEl>
                                          <p:spTgt spid="659564">
                                            <p:txEl>
                                              <p:pRg st="10" end="10"/>
                                            </p:txEl>
                                          </p:spTgt>
                                        </p:tgtEl>
                                      </p:cBhvr>
                                    </p:animEffect>
                                  </p:childTnLst>
                                </p:cTn>
                              </p:par>
                              <p:par>
                                <p:cTn id="44" presetID="9" presetClass="entr" presetSubtype="0" fill="hold" nodeType="withEffect">
                                  <p:stCondLst>
                                    <p:cond delay="0"/>
                                  </p:stCondLst>
                                  <p:childTnLst>
                                    <p:set>
                                      <p:cBhvr>
                                        <p:cTn id="45" dur="1" fill="hold">
                                          <p:stCondLst>
                                            <p:cond delay="0"/>
                                          </p:stCondLst>
                                        </p:cTn>
                                        <p:tgtEl>
                                          <p:spTgt spid="659564">
                                            <p:txEl>
                                              <p:pRg st="11" end="11"/>
                                            </p:txEl>
                                          </p:spTgt>
                                        </p:tgtEl>
                                        <p:attrNameLst>
                                          <p:attrName>style.visibility</p:attrName>
                                        </p:attrNameLst>
                                      </p:cBhvr>
                                      <p:to>
                                        <p:strVal val="visible"/>
                                      </p:to>
                                    </p:set>
                                    <p:animEffect transition="in" filter="dissolve">
                                      <p:cBhvr>
                                        <p:cTn id="46" dur="500"/>
                                        <p:tgtEl>
                                          <p:spTgt spid="659564">
                                            <p:txEl>
                                              <p:pRg st="11" end="11"/>
                                            </p:txEl>
                                          </p:spTgt>
                                        </p:tgtEl>
                                      </p:cBhvr>
                                    </p:animEffect>
                                  </p:childTnLst>
                                </p:cTn>
                              </p:par>
                              <p:par>
                                <p:cTn id="47" presetID="9" presetClass="entr" presetSubtype="0" fill="hold" nodeType="withEffect">
                                  <p:stCondLst>
                                    <p:cond delay="0"/>
                                  </p:stCondLst>
                                  <p:childTnLst>
                                    <p:set>
                                      <p:cBhvr>
                                        <p:cTn id="48" dur="1" fill="hold">
                                          <p:stCondLst>
                                            <p:cond delay="0"/>
                                          </p:stCondLst>
                                        </p:cTn>
                                        <p:tgtEl>
                                          <p:spTgt spid="659564">
                                            <p:txEl>
                                              <p:pRg st="12" end="12"/>
                                            </p:txEl>
                                          </p:spTgt>
                                        </p:tgtEl>
                                        <p:attrNameLst>
                                          <p:attrName>style.visibility</p:attrName>
                                        </p:attrNameLst>
                                      </p:cBhvr>
                                      <p:to>
                                        <p:strVal val="visible"/>
                                      </p:to>
                                    </p:set>
                                    <p:animEffect transition="in" filter="dissolve">
                                      <p:cBhvr>
                                        <p:cTn id="49" dur="500"/>
                                        <p:tgtEl>
                                          <p:spTgt spid="659564">
                                            <p:txEl>
                                              <p:pRg st="12" end="12"/>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9" presetClass="entr" presetSubtype="0" fill="hold" nodeType="clickEffect">
                                  <p:stCondLst>
                                    <p:cond delay="0"/>
                                  </p:stCondLst>
                                  <p:childTnLst>
                                    <p:set>
                                      <p:cBhvr>
                                        <p:cTn id="53" dur="1" fill="hold">
                                          <p:stCondLst>
                                            <p:cond delay="0"/>
                                          </p:stCondLst>
                                        </p:cTn>
                                        <p:tgtEl>
                                          <p:spTgt spid="659564">
                                            <p:txEl>
                                              <p:pRg st="13" end="13"/>
                                            </p:txEl>
                                          </p:spTgt>
                                        </p:tgtEl>
                                        <p:attrNameLst>
                                          <p:attrName>style.visibility</p:attrName>
                                        </p:attrNameLst>
                                      </p:cBhvr>
                                      <p:to>
                                        <p:strVal val="visible"/>
                                      </p:to>
                                    </p:set>
                                    <p:animEffect transition="in" filter="dissolve">
                                      <p:cBhvr>
                                        <p:cTn id="54" dur="500"/>
                                        <p:tgtEl>
                                          <p:spTgt spid="659564">
                                            <p:txEl>
                                              <p:pRg st="13" end="13"/>
                                            </p:txEl>
                                          </p:spTgt>
                                        </p:tgtEl>
                                      </p:cBhvr>
                                    </p:animEffect>
                                  </p:childTnLst>
                                </p:cTn>
                              </p:par>
                              <p:par>
                                <p:cTn id="55" presetID="9" presetClass="entr" presetSubtype="0" fill="hold" nodeType="withEffect">
                                  <p:stCondLst>
                                    <p:cond delay="0"/>
                                  </p:stCondLst>
                                  <p:childTnLst>
                                    <p:set>
                                      <p:cBhvr>
                                        <p:cTn id="56" dur="1" fill="hold">
                                          <p:stCondLst>
                                            <p:cond delay="0"/>
                                          </p:stCondLst>
                                        </p:cTn>
                                        <p:tgtEl>
                                          <p:spTgt spid="659564">
                                            <p:txEl>
                                              <p:pRg st="14" end="14"/>
                                            </p:txEl>
                                          </p:spTgt>
                                        </p:tgtEl>
                                        <p:attrNameLst>
                                          <p:attrName>style.visibility</p:attrName>
                                        </p:attrNameLst>
                                      </p:cBhvr>
                                      <p:to>
                                        <p:strVal val="visible"/>
                                      </p:to>
                                    </p:set>
                                    <p:animEffect transition="in" filter="dissolve">
                                      <p:cBhvr>
                                        <p:cTn id="57" dur="500"/>
                                        <p:tgtEl>
                                          <p:spTgt spid="65956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räsentation Springer">
  <a:themeElements>
    <a:clrScheme name="">
      <a:dk1>
        <a:srgbClr val="000000"/>
      </a:dk1>
      <a:lt1>
        <a:srgbClr val="FFFFFF"/>
      </a:lt1>
      <a:dk2>
        <a:srgbClr val="FFFFFF"/>
      </a:dk2>
      <a:lt2>
        <a:srgbClr val="FFFFFF"/>
      </a:lt2>
      <a:accent1>
        <a:srgbClr val="7D95CA"/>
      </a:accent1>
      <a:accent2>
        <a:srgbClr val="1860AB"/>
      </a:accent2>
      <a:accent3>
        <a:srgbClr val="FFFFFF"/>
      </a:accent3>
      <a:accent4>
        <a:srgbClr val="000000"/>
      </a:accent4>
      <a:accent5>
        <a:srgbClr val="BFC8E1"/>
      </a:accent5>
      <a:accent6>
        <a:srgbClr val="15569B"/>
      </a:accent6>
      <a:hlink>
        <a:srgbClr val="4E80BA"/>
      </a:hlink>
      <a:folHlink>
        <a:srgbClr val="7D95CA"/>
      </a:folHlink>
    </a:clrScheme>
    <a:fontScheme name="Präsentation Springer">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91084" tIns="44939" rIns="89877" bIns="67941" numCol="1" anchor="t" anchorCtr="0" compatLnSpc="1">
        <a:prstTxWarp prst="textNoShape">
          <a:avLst/>
        </a:prstTxWarp>
        <a:spAutoFit/>
      </a:bodyPr>
      <a:lstStyle>
        <a:defPPr marL="0" marR="0" indent="0" algn="ctr" defTabSz="898525" rtl="0" eaLnBrk="0" fontAlgn="base" latinLnBrk="0" hangingPunct="0">
          <a:lnSpc>
            <a:spcPts val="2350"/>
          </a:lnSpc>
          <a:spcBef>
            <a:spcPct val="0"/>
          </a:spcBef>
          <a:spcAft>
            <a:spcPct val="0"/>
          </a:spcAft>
          <a:buClrTx/>
          <a:buSzTx/>
          <a:buFontTx/>
          <a:buNone/>
          <a:tabLst/>
          <a:defRPr kumimoji="0" lang="en-US" sz="17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191084" tIns="44939" rIns="89877" bIns="67941" numCol="1" anchor="t" anchorCtr="0" compatLnSpc="1">
        <a:prstTxWarp prst="textNoShape">
          <a:avLst/>
        </a:prstTxWarp>
        <a:spAutoFit/>
      </a:bodyPr>
      <a:lstStyle>
        <a:defPPr marL="0" marR="0" indent="0" algn="ctr" defTabSz="898525" rtl="0" eaLnBrk="0" fontAlgn="base" latinLnBrk="0" hangingPunct="0">
          <a:lnSpc>
            <a:spcPts val="2350"/>
          </a:lnSpc>
          <a:spcBef>
            <a:spcPct val="0"/>
          </a:spcBef>
          <a:spcAft>
            <a:spcPct val="0"/>
          </a:spcAft>
          <a:buClrTx/>
          <a:buSzTx/>
          <a:buFontTx/>
          <a:buNone/>
          <a:tabLst/>
          <a:defRPr kumimoji="0" lang="en-US" sz="1700" b="0" i="0" u="none" strike="noStrike" cap="none" normalizeH="0" baseline="0" smtClean="0">
            <a:ln>
              <a:noFill/>
            </a:ln>
            <a:solidFill>
              <a:schemeClr val="tx1"/>
            </a:solidFill>
            <a:effectLst/>
            <a:latin typeface="Arial" charset="0"/>
          </a:defRPr>
        </a:defPPr>
      </a:lstStyle>
    </a:lnDef>
  </a:objectDefaults>
  <a:extraClrSchemeLst>
    <a:extraClrScheme>
      <a:clrScheme name="Präsentation Springer 1">
        <a:dk1>
          <a:srgbClr val="000000"/>
        </a:dk1>
        <a:lt1>
          <a:srgbClr val="FFFFFF"/>
        </a:lt1>
        <a:dk2>
          <a:srgbClr val="104781"/>
        </a:dk2>
        <a:lt2>
          <a:srgbClr val="073668"/>
        </a:lt2>
        <a:accent1>
          <a:srgbClr val="18589C"/>
        </a:accent1>
        <a:accent2>
          <a:srgbClr val="2269B5"/>
        </a:accent2>
        <a:accent3>
          <a:srgbClr val="FFFFFF"/>
        </a:accent3>
        <a:accent4>
          <a:srgbClr val="000000"/>
        </a:accent4>
        <a:accent5>
          <a:srgbClr val="ABB4CB"/>
        </a:accent5>
        <a:accent6>
          <a:srgbClr val="1E5EA4"/>
        </a:accent6>
        <a:hlink>
          <a:srgbClr val="7D95CA"/>
        </a:hlink>
        <a:folHlink>
          <a:srgbClr val="EF261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4748</Words>
  <Application>Microsoft Office PowerPoint</Application>
  <PresentationFormat>全屏显示(4:3)</PresentationFormat>
  <Paragraphs>1247</Paragraphs>
  <Slides>69</Slides>
  <Notes>48</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4</vt:i4>
      </vt:variant>
      <vt:variant>
        <vt:lpstr>幻灯片标题</vt:lpstr>
      </vt:variant>
      <vt:variant>
        <vt:i4>69</vt:i4>
      </vt:variant>
    </vt:vector>
  </HeadingPairs>
  <TitlesOfParts>
    <vt:vector size="88" baseType="lpstr">
      <vt:lpstr>inherit</vt:lpstr>
      <vt:lpstr>KaTeX_Main</vt:lpstr>
      <vt:lpstr>KaTeX_Math</vt:lpstr>
      <vt:lpstr>KaTeX_Size1</vt:lpstr>
      <vt:lpstr>Monotype Sorts</vt:lpstr>
      <vt:lpstr>PingFang SC</vt:lpstr>
      <vt:lpstr>新細明體</vt:lpstr>
      <vt:lpstr>楷体</vt:lpstr>
      <vt:lpstr>宋体</vt:lpstr>
      <vt:lpstr>Arial</vt:lpstr>
      <vt:lpstr>Cambria Math</vt:lpstr>
      <vt:lpstr>Symbol</vt:lpstr>
      <vt:lpstr>Times</vt:lpstr>
      <vt:lpstr>Times New Roman</vt:lpstr>
      <vt:lpstr>Präsentation Springer</vt:lpstr>
      <vt:lpstr>Photo Editor-Foto</vt:lpstr>
      <vt:lpstr>Formel</vt:lpstr>
      <vt:lpstr>Document</vt:lpstr>
      <vt:lpstr>Dokument</vt:lpstr>
      <vt:lpstr>PowerPoint 演示文稿</vt:lpstr>
      <vt:lpstr>Chapter 2 – Netlist and System Partitioning</vt:lpstr>
      <vt:lpstr>2.1 Introduction</vt:lpstr>
      <vt:lpstr>2.1 Introduction</vt:lpstr>
      <vt:lpstr>2.2 Terminology</vt:lpstr>
      <vt:lpstr>2.3 Optimization Goals</vt:lpstr>
      <vt:lpstr>2.3 Optimization Goals</vt:lpstr>
      <vt:lpstr>Chapter 2 – Netlist and System Partitioning</vt:lpstr>
      <vt:lpstr>2.4.1  Kernighan-Lin (KL) Algorithm</vt:lpstr>
      <vt:lpstr>2.4.1  Kernighan-Lin (KL) Algorithm – Terminology </vt:lpstr>
      <vt:lpstr>2.4.1  Kernighan-Lin (KL) Algorithm – Terminology </vt:lpstr>
      <vt:lpstr>2.4.1  Kernighan-Lin (KL) Algorithm – Terminology </vt:lpstr>
      <vt:lpstr>2.4.1  Kernighan-Lin (KL) Algorithm – Terminology </vt:lpstr>
      <vt:lpstr>2.4.1  Kernighan-Lin (KL) Algorithm – Terminology </vt:lpstr>
      <vt:lpstr>2.4.1  Kernighan-Lin (KL) Algorithm – Terminology </vt:lpstr>
      <vt:lpstr>2.4.1  Kernighan-Lin (KL) Algorithm – One pass</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2.4.1  Kernighan-Lin (KL) Algorithm – Example </vt:lpstr>
      <vt:lpstr>2.4.2  Extensions of the Kernighan-Lin (KL) Algorithm</vt:lpstr>
      <vt:lpstr>2.4.3     Fiduccia-Mattheyses (FM) Algorithm</vt:lpstr>
      <vt:lpstr>2.4.3     Fiduccia-Mattheyses (FM) Algorithm</vt:lpstr>
      <vt:lpstr>2.4.3 Fiduccia-Mattheyses (FM) Algorithm – Terminology</vt:lpstr>
      <vt:lpstr>2.4.3 Fiduccia-Mattheyses (FM) Algorithm – Terminology</vt:lpstr>
      <vt:lpstr>2.4.3 Fiduccia-Mattheyses (FM) Algorithm – Terminology</vt:lpstr>
      <vt:lpstr>2.4.3 Fiduccia-Mattheyses (FM) Algorithm – Terminology</vt:lpstr>
      <vt:lpstr>2.4.3 Fiduccia-Mattheyses (FM) Algorithm – Terminology</vt:lpstr>
      <vt:lpstr>2.4.3 Fiduccia-Mattheyses (FM) Algorithm – Terminology</vt:lpstr>
      <vt:lpstr>2.4.3 Fiduccia-Mattheyses (FM) Algorithm - One pass</vt:lpstr>
      <vt:lpstr>2.4.3 Fiduccia-Mattheyses (FM) Algorithm – Example</vt:lpstr>
      <vt:lpstr>2.4.3 Fiduccia-Mattheyses (FM) Algorithm – Example</vt:lpstr>
      <vt:lpstr>2.4.3 Fiduccia-Mattheyses (FM) Algorithm – Example</vt:lpstr>
      <vt:lpstr>2.4.3 Fiduccia-Mattheyses (FM) Algorithm – Example</vt:lpstr>
      <vt:lpstr>2.4.3 Fiduccia-Mattheyses (FM) Algorithm – Example</vt:lpstr>
      <vt:lpstr>2.4.3 Fiduccia-Mattheyses (FM) Algorithm – Example</vt:lpstr>
      <vt:lpstr>2.4.3 Fiduccia-Mattheyses (FM) Algorithm – Example</vt:lpstr>
      <vt:lpstr>2.4.3 Fiduccia-Mattheyses (FM) Algorithm – Example</vt:lpstr>
      <vt:lpstr>2.4.3 Fiduccia-Mattheyses (FM) Algorithm – Example</vt:lpstr>
      <vt:lpstr>Runtime difference between KL &amp; FM</vt:lpstr>
      <vt:lpstr>Runtime difference between KL &amp; FM</vt:lpstr>
      <vt:lpstr>Runtime difference between KL &amp; FM</vt:lpstr>
      <vt:lpstr>Runtime difference between KL &amp; FM</vt:lpstr>
      <vt:lpstr>Runtime difference between KL &amp; FM</vt:lpstr>
      <vt:lpstr>Runtime difference between KL &amp; FM</vt:lpstr>
      <vt:lpstr>Runtime difference between KL &amp; FM</vt:lpstr>
      <vt:lpstr>Runtime difference between KL &amp; FM</vt:lpstr>
      <vt:lpstr>Runtime difference between KL &amp; FM</vt:lpstr>
      <vt:lpstr>Runtime difference between KL &amp; FM</vt:lpstr>
      <vt:lpstr>Chapter 2 – Netlist and System Partitioning</vt:lpstr>
      <vt:lpstr>2.5.1 Clustering</vt:lpstr>
      <vt:lpstr>2.5.1 Clustering </vt:lpstr>
      <vt:lpstr>2.5.2 Multilevel Partitioning </vt:lpstr>
      <vt:lpstr>2.6 System Partitioning onto Multiple FPGAs </vt:lpstr>
      <vt:lpstr>Summary of Chapter 2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VLSI Physical Design, Springer Verlag</dc:title>
  <dc:subject>Chapter 2 -- Netlist and System Partitioning</dc:subject>
  <dc:creator/>
  <dc:description>Some Images (c) 2011 Springer Verlag</dc:description>
  <cp:lastModifiedBy/>
  <cp:revision>123</cp:revision>
  <dcterms:created xsi:type="dcterms:W3CDTF">2006-01-19T09:34:56Z</dcterms:created>
  <dcterms:modified xsi:type="dcterms:W3CDTF">2025-09-09T06:10:41Z</dcterms:modified>
</cp:coreProperties>
</file>